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6" r:id="rId27"/>
    <p:sldId id="277" r:id="rId28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0.xml"/><Relationship Id="rId20" Type="http://schemas.openxmlformats.org/officeDocument/2006/relationships/slide" Target="slides/slide21.xml"/><Relationship Id="rId21" Type="http://schemas.openxmlformats.org/officeDocument/2006/relationships/slide" Target="slides/slide22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13.xml"/><Relationship Id="rId28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One breath: eight encoders, one shared geometry, one matrix between any two worlds. The picture is Plato's cave with seven projections - the project's own metaphor.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Personal motivation, ~1 min. Databases make correlation explicit; vision learns it implicitly. Same habit of mind, two worlds.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nature's unexplained patterns to training as measurable alchemy. Land on: two runs, same place?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Cat-photos model vs cat-sentences model. PRH as the frame; my testable form: one linear map, both models frozen.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real CKA matrix, ~1 min. First evidence that convergence exists; the hubness correction is the honest footnote. Bridge: 'so WHAT is shared, and how cheaply does it move?'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questions, three rules. The cat/dog example: query must rank the right cat above a dog scoring 0.31.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Experiment B flow, ~1.5 min. Emphasise: task-free connector - fitted to match representations, never the objective.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numbers. Then the pivot: task-free beats task-trained by 88.4% - evidence about representations, and the motivation for the 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Hub construction, ~1.5 min. 42 pairwise maps vs 7 entry maps + one head. Point at the red card - the diagram is older than the cliff resolution, and we correct in place rather than hide.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table. Punchline: ConvNeXt - different architecture AND supervision - lands ABOVE the family band. Control at chance.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scientific finding. Coordinates never match; neighbourhoods do. Figure is measured Table C12h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G5's +53/+44/+29; isotropy two-instance meta-finding; GPT-2 as the anisotropy case study with the whitening rescue.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G10 in one slide: composition sensitivity (left), target-in-hub overlap +3.0pt isolated (right). Declared, not hidden.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falsification story - the project's proudest method result. Eleven-entry ledger, two our own errors, mechanism confirmed at single-direction resolution.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engineering claims, each with a number. The innovation is the discipline as much as the artifact.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record in one table - including the honest failures at the bottom.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E.10 in one slide. The takeaway line at the bottom is the anti-circularity argument.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 - one column literature, one column models and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Atlas next-test table, led by the new reverse-direction row. B1 is the one pre-registered item not yet run - said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one-paragraph summary and four numbers. Stop at 19-20 minutes; leave the last beat for silence.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WORLD, MANY ENCODERS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Representation Convergence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1737360" y="306324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independently trained models learn the same geometry — and can one matrix move knowledge between them?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416052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 defense · 11 encoders · 9 findings · 11 falsified explanations · 20 minutes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0292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project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417320"/>
            <a:ext cx="64008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fascinates me is what happens behind the scenes of a model — not the demo, the mechanism.</a:t>
            </a:r>
            <a:endParaRPr lang="en-US" sz="14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background is hybrid — databases and vision, engineering and ‘spirit and matter’. In databases, correlations between features are explicit: a schema, a join, a key. In vision they are implicit — similar in kind, different in form.</a:t>
            </a:r>
            <a:endParaRPr lang="en-US" sz="14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itself pulled me in: weights, hyper-parameters, attention, NLP — a world of algorithmics, networks and prediction whose real product is discovered regularity in data.</a:t>
            </a:r>
            <a:endParaRPr lang="en-US" sz="14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that stuck: when two systems each discover regularity separately — do they discover the same one?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315200" y="1554480"/>
            <a:ext cx="4297680" cy="4206240"/>
          </a:xfrm>
          <a:prstGeom prst="roundRect">
            <a:avLst>
              <a:gd name="adj" fmla="val 1739"/>
            </a:avLst>
          </a:prstGeom>
          <a:solidFill>
            <a:srgbClr val="F2F5FB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635240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worlds, one habit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35240" y="2240280"/>
            <a:ext cx="3703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features:  </a:t>
            </a:r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↔ demand, age ↔ churn — correlation you can name.
</a:t>
            </a:r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features:  </a:t>
            </a:r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↔ texture ↔ ‘cat-ness’ — correlation nobody wrote down, learned from pixels alone.
</a:t>
            </a:r>
            <a:pPr indent="0" marL="0">
              <a:buNone/>
            </a:pPr>
            <a:r>
              <a:rPr lang="en-US" sz="125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Similar, but different — </a:t>
            </a:r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both are ultimately geometry over data.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0292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Patterns in nature, alchemy in training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417320"/>
            <a:ext cx="65836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started from recurring patterns that invite a scientific explanation: fractal-like branching in coastlines, ferns and lungs (approximate self-similarity, not identical fractals); Fibonacci-related spirals and the golden ANGLE in plant growth; and even popular but scientifically questionable claims about historical cycles — empires falling on a fixed clock, leaders arriving on schedule.</a:t>
            </a:r>
            <a:endParaRPr lang="en-US" sz="14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felt like the same mystery, engineered: start from RANDOM weights, show examples, and arrive at weights that recognise a face or predict the next word. Correlation appears between variables with no apparent link.</a:t>
            </a:r>
            <a:endParaRPr lang="en-US" sz="14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disciplined question underneath all of them: when we perceive a recurring structure, how do we tell whether it is real, measurable and explanatory rather than coincidence or folklore? That is alchemy only until you measure it — and a learned representation is a geometric object, so it CAN be measured and compared.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498080" y="1554480"/>
            <a:ext cx="4114800" cy="4206240"/>
          </a:xfrm>
          <a:prstGeom prst="roundRect">
            <a:avLst>
              <a:gd name="adj" fmla="val 1778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772400" y="19659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weights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0" y="25146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FA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training on examples  ↓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0" y="30175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weights that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recognise a cat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772400" y="411480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is not whether this works.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whether two separate runs of it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arrive at the SAME place.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HYPOTHESIS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0292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question: universal patterns across models?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417320"/>
            <a:ext cx="61264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trained on PHOTOS of cats and a model trained on SENTENCES about cats — do they converge to a similar internal world?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they do, can the structure of one serve the other — text-world coordinates for an image model, and the reverse?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field's answer-in-progress: the Platonic Representation Hypothesis — as models grow, their representations converge toward a shared statistical model of reality, like shadows of one world cast on different cave walls.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results I built on: similar layers found across large models of different architecture and training data; model stitching and merging work when the worlds are close (same modality, similar data, similar architecture).</a:t>
            </a:r>
            <a:endParaRPr lang="en-US" sz="1400" dirty="0"/>
          </a:p>
        </p:txBody>
      </p:sp>
      <p:pic>
        <p:nvPicPr>
          <p:cNvPr id="5" name="Image 0" descr="/mnt/project/cave_allegory_sev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1737360"/>
            <a:ext cx="4754880" cy="23774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949440" y="42062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encoders, one scene: each cache is a projection of the same world onto a different wall.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59893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Testable form: representations agree UP TO A LINEAR MAP — one matrix, no training of either model.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HYPOTHESIS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0292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evidence — two architectures, one layer structure</a:t>
            </a:r>
            <a:endParaRPr lang="en-US" sz="3000" dirty="0"/>
          </a:p>
        </p:txBody>
      </p:sp>
      <p:pic>
        <p:nvPicPr>
          <p:cNvPr id="4" name="Image 0" descr="/home/claude/work/fig6_cka_r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63040"/>
            <a:ext cx="5577840" cy="45811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46520" y="1508760"/>
            <a:ext cx="521208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hub, any adapter: do two DIFFERENT architectures, trained on DIFFERENT data, even carry similar information layer by layer?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GPT-2 vs Pythia-160M, CKA over 10,000 samples — the raw matrix from the cache, not an illustration (this run: max 0.742; the report quotes 0.744 from its final run — ‘essentially unchanged’).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Trained-vs-trained mean 0.359 against trained-vs-random 0.067 — a 4–5× learning effect. Early layers match early, late match late; the final layer stands apart.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correction was needed before believing it: a rank-one ‘hubness’ component carried 97% of the matrix energy; dividing the marginals out sharpened the diagonal to 1.16 vs 0.98.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licensed everything after it: the convergence is real — the rest of the project asks what exactly is shared, and how cheaply it moves.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0292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Scientific questions, engineering discipline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falsifiable questions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828800"/>
            <a:ext cx="5486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structure shared? — if no linear map beats chance, the claim dies.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shared — global geometry, or local neighbourhoods?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decides how much — modality, lineage, or training objective?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977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Rules the project never broke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44348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training, no fine-tuning — closed-form ridge only; both models frozen.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held-out (1,000 of 9,533 rows), quoted against a control.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Predictions pre-registered before measuring; failures recorded, never deleted — the ledger now holds 11 falsified explanations, two of them our own.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0" y="1463040"/>
            <a:ext cx="5212080" cy="4846320"/>
          </a:xfrm>
          <a:prstGeom prst="roundRect">
            <a:avLst>
              <a:gd name="adj" fmla="val 1509"/>
            </a:avLst>
          </a:prstGeom>
          <a:solidFill>
            <a:srgbClr val="F2F5FB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720840" y="1737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720840" y="2148840"/>
            <a:ext cx="46177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COCO image–caption pairs. </a:t>
            </a:r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9,533 images, five human captions each — e.g.
</a:t>
            </a:r>
            <a:pPr indent="0" marL="0">
              <a:buNone/>
            </a:pPr>
            <a:r>
              <a:rPr lang="en-US" sz="1250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cat sitting on a chair.” · “Cat on chair.” · “A cat is seated on a chair.”
</a:t>
            </a:r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Captions are embedded and AVERAGED into one target — ‘what this image is about’, not ‘what one annotator wrote’.
</a:t>
            </a:r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test: </a:t>
            </a:r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caption ‘cat sit on a chair’ queries 1,000 images — the cat on the chair must beat every sofa cat and every dog. Chance = 0.001.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I · TWO ENCODERS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0292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B — MobileCLIP → SigLIP 2, the adapter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417320"/>
            <a:ext cx="111556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frozen image–text encoders that never met: MobileCLIP-S1 (phone-tier, 512-d) and SigLIP 2 (server-tier, 768-d).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ridge matrix W maps MobileCLIP vectors into SigLIP space — fitted on REPRESENTATION matching, so it never sees the retrieval task it is later scored on.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SigLIP’s own machinery — text tower, cosine ranking — is reused, unchanged, on the mapped vectors.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02920" y="3429000"/>
            <a:ext cx="2514600" cy="1600200"/>
          </a:xfrm>
          <a:prstGeom prst="roundRect">
            <a:avLst>
              <a:gd name="adj" fmla="val 5143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2648" y="3584448"/>
            <a:ext cx="2295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MobileCLIP-S1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612648" y="3968496"/>
            <a:ext cx="22951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3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· image vector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3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512-d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044952" y="4224528"/>
            <a:ext cx="429768" cy="0"/>
          </a:xfrm>
          <a:prstGeom prst="line">
            <a:avLst/>
          </a:prstGeom>
          <a:noFill/>
          <a:ln w="27940">
            <a:solidFill>
              <a:srgbClr val="5A64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502152" y="3429000"/>
            <a:ext cx="2514600" cy="1600200"/>
          </a:xfrm>
          <a:prstGeom prst="roundRect">
            <a:avLst>
              <a:gd name="adj" fmla="val 5143"/>
            </a:avLst>
          </a:prstGeom>
          <a:solidFill>
            <a:srgbClr val="0F766E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3611880" y="3584448"/>
            <a:ext cx="2295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  ·  the adapter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3968496"/>
            <a:ext cx="22951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3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ridge, 512×768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3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closed-form · 0.79 MB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3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fitted to match representations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44184" y="4224528"/>
            <a:ext cx="429768" cy="0"/>
          </a:xfrm>
          <a:prstGeom prst="line">
            <a:avLst/>
          </a:prstGeom>
          <a:noFill/>
          <a:ln w="27940">
            <a:solidFill>
              <a:srgbClr val="5A64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501384" y="3429000"/>
            <a:ext cx="2514600" cy="1600200"/>
          </a:xfrm>
          <a:prstGeom prst="roundRect">
            <a:avLst>
              <a:gd name="adj" fmla="val 5143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611112" y="3584448"/>
            <a:ext cx="2295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SigLIP 2 space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6611112" y="3968496"/>
            <a:ext cx="22951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3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vector, 768-d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3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speaks SigLIP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43416" y="4224528"/>
            <a:ext cx="429768" cy="0"/>
          </a:xfrm>
          <a:prstGeom prst="line">
            <a:avLst/>
          </a:prstGeom>
          <a:noFill/>
          <a:ln w="27940">
            <a:solidFill>
              <a:srgbClr val="5A64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9500616" y="3429000"/>
            <a:ext cx="2514600" cy="1600200"/>
          </a:xfrm>
          <a:prstGeom prst="roundRect">
            <a:avLst>
              <a:gd name="adj" fmla="val 5143"/>
            </a:avLst>
          </a:prstGeom>
          <a:solidFill>
            <a:srgbClr val="36454F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9610344" y="3584448"/>
            <a:ext cx="2295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SigLIP’s own retrieval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9610344" y="3968496"/>
            <a:ext cx="22951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3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tower + cosine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E3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UNCHANGED, never refit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523036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AUC 0.999 · held-out throughout · remove W and everything above collapses to chance (AUC 0.477)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output-layer stitching — with a connector that cannot cheat, because it was never trained on the task it is scored on.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I · TWO ENCODERS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0292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B — what one matrix buys</a:t>
            </a:r>
            <a:endParaRPr lang="en-US" sz="3000" dirty="0"/>
          </a:p>
        </p:txBody>
      </p:sp>
      <p:pic>
        <p:nvPicPr>
          <p:cNvPr id="4" name="Image 0" descr="/mnt/project/auc_experiment_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63040"/>
            <a:ext cx="6766560" cy="33832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26680" y="15544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0.592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7726680" y="217627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R² of the map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9692640" y="15544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0.900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692640" y="217627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cosine to the true twin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28803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88.4%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7726680" y="350215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jointly-trained retrieval ceiling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9692640" y="28803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0.79 MB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9692640" y="350215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adapter, Core ML fp16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51206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0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surprise that set up Part II:  </a:t>
            </a:r>
            <a:pPr indent="0" marL="0">
              <a:buNone/>
            </a:pPr>
            <a:r>
              <a:rPr lang="en-US" sz="14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task-free connector transfers 88.4% STRONGER than a connector trained on the task itself. The shared structure is in the representations — not manufactured by the connector.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II · N ENCODERS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0292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Hub — one shared coordinate system</a:t>
            </a:r>
            <a:endParaRPr lang="en-US" sz="3000" dirty="0"/>
          </a:p>
        </p:txBody>
      </p:sp>
      <p:pic>
        <p:nvPicPr>
          <p:cNvPr id="4" name="Image 0" descr="/mnt/project/flow_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6903720" cy="42793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0" y="1463040"/>
            <a:ext cx="38862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Pairwise maps do not scale: 7 encoders ⇒ 42 directed connectors. A PIVOT does: N entry maps into one space.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once: z-score each space, concatenate per item, PCA, keep 512 directions, whiten. That basis IS the hub — then it is frozen.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closed-form ridge map per encoder INTO the hub. One caption head OUT of it, trained on DINOv2-small’s hub coordinates only, into bge-m3 text space.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configurations documented: 4 spaces (published 94.2%), 5 (C.13), 7 (with BERT + SBERT).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815584" y="3931920"/>
            <a:ext cx="1755648" cy="1481328"/>
          </a:xfrm>
          <a:prstGeom prst="roundRect">
            <a:avLst>
              <a:gd name="adj" fmla="val 3086"/>
            </a:avLst>
          </a:prstGeom>
          <a:solidFill>
            <a:srgbClr val="FDF3F2"/>
          </a:solidFill>
          <a:ln w="12700">
            <a:solidFill>
              <a:srgbClr val="B02418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888736" y="4005072"/>
            <a:ext cx="16276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B0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(E.8)
</a:t>
            </a:r>
            <a:pPr indent="0" marL="0">
              <a:buNone/>
            </a:pPr>
            <a:r>
              <a:rPr lang="en-US" sz="76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trade-off. The cliff is a NUMERICAL ARTIFACT — least squares divides by a near-null singular value at width = source rank. Rule: hub width &lt; 768.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8064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 predates the cliff’s resolution — the red card replaces its ‘trade-off’ box; ‘whitened-PCA noise’ in the sweep box is likewise superseded.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II · N ENCODERS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0292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demo — zero-shot transfer to encoders the head never saw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69494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651760"/>
                <a:gridCol w="822960"/>
                <a:gridCol w="19202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recipient encoder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relation to the head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R@1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of a natively-fitted head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DINOv2-base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sibling — never seen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DINOv2-large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sibling — never seen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SigLIP 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independent lineage — never seen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ConvNeXt-base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convnet + fully supervised — never seen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96.7%  (above the family band)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random-map control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number that makes it mean anything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024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chance = 0.001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818120" y="150876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head, trained ONCE on one encoder’s hub coordinates, applied unchanged to encoders absent from its fitting.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model = fitting ONE entry map. Hub untouched, head untouched, every other map untouched.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means the HEAD — the entry map is one closed-form solve on cached vectors.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42 directed pairs through the shared hub: 103.6% of hubs built per-pair. Sharing costs nothing.</a:t>
            </a:r>
            <a:endParaRPr lang="en-US" sz="1200" dirty="0"/>
          </a:p>
        </p:txBody>
      </p:sp>
      <p:pic>
        <p:nvPicPr>
          <p:cNvPr id="6" name="Image 0" descr="/mnt/project/auc_hub_sev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977640"/>
            <a:ext cx="4754880" cy="229514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· SIMILARITY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0292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actually shared: local structure, not global</a:t>
            </a:r>
            <a:endParaRPr lang="en-US" sz="3000" dirty="0"/>
          </a:p>
        </p:txBody>
      </p:sp>
      <p:pic>
        <p:nvPicPr>
          <p:cNvPr id="4" name="Image 0" descr="/home/claude/work/fig1_knn_dec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63040"/>
            <a:ext cx="6309360" cy="34655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178040" y="1508760"/>
            <a:ext cx="44805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cross-space cosine ≈ 0.00 — coordinates never agree.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SHAPES do: distance ranks correlate at +0.681 Spearman, and 67.1% of an item’s 10 nearest neighbours are the same items in both spaces (27× chance).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 is strongest at small k and decays toward chance by k = 500 — in every pair, on three independent metrics (kNN, CKNNA, rank correlation).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Neighbourhoods agree; global geometry diverges. ‘Same world’ means the same LOCAL arrangement of meaning.</a:t>
            </a:r>
            <a:endParaRPr lang="en-US" sz="1250" dirty="0"/>
          </a:p>
        </p:txBody>
      </p:sp>
      <p:pic>
        <p:nvPicPr>
          <p:cNvPr id="6" name="Image 1" descr="/home/claude/work/real_pca_paired_tw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74920"/>
            <a:ext cx="5120640" cy="17099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· GEOMETRY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0292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Isotropy, anisotropy, modality, objective — what decides agreement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5486400" cy="2286000"/>
          </a:xfrm>
          <a:prstGeom prst="roundRect">
            <a:avLst>
              <a:gd name="adj" fmla="val 3200"/>
            </a:avLst>
          </a:prstGeom>
          <a:solidFill>
            <a:srgbClr val="F2F5FB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77240" y="1645920"/>
            <a:ext cx="4983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beats lineage beats modality.  </a:t>
            </a:r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Sharing a TRAINING OBJECTIVE lifts pairwise agreement +53× over chance; shared lineage +44×; shared modality +29×. The top pair — bge–SBERT at +0.738 — shares an objective and no ancestry at all.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3886200"/>
            <a:ext cx="5486400" cy="2377440"/>
          </a:xfrm>
          <a:prstGeom prst="roundRect">
            <a:avLst>
              <a:gd name="adj" fmla="val 3077"/>
            </a:avLst>
          </a:prstGeom>
          <a:solidFill>
            <a:srgbClr val="F2F5FB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777240" y="4114800"/>
            <a:ext cx="4983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Isotropy cuts both ways — measured twice.  </a:t>
            </a:r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isotropic (evenly spread) space HELPS reading a known correspondence, and HURTS finding an unknown one. One geometric property, opposite prescriptions — there is no single ‘good geometry’, only geometry good for a stated task.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0" y="1417320"/>
            <a:ext cx="5394960" cy="4846320"/>
          </a:xfrm>
          <a:prstGeom prst="roundRect">
            <a:avLst>
              <a:gd name="adj" fmla="val 1509"/>
            </a:avLst>
          </a:prstGeom>
          <a:solidFill>
            <a:srgbClr val="1E2761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537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Anisotropy, live: the GPT-2 collapse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148840"/>
            <a:ext cx="48463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8E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GPT-2’s caption space has effective rank 6.6 of 768 — every caption sits at cosine +0.999 to every other. A cone, not a cloud.
</a:t>
            </a:r>
            <a:pPr indent="0" marL="0">
              <a:buNone/>
            </a:pPr>
            <a:r>
              <a:rPr lang="en-US" sz="1250" dirty="0">
                <a:solidFill>
                  <a:srgbClr val="E8E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Consequence: the hub READS OUT of it at 95.1% — but WRITES INTO it at 24.8%. A collapsed space can be consulted, not addressed.
</a:t>
            </a:r>
            <a:pPr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rescue: </a:t>
            </a:r>
            <a:pPr indent="0" marL="0">
              <a:buNone/>
            </a:pPr>
            <a:r>
              <a:rPr lang="en-US" sz="1250" dirty="0">
                <a:solidFill>
                  <a:srgbClr val="E8E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whitening (an isotropy transform) lifts its retrieval R@1 from 0.130 to 0.478 — 102.6% of an encoder trained contrastively on 1.2 BILLION pairs. The information was there; the geometry hid it.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A6472"/>
                </a:solidFill>
                <a:latin typeface="Calibri"/>
              </a:rPr>
              <a:t>FINDINGS ·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E2761"/>
                </a:solidFill>
                <a:latin typeface="Cambria"/>
              </a:rPr>
              <a:t>Does cross-modal alignment strengthen with capacity? Pre-registered — and no.</a:t>
            </a:r>
          </a:p>
        </p:txBody>
      </p:sp>
      <p:pic>
        <p:nvPicPr>
          <p:cNvPr id="4" name="Picture 3" descr="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6534033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0" y="1600200"/>
            <a:ext cx="3383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A1A2E"/>
                </a:solidFill>
                <a:latin typeface="Calibri"/>
              </a:rPr>
              <a:t>Huh et al. (2024) show alignment rising with scale to 70B. Tested here on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A2E"/>
                </a:solidFill>
                <a:latin typeface="Calibri"/>
              </a:rPr>
              <a:t>both modalities, matched pooling, raw geometry — capacity the only variable.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A2E"/>
                </a:solidFill>
                <a:latin typeface="Calibri"/>
              </a:rPr>
              <a:t>DINOv2 image:  0.381 → 0.381 → 0.418 → 0.339 at giant (1.14B)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A2E"/>
                </a:solidFill>
                <a:latin typeface="Calibri"/>
              </a:rPr>
              <a:t>Contrastive text:  0.320 → 0.352 → 0.307 at Qwen-4B (7× bge-m3)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B02418"/>
                </a:solidFill>
                <a:latin typeface="Calibri"/>
              </a:rPr>
              <a:t>Both ladders rise then FALL.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B02418"/>
                </a:solidFill>
                <a:latin typeface="Calibri"/>
              </a:rPr>
              <a:t>P2 and P3 pre-registered, both FALSIFIED.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52160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>
                <a:solidFill>
                  <a:srgbClr val="5A6472"/>
                </a:solidFill>
                <a:latin typeface="Calibri"/>
              </a:rPr>
              <a:t>Within-modality, contrastive text encoders agree with each other at 0.76–0.86 — the highest pairs in the 55-pair matrix — while cross-modal agreement stays 0.19–0.35 and does not rise with scale. A measured answer to the scale caveat, not a concession: the 70B regime is a different one.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A6472"/>
                </a:solidFill>
                <a:latin typeface="Calibri"/>
              </a:rPr>
              <a:t>FINDINGS · SCALE — read with care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E2761"/>
                </a:solidFill>
                <a:latin typeface="Cambria"/>
              </a:rPr>
              <a:t>Why ρ is the clean test, and the transfer numbers are not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1A1A2E"/>
                </a:solidFill>
                <a:latin typeface="Calibri"/>
              </a:rPr>
              <a:t>ρ (raw shape agreement) fits NOTHING — no map, no rows-per-dimension floor. Width and hub membership are irrelevant to it, so the two falsifications stand on matched pooling alone.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1E2761"/>
                </a:solidFill>
                <a:latin typeface="Calibri"/>
              </a:rPr>
              <a:t>Transfer for the large models is INCONCLUSIVE by construction: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A1A2E"/>
                </a:solidFill>
                <a:latin typeface="Calibri"/>
              </a:rPr>
              <a:t>•  DINOv2-giant at 2.8 rows/dim — its 100.0% is degeneracy (the denominator collapses), not excellence.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A1A2E"/>
                </a:solidFill>
                <a:latin typeface="Calibri"/>
              </a:rPr>
              <a:t>•  Qwen-4B at 3.3 rows/dim — underpowered; flagged, not interpreted.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A1A2E"/>
                </a:solidFill>
                <a:latin typeface="Calibri"/>
              </a:rPr>
              <a:t>•  ConvNeXt control 101.2% vs published 96.7% — tested: McNemar p = 0.668, CI contains 100% → NOISE.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A1A2E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5A6472"/>
                </a:solidFill>
                <a:latin typeface="Calibri"/>
              </a:rPr>
              <a:t>Two catches, both recorded. An earlier giant run used cls-only pooling (ρ 0.238), confounding capacity with pooling; re-run at cls+patch gives 0.339 and the drop persists. And giant cannot join the hub as a member — 10,752 dims over 8,533 rows is γ = 1.26, rank-deficient — so it stays a source, which keeps its result a genuine held-out test.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· HONESTY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0292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G10 — what the hub is made of matters, and we declared it</a:t>
            </a:r>
            <a:endParaRPr lang="en-US" sz="3000" dirty="0"/>
          </a:p>
        </p:txBody>
      </p:sp>
      <p:pic>
        <p:nvPicPr>
          <p:cNvPr id="4" name="Image 0" descr="/home/claude/work/fig2_g10_q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5577840" cy="3063240"/>
          </a:xfrm>
          <a:prstGeom prst="rect">
            <a:avLst/>
          </a:prstGeom>
        </p:spPr>
      </p:pic>
      <p:pic>
        <p:nvPicPr>
          <p:cNvPr id="5" name="Image 1" descr="/home/claude/work/fig3_g10_q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463040"/>
            <a:ext cx="5577840" cy="261518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40080" y="4709160"/>
            <a:ext cx="10972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text space sits IN the hub moves transfer by 6.1 points at fixed count — and 11.2 points presence-vs-absence — even though every text space can linearly reach only 2–5% of the hub. Reachability does not predict influence.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head’s own target sitting inside the hub is worth +3.0 points beyond what ANY text member contributes. Not leakage — everything is held-out — but a real dependency, now measured and declared in the report before anyone else finds it.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· METHOD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0292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width cliff — falsification as a first-class result</a:t>
            </a:r>
            <a:endParaRPr lang="en-US" sz="3000" dirty="0"/>
          </a:p>
        </p:txBody>
      </p:sp>
      <p:pic>
        <p:nvPicPr>
          <p:cNvPr id="4" name="Image 0" descr="/home/claude/work/fig5_g16_cli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6309360" cy="29626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086600" y="1508760"/>
            <a:ext cx="457200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collapses when hub width reaches 768 — discovered by accident, chased for six experiments.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accounts falsified and the eighth — a rank wall — confirmed, all on pre-registered criteria — local-structure loss, spectral amplification, four cliff statistics, conditioning — including one of our own tests that was itself wrong, and is recorded as such.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survivor, confirmed to single-direction resolution: 768 is the source encoder’s algebraic rank. The last singular value falls 10.79 → 0.0054 and least squares divides by it.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Verdict: a NUMERICAL artifact of the fit — not a property of shared representations. Rule: hub width &lt; source rank. Ridge or truncation lifts it entirely.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61772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step of −0.885 at one direction — held 0.894 at k=760, fell to 0.009 at k=768.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0292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Engineering and innovation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5440680" cy="1417320"/>
          </a:xfrm>
          <a:prstGeom prst="roundRect">
            <a:avLst>
              <a:gd name="adj" fmla="val 4516"/>
            </a:avLst>
          </a:prstGeom>
          <a:solidFill>
            <a:srgbClr val="EDF2FA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1609344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0.79 MB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2514600" y="1591056"/>
            <a:ext cx="3246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entire deployable artifact — one fp16 matrix as Core ML; no GPU, no server, no retraining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5440680" cy="1417320"/>
          </a:xfrm>
          <a:prstGeom prst="roundRect">
            <a:avLst>
              <a:gd name="adj" fmla="val 4516"/>
            </a:avLst>
          </a:prstGeom>
          <a:solidFill>
            <a:srgbClr val="F2F5FB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446520" y="1609344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gradients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1591056"/>
            <a:ext cx="3246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closed-form ridge on cached vectors — the whole hub rebuilds in seconds on a laptop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063240"/>
            <a:ext cx="5440680" cy="1417320"/>
          </a:xfrm>
          <a:prstGeom prst="roundRect">
            <a:avLst>
              <a:gd name="adj" fmla="val 4516"/>
            </a:avLst>
          </a:prstGeom>
          <a:solidFill>
            <a:srgbClr val="EDF2FA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731520" y="3209544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the decimal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2514600" y="3191256"/>
            <a:ext cx="3246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published protocol was reconstructed exactly — SigLIP’s 94.2% reproduces digit-for-digit (G0-exact)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17920" y="3063240"/>
            <a:ext cx="5440680" cy="1417320"/>
          </a:xfrm>
          <a:prstGeom prst="roundRect">
            <a:avLst>
              <a:gd name="adj" fmla="val 4516"/>
            </a:avLst>
          </a:prstGeom>
          <a:solidFill>
            <a:srgbClr val="F2F5FB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446520" y="3209544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solve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3191256"/>
            <a:ext cx="3246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an encoder = one entry map; hub, head and all other maps untouched — demonstrated live with ConvNeXt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4663440"/>
            <a:ext cx="5440680" cy="1417320"/>
          </a:xfrm>
          <a:prstGeom prst="roundRect">
            <a:avLst>
              <a:gd name="adj" fmla="val 4516"/>
            </a:avLst>
          </a:prstGeom>
          <a:solidFill>
            <a:srgbClr val="EDF2FA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731520" y="4809744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entries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2514600" y="4791456"/>
            <a:ext cx="3246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falsification ledger kept as a deliverable — wrong explanations recorded with their mechanism of death, two of them our own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17920" y="4663440"/>
            <a:ext cx="5440680" cy="1417320"/>
          </a:xfrm>
          <a:prstGeom prst="roundRect">
            <a:avLst>
              <a:gd name="adj" fmla="val 4516"/>
            </a:avLst>
          </a:prstGeom>
          <a:solidFill>
            <a:srgbClr val="F2F5FB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446520" y="4809744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pre-registered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4791456"/>
            <a:ext cx="3246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cliff location, discontinuity criteria, SESOI for the null — predictions written down before measuring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0292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experiments, numbered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5568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108960"/>
                <a:gridCol w="2834640"/>
                <a:gridCol w="43434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 via one task-free matrix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MobileCLIP-S1 → SigLIP 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88.4% of ceiling; 0.79 MB shipped — achieved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E1–E13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cross-modal maps, capacity ladder, pooling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DINOv2 s/b/l → bge-m3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40.9 / 53.5 / 58.3% of ceiling; +15.3 pts per decade of parameters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C.11–C.12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isotropy rescue; pair-free recovery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GPT-2, SBERT, MobileCLIP, SigLIP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whitening 0.130→0.478; Gromov–Wasserstein 39.7% with NO pairs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G0–G4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rebuild hub exactly; cross-lineage; cross-architecture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SigLIP 2, ConvNeXt (held out)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94.2% to the decimal; ConvNeXt 96.7% — above the band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G5–G7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predicts agreement; hub vs local structure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seven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objective +53× &gt; lineage +44× &gt; modality +29×; hub neutral on healthy spaces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G8–G16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hunt the width cliff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DINOv2 s/b as sources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located at source rank, mechanism confirmed; 8 accounts falsified first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hub composition; target-in-hub overlap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hub variants × {bge, SBERT}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6.1 pt; presence 11.2 pt; overlap +3.0 pt — declared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K1–K3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no-PCA replication; stratified re-run; bound the null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pairs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ordering reproduces raw; null bounded: 95% CI −0.038…+0.024 vs SESOI 0.050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61722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Failures kept on the record: the MLP could not beat the matrix — 0.9183 vs 0.9183, gain +0.0000, twice. Adding encoders to the hub: unchanged, CI includes zero.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0292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encoders — who they are and how they were trained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556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480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encoder / dim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objective — what supervises 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and result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DINOv2 s/b/l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768/1536/2048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self-distillation: an EMA teacher’s outputs on other crops of the SAME image. No labels, no text — self-supervised on automatically curated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hub members; capacity ladder 40.9/53.5/58.3%; img_small sets hub width &lt; 768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bge-m3 · 1024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contrastive on query–passage pairs — pair-supervised, text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hub member and the head’s target; top pair with SBERT +0.738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GPT-2 · 768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next-token prediction — self-supervised; same hold-out-and-predict trick as DINOv2, on tokens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collapse case: rank 6.6; read 95.1% / write 24.8%; whitening rescues to 102.6%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BERT / SBERT · 768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masked LM (self-sup.) / BERT fine-tuned on human-labelled NLI — SBERT is the one strictly supervised text space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hub members from C.13.3; SBERT best head target at 101.0% of native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SigLIP 2 · 768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image–text contrastive on web alt-text — pair-supervised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HELD OUT: cross-lineage 94.2%, inside the family band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ConvNeXt · 1024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ImageNet-22k classification — FULLY supervised, and a convnet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HELD OUT: 96.7%, above the band — neither architecture nor supervision bounds the claim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MobileCLIP-S1 · 512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image–text contrastive, distilled — pair-supervised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Experiment B source; adapter R² 0.592, shipped 0.79 MB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4297680"/>
            <a:ext cx="11155680" cy="1417320"/>
          </a:xfrm>
          <a:prstGeom prst="roundRect">
            <a:avLst>
              <a:gd name="adj" fmla="val 4516"/>
            </a:avLst>
          </a:prstGeom>
          <a:solidFill>
            <a:srgbClr val="F2F5FB"/>
          </a:solidFill>
          <a:ln/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777240" y="4498848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COCO row, behind every number here —  </a:t>
            </a:r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human captions: </a:t>
            </a:r>
            <a:pPr indent="0" marL="0">
              <a:buNone/>
            </a:pPr>
            <a:r>
              <a:rPr lang="en-US" sz="1250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cat sitting on a chair.” · “Cat on chair.” · “A cat is seated on a chair.” · “Cat sitting on the chair.” · “A cat perched on a wooden chair.” </a:t>
            </a:r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embedded and averaged into one target. At query time, ‘cat sit on a chair’ must rank the right cat above 999 impostors — including a sofa cat at 0.52 and a dog at 0.31. Chance is 0.001.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59436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supervision regimes, four objectives — and all of them join one hub at 93–97% of native. Convergence does not require a shared training signal.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0292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417320"/>
            <a:ext cx="54864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Huh, Cheung, Wang &amp; Isola (2024). The Platonic Representation Hypothesis. ICML — the framing, and the CKNNA metric.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Lenc &amp; Vedaldi (2015). Understanding image representations by measuring equivariance and equivalence. CVPR — stitching.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Bansal, Nakkiran &amp; Barak (2021). Revisiting model stitching. NeurIPS — the trained-connector baseline B departs from.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Moschella et al. (2023). Relative representations enable zero-shot latent communication. ICLR — the pivot idea the hub extends.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Gröger et al. (2026), ICML — the Aristotelian reading of convergence; assessed against these results.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6263640" y="1417320"/>
            <a:ext cx="539496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Oquab et al. (2023). DINOv2 — the image family and LVD-142M curation.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Tschannen et al. (2025). SigLIP 2 · Vasu et al. (2024). MobileCLIP.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 et al. (2024). BGE-M3 · Reimers &amp; Gurevych (2019). Sentence-BERT.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Radford et al. (2019). GPT-2 · Devlin et al. (2019). BERT · Liu et al. (2022). ConvNeXt.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 et al. (2014). Microsoft COCO — the 9,533 image–caption rows under every number here.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03504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method, all tables and the falsification ledger: Final_Project_Report.pdf (68 pp), with generator notebooks per figure.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0292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remains — in order of value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556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93776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test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question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matters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Reverse-direction transfer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does the hub carry information TOWARD an image space, not just from one? ConvNeXt as TARGET is the cleanest case — it was never a hub member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and target roles are independent (G10 proved it on text); untested for images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Experts vs one large model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K small experts in a shared hub match one big encoder at matched parameters?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turns the engineering argument into a benchmark outsiders care about (pre-registered as B1, not yet run)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encoders per group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objective predicts agreement better than lineage — on as few as one pair per cell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most interesting causal hint, currently the least powered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languages &amp; domains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does any of this survive outside COCO captions in English?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broadest stated limit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Non-linear hubs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could a neighbourhood-preserving embedding carry local structure where whitened PCA does not?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ruled out here by the no-training rule — the natural sequel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2CA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229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IN ONE PARAGRAPH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463040" y="1463040"/>
            <a:ext cx="9235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models never share coordinates — raw agreement is exactly chance. But they describe the same world, and the translation between them is a single matrix small enough to fit on a phone. What they share most strongly is LOCAL: they agree about what is near what, and diverge about the shape of the whole. The coordinate frame that makes structure readable is cheap; the arrangement of meaning across directions is what training actually buys.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9776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0.79 MB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459943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translation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3794760" y="39776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96.7%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3794760" y="459943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unseen convnet, zero-shot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39776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27×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459943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chance, at 10 neighbours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275320" y="39776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459943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explanations falsified on the way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56235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FA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questions welcome.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2026-09-07T00:08:09Z</dcterms:created>
  <dcterms:modified xsi:type="dcterms:W3CDTF">2026-09-07T00:08:09Z</dcterms:modified>
</cp:coreProperties>
</file>