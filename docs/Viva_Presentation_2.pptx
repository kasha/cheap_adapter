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e957ccf77d44c1" /><Relationship Type="http://schemas.openxmlformats.org/officeDocument/2006/relationships/extended-properties" Target="/docProps/app.xml" Id="Rdec8c71af48c4925" /><Relationship Type="http://schemas.openxmlformats.org/officeDocument/2006/relationships/officeDocument" Target="/ppt/presentation.xml" Id="R3d0ae3346cff4f24" /></Relationships>
</file>

<file path=ppt/presentation.xml><?xml version="1.0" encoding="utf-8"?>
<p:presentation xmlns:p="http://schemas.openxmlformats.org/presentationml/2006/main">
  <p:sldMasterIdLst>
    <p:sldMasterId xmlns:r="http://schemas.openxmlformats.org/officeDocument/2006/relationships" id="2147483648" r:id="Rde9c2bbf7c984512"/>
  </p:sldMasterIdLst>
  <p:notesMasterIdLst>
    <p:notesMasterId xmlns:r="http://schemas.openxmlformats.org/officeDocument/2006/relationships" r:id="Ra18a5eb17cf148c8"/>
  </p:notesMasterIdLst>
  <p:sldIdLst>
    <p:sldId xmlns:r="http://schemas.openxmlformats.org/officeDocument/2006/relationships" id="256" r:id="R13f4f7a92d194d12"/>
    <p:sldId xmlns:r="http://schemas.openxmlformats.org/officeDocument/2006/relationships" id="257" r:id="R0630739f877c46c8"/>
    <p:sldId xmlns:r="http://schemas.openxmlformats.org/officeDocument/2006/relationships" id="258" r:id="R8e4accba91bb47df"/>
    <p:sldId xmlns:r="http://schemas.openxmlformats.org/officeDocument/2006/relationships" id="259" r:id="Rd8d698a2ea7240d7"/>
    <p:sldId xmlns:r="http://schemas.openxmlformats.org/officeDocument/2006/relationships" id="260" r:id="Rfa4ee9f767ec4aab"/>
    <p:sldId xmlns:r="http://schemas.openxmlformats.org/officeDocument/2006/relationships" id="261" r:id="Re05b256e43594933"/>
    <p:sldId xmlns:r="http://schemas.openxmlformats.org/officeDocument/2006/relationships" id="262" r:id="Ra9d935801f7d4004"/>
    <p:sldId xmlns:r="http://schemas.openxmlformats.org/officeDocument/2006/relationships" id="263" r:id="Rf493a8392e014e02"/>
    <p:sldId xmlns:r="http://schemas.openxmlformats.org/officeDocument/2006/relationships" id="264" r:id="Rdd5dec61fcdf4b33"/>
    <p:sldId xmlns:r="http://schemas.openxmlformats.org/officeDocument/2006/relationships" id="265" r:id="R8de474d8a8c946c5"/>
    <p:sldId xmlns:r="http://schemas.openxmlformats.org/officeDocument/2006/relationships" id="266" r:id="R8552ffeae06f42ea"/>
    <p:sldId xmlns:r="http://schemas.openxmlformats.org/officeDocument/2006/relationships" id="267" r:id="Rbe2e9edb274a4828"/>
    <p:sldId xmlns:r="http://schemas.openxmlformats.org/officeDocument/2006/relationships" id="268" r:id="Rbf11447cc9954189"/>
    <p:sldId xmlns:r="http://schemas.openxmlformats.org/officeDocument/2006/relationships" id="269" r:id="Rb8b4516d428c4933"/>
    <p:sldId xmlns:r="http://schemas.openxmlformats.org/officeDocument/2006/relationships" id="270" r:id="R98745040f6a8455c"/>
    <p:sldId xmlns:r="http://schemas.openxmlformats.org/officeDocument/2006/relationships" id="271" r:id="Rb031dd280e89451e"/>
    <p:sldId xmlns:r="http://schemas.openxmlformats.org/officeDocument/2006/relationships" id="272" r:id="R83cb93dfb13e4fc2"/>
    <p:sldId xmlns:r="http://schemas.openxmlformats.org/officeDocument/2006/relationships" id="273" r:id="R0d9313a32e914b18"/>
    <p:sldId xmlns:r="http://schemas.openxmlformats.org/officeDocument/2006/relationships" id="274" r:id="Red726e4659cc4645"/>
    <p:sldId xmlns:r="http://schemas.openxmlformats.org/officeDocument/2006/relationships" id="275" r:id="R583e60fb4b8448b5"/>
    <p:sldId xmlns:r="http://schemas.openxmlformats.org/officeDocument/2006/relationships" id="276" r:id="R7d1a0a63bca54244"/>
    <p:sldId xmlns:r="http://schemas.openxmlformats.org/officeDocument/2006/relationships" id="277" r:id="R5645919234214ba3"/>
    <p:sldId xmlns:r="http://schemas.openxmlformats.org/officeDocument/2006/relationships" id="278" r:id="Rd31f215e6dbb45c9"/>
    <p:sldId xmlns:r="http://schemas.openxmlformats.org/officeDocument/2006/relationships" id="279" r:id="R747d7f5ff1854620"/>
    <p:sldId xmlns:r="http://schemas.openxmlformats.org/officeDocument/2006/relationships" id="280" r:id="Re3bbb6a75c354a0f"/>
    <p:sldId xmlns:r="http://schemas.openxmlformats.org/officeDocument/2006/relationships" id="281" r:id="R91e3d4a1568f47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45c3d733a64dce" /><Relationship Type="http://schemas.openxmlformats.org/officeDocument/2006/relationships/slideMaster" Target="/ppt/slideMasters/slideMaster1.xml" Id="Rde9c2bbf7c984512" /><Relationship Type="http://schemas.openxmlformats.org/officeDocument/2006/relationships/notesMaster" Target="/ppt/notesMasters/notesMaster1.xml" Id="Ra18a5eb17cf148c8" /><Relationship Type="http://schemas.openxmlformats.org/officeDocument/2006/relationships/presProps" Target="/ppt/presProps.xml" Id="R69c4a7b50a704907" /><Relationship Type="http://schemas.openxmlformats.org/officeDocument/2006/relationships/viewProps" Target="/ppt/viewProps.xml" Id="Rc86dfb0b6fd246e0" /><Relationship Type="http://schemas.openxmlformats.org/officeDocument/2006/relationships/tableStyles" Target="/ppt/tableStyles.xml" Id="R41ecc1331c9b46db" /><Relationship Type="http://schemas.openxmlformats.org/officeDocument/2006/relationships/slide" Target="/ppt/slides/slide1.xml" Id="R13f4f7a92d194d12" /><Relationship Type="http://schemas.openxmlformats.org/officeDocument/2006/relationships/slide" Target="/ppt/slides/slide2.xml" Id="R0630739f877c46c8" /><Relationship Type="http://schemas.openxmlformats.org/officeDocument/2006/relationships/slide" Target="/ppt/slides/slide3.xml" Id="R8e4accba91bb47df" /><Relationship Type="http://schemas.openxmlformats.org/officeDocument/2006/relationships/slide" Target="/ppt/slides/slide4.xml" Id="Rd8d698a2ea7240d7" /><Relationship Type="http://schemas.openxmlformats.org/officeDocument/2006/relationships/slide" Target="/ppt/slides/slide5.xml" Id="Rfa4ee9f767ec4aab" /><Relationship Type="http://schemas.openxmlformats.org/officeDocument/2006/relationships/slide" Target="/ppt/slides/slide6.xml" Id="Re05b256e43594933" /><Relationship Type="http://schemas.openxmlformats.org/officeDocument/2006/relationships/slide" Target="/ppt/slides/slide7.xml" Id="Ra9d935801f7d4004" /><Relationship Type="http://schemas.openxmlformats.org/officeDocument/2006/relationships/slide" Target="/ppt/slides/slide8.xml" Id="Rf493a8392e014e02" /><Relationship Type="http://schemas.openxmlformats.org/officeDocument/2006/relationships/slide" Target="/ppt/slides/slide9.xml" Id="Rdd5dec61fcdf4b33" /><Relationship Type="http://schemas.openxmlformats.org/officeDocument/2006/relationships/slide" Target="/ppt/slides/slide10.xml" Id="R8de474d8a8c946c5" /><Relationship Type="http://schemas.openxmlformats.org/officeDocument/2006/relationships/slide" Target="/ppt/slides/slide11.xml" Id="R8552ffeae06f42ea" /><Relationship Type="http://schemas.openxmlformats.org/officeDocument/2006/relationships/slide" Target="/ppt/slides/slide12.xml" Id="Rbe2e9edb274a4828" /><Relationship Type="http://schemas.openxmlformats.org/officeDocument/2006/relationships/slide" Target="/ppt/slides/slide13.xml" Id="Rbf11447cc9954189" /><Relationship Type="http://schemas.openxmlformats.org/officeDocument/2006/relationships/slide" Target="/ppt/slides/slide14.xml" Id="Rb8b4516d428c4933" /><Relationship Type="http://schemas.openxmlformats.org/officeDocument/2006/relationships/slide" Target="/ppt/slides/slide15.xml" Id="R98745040f6a8455c" /><Relationship Type="http://schemas.openxmlformats.org/officeDocument/2006/relationships/slide" Target="/ppt/slides/slide16.xml" Id="Rb031dd280e89451e" /><Relationship Type="http://schemas.openxmlformats.org/officeDocument/2006/relationships/slide" Target="/ppt/slides/slide17.xml" Id="R83cb93dfb13e4fc2" /><Relationship Type="http://schemas.openxmlformats.org/officeDocument/2006/relationships/slide" Target="/ppt/slides/slide18.xml" Id="R0d9313a32e914b18" /><Relationship Type="http://schemas.openxmlformats.org/officeDocument/2006/relationships/slide" Target="/ppt/slides/slide19.xml" Id="Red726e4659cc4645" /><Relationship Type="http://schemas.openxmlformats.org/officeDocument/2006/relationships/slide" Target="/ppt/slides/slide20.xml" Id="R583e60fb4b8448b5" /><Relationship Type="http://schemas.openxmlformats.org/officeDocument/2006/relationships/slide" Target="/ppt/slides/slide21.xml" Id="R7d1a0a63bca54244" /><Relationship Type="http://schemas.openxmlformats.org/officeDocument/2006/relationships/slide" Target="/ppt/slides/slide22.xml" Id="R5645919234214ba3" /><Relationship Type="http://schemas.openxmlformats.org/officeDocument/2006/relationships/slide" Target="/ppt/slides/slide23.xml" Id="Rd31f215e6dbb45c9" /><Relationship Type="http://schemas.openxmlformats.org/officeDocument/2006/relationships/slide" Target="/ppt/slides/slide24.xml" Id="R747d7f5ff1854620" /><Relationship Type="http://schemas.openxmlformats.org/officeDocument/2006/relationships/slide" Target="/ppt/slides/slide25.xml" Id="Re3bbb6a75c354a0f" /><Relationship Type="http://schemas.openxmlformats.org/officeDocument/2006/relationships/slide" Target="/ppt/slides/slide26.xml" Id="R91e3d4a1568f47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be669ab7c34c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9ef62e75614829" /><Relationship Type="http://schemas.openxmlformats.org/officeDocument/2006/relationships/notesMaster" Target="/ppt/notesMasters/notesMaster1.xml" Id="R27971286cbe643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1323762eef45c6" /><Relationship Type="http://schemas.openxmlformats.org/officeDocument/2006/relationships/notesMaster" Target="/ppt/notesMasters/notesMaster1.xml" Id="Rf81c201a24be4b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3265de78994562" /><Relationship Type="http://schemas.openxmlformats.org/officeDocument/2006/relationships/notesMaster" Target="/ppt/notesMasters/notesMaster1.xml" Id="R27a094f7f42c4f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07efd3d38d472f" /><Relationship Type="http://schemas.openxmlformats.org/officeDocument/2006/relationships/notesMaster" Target="/ppt/notesMasters/notesMaster1.xml" Id="Rf3df20db1ab043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0141d988d745ad" /><Relationship Type="http://schemas.openxmlformats.org/officeDocument/2006/relationships/notesMaster" Target="/ppt/notesMasters/notesMaster1.xml" Id="R99c2c999575546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69ec4a4bb34516" /><Relationship Type="http://schemas.openxmlformats.org/officeDocument/2006/relationships/notesMaster" Target="/ppt/notesMasters/notesMaster1.xml" Id="R79b64585d52149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6813ff0f284817" /><Relationship Type="http://schemas.openxmlformats.org/officeDocument/2006/relationships/notesMaster" Target="/ppt/notesMasters/notesMaster1.xml" Id="R999ee71dda9647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5c2142887b4532" /><Relationship Type="http://schemas.openxmlformats.org/officeDocument/2006/relationships/notesMaster" Target="/ppt/notesMasters/notesMaster1.xml" Id="R2c87e8fe7b5342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614467a6504bae" /><Relationship Type="http://schemas.openxmlformats.org/officeDocument/2006/relationships/notesMaster" Target="/ppt/notesMasters/notesMaster1.xml" Id="Rb6a4652fde9040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c31f5de2444bde" /><Relationship Type="http://schemas.openxmlformats.org/officeDocument/2006/relationships/notesMaster" Target="/ppt/notesMasters/notesMaster1.xml" Id="Re082675b1ff543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d4925bfdba4820" /><Relationship Type="http://schemas.openxmlformats.org/officeDocument/2006/relationships/notesMaster" Target="/ppt/notesMasters/notesMaster1.xml" Id="R994f061ba1874a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ad40adab824939" /><Relationship Type="http://schemas.openxmlformats.org/officeDocument/2006/relationships/notesMaster" Target="/ppt/notesMasters/notesMaster1.xml" Id="R00ba087a49ec43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c28da3fd944657" /><Relationship Type="http://schemas.openxmlformats.org/officeDocument/2006/relationships/notesMaster" Target="/ppt/notesMasters/notesMaster1.xml" Id="Rf9988b411d7b49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4a915a2b474951" /><Relationship Type="http://schemas.openxmlformats.org/officeDocument/2006/relationships/notesMaster" Target="/ppt/notesMasters/notesMaster1.xml" Id="Rcda0e8b19f434d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a313311ac641e1" /><Relationship Type="http://schemas.openxmlformats.org/officeDocument/2006/relationships/notesMaster" Target="/ppt/notesMasters/notesMaster1.xml" Id="Rd50ad01e573c41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60441903fc4fd8" /><Relationship Type="http://schemas.openxmlformats.org/officeDocument/2006/relationships/notesMaster" Target="/ppt/notesMasters/notesMaster1.xml" Id="R0a6b7c798f484a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22f04c3a58424e" /><Relationship Type="http://schemas.openxmlformats.org/officeDocument/2006/relationships/notesMaster" Target="/ppt/notesMasters/notesMaster1.xml" Id="R91e06bb628a243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e2de2c11dc44a6a" /><Relationship Type="http://schemas.openxmlformats.org/officeDocument/2006/relationships/notesMaster" Target="/ppt/notesMasters/notesMaster1.xml" Id="R226a5ed6465a4b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3356be70b841ba" /><Relationship Type="http://schemas.openxmlformats.org/officeDocument/2006/relationships/notesMaster" Target="/ppt/notesMasters/notesMaster1.xml" Id="Rc14727f6ea6440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264dd8f4a740c2" /><Relationship Type="http://schemas.openxmlformats.org/officeDocument/2006/relationships/notesMaster" Target="/ppt/notesMasters/notesMaster1.xml" Id="Rb92bd0bb803b41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2f0122df0ab40e1" /><Relationship Type="http://schemas.openxmlformats.org/officeDocument/2006/relationships/notesMaster" Target="/ppt/notesMasters/notesMaster1.xml" Id="R946c67acd4ea4b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ab1e07371744bc" /><Relationship Type="http://schemas.openxmlformats.org/officeDocument/2006/relationships/notesMaster" Target="/ppt/notesMasters/notesMaster1.xml" Id="R789075b55dc04a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1696f1fc0d74313" /><Relationship Type="http://schemas.openxmlformats.org/officeDocument/2006/relationships/notesMaster" Target="/ppt/notesMasters/notesMaster1.xml" Id="R9b1488be01f1404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386a6660264b6f" /><Relationship Type="http://schemas.openxmlformats.org/officeDocument/2006/relationships/notesMaster" Target="/ppt/notesMasters/notesMaster1.xml" Id="R63d3f3463add45b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35d4301cd0f4132" /><Relationship Type="http://schemas.openxmlformats.org/officeDocument/2006/relationships/notesMaster" Target="/ppt/notesMasters/notesMaster1.xml" Id="Rdfaff5c7cc1843c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c49648ae4aa40a4" /><Relationship Type="http://schemas.openxmlformats.org/officeDocument/2006/relationships/notesMaster" Target="/ppt/notesMasters/notesMaster1.xml" Id="R8410d4af8b6f4f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One breath: eight encoders, one shared geometry, one matrix between any two worlds. The picture is Plato's cave with seven projections - the project's own metaphor.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motivation, ~1 min. Databases make correlation explicit; vision learns it implicitly. Same habit of mind, two worlds.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From nature's unexplained patterns to training as measurable alchemy. Land on: two runs, same place?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natural analogy is structural, not biological: a fern and a lung have different material and function, but both exhibit repeated branching. The model analogy is equally limited and precise. Image and text encoders may use unrelated coordinates while preserving local relational statements such as cat being nearer to dog than to airplane. This motivates the project's measurements of distance ranks and neighbourhood overlap. It does not claim identical vectors, identical global geometry, or a fitted map.</a:t>
            </a:r>
            <a:endParaRPr/>
          </a:p>
          <a:p xmlns:a="http://schemas.openxmlformats.org/drawingml/2006/main">
            <a:r>
              <a:t/>
            </a:r>
            <a:endParaRPr/>
          </a:p>
          <a:p xmlns:a="http://schemas.openxmlformats.org/drawingml/2006/main">
            <a:r>
              <a:t>[Sources]</a:t>
            </a:r>
            <a:endParaRPr/>
          </a:p>
          <a:p xmlns:a="http://schemas.openxmlformats.org/drawingml/2006/main">
            <a:r>
              <a:t>- Embedding_Spaces_Corrections_and_Figures(1).pdf</a:t>
            </a:r>
            <a:endParaRPr/>
          </a:p>
          <a:p xmlns:a="http://schemas.openxmlformats.org/drawingml/2006/main">
            <a:r>
              <a:t>- Essey et al. (2020), Fractal analysis of concurrently prepared casts of the human lung, PMCID: PMC7574555</a:t>
            </a:r>
            <a:endParaRPr/>
          </a:p>
          <a:p xmlns:a="http://schemas.openxmlformats.org/drawingml/2006/main">
            <a:r>
              <a:t>- Generated educational illustration based on the project's cat-dog-airplane analogy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Cat-photos model vs cat-sentences model. PRH as the frame; my testable form: one linear map, both models frozen.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CKA matrix, ~1 min. First evidence that convergence exists; the hubness correction is the honest footnote. Bridge: 'so WHAT is shared, and how cheaply does it move?'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questions, three rules. The cat/dog example: query must rank the right cat above a dog scoring 0.31.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B flow, ~1.5 min. Emphasise: task-free connector - fitted to match representations, never the objective.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numbers. Then the pivot: task-free beats task-trained by 88.4% - evidence about representations, and the motivation for the hub.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Hub construction, ~1.5 min. 42 pairwise maps vs 7 entry maps + one head. Point at the red card - the diagram is older than the cliff resolution, and we correct in place rather than hide.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table. Punchline: ConvNeXt - different architecture AND supervision - lands ABOVE the family band. Control at chance.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scientific finding. Coordinates never match; neighbourhoods do. Figure is measured Table C12h data.</a:t>
            </a:r>
            <a:endParaRPr/>
          </a:p>
          <a:p xmlns:a="http://schemas.openxmlformats.org/drawingml/2006/main">
            <a:r>
              <a:t>The cat-dog-airplane diagram is qualitative: cat and dog remain local neighbours in both spaces, while the changed airplane direction and distance show that global geometry is not preserved.</a:t>
            </a:r>
            <a:endParaRPr/>
          </a:p>
          <a:p xmlns:a="http://schemas.openxmlformats.org/drawingml/2006/main">
            <a:r>
              <a:t>The illustration does not use a fitted map and does not claim identical coordinates.</a:t>
            </a:r>
            <a:endParaRPr/>
          </a:p>
          <a:p xmlns:a="http://schemas.openxmlformats.org/drawingml/2006/main">
            <a:r>
              <a:t/>
            </a:r>
            <a:endParaRPr/>
          </a:p>
          <a:p xmlns:a="http://schemas.openxmlformats.org/drawingml/2006/main">
            <a:r>
              <a:t>[Sources]</a:t>
            </a:r>
            <a:endParaRPr/>
          </a:p>
          <a:p xmlns:a="http://schemas.openxmlformats.org/drawingml/2006/main">
            <a:r>
              <a:t>- Project measurements and interpretation already documented on this slide.</a:t>
            </a:r>
            <a:endParaRPr/>
          </a:p>
          <a:p xmlns:a="http://schemas.openxmlformats.org/drawingml/2006/main">
            <a:r>
              <a:t>- Original educational illustration generated for this presentation.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G5's +53/+44/+29; isotropy two-instance meta-finding; GPT-2 as the anisotropy case study with the whitening rescue.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G10 in one slide: composition sensitivity (left), target-in-hub overlap +3.0pt isolated (right). Declared, not hidden.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falsification story - the project's proudest method result. Eleven-entry ledger, two our own errors, mechanism confirmed at single-direction resolution.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engineering claims, each with a number. The innovation is the discipline as much as the artifact.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 in one table - including the honest failures at the bottom.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E.10 in one slide. The takeaway line at the bottom is the anti-circularity argument.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 one column literature, one column models and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Atlas next-test table, led by the new reverse-direction row. B1 is the one pre-registered item not yet run - said out loud.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one-paragraph summary and four numbers. Stop at 19-20 minutes; leave the last beat for silence.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appendix: shape agreement asks whether near remains near and far remains far without fitting a map. Project values shown: image-image 0.56, image-text 0.29, text-text 0.40, bge-SBERT 0.76.</a:t>
            </a:r>
            <a:endParaRPr/>
          </a:p>
          <a:p xmlns:a="http://schemas.openxmlformats.org/drawingml/2006/main">
            <a:r>
              <a:t/>
            </a:r>
            <a:endParaRPr/>
          </a:p>
          <a:p xmlns:a="http://schemas.openxmlformats.org/drawingml/2006/main">
            <a:r>
              <a:t>[Sources]</a:t>
            </a:r>
            <a:endParaRPr/>
          </a:p>
          <a:p xmlns:a="http://schemas.openxmlformats.org/drawingml/2006/main">
            <a:r>
              <a:t>- Project measurements and corrected educational diagram supplied by the project author.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appendix: corrected MobileCLIP-SigLIP summary. Raw same-image cosine is approximately zero; distance-rank correlation is +0.681; neighbour overlap is 0.671 versus 0.025 chance, or 27 times chance; after one linear map, same-image cosine is +0.900.</a:t>
            </a:r>
            <a:endParaRPr/>
          </a:p>
          <a:p xmlns:a="http://schemas.openxmlformats.org/drawingml/2006/main">
            <a:r>
              <a:t/>
            </a:r>
            <a:endParaRPr/>
          </a:p>
          <a:p xmlns:a="http://schemas.openxmlformats.org/drawingml/2006/main">
            <a:r>
              <a:t>[Sources]</a:t>
            </a:r>
            <a:endParaRPr/>
          </a:p>
          <a:p xmlns:a="http://schemas.openxmlformats.org/drawingml/2006/main">
            <a:r>
              <a:t>- Project measurements and corrected educational diagram supplied by the project author.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appendix: seven independent entry maps into the neutral 512-dimensional Hub. One dominant GPT-2 direction indicates a collapsed space with effective rank 6.6, while learned Hub read-out retains 95.1% and verification AUC is 0.9994.</a:t>
            </a:r>
            <a:endParaRPr/>
          </a:p>
          <a:p xmlns:a="http://schemas.openxmlformats.org/drawingml/2006/main">
            <a:r>
              <a:t/>
            </a:r>
            <a:endParaRPr/>
          </a:p>
          <a:p xmlns:a="http://schemas.openxmlformats.org/drawingml/2006/main">
            <a:r>
              <a:t>[Sources]</a:t>
            </a:r>
            <a:endParaRPr/>
          </a:p>
          <a:p xmlns:a="http://schemas.openxmlformats.org/drawingml/2006/main">
            <a:r>
              <a:t>- Project measurements and corrected educational diagram supplied by the project author.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appendix: ridge objective includes alpha times the squared Frobenius norm of W, with alpha 1e-2. The MLP plateaus by epoch 10 and reaches the same held-out cosine, 0.9183; measured extra gain is +0.0000.</a:t>
            </a:r>
            <a:endParaRPr/>
          </a:p>
          <a:p xmlns:a="http://schemas.openxmlformats.org/drawingml/2006/main">
            <a:r>
              <a:t/>
            </a:r>
            <a:endParaRPr/>
          </a:p>
          <a:p xmlns:a="http://schemas.openxmlformats.org/drawingml/2006/main">
            <a:r>
              <a:t>[Sources]</a:t>
            </a:r>
            <a:endParaRPr/>
          </a:p>
          <a:p xmlns:a="http://schemas.openxmlformats.org/drawingml/2006/main">
            <a:r>
              <a:t>- Project measurements and corrected educational diagram supplied by the project author.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appendix: all 21 pairs of the seven-space Hub are compared without a fitted map. Mean shape agreement is 0.56 image-image, 0.29 image-text, and 0.40 text-text; bge-SBERT is the highest pair at 0.76.</a:t>
            </a:r>
            <a:endParaRPr/>
          </a:p>
          <a:p xmlns:a="http://schemas.openxmlformats.org/drawingml/2006/main">
            <a:r>
              <a:t/>
            </a:r>
            <a:endParaRPr/>
          </a:p>
          <a:p xmlns:a="http://schemas.openxmlformats.org/drawingml/2006/main">
            <a:r>
              <a:t>[Sources]</a:t>
            </a:r>
            <a:endParaRPr/>
          </a:p>
          <a:p xmlns:a="http://schemas.openxmlformats.org/drawingml/2006/main">
            <a:r>
              <a:t>- Project measurements and corrected educational diagram supplied by the project author.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3e7dae7f8a41f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0bb1614f0d41c0" /><Relationship Type="http://schemas.openxmlformats.org/officeDocument/2006/relationships/slideLayout" Target="/ppt/slideLayouts/slideLayout1.xml" Id="Rcf1e11056a4343f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1e11056a4343f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967cbf03024552" /><Relationship Type="http://schemas.openxmlformats.org/officeDocument/2006/relationships/notesSlide" Target="/ppt/notesSlides/notesSlide1.xml" Id="R56968e123bb24a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4c715e61374e0a" /><Relationship Type="http://schemas.openxmlformats.org/officeDocument/2006/relationships/notesSlide" Target="/ppt/notesSlides/notesSlide2.xml" Id="R9cea8736e4e641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25b1962fa74ffd" /><Relationship Type="http://schemas.openxmlformats.org/officeDocument/2006/relationships/notesSlide" Target="/ppt/notesSlides/notesSlide3.xml" Id="R308881960b8b42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63939524594d4c" /><Relationship Type="http://schemas.openxmlformats.org/officeDocument/2006/relationships/image" Target="/ppt/media/image.png" Id="Rb5ce51822cdc44a9" /><Relationship Type="http://schemas.openxmlformats.org/officeDocument/2006/relationships/notesSlide" Target="/ppt/notesSlides/notesSlide4.xml" Id="R4af3772aede54f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0f3e4d0c1c418a" /><Relationship Type="http://schemas.openxmlformats.org/officeDocument/2006/relationships/image" Target="/ppt/media/image2.png" Id="Rf613f88390e64153" /><Relationship Type="http://schemas.openxmlformats.org/officeDocument/2006/relationships/notesSlide" Target="/ppt/notesSlides/notesSlide5.xml" Id="R5f0d3b00303b45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405160f3e54666" /><Relationship Type="http://schemas.openxmlformats.org/officeDocument/2006/relationships/image" Target="/ppt/media/image3.png" Id="R7d511eb5ba164df1" /><Relationship Type="http://schemas.openxmlformats.org/officeDocument/2006/relationships/notesSlide" Target="/ppt/notesSlides/notesSlide6.xml" Id="R5fdd7bb5333743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3c67f0b0a346d7" /><Relationship Type="http://schemas.openxmlformats.org/officeDocument/2006/relationships/notesSlide" Target="/ppt/notesSlides/notesSlide7.xml" Id="R18c5786109944c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a8ae5baaf14f3c" /><Relationship Type="http://schemas.openxmlformats.org/officeDocument/2006/relationships/notesSlide" Target="/ppt/notesSlides/notesSlide8.xml" Id="R8535b4fcad8649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5b8bb3c2884ff9" /><Relationship Type="http://schemas.openxmlformats.org/officeDocument/2006/relationships/image" Target="/ppt/media/image4.png" Id="R245627fff07b4441" /><Relationship Type="http://schemas.openxmlformats.org/officeDocument/2006/relationships/notesSlide" Target="/ppt/notesSlides/notesSlide9.xml" Id="R22dd847337814c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322b87d60442b2" /><Relationship Type="http://schemas.openxmlformats.org/officeDocument/2006/relationships/image" Target="/ppt/media/image5.png" Id="R94f6ae9c8a8f478f" /><Relationship Type="http://schemas.openxmlformats.org/officeDocument/2006/relationships/notesSlide" Target="/ppt/notesSlides/notesSlide10.xml" Id="Rfa6031fc905a46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40d422e8d14778" /><Relationship Type="http://schemas.openxmlformats.org/officeDocument/2006/relationships/image" Target="/ppt/media/image6.png" Id="R4bf22760594e4db1" /><Relationship Type="http://schemas.openxmlformats.org/officeDocument/2006/relationships/notesSlide" Target="/ppt/notesSlides/notesSlide11.xml" Id="R3de1c49e577644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945d49a6064b28" /><Relationship Type="http://schemas.openxmlformats.org/officeDocument/2006/relationships/image" Target="/ppt/media/image7.png" Id="R9d90e607cd9f4e57" /><Relationship Type="http://schemas.openxmlformats.org/officeDocument/2006/relationships/image" Target="/ppt/media/image8.png" Id="Rb6f65520db6144c3" /><Relationship Type="http://schemas.openxmlformats.org/officeDocument/2006/relationships/notesSlide" Target="/ppt/notesSlides/notesSlide12.xml" Id="R7cef8c4ef7034a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45420c33137407b" /><Relationship Type="http://schemas.openxmlformats.org/officeDocument/2006/relationships/notesSlide" Target="/ppt/notesSlides/notesSlide13.xml" Id="R739fe8fb2ab542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cf582ea9a346e7" /><Relationship Type="http://schemas.openxmlformats.org/officeDocument/2006/relationships/image" Target="/ppt/media/image9.png" Id="R05c603bd971848ce" /><Relationship Type="http://schemas.openxmlformats.org/officeDocument/2006/relationships/image" Target="/ppt/media/image10.png" Id="R2649c9af598b40fa" /><Relationship Type="http://schemas.openxmlformats.org/officeDocument/2006/relationships/notesSlide" Target="/ppt/notesSlides/notesSlide14.xml" Id="Raea9766321fb44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8f45102c5da424a" /><Relationship Type="http://schemas.openxmlformats.org/officeDocument/2006/relationships/image" Target="/ppt/media/image11.png" Id="Ra2bc82d33adc49e5" /><Relationship Type="http://schemas.openxmlformats.org/officeDocument/2006/relationships/notesSlide" Target="/ppt/notesSlides/notesSlide15.xml" Id="R2b2232917dec477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4538c45d81489a" /><Relationship Type="http://schemas.openxmlformats.org/officeDocument/2006/relationships/image" Target="/ppt/media/image12.png" Id="R91b5c6e004634a24" /><Relationship Type="http://schemas.openxmlformats.org/officeDocument/2006/relationships/notesSlide" Target="/ppt/notesSlides/notesSlide16.xml" Id="Rfd5516a3d64a4e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4b11aeb359946ba" /><Relationship Type="http://schemas.openxmlformats.org/officeDocument/2006/relationships/notesSlide" Target="/ppt/notesSlides/notesSlide17.xml" Id="Rb157bb28484749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db9f4f8ee9649f3" /><Relationship Type="http://schemas.openxmlformats.org/officeDocument/2006/relationships/notesSlide" Target="/ppt/notesSlides/notesSlide18.xml" Id="Rea4a57cf8a9c4b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e2cbae3c8804606" /><Relationship Type="http://schemas.openxmlformats.org/officeDocument/2006/relationships/notesSlide" Target="/ppt/notesSlides/notesSlide19.xml" Id="R7c11e3d94cc44c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7872423bd5c46ec" /><Relationship Type="http://schemas.openxmlformats.org/officeDocument/2006/relationships/notesSlide" Target="/ppt/notesSlides/notesSlide20.xml" Id="Rc043ebf60f354a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a586fb5eb6c4b4d" /><Relationship Type="http://schemas.openxmlformats.org/officeDocument/2006/relationships/image" Target="/ppt/media/image13.png" Id="R9f2a0a6f708b492b" /><Relationship Type="http://schemas.openxmlformats.org/officeDocument/2006/relationships/notesSlide" Target="/ppt/notesSlides/notesSlide21.xml" Id="Raa16d771b61e44f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58179960d654cef" /><Relationship Type="http://schemas.openxmlformats.org/officeDocument/2006/relationships/image" Target="/ppt/media/image.jpeg" Id="Ree9bf4d983394e55" /><Relationship Type="http://schemas.openxmlformats.org/officeDocument/2006/relationships/notesSlide" Target="/ppt/notesSlides/notesSlide22.xml" Id="Rb9a83ab3c03c470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b02f94260814bb5" /><Relationship Type="http://schemas.openxmlformats.org/officeDocument/2006/relationships/image" Target="/ppt/media/image2.jpeg" Id="R8f9ba46f0a204413" /><Relationship Type="http://schemas.openxmlformats.org/officeDocument/2006/relationships/notesSlide" Target="/ppt/notesSlides/notesSlide23.xml" Id="Rb734b423464a429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e7bc4bee8af4963" /><Relationship Type="http://schemas.openxmlformats.org/officeDocument/2006/relationships/image" Target="/ppt/media/image3.jpeg" Id="Rbb25dca4f88e4cd3" /><Relationship Type="http://schemas.openxmlformats.org/officeDocument/2006/relationships/notesSlide" Target="/ppt/notesSlides/notesSlide24.xml" Id="Rfcddbcd9e4b546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b77999d22494e22" /><Relationship Type="http://schemas.openxmlformats.org/officeDocument/2006/relationships/image" Target="/ppt/media/image4.jpeg" Id="R4e01d2b8b63f4f73" /><Relationship Type="http://schemas.openxmlformats.org/officeDocument/2006/relationships/notesSlide" Target="/ppt/notesSlides/notesSlide25.xml" Id="R4e50caadb8cb44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12b055493b243bd" /><Relationship Type="http://schemas.openxmlformats.org/officeDocument/2006/relationships/image" Target="/ppt/media/image5.jpeg" Id="Ra042f19f42ee44bb" /><Relationship Type="http://schemas.openxmlformats.org/officeDocument/2006/relationships/notesSlide" Target="/ppt/notesSlides/notesSlide26.xml" Id="R75172e9639ce473d"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B7555B4-2BBC-4D17-BEF9-81A0D17CFD7F}"/>
              </a:ext>
            </a:extLst>
          </p:cNvPr>
          <p:cNvSpPr>
            <a:spLocks xmlns:a="http://schemas.openxmlformats.org/drawingml/2006/main" noGrp="1"/>
          </p:cNvSpPr>
          <p:nvPr/>
        </p:nvSpPr>
        <p:spPr>
          <a:xfrm xmlns:a="http://schemas.openxmlformats.org/drawingml/2006/main">
            <a:off x="731520" y="1600200"/>
            <a:ext cx="10698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400">
                <a:solidFill>
                  <a:srgbClr val="CADCFC"/>
                </a:solidFill>
                <a:latin typeface="Calibri"/>
                <a:ea typeface="Calibri"/>
                <a:cs typeface="Calibri"/>
              </a:rPr>
              <a:t>ONE WORLD, MANY ENCODERS</a:t>
            </a:r>
            <a:endParaRPr sz="1300"/>
          </a:p>
        </p:txBody>
      </p:sp>
      <p:sp>
        <p:nvSpPr>
          <p:cNvPr id="3" name="Text 1">
            <a:extLst xmlns:a="http://schemas.openxmlformats.org/drawingml/2006/main">
              <a:ext uri="{FF2B5EF4-FFF2-40B4-BE49-F238E27FC236}">
                <a16:creationId xmlns:a16="http://schemas.microsoft.com/office/drawing/2014/main" id="{84C256C9-7136-49FB-A1FE-C622410F4450}"/>
              </a:ext>
            </a:extLst>
          </p:cNvPr>
          <p:cNvSpPr>
            <a:spLocks xmlns:a="http://schemas.openxmlformats.org/drawingml/2006/main" noGrp="1"/>
          </p:cNvSpPr>
          <p:nvPr/>
        </p:nvSpPr>
        <p:spPr>
          <a:xfrm xmlns:a="http://schemas.openxmlformats.org/drawingml/2006/main">
            <a:off x="731520" y="2011680"/>
            <a:ext cx="106984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400" b="1">
                <a:solidFill>
                  <a:srgbClr val="FFFFFF"/>
                </a:solidFill>
                <a:latin typeface="Cambria"/>
                <a:ea typeface="Cambria"/>
                <a:cs typeface="Cambria"/>
              </a:rPr>
              <a:t>Representation Convergence</a:t>
            </a:r>
            <a:endParaRPr sz="4400"/>
          </a:p>
        </p:txBody>
      </p:sp>
      <p:sp>
        <p:nvSpPr>
          <p:cNvPr id="4" name="Text 2">
            <a:extLst xmlns:a="http://schemas.openxmlformats.org/drawingml/2006/main">
              <a:ext uri="{FF2B5EF4-FFF2-40B4-BE49-F238E27FC236}">
                <a16:creationId xmlns:a16="http://schemas.microsoft.com/office/drawing/2014/main" id="{E34998C0-B3DF-4596-9053-2C6746D20F5D}"/>
              </a:ext>
            </a:extLst>
          </p:cNvPr>
          <p:cNvSpPr>
            <a:spLocks xmlns:a="http://schemas.openxmlformats.org/drawingml/2006/main" noGrp="1"/>
          </p:cNvSpPr>
          <p:nvPr/>
        </p:nvSpPr>
        <p:spPr>
          <a:xfrm xmlns:a="http://schemas.openxmlformats.org/drawingml/2006/main">
            <a:off x="1737360" y="3063240"/>
            <a:ext cx="8686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i="1">
                <a:solidFill>
                  <a:srgbClr val="CADCFC"/>
                </a:solidFill>
                <a:latin typeface="Calibri"/>
                <a:ea typeface="Calibri"/>
                <a:cs typeface="Calibri"/>
              </a:rPr>
              <a:t>Do independently trained models learn the same geometry — and can one matrix move knowledge between them?</a:t>
            </a:r>
            <a:endParaRPr sz="1700"/>
          </a:p>
        </p:txBody>
      </p:sp>
      <p:sp>
        <p:nvSpPr>
          <p:cNvPr id="5" name="Text 3">
            <a:extLst xmlns:a="http://schemas.openxmlformats.org/drawingml/2006/main">
              <a:ext uri="{FF2B5EF4-FFF2-40B4-BE49-F238E27FC236}">
                <a16:creationId xmlns:a16="http://schemas.microsoft.com/office/drawing/2014/main" id="{D46D00E7-2387-4D40-9C5A-B1534DD81ED0}"/>
              </a:ext>
            </a:extLst>
          </p:cNvPr>
          <p:cNvSpPr>
            <a:spLocks xmlns:a="http://schemas.openxmlformats.org/drawingml/2006/main" noGrp="1"/>
          </p:cNvSpPr>
          <p:nvPr/>
        </p:nvSpPr>
        <p:spPr>
          <a:xfrm xmlns:a="http://schemas.openxmlformats.org/drawingml/2006/main">
            <a:off x="1737360" y="4160520"/>
            <a:ext cx="8686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8FA3D9"/>
                </a:solidFill>
                <a:latin typeface="Calibri"/>
                <a:ea typeface="Calibri"/>
                <a:cs typeface="Calibri"/>
              </a:rPr>
              <a:t>Final project defense · 8 encoders · 9 findings · 11 falsified explanations · 20 minutes</a:t>
            </a:r>
            <a:endParaRPr sz="1200"/>
          </a:p>
        </p:txBody>
      </p:sp>
    </p:spTree>
    <p:extLst>
      <p:ext uri="{BB962C8B-B14F-4D97-AF65-F5344CB8AC3E}">
        <p14:creationId xmlns:p14="http://schemas.microsoft.com/office/powerpoint/2010/main" val="21172360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ED43CD-7765-4DD6-8336-2AA8A5A5B72C}"/>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MOTIVATION</a:t>
            </a:r>
            <a:endParaRPr sz="1100"/>
          </a:p>
        </p:txBody>
      </p:sp>
      <p:sp>
        <p:nvSpPr>
          <p:cNvPr id="3" name="Text 1">
            <a:extLst xmlns:a="http://schemas.openxmlformats.org/drawingml/2006/main">
              <a:ext uri="{FF2B5EF4-FFF2-40B4-BE49-F238E27FC236}">
                <a16:creationId xmlns:a16="http://schemas.microsoft.com/office/drawing/2014/main" id="{F0D48334-D226-43AD-A147-80A1D8E6F3B1}"/>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Why this project</a:t>
            </a:r>
            <a:endParaRPr sz="3000"/>
          </a:p>
        </p:txBody>
      </p:sp>
      <p:sp>
        <p:nvSpPr>
          <p:cNvPr id="4" name="Text 2">
            <a:extLst xmlns:a="http://schemas.openxmlformats.org/drawingml/2006/main">
              <a:ext uri="{FF2B5EF4-FFF2-40B4-BE49-F238E27FC236}">
                <a16:creationId xmlns:a16="http://schemas.microsoft.com/office/drawing/2014/main" id="{991CCCE9-1BE6-455B-8FF4-5B7A7818E096}"/>
              </a:ext>
            </a:extLst>
          </p:cNvPr>
          <p:cNvSpPr>
            <a:spLocks xmlns:a="http://schemas.openxmlformats.org/drawingml/2006/main" noGrp="1"/>
          </p:cNvSpPr>
          <p:nvPr/>
        </p:nvSpPr>
        <p:spPr>
          <a:xfrm xmlns:a="http://schemas.openxmlformats.org/drawingml/2006/main">
            <a:off x="502920" y="1417320"/>
            <a:ext cx="6400800" cy="4754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450">
                <a:solidFill>
                  <a:srgbClr val="1A1A2E"/>
                </a:solidFill>
                <a:latin typeface="Calibri"/>
                <a:ea typeface="Calibri"/>
                <a:cs typeface="Calibri"/>
              </a:rPr>
              <a:t>What fascinates me is what happens behind the scenes of a model — not the demo, the mechanism.</a:t>
            </a:r>
            <a:endParaRPr sz="1450"/>
          </a:p>
          <a:p xmlns:a="http://schemas.openxmlformats.org/drawingml/2006/main">
            <a:pPr marL="152400" indent="-152400">
              <a:spcAft>
                <a:spcPts val="800"/>
              </a:spcAft>
              <a:buSzPct val="100000"/>
              <a:buChar char="•"/>
            </a:pPr>
            <a:r>
              <a:rPr sz="1450">
                <a:solidFill>
                  <a:srgbClr val="1A1A2E"/>
                </a:solidFill>
                <a:latin typeface="Calibri"/>
                <a:ea typeface="Calibri"/>
                <a:cs typeface="Calibri"/>
              </a:rPr>
              <a:t>My background is hybrid — databases and vision, engineering and ‘spirit and matter’. In databases, correlations between features are explicit: a schema, a join, a key. In vision they are implicit — similar in kind, different in form.</a:t>
            </a:r>
            <a:endParaRPr sz="1450"/>
          </a:p>
          <a:p xmlns:a="http://schemas.openxmlformats.org/drawingml/2006/main">
            <a:pPr marL="152400" indent="-152400">
              <a:spcAft>
                <a:spcPts val="800"/>
              </a:spcAft>
              <a:buSzPct val="100000"/>
              <a:buChar char="•"/>
            </a:pPr>
            <a:r>
              <a:rPr sz="1450">
                <a:solidFill>
                  <a:srgbClr val="1A1A2E"/>
                </a:solidFill>
                <a:latin typeface="Calibri"/>
                <a:ea typeface="Calibri"/>
                <a:cs typeface="Calibri"/>
              </a:rPr>
              <a:t>Training itself pulled me in: weights, hyper-parameters, attention, NLP — a world of algorithmics, networks and prediction whose real product is discovered regularity in data.</a:t>
            </a:r>
            <a:endParaRPr sz="1450"/>
          </a:p>
          <a:p xmlns:a="http://schemas.openxmlformats.org/drawingml/2006/main">
            <a:pPr marL="152400" indent="-152400">
              <a:spcAft>
                <a:spcPts val="800"/>
              </a:spcAft>
              <a:buSzPct val="100000"/>
              <a:buChar char="•"/>
            </a:pPr>
            <a:r>
              <a:rPr sz="1450">
                <a:solidFill>
                  <a:srgbClr val="1A1A2E"/>
                </a:solidFill>
                <a:latin typeface="Calibri"/>
                <a:ea typeface="Calibri"/>
                <a:cs typeface="Calibri"/>
              </a:rPr>
              <a:t>The question that stuck: when two systems each discover regularity separately — do they discover the same one?</a:t>
            </a:r>
            <a:endParaRPr sz="1450"/>
          </a:p>
        </p:txBody>
      </p:sp>
      <p:sp>
        <p:nvSpPr>
          <p:cNvPr id="5" name="Shape 3">
            <a:extLst xmlns:a="http://schemas.openxmlformats.org/drawingml/2006/main">
              <a:ext uri="{FF2B5EF4-FFF2-40B4-BE49-F238E27FC236}">
                <a16:creationId xmlns:a16="http://schemas.microsoft.com/office/drawing/2014/main" id="{C9838E21-47DC-4FED-87DB-DC27D85ACE44}"/>
              </a:ext>
            </a:extLst>
          </p:cNvPr>
          <p:cNvSpPr>
            <a:spLocks xmlns:a="http://schemas.openxmlformats.org/drawingml/2006/main" noGrp="1"/>
          </p:cNvSpPr>
          <p:nvPr/>
        </p:nvSpPr>
        <p:spPr>
          <a:xfrm xmlns:a="http://schemas.openxmlformats.org/drawingml/2006/main">
            <a:off x="7315200" y="1554480"/>
            <a:ext cx="4297680" cy="4206240"/>
          </a:xfrm>
          <a:prstGeom xmlns:a="http://schemas.openxmlformats.org/drawingml/2006/main" prst="roundRect">
            <a:avLst>
              <a:gd name="adj" fmla="val 1739"/>
            </a:avLst>
          </a:prstGeom>
          <a:solidFill xmlns:a="http://schemas.openxmlformats.org/drawingml/2006/main">
            <a:srgbClr val="F2F5FB"/>
          </a:solidFill>
        </p:spPr>
      </p:sp>
      <p:sp>
        <p:nvSpPr>
          <p:cNvPr id="6" name="Text 4">
            <a:extLst xmlns:a="http://schemas.openxmlformats.org/drawingml/2006/main">
              <a:ext uri="{FF2B5EF4-FFF2-40B4-BE49-F238E27FC236}">
                <a16:creationId xmlns:a16="http://schemas.microsoft.com/office/drawing/2014/main" id="{D2643919-D767-4963-B7C4-131C8381E1AE}"/>
              </a:ext>
            </a:extLst>
          </p:cNvPr>
          <p:cNvSpPr>
            <a:spLocks xmlns:a="http://schemas.openxmlformats.org/drawingml/2006/main" noGrp="1"/>
          </p:cNvSpPr>
          <p:nvPr/>
        </p:nvSpPr>
        <p:spPr>
          <a:xfrm xmlns:a="http://schemas.openxmlformats.org/drawingml/2006/main">
            <a:off x="7635240" y="182880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E2761"/>
                </a:solidFill>
                <a:latin typeface="Cambria"/>
                <a:ea typeface="Cambria"/>
                <a:cs typeface="Cambria"/>
              </a:rPr>
              <a:t>Two worlds, one habit</a:t>
            </a:r>
            <a:endParaRPr sz="1500"/>
          </a:p>
        </p:txBody>
      </p:sp>
      <p:sp>
        <p:nvSpPr>
          <p:cNvPr id="7" name="Text 5">
            <a:extLst xmlns:a="http://schemas.openxmlformats.org/drawingml/2006/main">
              <a:ext uri="{FF2B5EF4-FFF2-40B4-BE49-F238E27FC236}">
                <a16:creationId xmlns:a16="http://schemas.microsoft.com/office/drawing/2014/main" id="{127EEC4E-7D54-4F08-8368-4AE51C9E5A14}"/>
              </a:ext>
            </a:extLst>
          </p:cNvPr>
          <p:cNvSpPr>
            <a:spLocks xmlns:a="http://schemas.openxmlformats.org/drawingml/2006/main" noGrp="1"/>
          </p:cNvSpPr>
          <p:nvPr/>
        </p:nvSpPr>
        <p:spPr>
          <a:xfrm xmlns:a="http://schemas.openxmlformats.org/drawingml/2006/main">
            <a:off x="7635240" y="2240280"/>
            <a:ext cx="370332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A1A2E"/>
                </a:solidFill>
                <a:latin typeface="Calibri"/>
                <a:ea typeface="Calibri"/>
                <a:cs typeface="Calibri"/>
              </a:rPr>
              <a:t>Database features:  </a:t>
            </a:r>
            <a:r>
              <a:rPr sz="1250">
                <a:solidFill>
                  <a:srgbClr val="1A1A2E"/>
                </a:solidFill>
                <a:latin typeface="Calibri"/>
                <a:ea typeface="Calibri"/>
                <a:cs typeface="Calibri"/>
              </a:rPr>
              <a:t>price ↔ demand, age ↔ churn — correlation you can name.
</a:t>
            </a:r>
            <a:r>
              <a:rPr sz="1250" b="1">
                <a:solidFill>
                  <a:srgbClr val="1A1A2E"/>
                </a:solidFill>
                <a:latin typeface="Calibri"/>
                <a:ea typeface="Calibri"/>
                <a:cs typeface="Calibri"/>
              </a:rPr>
              <a:t>Vision features:  </a:t>
            </a:r>
            <a:r>
              <a:rPr sz="1250">
                <a:solidFill>
                  <a:srgbClr val="1A1A2E"/>
                </a:solidFill>
                <a:latin typeface="Calibri"/>
                <a:ea typeface="Calibri"/>
                <a:cs typeface="Calibri"/>
              </a:rPr>
              <a:t>edge ↔ texture ↔ ‘cat-ness’ — correlation nobody wrote down, learned from pixels alone.
</a:t>
            </a:r>
            <a:r>
              <a:rPr sz="1250" i="1">
                <a:solidFill>
                  <a:srgbClr val="1A1A2E"/>
                </a:solidFill>
                <a:latin typeface="Calibri"/>
                <a:ea typeface="Calibri"/>
                <a:cs typeface="Calibri"/>
              </a:rPr>
              <a:t>Similar, but different — </a:t>
            </a:r>
            <a:r>
              <a:rPr sz="1250">
                <a:solidFill>
                  <a:srgbClr val="1A1A2E"/>
                </a:solidFill>
                <a:latin typeface="Calibri"/>
                <a:ea typeface="Calibri"/>
                <a:cs typeface="Calibri"/>
              </a:rPr>
              <a:t>and both are ultimately geometry over data.</a:t>
            </a:r>
            <a:endParaRPr sz="1250"/>
          </a:p>
        </p:txBody>
      </p:sp>
    </p:spTree>
    <p:extLst>
      <p:ext uri="{BB962C8B-B14F-4D97-AF65-F5344CB8AC3E}">
        <p14:creationId xmlns:p14="http://schemas.microsoft.com/office/powerpoint/2010/main" val="10542480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A9B22A-3A1D-4240-BDBD-E32F30DF00B7}"/>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MOTIVATION</a:t>
            </a:r>
            <a:endParaRPr sz="1100"/>
          </a:p>
        </p:txBody>
      </p:sp>
      <p:sp>
        <p:nvSpPr>
          <p:cNvPr id="3" name="Text 1">
            <a:extLst xmlns:a="http://schemas.openxmlformats.org/drawingml/2006/main">
              <a:ext uri="{FF2B5EF4-FFF2-40B4-BE49-F238E27FC236}">
                <a16:creationId xmlns:a16="http://schemas.microsoft.com/office/drawing/2014/main" id="{CBF11579-9CEE-4520-8C87-5D45B8839CC7}"/>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Patterns in nature, alchemy in training</a:t>
            </a:r>
            <a:endParaRPr sz="3000"/>
          </a:p>
        </p:txBody>
      </p:sp>
      <p:sp>
        <p:nvSpPr>
          <p:cNvPr id="4" name="Text 2">
            <a:extLst xmlns:a="http://schemas.openxmlformats.org/drawingml/2006/main">
              <a:ext uri="{FF2B5EF4-FFF2-40B4-BE49-F238E27FC236}">
                <a16:creationId xmlns:a16="http://schemas.microsoft.com/office/drawing/2014/main" id="{2AF7AD20-23EA-4554-A1E7-906B996CDF90}"/>
              </a:ext>
            </a:extLst>
          </p:cNvPr>
          <p:cNvSpPr>
            <a:spLocks xmlns:a="http://schemas.openxmlformats.org/drawingml/2006/main" noGrp="1"/>
          </p:cNvSpPr>
          <p:nvPr/>
        </p:nvSpPr>
        <p:spPr>
          <a:xfrm xmlns:a="http://schemas.openxmlformats.org/drawingml/2006/main">
            <a:off x="502920" y="1417320"/>
            <a:ext cx="6583680" cy="4754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450">
                <a:solidFill>
                  <a:srgbClr val="1A1A2E"/>
                </a:solidFill>
                <a:latin typeface="Calibri"/>
                <a:ea typeface="Calibri"/>
                <a:cs typeface="Calibri"/>
              </a:rPr>
              <a:t>I started from recurring patterns that invite a scientific explanation: fractal-like branching in coastlines, ferns and lungs (approximate self-similarity, not identical fractals); Fibonacci-related spirals and the golden ANGLE in plant growth; and even popular but scientifically questionable claims about historical cycles — empires falling on a fixed clock, leaders arriving on schedule.</a:t>
            </a:r>
            <a:endParaRPr sz="1450"/>
          </a:p>
          <a:p xmlns:a="http://schemas.openxmlformats.org/drawingml/2006/main">
            <a:pPr marL="152400" indent="-152400">
              <a:spcAft>
                <a:spcPts val="800"/>
              </a:spcAft>
              <a:buSzPct val="100000"/>
              <a:buChar char="•"/>
            </a:pPr>
            <a:r>
              <a:rPr sz="1450">
                <a:solidFill>
                  <a:srgbClr val="1A1A2E"/>
                </a:solidFill>
                <a:latin typeface="Calibri"/>
                <a:ea typeface="Calibri"/>
                <a:cs typeface="Calibri"/>
              </a:rPr>
              <a:t>Deep learning felt like the same mystery, engineered: start from RANDOM weights, show examples, and arrive at weights that recognise a face or predict the next word. Correlation appears between variables with no apparent link.</a:t>
            </a:r>
            <a:endParaRPr sz="1450"/>
          </a:p>
          <a:p xmlns:a="http://schemas.openxmlformats.org/drawingml/2006/main">
            <a:pPr marL="152400" indent="-152400">
              <a:spcAft>
                <a:spcPts val="800"/>
              </a:spcAft>
              <a:buSzPct val="100000"/>
              <a:buChar char="•"/>
            </a:pPr>
            <a:r>
              <a:rPr sz="1450">
                <a:solidFill>
                  <a:srgbClr val="1A1A2E"/>
                </a:solidFill>
                <a:latin typeface="Calibri"/>
                <a:ea typeface="Calibri"/>
                <a:cs typeface="Calibri"/>
              </a:rPr>
              <a:t>The disciplined question underneath all of them: when we perceive a recurring structure, how do we tell whether it is real, measurable and explanatory rather than coincidence or folklore? That is alchemy only until you measure it — and a learned representation is a geometric object, so it CAN be measured and compared.</a:t>
            </a:r>
            <a:endParaRPr sz="1450"/>
          </a:p>
        </p:txBody>
      </p:sp>
      <p:sp>
        <p:nvSpPr>
          <p:cNvPr id="5" name="Shape 3">
            <a:extLst xmlns:a="http://schemas.openxmlformats.org/drawingml/2006/main">
              <a:ext uri="{FF2B5EF4-FFF2-40B4-BE49-F238E27FC236}">
                <a16:creationId xmlns:a16="http://schemas.microsoft.com/office/drawing/2014/main" id="{16C9D3DB-DDC6-4DC8-A85A-3A2F75B7F49F}"/>
              </a:ext>
            </a:extLst>
          </p:cNvPr>
          <p:cNvSpPr>
            <a:spLocks xmlns:a="http://schemas.openxmlformats.org/drawingml/2006/main" noGrp="1"/>
          </p:cNvSpPr>
          <p:nvPr/>
        </p:nvSpPr>
        <p:spPr>
          <a:xfrm xmlns:a="http://schemas.openxmlformats.org/drawingml/2006/main">
            <a:off x="7498080" y="1554480"/>
            <a:ext cx="4114800" cy="4206240"/>
          </a:xfrm>
          <a:prstGeom xmlns:a="http://schemas.openxmlformats.org/drawingml/2006/main" prst="roundRect">
            <a:avLst>
              <a:gd name="adj" fmla="val 1778"/>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49E737B0-CB72-47D8-8F3E-806FCCBC10EE}"/>
              </a:ext>
            </a:extLst>
          </p:cNvPr>
          <p:cNvSpPr>
            <a:spLocks xmlns:a="http://schemas.openxmlformats.org/drawingml/2006/main" noGrp="1"/>
          </p:cNvSpPr>
          <p:nvPr/>
        </p:nvSpPr>
        <p:spPr>
          <a:xfrm xmlns:a="http://schemas.openxmlformats.org/drawingml/2006/main">
            <a:off x="7772400" y="196596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CADCFC"/>
                </a:solidFill>
                <a:latin typeface="Calibri"/>
                <a:ea typeface="Calibri"/>
                <a:cs typeface="Calibri"/>
              </a:rPr>
              <a:t>random weights</a:t>
            </a:r>
            <a:endParaRPr sz="1400"/>
          </a:p>
        </p:txBody>
      </p:sp>
      <p:sp>
        <p:nvSpPr>
          <p:cNvPr id="7" name="Text 5">
            <a:extLst xmlns:a="http://schemas.openxmlformats.org/drawingml/2006/main">
              <a:ext uri="{FF2B5EF4-FFF2-40B4-BE49-F238E27FC236}">
                <a16:creationId xmlns:a16="http://schemas.microsoft.com/office/drawing/2014/main" id="{91F71D0F-C1F9-45E2-9FAC-FFC988729321}"/>
              </a:ext>
            </a:extLst>
          </p:cNvPr>
          <p:cNvSpPr>
            <a:spLocks xmlns:a="http://schemas.openxmlformats.org/drawingml/2006/main" noGrp="1"/>
          </p:cNvSpPr>
          <p:nvPr/>
        </p:nvSpPr>
        <p:spPr>
          <a:xfrm xmlns:a="http://schemas.openxmlformats.org/drawingml/2006/main">
            <a:off x="7772400" y="251460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8FA3D9"/>
                </a:solidFill>
                <a:latin typeface="Calibri"/>
                <a:ea typeface="Calibri"/>
                <a:cs typeface="Calibri"/>
              </a:rPr>
              <a:t>↓  training on examples  ↓</a:t>
            </a:r>
            <a:endParaRPr sz="1200"/>
          </a:p>
        </p:txBody>
      </p:sp>
      <p:sp>
        <p:nvSpPr>
          <p:cNvPr id="8" name="Text 6">
            <a:extLst xmlns:a="http://schemas.openxmlformats.org/drawingml/2006/main">
              <a:ext uri="{FF2B5EF4-FFF2-40B4-BE49-F238E27FC236}">
                <a16:creationId xmlns:a16="http://schemas.microsoft.com/office/drawing/2014/main" id="{1F544752-5473-4694-9FF4-CCBCD6820542}"/>
              </a:ext>
            </a:extLst>
          </p:cNvPr>
          <p:cNvSpPr>
            <a:spLocks xmlns:a="http://schemas.openxmlformats.org/drawingml/2006/main" noGrp="1"/>
          </p:cNvSpPr>
          <p:nvPr/>
        </p:nvSpPr>
        <p:spPr>
          <a:xfrm xmlns:a="http://schemas.openxmlformats.org/drawingml/2006/main">
            <a:off x="7772400" y="30175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weights that</a:t>
            </a:r>
            <a:endParaRPr sz="1700"/>
          </a:p>
          <a:p xmlns:a="http://schemas.openxmlformats.org/drawingml/2006/main">
            <a:pPr marL="0" indent="0" algn="ctr">
              <a:buNone/>
            </a:pPr>
            <a:r>
              <a:rPr sz="1700" b="1">
                <a:solidFill>
                  <a:srgbClr val="FFFFFF"/>
                </a:solidFill>
                <a:latin typeface="Cambria"/>
                <a:ea typeface="Cambria"/>
                <a:cs typeface="Cambria"/>
              </a:rPr>
              <a:t>recognise a cat</a:t>
            </a:r>
            <a:endParaRPr sz="1700"/>
          </a:p>
        </p:txBody>
      </p:sp>
      <p:sp>
        <p:nvSpPr>
          <p:cNvPr id="9" name="Text 7">
            <a:extLst xmlns:a="http://schemas.openxmlformats.org/drawingml/2006/main">
              <a:ext uri="{FF2B5EF4-FFF2-40B4-BE49-F238E27FC236}">
                <a16:creationId xmlns:a16="http://schemas.microsoft.com/office/drawing/2014/main" id="{94CBB020-A0C4-4268-90F3-330EEDDF396E}"/>
              </a:ext>
            </a:extLst>
          </p:cNvPr>
          <p:cNvSpPr>
            <a:spLocks xmlns:a="http://schemas.openxmlformats.org/drawingml/2006/main" noGrp="1"/>
          </p:cNvSpPr>
          <p:nvPr/>
        </p:nvSpPr>
        <p:spPr>
          <a:xfrm xmlns:a="http://schemas.openxmlformats.org/drawingml/2006/main">
            <a:off x="7772400" y="4114800"/>
            <a:ext cx="3566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CADCFC"/>
                </a:solidFill>
                <a:latin typeface="Calibri"/>
                <a:ea typeface="Calibri"/>
                <a:cs typeface="Calibri"/>
              </a:rPr>
              <a:t>The question is not whether this works.</a:t>
            </a:r>
            <a:endParaRPr sz="1200"/>
          </a:p>
          <a:p xmlns:a="http://schemas.openxmlformats.org/drawingml/2006/main">
            <a:pPr marL="0" indent="0" algn="ctr">
              <a:buNone/>
            </a:pPr>
            <a:r>
              <a:rPr sz="1200" i="1">
                <a:solidFill>
                  <a:srgbClr val="CADCFC"/>
                </a:solidFill>
                <a:latin typeface="Calibri"/>
                <a:ea typeface="Calibri"/>
                <a:cs typeface="Calibri"/>
              </a:rPr>
              <a:t>It is whether two separate runs of it</a:t>
            </a:r>
            <a:endParaRPr sz="1200"/>
          </a:p>
          <a:p xmlns:a="http://schemas.openxmlformats.org/drawingml/2006/main">
            <a:pPr marL="0" indent="0" algn="ctr">
              <a:buNone/>
            </a:pPr>
            <a:r>
              <a:rPr sz="1200" i="1">
                <a:solidFill>
                  <a:srgbClr val="CADCFC"/>
                </a:solidFill>
                <a:latin typeface="Calibri"/>
                <a:ea typeface="Calibri"/>
                <a:cs typeface="Calibri"/>
              </a:rPr>
              <a:t>arrive at the SAME place.</a:t>
            </a:r>
            <a:endParaRPr sz="1200"/>
          </a:p>
        </p:txBody>
      </p:sp>
    </p:spTree>
    <p:extLst>
      <p:ext uri="{BB962C8B-B14F-4D97-AF65-F5344CB8AC3E}">
        <p14:creationId xmlns:p14="http://schemas.microsoft.com/office/powerpoint/2010/main" val="9765747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A9B22A-3A1D-4240-BDBD-E32F30DF00B7}"/>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STRUCTURAL SIMILARITY</a:t>
            </a:r>
            <a:endParaRPr sz="1100"/>
          </a:p>
        </p:txBody>
      </p:sp>
      <p:sp>
        <p:nvSpPr>
          <p:cNvPr id="3" name="Text 1">
            <a:extLst xmlns:a="http://schemas.openxmlformats.org/drawingml/2006/main">
              <a:ext uri="{FF2B5EF4-FFF2-40B4-BE49-F238E27FC236}">
                <a16:creationId xmlns:a16="http://schemas.microsoft.com/office/drawing/2014/main" id="{CBF11579-9CEE-4520-8C87-5D45B8839CC7}"/>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Different systems can share structure without sharing coordinates</a:t>
            </a:r>
            <a:endParaRPr sz="3000"/>
          </a:p>
        </p:txBody>
      </p:sp>
      <p:sp>
        <p:nvSpPr>
          <p:cNvPr id="4" name="Text 2">
            <a:extLst xmlns:a="http://schemas.openxmlformats.org/drawingml/2006/main">
              <a:ext uri="{FF2B5EF4-FFF2-40B4-BE49-F238E27FC236}">
                <a16:creationId xmlns:a16="http://schemas.microsoft.com/office/drawing/2014/main" id="{2AF7AD20-23EA-4554-A1E7-906B996CDF90}"/>
              </a:ext>
            </a:extLst>
          </p:cNvPr>
          <p:cNvSpPr>
            <a:spLocks xmlns:a="http://schemas.openxmlformats.org/drawingml/2006/main" noGrp="1"/>
          </p:cNvSpPr>
          <p:nvPr/>
        </p:nvSpPr>
        <p:spPr>
          <a:xfrm xmlns:a="http://schemas.openxmlformats.org/drawingml/2006/main">
            <a:off x="502920" y="1417320"/>
            <a:ext cx="6583680" cy="4754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450">
                <a:solidFill>
                  <a:srgbClr val="1A1A2E"/>
                </a:solidFill>
                <a:latin typeface="Calibri"/>
                <a:ea typeface="Calibri"/>
                <a:cs typeface="Calibri"/>
              </a:rPr>
              <a:t>A fern and a lung are made of different material and serve different purposes. Yet both use repeated, fractal-like branching to distribute resources efficiently.</a:t>
            </a:r>
            <a:endParaRPr sz="1450"/>
          </a:p>
          <a:p xmlns:a="http://schemas.openxmlformats.org/drawingml/2006/main">
            <a:pPr marL="152400" indent="-152400">
              <a:spcAft>
                <a:spcPts val="800"/>
              </a:spcAft>
              <a:buSzPct val="100000"/>
              <a:buChar char="•"/>
            </a:pPr>
            <a:r>
              <a:rPr sz="1450">
                <a:solidFill>
                  <a:srgbClr val="1A1A2E"/>
                </a:solidFill>
                <a:latin typeface="Calibri"/>
                <a:ea typeface="Calibri"/>
                <a:cs typeface="Calibri"/>
              </a:rPr>
              <a:t>The same idea applies to models. Image and text encoders can place cat, dog and airplane at completely different coordinates while preserving an ordering: cat is nearer to dog than to airplane.</a:t>
            </a:r>
            <a:endParaRPr sz="1450"/>
          </a:p>
          <a:p xmlns:a="http://schemas.openxmlformats.org/drawingml/2006/main">
            <a:pPr marL="152400" indent="-152400">
              <a:spcAft>
                <a:spcPts val="800"/>
              </a:spcAft>
              <a:buSzPct val="100000"/>
              <a:buChar char="•"/>
            </a:pPr>
            <a:r>
              <a:rPr sz="1450">
                <a:solidFill>
                  <a:srgbClr val="1A1A2E"/>
                </a:solidFill>
                <a:latin typeface="Calibri"/>
                <a:ea typeface="Calibri"/>
                <a:cs typeface="Calibri"/>
              </a:rPr>
              <a:t>In this project, similarity means agreement in relationships—near/far order and local neighbours—not identical vectors and not perfect global geometry.</a:t>
            </a:r>
            <a:endParaRPr sz="1450"/>
          </a:p>
        </p:txBody>
      </p:sp>
      <p:sp>
        <p:nvSpPr>
          <p:cNvPr id="5" name="Shape 3">
            <a:extLst xmlns:a="http://schemas.openxmlformats.org/drawingml/2006/main">
              <a:ext uri="{FF2B5EF4-FFF2-40B4-BE49-F238E27FC236}">
                <a16:creationId xmlns:a16="http://schemas.microsoft.com/office/drawing/2014/main" id="{16C9D3DB-DDC6-4DC8-A85A-3A2F75B7F49F}"/>
              </a:ext>
            </a:extLst>
          </p:cNvPr>
          <p:cNvSpPr>
            <a:spLocks xmlns:a="http://schemas.openxmlformats.org/drawingml/2006/main" noGrp="1"/>
          </p:cNvSpPr>
          <p:nvPr/>
        </p:nvSpPr>
        <p:spPr>
          <a:xfrm xmlns:a="http://schemas.openxmlformats.org/drawingml/2006/main">
            <a:off x="7498080" y="1554480"/>
            <a:ext cx="4114800" cy="4206240"/>
          </a:xfrm>
          <a:prstGeom xmlns:a="http://schemas.openxmlformats.org/drawingml/2006/main" prst="roundRect">
            <a:avLst>
              <a:gd name="adj" fmla="val 1778"/>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49E737B0-CB72-47D8-8F3E-806FCCBC10EE}"/>
              </a:ext>
            </a:extLst>
          </p:cNvPr>
          <p:cNvSpPr>
            <a:spLocks xmlns:a="http://schemas.openxmlformats.org/drawingml/2006/main" noGrp="1"/>
          </p:cNvSpPr>
          <p:nvPr/>
        </p:nvSpPr>
        <p:spPr>
          <a:xfrm xmlns:a="http://schemas.openxmlformats.org/drawingml/2006/main">
            <a:off x="7772400" y="196596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CADCFC"/>
                </a:solidFill>
                <a:latin typeface="Calibri"/>
                <a:ea typeface="Calibri"/>
                <a:cs typeface="Calibri"/>
              </a:rPr>
              <a:t/>
            </a:r>
            <a:endParaRPr sz="1400"/>
          </a:p>
        </p:txBody>
      </p:sp>
      <p:sp>
        <p:nvSpPr>
          <p:cNvPr id="7" name="Text 5">
            <a:extLst xmlns:a="http://schemas.openxmlformats.org/drawingml/2006/main">
              <a:ext uri="{FF2B5EF4-FFF2-40B4-BE49-F238E27FC236}">
                <a16:creationId xmlns:a16="http://schemas.microsoft.com/office/drawing/2014/main" id="{91F71D0F-C1F9-45E2-9FAC-FFC988729321}"/>
              </a:ext>
            </a:extLst>
          </p:cNvPr>
          <p:cNvSpPr>
            <a:spLocks xmlns:a="http://schemas.openxmlformats.org/drawingml/2006/main" noGrp="1"/>
          </p:cNvSpPr>
          <p:nvPr/>
        </p:nvSpPr>
        <p:spPr>
          <a:xfrm xmlns:a="http://schemas.openxmlformats.org/drawingml/2006/main">
            <a:off x="7772400" y="251460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8FA3D9"/>
                </a:solidFill>
                <a:latin typeface="Calibri"/>
                <a:ea typeface="Calibri"/>
                <a:cs typeface="Calibri"/>
              </a:rPr>
              <a:t/>
            </a:r>
            <a:endParaRPr sz="1200"/>
          </a:p>
        </p:txBody>
      </p:sp>
      <p:sp>
        <p:nvSpPr>
          <p:cNvPr id="8" name="Text 6">
            <a:extLst xmlns:a="http://schemas.openxmlformats.org/drawingml/2006/main">
              <a:ext uri="{FF2B5EF4-FFF2-40B4-BE49-F238E27FC236}">
                <a16:creationId xmlns:a16="http://schemas.microsoft.com/office/drawing/2014/main" id="{1F544752-5473-4694-9FF4-CCBCD6820542}"/>
              </a:ext>
            </a:extLst>
          </p:cNvPr>
          <p:cNvSpPr>
            <a:spLocks xmlns:a="http://schemas.openxmlformats.org/drawingml/2006/main" noGrp="1"/>
          </p:cNvSpPr>
          <p:nvPr/>
        </p:nvSpPr>
        <p:spPr>
          <a:xfrm xmlns:a="http://schemas.openxmlformats.org/drawingml/2006/main">
            <a:off x="7772400" y="30175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
            </a:r>
            <a:endParaRPr sz="1700"/>
          </a:p>
        </p:txBody>
      </p:sp>
      <p:sp>
        <p:nvSpPr>
          <p:cNvPr id="9" name="Text 7">
            <a:extLst xmlns:a="http://schemas.openxmlformats.org/drawingml/2006/main">
              <a:ext uri="{FF2B5EF4-FFF2-40B4-BE49-F238E27FC236}">
                <a16:creationId xmlns:a16="http://schemas.microsoft.com/office/drawing/2014/main" id="{94CBB020-A0C4-4268-90F3-330EEDDF396E}"/>
              </a:ext>
            </a:extLst>
          </p:cNvPr>
          <p:cNvSpPr>
            <a:spLocks xmlns:a="http://schemas.openxmlformats.org/drawingml/2006/main" noGrp="1"/>
          </p:cNvSpPr>
          <p:nvPr/>
        </p:nvSpPr>
        <p:spPr>
          <a:xfrm xmlns:a="http://schemas.openxmlformats.org/drawingml/2006/main">
            <a:off x="7772400" y="4114800"/>
            <a:ext cx="35661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CADCFC"/>
                </a:solidFill>
                <a:latin typeface="Calibri"/>
                <a:ea typeface="Calibri"/>
                <a:cs typeface="Calibri"/>
              </a:rPr>
              <a:t/>
            </a:r>
            <a:endParaRPr sz="1200"/>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5ce51822cdc44a9"/>
          <a:stretch xmlns:a="http://schemas.openxmlformats.org/drawingml/2006/main"/>
        </p:blipFill>
        <p:spPr>
          <a:xfrm xmlns:a="http://schemas.openxmlformats.org/drawingml/2006/main">
            <a:off x="7498080" y="1600200"/>
            <a:ext cx="4114800" cy="4114800"/>
          </a:xfrm>
          <a:prstGeom xmlns:a="http://schemas.openxmlformats.org/drawingml/2006/main" prst="rect">
            <a:avLst/>
          </a:prstGeom>
        </p:spPr>
      </p:pic>
    </p:spTree>
    <p:extLst>
      <p:ext uri="{BB962C8B-B14F-4D97-AF65-F5344CB8AC3E}">
        <p14:creationId xmlns:p14="http://schemas.microsoft.com/office/powerpoint/2010/main" val="9765747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825732-750C-4D51-A814-3BF3E179E4B8}"/>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THE HYPOTHESIS</a:t>
            </a:r>
            <a:endParaRPr sz="1100"/>
          </a:p>
        </p:txBody>
      </p:sp>
      <p:sp>
        <p:nvSpPr>
          <p:cNvPr id="3" name="Text 1">
            <a:extLst xmlns:a="http://schemas.openxmlformats.org/drawingml/2006/main">
              <a:ext uri="{FF2B5EF4-FFF2-40B4-BE49-F238E27FC236}">
                <a16:creationId xmlns:a16="http://schemas.microsoft.com/office/drawing/2014/main" id="{C1B04333-677B-4804-8EDA-07951255F39E}"/>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question: universal patterns across models?</a:t>
            </a:r>
            <a:endParaRPr sz="3000"/>
          </a:p>
        </p:txBody>
      </p:sp>
      <p:sp>
        <p:nvSpPr>
          <p:cNvPr id="4" name="Text 2">
            <a:extLst xmlns:a="http://schemas.openxmlformats.org/drawingml/2006/main">
              <a:ext uri="{FF2B5EF4-FFF2-40B4-BE49-F238E27FC236}">
                <a16:creationId xmlns:a16="http://schemas.microsoft.com/office/drawing/2014/main" id="{D370DE39-8881-4C16-9BDF-ED272758ADB5}"/>
              </a:ext>
            </a:extLst>
          </p:cNvPr>
          <p:cNvSpPr>
            <a:spLocks xmlns:a="http://schemas.openxmlformats.org/drawingml/2006/main" noGrp="1"/>
          </p:cNvSpPr>
          <p:nvPr/>
        </p:nvSpPr>
        <p:spPr>
          <a:xfrm xmlns:a="http://schemas.openxmlformats.org/drawingml/2006/main">
            <a:off x="502920" y="1417320"/>
            <a:ext cx="6126480" cy="4754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400">
                <a:solidFill>
                  <a:srgbClr val="1A1A2E"/>
                </a:solidFill>
                <a:latin typeface="Calibri"/>
                <a:ea typeface="Calibri"/>
                <a:cs typeface="Calibri"/>
              </a:rPr>
              <a:t>A model trained on PHOTOS of cats and a model trained on SENTENCES about cats — do they converge to a similar internal world?</a:t>
            </a:r>
            <a:endParaRPr sz="1400"/>
          </a:p>
          <a:p xmlns:a="http://schemas.openxmlformats.org/drawingml/2006/main">
            <a:pPr marL="152400" indent="-152400">
              <a:spcAft>
                <a:spcPts val="800"/>
              </a:spcAft>
              <a:buSzPct val="100000"/>
              <a:buChar char="•"/>
            </a:pPr>
            <a:r>
              <a:rPr sz="1400">
                <a:solidFill>
                  <a:srgbClr val="1A1A2E"/>
                </a:solidFill>
                <a:latin typeface="Calibri"/>
                <a:ea typeface="Calibri"/>
                <a:cs typeface="Calibri"/>
              </a:rPr>
              <a:t>If they do, can the structure of one serve the other — text-world coordinates for an image model, and the reverse?</a:t>
            </a:r>
            <a:endParaRPr sz="1400"/>
          </a:p>
          <a:p xmlns:a="http://schemas.openxmlformats.org/drawingml/2006/main">
            <a:pPr marL="152400" indent="-152400">
              <a:spcAft>
                <a:spcPts val="800"/>
              </a:spcAft>
              <a:buSzPct val="100000"/>
              <a:buChar char="•"/>
            </a:pPr>
            <a:r>
              <a:rPr sz="1400">
                <a:solidFill>
                  <a:srgbClr val="1A1A2E"/>
                </a:solidFill>
                <a:latin typeface="Calibri"/>
                <a:ea typeface="Calibri"/>
                <a:cs typeface="Calibri"/>
              </a:rPr>
              <a:t>The field's answer-in-progress: the Platonic Representation Hypothesis — as models grow, their representations converge toward a shared statistical model of reality, like shadows of one world cast on different cave walls.</a:t>
            </a:r>
            <a:endParaRPr sz="1400"/>
          </a:p>
          <a:p xmlns:a="http://schemas.openxmlformats.org/drawingml/2006/main">
            <a:pPr marL="152400" indent="-152400">
              <a:spcAft>
                <a:spcPts val="800"/>
              </a:spcAft>
              <a:buSzPct val="100000"/>
              <a:buChar char="•"/>
            </a:pPr>
            <a:r>
              <a:rPr sz="1400">
                <a:solidFill>
                  <a:srgbClr val="1A1A2E"/>
                </a:solidFill>
                <a:latin typeface="Calibri"/>
                <a:ea typeface="Calibri"/>
                <a:cs typeface="Calibri"/>
              </a:rPr>
              <a:t>Known results I built on: similar layers found across large models of different architecture and training data; model stitching and merging work when the worlds are close (same modality, similar data, similar architecture).</a:t>
            </a:r>
            <a:endParaRPr sz="14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f613f88390e64153"/>
          <a:stretch xmlns:a="http://schemas.openxmlformats.org/drawingml/2006/main">
            <a:fillRect l="0" t="0" r="0" b="0"/>
          </a:stretch>
        </p:blipFill>
        <p:spPr>
          <a:xfrm xmlns:a="http://schemas.openxmlformats.org/drawingml/2006/main">
            <a:off x="6949440" y="1737360"/>
            <a:ext cx="4754880" cy="237744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C49C03D4-ED92-4BD7-B51A-23E9071CA537}"/>
              </a:ext>
            </a:extLst>
          </p:cNvPr>
          <p:cNvSpPr>
            <a:spLocks xmlns:a="http://schemas.openxmlformats.org/drawingml/2006/main" noGrp="1"/>
          </p:cNvSpPr>
          <p:nvPr/>
        </p:nvSpPr>
        <p:spPr>
          <a:xfrm xmlns:a="http://schemas.openxmlformats.org/drawingml/2006/main">
            <a:off x="6949440" y="4206240"/>
            <a:ext cx="47548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472"/>
                </a:solidFill>
                <a:latin typeface="Calibri"/>
                <a:ea typeface="Calibri"/>
                <a:cs typeface="Calibri"/>
              </a:rPr>
              <a:t>Seven encoders, one scene: each cache is a projection of the same world onto a different wall.</a:t>
            </a:r>
            <a:endParaRPr sz="1100"/>
          </a:p>
        </p:txBody>
      </p:sp>
      <p:sp>
        <p:nvSpPr>
          <p:cNvPr id="7" name="Text 4">
            <a:extLst xmlns:a="http://schemas.openxmlformats.org/drawingml/2006/main">
              <a:ext uri="{FF2B5EF4-FFF2-40B4-BE49-F238E27FC236}">
                <a16:creationId xmlns:a16="http://schemas.microsoft.com/office/drawing/2014/main" id="{4A4C0A73-E5FF-4D01-B237-66F94E860F0A}"/>
              </a:ext>
            </a:extLst>
          </p:cNvPr>
          <p:cNvSpPr>
            <a:spLocks xmlns:a="http://schemas.openxmlformats.org/drawingml/2006/main" noGrp="1"/>
          </p:cNvSpPr>
          <p:nvPr/>
        </p:nvSpPr>
        <p:spPr>
          <a:xfrm xmlns:a="http://schemas.openxmlformats.org/drawingml/2006/main">
            <a:off x="502920" y="5989320"/>
            <a:ext cx="11155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766E"/>
                </a:solidFill>
                <a:latin typeface="Cambria"/>
                <a:ea typeface="Cambria"/>
                <a:cs typeface="Cambria"/>
              </a:rPr>
              <a:t>Testable form: representations agree UP TO A LINEAR MAP — one matrix, no training of either model.</a:t>
            </a:r>
            <a:endParaRPr sz="1500"/>
          </a:p>
        </p:txBody>
      </p:sp>
    </p:spTree>
    <p:extLst>
      <p:ext uri="{BB962C8B-B14F-4D97-AF65-F5344CB8AC3E}">
        <p14:creationId xmlns:p14="http://schemas.microsoft.com/office/powerpoint/2010/main" val="11727688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F094F2-F2C1-4088-B823-D6D32BCB6AA3}"/>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THE HYPOTHESIS</a:t>
            </a:r>
            <a:endParaRPr sz="1100"/>
          </a:p>
        </p:txBody>
      </p:sp>
      <p:sp>
        <p:nvSpPr>
          <p:cNvPr id="3" name="Text 1">
            <a:extLst xmlns:a="http://schemas.openxmlformats.org/drawingml/2006/main">
              <a:ext uri="{FF2B5EF4-FFF2-40B4-BE49-F238E27FC236}">
                <a16:creationId xmlns:a16="http://schemas.microsoft.com/office/drawing/2014/main" id="{60145435-90A1-4BB7-8B2F-73AD2B6745D6}"/>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First evidence — two architectures, one layer structure</a:t>
            </a:r>
            <a:endParaRPr sz="3000"/>
          </a:p>
        </p:txBody>
      </p:sp>
      <p:pic>
        <p:nvPicPr>
          <p:cNvPr id="9" name="Image 0"/>
          <p:cNvPicPr>
            <a:picLocks xmlns:a="http://schemas.openxmlformats.org/drawingml/2006/main" noChangeAspect="1"/>
          </p:cNvPicPr>
          <p:nvPr/>
        </p:nvPicPr>
        <p:blipFill>
          <a:blip xmlns:r="http://schemas.openxmlformats.org/officeDocument/2006/relationships" xmlns:a="http://schemas.openxmlformats.org/drawingml/2006/main" r:embed="R7d511eb5ba164df1"/>
          <a:stretch xmlns:a="http://schemas.openxmlformats.org/drawingml/2006/main">
            <a:fillRect l="0" t="0" r="0" b="0"/>
          </a:stretch>
        </p:blipFill>
        <p:spPr>
          <a:xfrm xmlns:a="http://schemas.openxmlformats.org/drawingml/2006/main">
            <a:off x="640080" y="1463040"/>
            <a:ext cx="5577840" cy="45811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7703DE84-2E08-4854-BD91-9FC7DB5B6146}"/>
              </a:ext>
            </a:extLst>
          </p:cNvPr>
          <p:cNvSpPr>
            <a:spLocks xmlns:a="http://schemas.openxmlformats.org/drawingml/2006/main" noGrp="1"/>
          </p:cNvSpPr>
          <p:nvPr/>
        </p:nvSpPr>
        <p:spPr>
          <a:xfrm xmlns:a="http://schemas.openxmlformats.org/drawingml/2006/main">
            <a:off x="6446520" y="1508760"/>
            <a:ext cx="5212080" cy="4846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250">
                <a:solidFill>
                  <a:srgbClr val="1A1A2E"/>
                </a:solidFill>
                <a:latin typeface="Calibri"/>
                <a:ea typeface="Calibri"/>
                <a:cs typeface="Calibri"/>
              </a:rPr>
              <a:t>Before any hub, any adapter: do two DIFFERENT architectures, trained on DIFFERENT data, even carry similar information layer by layer?</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GPT-2 vs Pythia-160M, CKA over 10,000 samples — the raw matrix from the cache, not an illustration (this run: max 0.742; the report quotes 0.744 from its final run — ‘essentially unchanged’).</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Trained-vs-trained mean 0.359 against trained-vs-random 0.067 — a 4–5× learning effect. Early layers match early, late match late; the final layer stands apart.</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One correction was needed before believing it: a rank-one ‘hubness’ component carried 97% of the matrix energy; dividing the marginals out sharpened the diagonal to 1.16 vs 0.98.</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This is what licensed everything after it: the convergence is real — the rest of the project asks what exactly is shared, and how cheaply it moves.</a:t>
            </a:r>
            <a:endParaRPr sz="1250"/>
          </a:p>
        </p:txBody>
      </p:sp>
    </p:spTree>
    <p:extLst>
      <p:ext uri="{BB962C8B-B14F-4D97-AF65-F5344CB8AC3E}">
        <p14:creationId xmlns:p14="http://schemas.microsoft.com/office/powerpoint/2010/main" val="3532520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3CD05E-6414-44C4-B439-5B6C5301E815}"/>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METHOD</a:t>
            </a:r>
            <a:endParaRPr sz="1100"/>
          </a:p>
        </p:txBody>
      </p:sp>
      <p:sp>
        <p:nvSpPr>
          <p:cNvPr id="3" name="Text 1">
            <a:extLst xmlns:a="http://schemas.openxmlformats.org/drawingml/2006/main">
              <a:ext uri="{FF2B5EF4-FFF2-40B4-BE49-F238E27FC236}">
                <a16:creationId xmlns:a16="http://schemas.microsoft.com/office/drawing/2014/main" id="{EC5600FB-EAE3-46FC-B946-CD8F5B8426E0}"/>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Scientific questions, engineering discipline</a:t>
            </a:r>
            <a:endParaRPr sz="3000"/>
          </a:p>
        </p:txBody>
      </p:sp>
      <p:sp>
        <p:nvSpPr>
          <p:cNvPr id="4" name="Text 2">
            <a:extLst xmlns:a="http://schemas.openxmlformats.org/drawingml/2006/main">
              <a:ext uri="{FF2B5EF4-FFF2-40B4-BE49-F238E27FC236}">
                <a16:creationId xmlns:a16="http://schemas.microsoft.com/office/drawing/2014/main" id="{58001663-FAB0-4C01-AA60-6F8D2EA794AD}"/>
              </a:ext>
            </a:extLst>
          </p:cNvPr>
          <p:cNvSpPr>
            <a:spLocks xmlns:a="http://schemas.openxmlformats.org/drawingml/2006/main" noGrp="1"/>
          </p:cNvSpPr>
          <p:nvPr/>
        </p:nvSpPr>
        <p:spPr>
          <a:xfrm xmlns:a="http://schemas.openxmlformats.org/drawingml/2006/main">
            <a:off x="502920" y="137160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mbria"/>
                <a:ea typeface="Cambria"/>
                <a:cs typeface="Cambria"/>
              </a:rPr>
              <a:t>Three falsifiable questions</a:t>
            </a:r>
            <a:endParaRPr sz="1600"/>
          </a:p>
        </p:txBody>
      </p:sp>
      <p:sp>
        <p:nvSpPr>
          <p:cNvPr id="5" name="Text 3">
            <a:extLst xmlns:a="http://schemas.openxmlformats.org/drawingml/2006/main">
              <a:ext uri="{FF2B5EF4-FFF2-40B4-BE49-F238E27FC236}">
                <a16:creationId xmlns:a16="http://schemas.microsoft.com/office/drawing/2014/main" id="{C4439B0D-9758-454A-BFD1-1E661F786CED}"/>
              </a:ext>
            </a:extLst>
          </p:cNvPr>
          <p:cNvSpPr>
            <a:spLocks xmlns:a="http://schemas.openxmlformats.org/drawingml/2006/main" noGrp="1"/>
          </p:cNvSpPr>
          <p:nvPr/>
        </p:nvSpPr>
        <p:spPr>
          <a:xfrm xmlns:a="http://schemas.openxmlformats.org/drawingml/2006/main">
            <a:off x="502920" y="1828800"/>
            <a:ext cx="548640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400">
                <a:solidFill>
                  <a:srgbClr val="1A1A2E"/>
                </a:solidFill>
                <a:latin typeface="Calibri"/>
                <a:ea typeface="Calibri"/>
                <a:cs typeface="Calibri"/>
              </a:rPr>
              <a:t>IS structure shared? — if no linear map beats chance, the claim dies.</a:t>
            </a:r>
            <a:endParaRPr sz="1400"/>
          </a:p>
          <a:p xmlns:a="http://schemas.openxmlformats.org/drawingml/2006/main">
            <a:pPr marL="152400" indent="-152400">
              <a:spcAft>
                <a:spcPts val="800"/>
              </a:spcAft>
              <a:buSzPct val="100000"/>
              <a:buChar char="•"/>
            </a:pPr>
            <a:r>
              <a:rPr sz="1400">
                <a:solidFill>
                  <a:srgbClr val="1A1A2E"/>
                </a:solidFill>
                <a:latin typeface="Calibri"/>
                <a:ea typeface="Calibri"/>
                <a:cs typeface="Calibri"/>
              </a:rPr>
              <a:t>WHAT is shared — global geometry, or local neighbourhoods?</a:t>
            </a:r>
            <a:endParaRPr sz="1400"/>
          </a:p>
          <a:p xmlns:a="http://schemas.openxmlformats.org/drawingml/2006/main">
            <a:pPr marL="152400" indent="-152400">
              <a:spcAft>
                <a:spcPts val="800"/>
              </a:spcAft>
              <a:buSzPct val="100000"/>
              <a:buChar char="•"/>
            </a:pPr>
            <a:r>
              <a:rPr sz="1400">
                <a:solidFill>
                  <a:srgbClr val="1A1A2E"/>
                </a:solidFill>
                <a:latin typeface="Calibri"/>
                <a:ea typeface="Calibri"/>
                <a:cs typeface="Calibri"/>
              </a:rPr>
              <a:t>WHAT decides how much — modality, lineage, or training objective?</a:t>
            </a:r>
            <a:endParaRPr sz="1400"/>
          </a:p>
        </p:txBody>
      </p:sp>
      <p:sp>
        <p:nvSpPr>
          <p:cNvPr id="6" name="Text 4">
            <a:extLst xmlns:a="http://schemas.openxmlformats.org/drawingml/2006/main">
              <a:ext uri="{FF2B5EF4-FFF2-40B4-BE49-F238E27FC236}">
                <a16:creationId xmlns:a16="http://schemas.microsoft.com/office/drawing/2014/main" id="{83BD925A-F39B-4186-BF8B-38E4566A9292}"/>
              </a:ext>
            </a:extLst>
          </p:cNvPr>
          <p:cNvSpPr>
            <a:spLocks xmlns:a="http://schemas.openxmlformats.org/drawingml/2006/main" noGrp="1"/>
          </p:cNvSpPr>
          <p:nvPr/>
        </p:nvSpPr>
        <p:spPr>
          <a:xfrm xmlns:a="http://schemas.openxmlformats.org/drawingml/2006/main">
            <a:off x="502920" y="397764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2761"/>
                </a:solidFill>
                <a:latin typeface="Cambria"/>
                <a:ea typeface="Cambria"/>
                <a:cs typeface="Cambria"/>
              </a:rPr>
              <a:t>Rules the project never broke</a:t>
            </a:r>
            <a:endParaRPr sz="1600"/>
          </a:p>
        </p:txBody>
      </p:sp>
      <p:sp>
        <p:nvSpPr>
          <p:cNvPr id="7" name="Text 5">
            <a:extLst xmlns:a="http://schemas.openxmlformats.org/drawingml/2006/main">
              <a:ext uri="{FF2B5EF4-FFF2-40B4-BE49-F238E27FC236}">
                <a16:creationId xmlns:a16="http://schemas.microsoft.com/office/drawing/2014/main" id="{7BEAA3DC-015C-4237-9DA4-F82C37D3D64E}"/>
              </a:ext>
            </a:extLst>
          </p:cNvPr>
          <p:cNvSpPr>
            <a:spLocks xmlns:a="http://schemas.openxmlformats.org/drawingml/2006/main" noGrp="1"/>
          </p:cNvSpPr>
          <p:nvPr/>
        </p:nvSpPr>
        <p:spPr>
          <a:xfrm xmlns:a="http://schemas.openxmlformats.org/drawingml/2006/main">
            <a:off x="502920" y="4434840"/>
            <a:ext cx="54864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350">
                <a:solidFill>
                  <a:srgbClr val="1A1A2E"/>
                </a:solidFill>
                <a:latin typeface="Calibri"/>
                <a:ea typeface="Calibri"/>
                <a:cs typeface="Calibri"/>
              </a:rPr>
              <a:t>No training, no fine-tuning — closed-form ridge only; both models frozen.</a:t>
            </a:r>
            <a:endParaRPr sz="1350"/>
          </a:p>
          <a:p xmlns:a="http://schemas.openxmlformats.org/drawingml/2006/main">
            <a:pPr marL="152400" indent="-152400">
              <a:spcAft>
                <a:spcPts val="800"/>
              </a:spcAft>
              <a:buSzPct val="100000"/>
              <a:buChar char="•"/>
            </a:pPr>
            <a:r>
              <a:rPr sz="1350">
                <a:solidFill>
                  <a:srgbClr val="1A1A2E"/>
                </a:solidFill>
                <a:latin typeface="Calibri"/>
                <a:ea typeface="Calibri"/>
                <a:cs typeface="Calibri"/>
              </a:rPr>
              <a:t>Every number held-out (1,000 of 9,533 rows), quoted against a control.</a:t>
            </a:r>
            <a:endParaRPr sz="1350"/>
          </a:p>
          <a:p xmlns:a="http://schemas.openxmlformats.org/drawingml/2006/main">
            <a:pPr marL="152400" indent="-152400">
              <a:spcAft>
                <a:spcPts val="800"/>
              </a:spcAft>
              <a:buSzPct val="100000"/>
              <a:buChar char="•"/>
            </a:pPr>
            <a:r>
              <a:rPr sz="1350">
                <a:solidFill>
                  <a:srgbClr val="1A1A2E"/>
                </a:solidFill>
                <a:latin typeface="Calibri"/>
                <a:ea typeface="Calibri"/>
                <a:cs typeface="Calibri"/>
              </a:rPr>
              <a:t>Predictions pre-registered before measuring; failures recorded, never deleted — the ledger now holds 11 falsified explanations, two of them our own.</a:t>
            </a:r>
            <a:endParaRPr sz="1350"/>
          </a:p>
        </p:txBody>
      </p:sp>
      <p:sp>
        <p:nvSpPr>
          <p:cNvPr id="8" name="Shape 6">
            <a:extLst xmlns:a="http://schemas.openxmlformats.org/drawingml/2006/main">
              <a:ext uri="{FF2B5EF4-FFF2-40B4-BE49-F238E27FC236}">
                <a16:creationId xmlns:a16="http://schemas.microsoft.com/office/drawing/2014/main" id="{756BA8C6-CBBA-4AB5-8BB9-370B3F2F55E1}"/>
              </a:ext>
            </a:extLst>
          </p:cNvPr>
          <p:cNvSpPr>
            <a:spLocks xmlns:a="http://schemas.openxmlformats.org/drawingml/2006/main" noGrp="1"/>
          </p:cNvSpPr>
          <p:nvPr/>
        </p:nvSpPr>
        <p:spPr>
          <a:xfrm xmlns:a="http://schemas.openxmlformats.org/drawingml/2006/main">
            <a:off x="6400800" y="1463040"/>
            <a:ext cx="5212080" cy="4846320"/>
          </a:xfrm>
          <a:prstGeom xmlns:a="http://schemas.openxmlformats.org/drawingml/2006/main" prst="roundRect">
            <a:avLst>
              <a:gd name="adj" fmla="val 1509"/>
            </a:avLst>
          </a:prstGeom>
          <a:solidFill xmlns:a="http://schemas.openxmlformats.org/drawingml/2006/main">
            <a:srgbClr val="F2F5FB"/>
          </a:solidFill>
        </p:spPr>
      </p:sp>
      <p:sp>
        <p:nvSpPr>
          <p:cNvPr id="9" name="Text 7">
            <a:extLst xmlns:a="http://schemas.openxmlformats.org/drawingml/2006/main">
              <a:ext uri="{FF2B5EF4-FFF2-40B4-BE49-F238E27FC236}">
                <a16:creationId xmlns:a16="http://schemas.microsoft.com/office/drawing/2014/main" id="{BB5B731A-36FD-4C7E-B4B0-9C2C7498DC17}"/>
              </a:ext>
            </a:extLst>
          </p:cNvPr>
          <p:cNvSpPr>
            <a:spLocks xmlns:a="http://schemas.openxmlformats.org/drawingml/2006/main" noGrp="1"/>
          </p:cNvSpPr>
          <p:nvPr/>
        </p:nvSpPr>
        <p:spPr>
          <a:xfrm xmlns:a="http://schemas.openxmlformats.org/drawingml/2006/main">
            <a:off x="6720840" y="173736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E2761"/>
                </a:solidFill>
                <a:latin typeface="Cambria"/>
                <a:ea typeface="Cambria"/>
                <a:cs typeface="Cambria"/>
              </a:rPr>
              <a:t>The data</a:t>
            </a:r>
            <a:endParaRPr sz="1500"/>
          </a:p>
        </p:txBody>
      </p:sp>
      <p:sp>
        <p:nvSpPr>
          <p:cNvPr id="10" name="Text 8">
            <a:extLst xmlns:a="http://schemas.openxmlformats.org/drawingml/2006/main">
              <a:ext uri="{FF2B5EF4-FFF2-40B4-BE49-F238E27FC236}">
                <a16:creationId xmlns:a16="http://schemas.microsoft.com/office/drawing/2014/main" id="{C2DCE031-A9AE-4849-A2EE-263914CD87D1}"/>
              </a:ext>
            </a:extLst>
          </p:cNvPr>
          <p:cNvSpPr>
            <a:spLocks xmlns:a="http://schemas.openxmlformats.org/drawingml/2006/main" noGrp="1"/>
          </p:cNvSpPr>
          <p:nvPr/>
        </p:nvSpPr>
        <p:spPr>
          <a:xfrm xmlns:a="http://schemas.openxmlformats.org/drawingml/2006/main">
            <a:off x="6720840" y="2148840"/>
            <a:ext cx="46177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A1A2E"/>
                </a:solidFill>
                <a:latin typeface="Calibri"/>
                <a:ea typeface="Calibri"/>
                <a:cs typeface="Calibri"/>
              </a:rPr>
              <a:t>COCO image–caption pairs. </a:t>
            </a:r>
            <a:r>
              <a:rPr sz="1250">
                <a:solidFill>
                  <a:srgbClr val="1A1A2E"/>
                </a:solidFill>
                <a:latin typeface="Calibri"/>
                <a:ea typeface="Calibri"/>
                <a:cs typeface="Calibri"/>
              </a:rPr>
              <a:t>9,533 images, five human captions each — e.g.
</a:t>
            </a:r>
            <a:r>
              <a:rPr sz="1250" i="1">
                <a:solidFill>
                  <a:srgbClr val="0F766E"/>
                </a:solidFill>
                <a:latin typeface="Calibri"/>
                <a:ea typeface="Calibri"/>
                <a:cs typeface="Calibri"/>
              </a:rPr>
              <a:t>“A cat sitting on a chair.” · “Cat on chair.” · “A cat is seated on a chair.”
</a:t>
            </a:r>
            <a:r>
              <a:rPr sz="1250">
                <a:solidFill>
                  <a:srgbClr val="1A1A2E"/>
                </a:solidFill>
                <a:latin typeface="Calibri"/>
                <a:ea typeface="Calibri"/>
                <a:cs typeface="Calibri"/>
              </a:rPr>
              <a:t>Captions are embedded and AVERAGED into one target — ‘what this image is about’, not ‘what one annotator wrote’.
</a:t>
            </a:r>
            <a:r>
              <a:rPr sz="1250" b="1">
                <a:solidFill>
                  <a:srgbClr val="1A1A2E"/>
                </a:solidFill>
                <a:latin typeface="Calibri"/>
                <a:ea typeface="Calibri"/>
                <a:cs typeface="Calibri"/>
              </a:rPr>
              <a:t>Retrieval test: </a:t>
            </a:r>
            <a:r>
              <a:rPr sz="1250">
                <a:solidFill>
                  <a:srgbClr val="1A1A2E"/>
                </a:solidFill>
                <a:latin typeface="Calibri"/>
                <a:ea typeface="Calibri"/>
                <a:cs typeface="Calibri"/>
              </a:rPr>
              <a:t>the caption ‘cat sit on a chair’ queries 1,000 images — the cat on the chair must beat every sofa cat and every dog. Chance = 0.001.</a:t>
            </a:r>
            <a:endParaRPr sz="1250"/>
          </a:p>
        </p:txBody>
      </p:sp>
    </p:spTree>
    <p:extLst>
      <p:ext uri="{BB962C8B-B14F-4D97-AF65-F5344CB8AC3E}">
        <p14:creationId xmlns:p14="http://schemas.microsoft.com/office/powerpoint/2010/main" val="10424726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9720AB-8929-4BAA-99B9-883B38D13A95}"/>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PART I · TWO ENCODERS</a:t>
            </a:r>
            <a:endParaRPr sz="1100"/>
          </a:p>
        </p:txBody>
      </p:sp>
      <p:sp>
        <p:nvSpPr>
          <p:cNvPr id="3" name="Text 1">
            <a:extLst xmlns:a="http://schemas.openxmlformats.org/drawingml/2006/main">
              <a:ext uri="{FF2B5EF4-FFF2-40B4-BE49-F238E27FC236}">
                <a16:creationId xmlns:a16="http://schemas.microsoft.com/office/drawing/2014/main" id="{4F92397B-802A-4F36-8562-B6F08F7A63A2}"/>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Experiment B — MobileCLIP → SigLIP 2, the adapter</a:t>
            </a:r>
            <a:endParaRPr sz="3000"/>
          </a:p>
        </p:txBody>
      </p:sp>
      <p:sp>
        <p:nvSpPr>
          <p:cNvPr id="4" name="Text 2">
            <a:extLst xmlns:a="http://schemas.openxmlformats.org/drawingml/2006/main">
              <a:ext uri="{FF2B5EF4-FFF2-40B4-BE49-F238E27FC236}">
                <a16:creationId xmlns:a16="http://schemas.microsoft.com/office/drawing/2014/main" id="{8E74CB1C-F637-494F-AA06-5540F5B71FF3}"/>
              </a:ext>
            </a:extLst>
          </p:cNvPr>
          <p:cNvSpPr>
            <a:spLocks xmlns:a="http://schemas.openxmlformats.org/drawingml/2006/main" noGrp="1"/>
          </p:cNvSpPr>
          <p:nvPr/>
        </p:nvSpPr>
        <p:spPr>
          <a:xfrm xmlns:a="http://schemas.openxmlformats.org/drawingml/2006/main">
            <a:off x="502920" y="1417320"/>
            <a:ext cx="1115568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350">
                <a:solidFill>
                  <a:srgbClr val="1A1A2E"/>
                </a:solidFill>
                <a:latin typeface="Calibri"/>
                <a:ea typeface="Calibri"/>
                <a:cs typeface="Calibri"/>
              </a:rPr>
              <a:t>Two frozen image–text encoders that never met: MobileCLIP-S1 (phone-tier, 512-d) and SigLIP 2 (server-tier, 768-d).</a:t>
            </a:r>
            <a:endParaRPr sz="1350"/>
          </a:p>
          <a:p xmlns:a="http://schemas.openxmlformats.org/drawingml/2006/main">
            <a:pPr marL="152400" indent="-152400">
              <a:spcAft>
                <a:spcPts val="800"/>
              </a:spcAft>
              <a:buSzPct val="100000"/>
              <a:buChar char="•"/>
            </a:pPr>
            <a:r>
              <a:rPr sz="1350">
                <a:solidFill>
                  <a:srgbClr val="1A1A2E"/>
                </a:solidFill>
                <a:latin typeface="Calibri"/>
                <a:ea typeface="Calibri"/>
                <a:cs typeface="Calibri"/>
              </a:rPr>
              <a:t>One ridge matrix W maps MobileCLIP vectors into SigLIP space — fitted on REPRESENTATION matching, so it never sees the retrieval task it is later scored on.</a:t>
            </a:r>
            <a:endParaRPr sz="1350"/>
          </a:p>
          <a:p xmlns:a="http://schemas.openxmlformats.org/drawingml/2006/main">
            <a:pPr marL="152400" indent="-152400">
              <a:spcAft>
                <a:spcPts val="800"/>
              </a:spcAft>
              <a:buSzPct val="100000"/>
              <a:buChar char="•"/>
            </a:pPr>
            <a:r>
              <a:rPr sz="1350">
                <a:solidFill>
                  <a:srgbClr val="1A1A2E"/>
                </a:solidFill>
                <a:latin typeface="Calibri"/>
                <a:ea typeface="Calibri"/>
                <a:cs typeface="Calibri"/>
              </a:rPr>
              <a:t>Then SigLIP’s own machinery — text tower, cosine ranking — is reused, unchanged, on the mapped vectors.</a:t>
            </a:r>
            <a:endParaRPr sz="1350"/>
          </a:p>
        </p:txBody>
      </p:sp>
      <p:sp>
        <p:nvSpPr>
          <p:cNvPr id="5" name="Shape 3">
            <a:extLst xmlns:a="http://schemas.openxmlformats.org/drawingml/2006/main">
              <a:ext uri="{FF2B5EF4-FFF2-40B4-BE49-F238E27FC236}">
                <a16:creationId xmlns:a16="http://schemas.microsoft.com/office/drawing/2014/main" id="{7B50AC9D-E49A-43BA-A5D4-162D10E5B9F6}"/>
              </a:ext>
            </a:extLst>
          </p:cNvPr>
          <p:cNvSpPr>
            <a:spLocks xmlns:a="http://schemas.openxmlformats.org/drawingml/2006/main" noGrp="1"/>
          </p:cNvSpPr>
          <p:nvPr/>
        </p:nvSpPr>
        <p:spPr>
          <a:xfrm xmlns:a="http://schemas.openxmlformats.org/drawingml/2006/main">
            <a:off x="502920" y="3429000"/>
            <a:ext cx="2514600" cy="1600200"/>
          </a:xfrm>
          <a:prstGeom xmlns:a="http://schemas.openxmlformats.org/drawingml/2006/main" prst="roundRect">
            <a:avLst>
              <a:gd name="adj" fmla="val 5143"/>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2A172D0A-D9CC-45CF-90AC-C6720EB945F2}"/>
              </a:ext>
            </a:extLst>
          </p:cNvPr>
          <p:cNvSpPr>
            <a:spLocks xmlns:a="http://schemas.openxmlformats.org/drawingml/2006/main" noGrp="1"/>
          </p:cNvSpPr>
          <p:nvPr/>
        </p:nvSpPr>
        <p:spPr>
          <a:xfrm xmlns:a="http://schemas.openxmlformats.org/drawingml/2006/main">
            <a:off x="612648" y="3584448"/>
            <a:ext cx="22951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FFFFFF"/>
                </a:solidFill>
                <a:latin typeface="Cambria"/>
                <a:ea typeface="Cambria"/>
                <a:cs typeface="Cambria"/>
              </a:rPr>
              <a:t>MobileCLIP-S1</a:t>
            </a:r>
            <a:endParaRPr sz="1450"/>
          </a:p>
        </p:txBody>
      </p:sp>
      <p:sp>
        <p:nvSpPr>
          <p:cNvPr id="7" name="Text 5">
            <a:extLst xmlns:a="http://schemas.openxmlformats.org/drawingml/2006/main">
              <a:ext uri="{FF2B5EF4-FFF2-40B4-BE49-F238E27FC236}">
                <a16:creationId xmlns:a16="http://schemas.microsoft.com/office/drawing/2014/main" id="{3C099E16-F770-457C-8BEA-583B64768C8E}"/>
              </a:ext>
            </a:extLst>
          </p:cNvPr>
          <p:cNvSpPr>
            <a:spLocks xmlns:a="http://schemas.openxmlformats.org/drawingml/2006/main" noGrp="1"/>
          </p:cNvSpPr>
          <p:nvPr/>
        </p:nvSpPr>
        <p:spPr>
          <a:xfrm xmlns:a="http://schemas.openxmlformats.org/drawingml/2006/main">
            <a:off x="612648" y="3968496"/>
            <a:ext cx="2295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E3E9F5"/>
                </a:solidFill>
                <a:latin typeface="Calibri"/>
                <a:ea typeface="Calibri"/>
                <a:cs typeface="Calibri"/>
              </a:rPr>
              <a:t>frozen · image vector</a:t>
            </a:r>
            <a:endParaRPr sz="1050"/>
          </a:p>
          <a:p xmlns:a="http://schemas.openxmlformats.org/drawingml/2006/main">
            <a:pPr marL="0" indent="0" algn="ctr">
              <a:buNone/>
            </a:pPr>
            <a:r>
              <a:rPr sz="1050">
                <a:solidFill>
                  <a:srgbClr val="E3E9F5"/>
                </a:solidFill>
                <a:latin typeface="Calibri"/>
                <a:ea typeface="Calibri"/>
                <a:cs typeface="Calibri"/>
              </a:rPr>
              <a:t>512-d</a:t>
            </a:r>
            <a:endParaRPr sz="1050"/>
          </a:p>
        </p:txBody>
      </p:sp>
      <p:sp>
        <p:nvSpPr>
          <p:cNvPr id="8" name="Shape 6">
            <a:extLst xmlns:a="http://schemas.openxmlformats.org/drawingml/2006/main">
              <a:ext uri="{FF2B5EF4-FFF2-40B4-BE49-F238E27FC236}">
                <a16:creationId xmlns:a16="http://schemas.microsoft.com/office/drawing/2014/main" id="{8D34C5C1-11E6-414A-80FC-17910E4EE548}"/>
              </a:ext>
            </a:extLst>
          </p:cNvPr>
          <p:cNvSpPr>
            <a:spLocks xmlns:a="http://schemas.openxmlformats.org/drawingml/2006/main" noGrp="1"/>
          </p:cNvSpPr>
          <p:nvPr/>
        </p:nvSpPr>
        <p:spPr>
          <a:xfrm xmlns:a="http://schemas.openxmlformats.org/drawingml/2006/main">
            <a:off x="3044952" y="4224528"/>
            <a:ext cx="429768" cy="0"/>
          </a:xfrm>
          <a:prstGeom xmlns:a="http://schemas.openxmlformats.org/drawingml/2006/main" prst="line">
            <a:avLst/>
          </a:prstGeom>
          <a:noFill xmlns:a="http://schemas.openxmlformats.org/drawingml/2006/main"/>
          <a:ln xmlns:a="http://schemas.openxmlformats.org/drawingml/2006/main" w="27940">
            <a:solidFill>
              <a:srgbClr val="5A6472"/>
            </a:solidFill>
            <a:prstDash val="solid"/>
            <a:tailEnd type="triangle"/>
          </a:ln>
        </p:spPr>
      </p:sp>
      <p:sp>
        <p:nvSpPr>
          <p:cNvPr id="9" name="Shape 7">
            <a:extLst xmlns:a="http://schemas.openxmlformats.org/drawingml/2006/main">
              <a:ext uri="{FF2B5EF4-FFF2-40B4-BE49-F238E27FC236}">
                <a16:creationId xmlns:a16="http://schemas.microsoft.com/office/drawing/2014/main" id="{7AD17E58-31DB-4B29-B0D6-E033D5DB5A95}"/>
              </a:ext>
            </a:extLst>
          </p:cNvPr>
          <p:cNvSpPr>
            <a:spLocks xmlns:a="http://schemas.openxmlformats.org/drawingml/2006/main" noGrp="1"/>
          </p:cNvSpPr>
          <p:nvPr/>
        </p:nvSpPr>
        <p:spPr>
          <a:xfrm xmlns:a="http://schemas.openxmlformats.org/drawingml/2006/main">
            <a:off x="3502152" y="3429000"/>
            <a:ext cx="2514600" cy="1600200"/>
          </a:xfrm>
          <a:prstGeom xmlns:a="http://schemas.openxmlformats.org/drawingml/2006/main" prst="roundRect">
            <a:avLst>
              <a:gd name="adj" fmla="val 5143"/>
            </a:avLst>
          </a:prstGeom>
          <a:solidFill xmlns:a="http://schemas.openxmlformats.org/drawingml/2006/main">
            <a:srgbClr val="0F766E"/>
          </a:solidFill>
        </p:spPr>
      </p:sp>
      <p:sp>
        <p:nvSpPr>
          <p:cNvPr id="10" name="Text 8">
            <a:extLst xmlns:a="http://schemas.openxmlformats.org/drawingml/2006/main">
              <a:ext uri="{FF2B5EF4-FFF2-40B4-BE49-F238E27FC236}">
                <a16:creationId xmlns:a16="http://schemas.microsoft.com/office/drawing/2014/main" id="{DA32AAF8-1E2F-47B5-8F8E-A6E9F5C7132F}"/>
              </a:ext>
            </a:extLst>
          </p:cNvPr>
          <p:cNvSpPr>
            <a:spLocks xmlns:a="http://schemas.openxmlformats.org/drawingml/2006/main" noGrp="1"/>
          </p:cNvSpPr>
          <p:nvPr/>
        </p:nvSpPr>
        <p:spPr>
          <a:xfrm xmlns:a="http://schemas.openxmlformats.org/drawingml/2006/main">
            <a:off x="3611880" y="3584448"/>
            <a:ext cx="22951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FFFFFF"/>
                </a:solidFill>
                <a:latin typeface="Cambria"/>
                <a:ea typeface="Cambria"/>
                <a:cs typeface="Cambria"/>
              </a:rPr>
              <a:t>W  ·  the adapter</a:t>
            </a:r>
            <a:endParaRPr sz="1450"/>
          </a:p>
        </p:txBody>
      </p:sp>
      <p:sp>
        <p:nvSpPr>
          <p:cNvPr id="11" name="Text 9">
            <a:extLst xmlns:a="http://schemas.openxmlformats.org/drawingml/2006/main">
              <a:ext uri="{FF2B5EF4-FFF2-40B4-BE49-F238E27FC236}">
                <a16:creationId xmlns:a16="http://schemas.microsoft.com/office/drawing/2014/main" id="{6577CD3E-9024-4A37-965B-0C87AC084758}"/>
              </a:ext>
            </a:extLst>
          </p:cNvPr>
          <p:cNvSpPr>
            <a:spLocks xmlns:a="http://schemas.openxmlformats.org/drawingml/2006/main" noGrp="1"/>
          </p:cNvSpPr>
          <p:nvPr/>
        </p:nvSpPr>
        <p:spPr>
          <a:xfrm xmlns:a="http://schemas.openxmlformats.org/drawingml/2006/main">
            <a:off x="3611880" y="3968496"/>
            <a:ext cx="2295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E3E9F5"/>
                </a:solidFill>
                <a:latin typeface="Calibri"/>
                <a:ea typeface="Calibri"/>
                <a:cs typeface="Calibri"/>
              </a:rPr>
              <a:t>ridge, 512×768</a:t>
            </a:r>
            <a:endParaRPr sz="1050"/>
          </a:p>
          <a:p xmlns:a="http://schemas.openxmlformats.org/drawingml/2006/main">
            <a:pPr marL="0" indent="0" algn="ctr">
              <a:buNone/>
            </a:pPr>
            <a:r>
              <a:rPr sz="1050">
                <a:solidFill>
                  <a:srgbClr val="E3E9F5"/>
                </a:solidFill>
                <a:latin typeface="Calibri"/>
                <a:ea typeface="Calibri"/>
                <a:cs typeface="Calibri"/>
              </a:rPr>
              <a:t>closed-form · 0.79 MB</a:t>
            </a:r>
            <a:endParaRPr sz="1050"/>
          </a:p>
          <a:p xmlns:a="http://schemas.openxmlformats.org/drawingml/2006/main">
            <a:pPr marL="0" indent="0" algn="ctr">
              <a:buNone/>
            </a:pPr>
            <a:r>
              <a:rPr sz="1050">
                <a:solidFill>
                  <a:srgbClr val="E3E9F5"/>
                </a:solidFill>
                <a:latin typeface="Calibri"/>
                <a:ea typeface="Calibri"/>
                <a:cs typeface="Calibri"/>
              </a:rPr>
              <a:t>fitted to match representations</a:t>
            </a:r>
            <a:endParaRPr sz="1050"/>
          </a:p>
        </p:txBody>
      </p:sp>
      <p:sp>
        <p:nvSpPr>
          <p:cNvPr id="12" name="Shape 10">
            <a:extLst xmlns:a="http://schemas.openxmlformats.org/drawingml/2006/main">
              <a:ext uri="{FF2B5EF4-FFF2-40B4-BE49-F238E27FC236}">
                <a16:creationId xmlns:a16="http://schemas.microsoft.com/office/drawing/2014/main" id="{1F4370F6-1BE5-41C1-9167-2B2FE3BC408E}"/>
              </a:ext>
            </a:extLst>
          </p:cNvPr>
          <p:cNvSpPr>
            <a:spLocks xmlns:a="http://schemas.openxmlformats.org/drawingml/2006/main" noGrp="1"/>
          </p:cNvSpPr>
          <p:nvPr/>
        </p:nvSpPr>
        <p:spPr>
          <a:xfrm xmlns:a="http://schemas.openxmlformats.org/drawingml/2006/main">
            <a:off x="6044184" y="4224528"/>
            <a:ext cx="429768" cy="0"/>
          </a:xfrm>
          <a:prstGeom xmlns:a="http://schemas.openxmlformats.org/drawingml/2006/main" prst="line">
            <a:avLst/>
          </a:prstGeom>
          <a:noFill xmlns:a="http://schemas.openxmlformats.org/drawingml/2006/main"/>
          <a:ln xmlns:a="http://schemas.openxmlformats.org/drawingml/2006/main" w="27940">
            <a:solidFill>
              <a:srgbClr val="5A6472"/>
            </a:solidFill>
            <a:prstDash val="solid"/>
            <a:tailEnd type="triangle"/>
          </a:ln>
        </p:spPr>
      </p:sp>
      <p:sp>
        <p:nvSpPr>
          <p:cNvPr id="13" name="Shape 11">
            <a:extLst xmlns:a="http://schemas.openxmlformats.org/drawingml/2006/main">
              <a:ext uri="{FF2B5EF4-FFF2-40B4-BE49-F238E27FC236}">
                <a16:creationId xmlns:a16="http://schemas.microsoft.com/office/drawing/2014/main" id="{4E3F1358-D35F-4D14-BDAF-4DAA12B5A598}"/>
              </a:ext>
            </a:extLst>
          </p:cNvPr>
          <p:cNvSpPr>
            <a:spLocks xmlns:a="http://schemas.openxmlformats.org/drawingml/2006/main" noGrp="1"/>
          </p:cNvSpPr>
          <p:nvPr/>
        </p:nvSpPr>
        <p:spPr>
          <a:xfrm xmlns:a="http://schemas.openxmlformats.org/drawingml/2006/main">
            <a:off x="6501384" y="3429000"/>
            <a:ext cx="2514600" cy="1600200"/>
          </a:xfrm>
          <a:prstGeom xmlns:a="http://schemas.openxmlformats.org/drawingml/2006/main" prst="roundRect">
            <a:avLst>
              <a:gd name="adj" fmla="val 5143"/>
            </a:avLst>
          </a:prstGeom>
          <a:solidFill xmlns:a="http://schemas.openxmlformats.org/drawingml/2006/main">
            <a:srgbClr val="1E2761"/>
          </a:solidFill>
        </p:spPr>
      </p:sp>
      <p:sp>
        <p:nvSpPr>
          <p:cNvPr id="14" name="Text 12">
            <a:extLst xmlns:a="http://schemas.openxmlformats.org/drawingml/2006/main">
              <a:ext uri="{FF2B5EF4-FFF2-40B4-BE49-F238E27FC236}">
                <a16:creationId xmlns:a16="http://schemas.microsoft.com/office/drawing/2014/main" id="{37404B2A-B61A-409C-B140-CE84158150B9}"/>
              </a:ext>
            </a:extLst>
          </p:cNvPr>
          <p:cNvSpPr>
            <a:spLocks xmlns:a="http://schemas.openxmlformats.org/drawingml/2006/main" noGrp="1"/>
          </p:cNvSpPr>
          <p:nvPr/>
        </p:nvSpPr>
        <p:spPr>
          <a:xfrm xmlns:a="http://schemas.openxmlformats.org/drawingml/2006/main">
            <a:off x="6611112" y="3584448"/>
            <a:ext cx="22951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FFFFFF"/>
                </a:solidFill>
                <a:latin typeface="Cambria"/>
                <a:ea typeface="Cambria"/>
                <a:cs typeface="Cambria"/>
              </a:rPr>
              <a:t>SigLIP 2 space</a:t>
            </a:r>
            <a:endParaRPr sz="1450"/>
          </a:p>
        </p:txBody>
      </p:sp>
      <p:sp>
        <p:nvSpPr>
          <p:cNvPr id="15" name="Text 13">
            <a:extLst xmlns:a="http://schemas.openxmlformats.org/drawingml/2006/main">
              <a:ext uri="{FF2B5EF4-FFF2-40B4-BE49-F238E27FC236}">
                <a16:creationId xmlns:a16="http://schemas.microsoft.com/office/drawing/2014/main" id="{19AA8A6E-392B-43A3-857B-ED32D9880F08}"/>
              </a:ext>
            </a:extLst>
          </p:cNvPr>
          <p:cNvSpPr>
            <a:spLocks xmlns:a="http://schemas.openxmlformats.org/drawingml/2006/main" noGrp="1"/>
          </p:cNvSpPr>
          <p:nvPr/>
        </p:nvSpPr>
        <p:spPr>
          <a:xfrm xmlns:a="http://schemas.openxmlformats.org/drawingml/2006/main">
            <a:off x="6611112" y="3968496"/>
            <a:ext cx="2295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E3E9F5"/>
                </a:solidFill>
                <a:latin typeface="Calibri"/>
                <a:ea typeface="Calibri"/>
                <a:cs typeface="Calibri"/>
              </a:rPr>
              <a:t>mapped vector, 768-d</a:t>
            </a:r>
            <a:endParaRPr sz="1050"/>
          </a:p>
          <a:p xmlns:a="http://schemas.openxmlformats.org/drawingml/2006/main">
            <a:pPr marL="0" indent="0" algn="ctr">
              <a:buNone/>
            </a:pPr>
            <a:r>
              <a:rPr sz="1050">
                <a:solidFill>
                  <a:srgbClr val="E3E9F5"/>
                </a:solidFill>
                <a:latin typeface="Calibri"/>
                <a:ea typeface="Calibri"/>
                <a:cs typeface="Calibri"/>
              </a:rPr>
              <a:t>now speaks SigLIP</a:t>
            </a:r>
            <a:endParaRPr sz="1050"/>
          </a:p>
        </p:txBody>
      </p:sp>
      <p:sp>
        <p:nvSpPr>
          <p:cNvPr id="16" name="Shape 14">
            <a:extLst xmlns:a="http://schemas.openxmlformats.org/drawingml/2006/main">
              <a:ext uri="{FF2B5EF4-FFF2-40B4-BE49-F238E27FC236}">
                <a16:creationId xmlns:a16="http://schemas.microsoft.com/office/drawing/2014/main" id="{22FF0CED-C67F-4AE0-8749-C0B794230A71}"/>
              </a:ext>
            </a:extLst>
          </p:cNvPr>
          <p:cNvSpPr>
            <a:spLocks xmlns:a="http://schemas.openxmlformats.org/drawingml/2006/main" noGrp="1"/>
          </p:cNvSpPr>
          <p:nvPr/>
        </p:nvSpPr>
        <p:spPr>
          <a:xfrm xmlns:a="http://schemas.openxmlformats.org/drawingml/2006/main">
            <a:off x="9043416" y="4224528"/>
            <a:ext cx="429768" cy="0"/>
          </a:xfrm>
          <a:prstGeom xmlns:a="http://schemas.openxmlformats.org/drawingml/2006/main" prst="line">
            <a:avLst/>
          </a:prstGeom>
          <a:noFill xmlns:a="http://schemas.openxmlformats.org/drawingml/2006/main"/>
          <a:ln xmlns:a="http://schemas.openxmlformats.org/drawingml/2006/main" w="27940">
            <a:solidFill>
              <a:srgbClr val="5A6472"/>
            </a:solidFill>
            <a:prstDash val="solid"/>
            <a:tailEnd type="triangle"/>
          </a:ln>
        </p:spPr>
      </p:sp>
      <p:sp>
        <p:nvSpPr>
          <p:cNvPr id="17" name="Shape 15">
            <a:extLst xmlns:a="http://schemas.openxmlformats.org/drawingml/2006/main">
              <a:ext uri="{FF2B5EF4-FFF2-40B4-BE49-F238E27FC236}">
                <a16:creationId xmlns:a16="http://schemas.microsoft.com/office/drawing/2014/main" id="{5BF71AE1-8E7C-4790-A74E-5ADFE4867239}"/>
              </a:ext>
            </a:extLst>
          </p:cNvPr>
          <p:cNvSpPr>
            <a:spLocks xmlns:a="http://schemas.openxmlformats.org/drawingml/2006/main" noGrp="1"/>
          </p:cNvSpPr>
          <p:nvPr/>
        </p:nvSpPr>
        <p:spPr>
          <a:xfrm xmlns:a="http://schemas.openxmlformats.org/drawingml/2006/main">
            <a:off x="9500616" y="3429000"/>
            <a:ext cx="2514600" cy="1600200"/>
          </a:xfrm>
          <a:prstGeom xmlns:a="http://schemas.openxmlformats.org/drawingml/2006/main" prst="roundRect">
            <a:avLst>
              <a:gd name="adj" fmla="val 5143"/>
            </a:avLst>
          </a:prstGeom>
          <a:solidFill xmlns:a="http://schemas.openxmlformats.org/drawingml/2006/main">
            <a:srgbClr val="36454F"/>
          </a:solidFill>
        </p:spPr>
      </p:sp>
      <p:sp>
        <p:nvSpPr>
          <p:cNvPr id="18" name="Text 16">
            <a:extLst xmlns:a="http://schemas.openxmlformats.org/drawingml/2006/main">
              <a:ext uri="{FF2B5EF4-FFF2-40B4-BE49-F238E27FC236}">
                <a16:creationId xmlns:a16="http://schemas.microsoft.com/office/drawing/2014/main" id="{7B2261E7-2EE0-4575-BCBE-D67A0515BA8B}"/>
              </a:ext>
            </a:extLst>
          </p:cNvPr>
          <p:cNvSpPr>
            <a:spLocks xmlns:a="http://schemas.openxmlformats.org/drawingml/2006/main" noGrp="1"/>
          </p:cNvSpPr>
          <p:nvPr/>
        </p:nvSpPr>
        <p:spPr>
          <a:xfrm xmlns:a="http://schemas.openxmlformats.org/drawingml/2006/main">
            <a:off x="9610344" y="3584448"/>
            <a:ext cx="22951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FFFFFF"/>
                </a:solidFill>
                <a:latin typeface="Cambria"/>
                <a:ea typeface="Cambria"/>
                <a:cs typeface="Cambria"/>
              </a:rPr>
              <a:t>SigLIP’s own retrieval</a:t>
            </a:r>
            <a:endParaRPr sz="1450"/>
          </a:p>
        </p:txBody>
      </p:sp>
      <p:sp>
        <p:nvSpPr>
          <p:cNvPr id="19" name="Text 17">
            <a:extLst xmlns:a="http://schemas.openxmlformats.org/drawingml/2006/main">
              <a:ext uri="{FF2B5EF4-FFF2-40B4-BE49-F238E27FC236}">
                <a16:creationId xmlns:a16="http://schemas.microsoft.com/office/drawing/2014/main" id="{CF819CFF-C4AC-464B-B1BF-F6B0D59A3F09}"/>
              </a:ext>
            </a:extLst>
          </p:cNvPr>
          <p:cNvSpPr>
            <a:spLocks xmlns:a="http://schemas.openxmlformats.org/drawingml/2006/main" noGrp="1"/>
          </p:cNvSpPr>
          <p:nvPr/>
        </p:nvSpPr>
        <p:spPr>
          <a:xfrm xmlns:a="http://schemas.openxmlformats.org/drawingml/2006/main">
            <a:off x="9610344" y="3968496"/>
            <a:ext cx="2295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E3E9F5"/>
                </a:solidFill>
                <a:latin typeface="Calibri"/>
                <a:ea typeface="Calibri"/>
                <a:cs typeface="Calibri"/>
              </a:rPr>
              <a:t>text tower + cosine</a:t>
            </a:r>
            <a:endParaRPr sz="1050"/>
          </a:p>
          <a:p xmlns:a="http://schemas.openxmlformats.org/drawingml/2006/main">
            <a:pPr marL="0" indent="0" algn="ctr">
              <a:buNone/>
            </a:pPr>
            <a:r>
              <a:rPr sz="1050">
                <a:solidFill>
                  <a:srgbClr val="E3E9F5"/>
                </a:solidFill>
                <a:latin typeface="Calibri"/>
                <a:ea typeface="Calibri"/>
                <a:cs typeface="Calibri"/>
              </a:rPr>
              <a:t>UNCHANGED, never refit</a:t>
            </a:r>
            <a:endParaRPr sz="1050"/>
          </a:p>
        </p:txBody>
      </p:sp>
      <p:sp>
        <p:nvSpPr>
          <p:cNvPr id="20" name="Text 18">
            <a:extLst xmlns:a="http://schemas.openxmlformats.org/drawingml/2006/main">
              <a:ext uri="{FF2B5EF4-FFF2-40B4-BE49-F238E27FC236}">
                <a16:creationId xmlns:a16="http://schemas.microsoft.com/office/drawing/2014/main" id="{9483DB9F-B43C-4EA2-9F34-3C65CB195A63}"/>
              </a:ext>
            </a:extLst>
          </p:cNvPr>
          <p:cNvSpPr>
            <a:spLocks xmlns:a="http://schemas.openxmlformats.org/drawingml/2006/main" noGrp="1"/>
          </p:cNvSpPr>
          <p:nvPr/>
        </p:nvSpPr>
        <p:spPr>
          <a:xfrm xmlns:a="http://schemas.openxmlformats.org/drawingml/2006/main">
            <a:off x="502920" y="5230368"/>
            <a:ext cx="11155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6472"/>
                </a:solidFill>
                <a:latin typeface="Calibri"/>
                <a:ea typeface="Calibri"/>
                <a:cs typeface="Calibri"/>
              </a:rPr>
              <a:t>verification AUC 0.999 · held-out throughout · remove W and everything above collapses to chance (AUC 0.477)</a:t>
            </a:r>
            <a:endParaRPr sz="1200"/>
          </a:p>
        </p:txBody>
      </p:sp>
      <p:sp>
        <p:nvSpPr>
          <p:cNvPr id="21" name="Text 19">
            <a:extLst xmlns:a="http://schemas.openxmlformats.org/drawingml/2006/main">
              <a:ext uri="{FF2B5EF4-FFF2-40B4-BE49-F238E27FC236}">
                <a16:creationId xmlns:a16="http://schemas.microsoft.com/office/drawing/2014/main" id="{A85925BE-8DD7-40C9-AEE4-6BF6842FC72E}"/>
              </a:ext>
            </a:extLst>
          </p:cNvPr>
          <p:cNvSpPr>
            <a:spLocks xmlns:a="http://schemas.openxmlformats.org/drawingml/2006/main" noGrp="1"/>
          </p:cNvSpPr>
          <p:nvPr/>
        </p:nvSpPr>
        <p:spPr>
          <a:xfrm xmlns:a="http://schemas.openxmlformats.org/drawingml/2006/main">
            <a:off x="640080" y="580644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5A6472"/>
                </a:solidFill>
                <a:latin typeface="Calibri"/>
                <a:ea typeface="Calibri"/>
                <a:cs typeface="Calibri"/>
              </a:rPr>
              <a:t>Classic output-layer stitching — with a connector that cannot cheat, because it was never trained on the task it is scored on.</a:t>
            </a:r>
            <a:endParaRPr sz="1300"/>
          </a:p>
        </p:txBody>
      </p:sp>
    </p:spTree>
    <p:extLst>
      <p:ext uri="{BB962C8B-B14F-4D97-AF65-F5344CB8AC3E}">
        <p14:creationId xmlns:p14="http://schemas.microsoft.com/office/powerpoint/2010/main" val="17057524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2CA2C6-FA4A-401D-AE7E-48E1E6888933}"/>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PART I · TWO ENCODERS</a:t>
            </a:r>
            <a:endParaRPr sz="1100"/>
          </a:p>
        </p:txBody>
      </p:sp>
      <p:sp>
        <p:nvSpPr>
          <p:cNvPr id="3" name="Text 1">
            <a:extLst xmlns:a="http://schemas.openxmlformats.org/drawingml/2006/main">
              <a:ext uri="{FF2B5EF4-FFF2-40B4-BE49-F238E27FC236}">
                <a16:creationId xmlns:a16="http://schemas.microsoft.com/office/drawing/2014/main" id="{1981FF38-9A83-4FED-A357-533F406A2278}"/>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Experiment B — what one matrix buys</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245627fff07b4441"/>
          <a:stretch xmlns:a="http://schemas.openxmlformats.org/drawingml/2006/main">
            <a:fillRect l="0" t="0" r="0" b="0"/>
          </a:stretch>
        </p:blipFill>
        <p:spPr>
          <a:xfrm xmlns:a="http://schemas.openxmlformats.org/drawingml/2006/main">
            <a:off x="640080" y="1463040"/>
            <a:ext cx="6766560" cy="338328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CD589EC0-0579-41DD-8787-3BFED084A014}"/>
              </a:ext>
            </a:extLst>
          </p:cNvPr>
          <p:cNvSpPr>
            <a:spLocks xmlns:a="http://schemas.openxmlformats.org/drawingml/2006/main" noGrp="1"/>
          </p:cNvSpPr>
          <p:nvPr/>
        </p:nvSpPr>
        <p:spPr>
          <a:xfrm xmlns:a="http://schemas.openxmlformats.org/drawingml/2006/main">
            <a:off x="7726680" y="1554480"/>
            <a:ext cx="1920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1E2761"/>
                </a:solidFill>
                <a:latin typeface="Cambria"/>
                <a:ea typeface="Cambria"/>
                <a:cs typeface="Cambria"/>
              </a:rPr>
              <a:t>0.592</a:t>
            </a:r>
            <a:endParaRPr sz="3400"/>
          </a:p>
        </p:txBody>
      </p:sp>
      <p:sp>
        <p:nvSpPr>
          <p:cNvPr id="6" name="Text 3">
            <a:extLst xmlns:a="http://schemas.openxmlformats.org/drawingml/2006/main">
              <a:ext uri="{FF2B5EF4-FFF2-40B4-BE49-F238E27FC236}">
                <a16:creationId xmlns:a16="http://schemas.microsoft.com/office/drawing/2014/main" id="{A90ABD63-AA4D-4D47-AAF7-58FAD94AC550}"/>
              </a:ext>
            </a:extLst>
          </p:cNvPr>
          <p:cNvSpPr>
            <a:spLocks xmlns:a="http://schemas.openxmlformats.org/drawingml/2006/main" noGrp="1"/>
          </p:cNvSpPr>
          <p:nvPr/>
        </p:nvSpPr>
        <p:spPr>
          <a:xfrm xmlns:a="http://schemas.openxmlformats.org/drawingml/2006/main">
            <a:off x="7726680" y="2176272"/>
            <a:ext cx="1920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472"/>
                </a:solidFill>
                <a:latin typeface="Calibri"/>
                <a:ea typeface="Calibri"/>
                <a:cs typeface="Calibri"/>
              </a:rPr>
              <a:t>held-out R² of the map</a:t>
            </a:r>
            <a:endParaRPr sz="1050"/>
          </a:p>
        </p:txBody>
      </p:sp>
      <p:sp>
        <p:nvSpPr>
          <p:cNvPr id="7" name="Text 4">
            <a:extLst xmlns:a="http://schemas.openxmlformats.org/drawingml/2006/main">
              <a:ext uri="{FF2B5EF4-FFF2-40B4-BE49-F238E27FC236}">
                <a16:creationId xmlns:a16="http://schemas.microsoft.com/office/drawing/2014/main" id="{D4481696-897C-41B8-9407-F60CC116A892}"/>
              </a:ext>
            </a:extLst>
          </p:cNvPr>
          <p:cNvSpPr>
            <a:spLocks xmlns:a="http://schemas.openxmlformats.org/drawingml/2006/main" noGrp="1"/>
          </p:cNvSpPr>
          <p:nvPr/>
        </p:nvSpPr>
        <p:spPr>
          <a:xfrm xmlns:a="http://schemas.openxmlformats.org/drawingml/2006/main">
            <a:off x="9692640" y="1554480"/>
            <a:ext cx="1920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1E2761"/>
                </a:solidFill>
                <a:latin typeface="Cambria"/>
                <a:ea typeface="Cambria"/>
                <a:cs typeface="Cambria"/>
              </a:rPr>
              <a:t>0.900</a:t>
            </a:r>
            <a:endParaRPr sz="3400"/>
          </a:p>
        </p:txBody>
      </p:sp>
      <p:sp>
        <p:nvSpPr>
          <p:cNvPr id="8" name="Text 5">
            <a:extLst xmlns:a="http://schemas.openxmlformats.org/drawingml/2006/main">
              <a:ext uri="{FF2B5EF4-FFF2-40B4-BE49-F238E27FC236}">
                <a16:creationId xmlns:a16="http://schemas.microsoft.com/office/drawing/2014/main" id="{DD4B86B6-1D4F-4BE2-BAC3-FE41727A55E6}"/>
              </a:ext>
            </a:extLst>
          </p:cNvPr>
          <p:cNvSpPr>
            <a:spLocks xmlns:a="http://schemas.openxmlformats.org/drawingml/2006/main" noGrp="1"/>
          </p:cNvSpPr>
          <p:nvPr/>
        </p:nvSpPr>
        <p:spPr>
          <a:xfrm xmlns:a="http://schemas.openxmlformats.org/drawingml/2006/main">
            <a:off x="9692640" y="2176272"/>
            <a:ext cx="1920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472"/>
                </a:solidFill>
                <a:latin typeface="Calibri"/>
                <a:ea typeface="Calibri"/>
                <a:cs typeface="Calibri"/>
              </a:rPr>
              <a:t>mean cosine to the true twin</a:t>
            </a:r>
            <a:endParaRPr sz="1050"/>
          </a:p>
        </p:txBody>
      </p:sp>
      <p:sp>
        <p:nvSpPr>
          <p:cNvPr id="9" name="Text 6">
            <a:extLst xmlns:a="http://schemas.openxmlformats.org/drawingml/2006/main">
              <a:ext uri="{FF2B5EF4-FFF2-40B4-BE49-F238E27FC236}">
                <a16:creationId xmlns:a16="http://schemas.microsoft.com/office/drawing/2014/main" id="{F7BBA141-F457-49AE-A9AD-7A7581ED7CE6}"/>
              </a:ext>
            </a:extLst>
          </p:cNvPr>
          <p:cNvSpPr>
            <a:spLocks xmlns:a="http://schemas.openxmlformats.org/drawingml/2006/main" noGrp="1"/>
          </p:cNvSpPr>
          <p:nvPr/>
        </p:nvSpPr>
        <p:spPr>
          <a:xfrm xmlns:a="http://schemas.openxmlformats.org/drawingml/2006/main">
            <a:off x="7726680" y="2880360"/>
            <a:ext cx="1920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F766E"/>
                </a:solidFill>
                <a:latin typeface="Cambria"/>
                <a:ea typeface="Cambria"/>
                <a:cs typeface="Cambria"/>
              </a:rPr>
              <a:t>88.4%</a:t>
            </a:r>
            <a:endParaRPr sz="3400"/>
          </a:p>
        </p:txBody>
      </p:sp>
      <p:sp>
        <p:nvSpPr>
          <p:cNvPr id="10" name="Text 7">
            <a:extLst xmlns:a="http://schemas.openxmlformats.org/drawingml/2006/main">
              <a:ext uri="{FF2B5EF4-FFF2-40B4-BE49-F238E27FC236}">
                <a16:creationId xmlns:a16="http://schemas.microsoft.com/office/drawing/2014/main" id="{EC9009A3-7B00-4FD3-8CBE-98E90A6FDCEA}"/>
              </a:ext>
            </a:extLst>
          </p:cNvPr>
          <p:cNvSpPr>
            <a:spLocks xmlns:a="http://schemas.openxmlformats.org/drawingml/2006/main" noGrp="1"/>
          </p:cNvSpPr>
          <p:nvPr/>
        </p:nvSpPr>
        <p:spPr>
          <a:xfrm xmlns:a="http://schemas.openxmlformats.org/drawingml/2006/main">
            <a:off x="7726680" y="3502152"/>
            <a:ext cx="1920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472"/>
                </a:solidFill>
                <a:latin typeface="Calibri"/>
                <a:ea typeface="Calibri"/>
                <a:cs typeface="Calibri"/>
              </a:rPr>
              <a:t>of the jointly-trained retrieval ceiling</a:t>
            </a:r>
            <a:endParaRPr sz="1050"/>
          </a:p>
        </p:txBody>
      </p:sp>
      <p:sp>
        <p:nvSpPr>
          <p:cNvPr id="11" name="Text 8">
            <a:extLst xmlns:a="http://schemas.openxmlformats.org/drawingml/2006/main">
              <a:ext uri="{FF2B5EF4-FFF2-40B4-BE49-F238E27FC236}">
                <a16:creationId xmlns:a16="http://schemas.microsoft.com/office/drawing/2014/main" id="{4942A73A-8A89-45D5-A826-23633F81E863}"/>
              </a:ext>
            </a:extLst>
          </p:cNvPr>
          <p:cNvSpPr>
            <a:spLocks xmlns:a="http://schemas.openxmlformats.org/drawingml/2006/main" noGrp="1"/>
          </p:cNvSpPr>
          <p:nvPr/>
        </p:nvSpPr>
        <p:spPr>
          <a:xfrm xmlns:a="http://schemas.openxmlformats.org/drawingml/2006/main">
            <a:off x="9692640" y="2880360"/>
            <a:ext cx="1920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0F766E"/>
                </a:solidFill>
                <a:latin typeface="Cambria"/>
                <a:ea typeface="Cambria"/>
                <a:cs typeface="Cambria"/>
              </a:rPr>
              <a:t>0.79 MB</a:t>
            </a:r>
            <a:endParaRPr sz="3400"/>
          </a:p>
        </p:txBody>
      </p:sp>
      <p:sp>
        <p:nvSpPr>
          <p:cNvPr id="12" name="Text 9">
            <a:extLst xmlns:a="http://schemas.openxmlformats.org/drawingml/2006/main">
              <a:ext uri="{FF2B5EF4-FFF2-40B4-BE49-F238E27FC236}">
                <a16:creationId xmlns:a16="http://schemas.microsoft.com/office/drawing/2014/main" id="{201AAA61-62BF-44D5-9EC4-3F55FD95A363}"/>
              </a:ext>
            </a:extLst>
          </p:cNvPr>
          <p:cNvSpPr>
            <a:spLocks xmlns:a="http://schemas.openxmlformats.org/drawingml/2006/main" noGrp="1"/>
          </p:cNvSpPr>
          <p:nvPr/>
        </p:nvSpPr>
        <p:spPr>
          <a:xfrm xmlns:a="http://schemas.openxmlformats.org/drawingml/2006/main">
            <a:off x="9692640" y="3502152"/>
            <a:ext cx="1920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A6472"/>
                </a:solidFill>
                <a:latin typeface="Calibri"/>
                <a:ea typeface="Calibri"/>
                <a:cs typeface="Calibri"/>
              </a:rPr>
              <a:t>shipped adapter, Core ML fp16</a:t>
            </a:r>
            <a:endParaRPr sz="1050"/>
          </a:p>
        </p:txBody>
      </p:sp>
      <p:sp>
        <p:nvSpPr>
          <p:cNvPr id="13" name="Text 10">
            <a:extLst xmlns:a="http://schemas.openxmlformats.org/drawingml/2006/main">
              <a:ext uri="{FF2B5EF4-FFF2-40B4-BE49-F238E27FC236}">
                <a16:creationId xmlns:a16="http://schemas.microsoft.com/office/drawing/2014/main" id="{434237B6-B488-4F6E-B013-F278CA913090}"/>
              </a:ext>
            </a:extLst>
          </p:cNvPr>
          <p:cNvSpPr>
            <a:spLocks xmlns:a="http://schemas.openxmlformats.org/drawingml/2006/main" noGrp="1"/>
          </p:cNvSpPr>
          <p:nvPr/>
        </p:nvSpPr>
        <p:spPr>
          <a:xfrm xmlns:a="http://schemas.openxmlformats.org/drawingml/2006/main">
            <a:off x="640080" y="5120640"/>
            <a:ext cx="109728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B02418"/>
                </a:solidFill>
                <a:latin typeface="Calibri"/>
                <a:ea typeface="Calibri"/>
                <a:cs typeface="Calibri"/>
              </a:rPr>
              <a:t>The surprise that set up Part II:  </a:t>
            </a:r>
            <a:r>
              <a:rPr sz="1450">
                <a:solidFill>
                  <a:srgbClr val="1A1A2E"/>
                </a:solidFill>
                <a:latin typeface="Calibri"/>
                <a:ea typeface="Calibri"/>
                <a:cs typeface="Calibri"/>
              </a:rPr>
              <a:t>the task-free connector transfers 88.4% STRONGER than a connector trained on the task itself. The shared structure is in the representations — not manufactured by the connector.</a:t>
            </a:r>
            <a:endParaRPr sz="1450"/>
          </a:p>
        </p:txBody>
      </p:sp>
    </p:spTree>
    <p:extLst>
      <p:ext uri="{BB962C8B-B14F-4D97-AF65-F5344CB8AC3E}">
        <p14:creationId xmlns:p14="http://schemas.microsoft.com/office/powerpoint/2010/main" val="10292653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421C8C1-B6E8-4759-9085-8F4FF2366662}"/>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PART II · N ENCODERS</a:t>
            </a:r>
            <a:endParaRPr sz="1100"/>
          </a:p>
        </p:txBody>
      </p:sp>
      <p:sp>
        <p:nvSpPr>
          <p:cNvPr id="3" name="Text 1">
            <a:extLst xmlns:a="http://schemas.openxmlformats.org/drawingml/2006/main">
              <a:ext uri="{FF2B5EF4-FFF2-40B4-BE49-F238E27FC236}">
                <a16:creationId xmlns:a16="http://schemas.microsoft.com/office/drawing/2014/main" id="{5FED4A3A-2CA1-4404-9A38-0F6AEDAC8C5B}"/>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Hub — one shared coordinate system</a:t>
            </a:r>
            <a:endParaRPr sz="30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94f6ae9c8a8f478f"/>
          <a:stretch xmlns:a="http://schemas.openxmlformats.org/drawingml/2006/main">
            <a:fillRect l="0" t="0" r="0" b="0"/>
          </a:stretch>
        </p:blipFill>
        <p:spPr>
          <a:xfrm xmlns:a="http://schemas.openxmlformats.org/drawingml/2006/main">
            <a:off x="640080" y="1417320"/>
            <a:ext cx="6903720" cy="4279392"/>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44012D50-C0B5-4865-9944-4F28872F399F}"/>
              </a:ext>
            </a:extLst>
          </p:cNvPr>
          <p:cNvSpPr>
            <a:spLocks xmlns:a="http://schemas.openxmlformats.org/drawingml/2006/main" noGrp="1"/>
          </p:cNvSpPr>
          <p:nvPr/>
        </p:nvSpPr>
        <p:spPr>
          <a:xfrm xmlns:a="http://schemas.openxmlformats.org/drawingml/2006/main">
            <a:off x="7772400" y="1463040"/>
            <a:ext cx="3886200" cy="4480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200">
                <a:solidFill>
                  <a:srgbClr val="1A1A2E"/>
                </a:solidFill>
                <a:latin typeface="Calibri"/>
                <a:ea typeface="Calibri"/>
                <a:cs typeface="Calibri"/>
              </a:rPr>
              <a:t>Pairwise maps do not scale: 7 encoders ⇒ 42 directed connectors. A PIVOT does: N entry maps into one space.</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Build once: z-score each space, concatenate per item, PCA, keep 512 directions, whiten. That basis IS the hub — then it is frozen.</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One closed-form ridge map per encoder INTO the hub. One caption head OUT of it, trained on DINOv2-small’s hub coordinates only, into bge-m3 text space.</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Three configurations documented: 4 spaces (published 94.2%), 5 (C.13), 7 (with BERT + SBERT).</a:t>
            </a:r>
            <a:endParaRPr sz="1200"/>
          </a:p>
        </p:txBody>
      </p:sp>
      <p:sp>
        <p:nvSpPr>
          <p:cNvPr id="6" name="Shape 3">
            <a:extLst xmlns:a="http://schemas.openxmlformats.org/drawingml/2006/main">
              <a:ext uri="{FF2B5EF4-FFF2-40B4-BE49-F238E27FC236}">
                <a16:creationId xmlns:a16="http://schemas.microsoft.com/office/drawing/2014/main" id="{5AA51034-9F9D-4BA2-A41B-DE78FA8B8351}"/>
              </a:ext>
            </a:extLst>
          </p:cNvPr>
          <p:cNvSpPr>
            <a:spLocks xmlns:a="http://schemas.openxmlformats.org/drawingml/2006/main" noGrp="1"/>
          </p:cNvSpPr>
          <p:nvPr/>
        </p:nvSpPr>
        <p:spPr>
          <a:xfrm xmlns:a="http://schemas.openxmlformats.org/drawingml/2006/main">
            <a:off x="5815584" y="3931920"/>
            <a:ext cx="1755648" cy="1481328"/>
          </a:xfrm>
          <a:prstGeom xmlns:a="http://schemas.openxmlformats.org/drawingml/2006/main" prst="roundRect">
            <a:avLst>
              <a:gd name="adj" fmla="val 3086"/>
            </a:avLst>
          </a:prstGeom>
          <a:solidFill xmlns:a="http://schemas.openxmlformats.org/drawingml/2006/main">
            <a:srgbClr val="FDF3F2"/>
          </a:solidFill>
          <a:ln xmlns:a="http://schemas.openxmlformats.org/drawingml/2006/main" w="12700">
            <a:solidFill>
              <a:srgbClr val="B02418"/>
            </a:solidFill>
            <a:prstDash val="solid"/>
          </a:ln>
        </p:spPr>
      </p:sp>
      <p:sp>
        <p:nvSpPr>
          <p:cNvPr id="7" name="Text 4">
            <a:extLst xmlns:a="http://schemas.openxmlformats.org/drawingml/2006/main">
              <a:ext uri="{FF2B5EF4-FFF2-40B4-BE49-F238E27FC236}">
                <a16:creationId xmlns:a16="http://schemas.microsoft.com/office/drawing/2014/main" id="{8357A359-5E6B-4ED7-80F4-8F52E07B360B}"/>
              </a:ext>
            </a:extLst>
          </p:cNvPr>
          <p:cNvSpPr>
            <a:spLocks xmlns:a="http://schemas.openxmlformats.org/drawingml/2006/main" noGrp="1"/>
          </p:cNvSpPr>
          <p:nvPr/>
        </p:nvSpPr>
        <p:spPr>
          <a:xfrm xmlns:a="http://schemas.openxmlformats.org/drawingml/2006/main">
            <a:off x="5888736" y="4005072"/>
            <a:ext cx="162763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b="1">
                <a:solidFill>
                  <a:srgbClr val="B02418"/>
                </a:solidFill>
                <a:latin typeface="Calibri"/>
                <a:ea typeface="Calibri"/>
                <a:cs typeface="Calibri"/>
              </a:rPr>
              <a:t>CORRECTED (E.8)
</a:t>
            </a:r>
            <a:r>
              <a:rPr sz="760">
                <a:solidFill>
                  <a:srgbClr val="1A1A2E"/>
                </a:solidFill>
                <a:latin typeface="Calibri"/>
                <a:ea typeface="Calibri"/>
                <a:cs typeface="Calibri"/>
              </a:rPr>
              <a:t>No trade-off. The cliff is a NUMERICAL ARTIFACT — least squares divides by a near-null singular value at width = source rank. Rule: hub width &lt; 768.</a:t>
            </a:r>
            <a:endParaRPr sz="850"/>
          </a:p>
        </p:txBody>
      </p:sp>
      <p:sp>
        <p:nvSpPr>
          <p:cNvPr id="8" name="Text 5">
            <a:extLst xmlns:a="http://schemas.openxmlformats.org/drawingml/2006/main">
              <a:ext uri="{FF2B5EF4-FFF2-40B4-BE49-F238E27FC236}">
                <a16:creationId xmlns:a16="http://schemas.microsoft.com/office/drawing/2014/main" id="{C8839D31-A0D6-4C60-911C-1C65E0F6C506}"/>
              </a:ext>
            </a:extLst>
          </p:cNvPr>
          <p:cNvSpPr>
            <a:spLocks xmlns:a="http://schemas.openxmlformats.org/drawingml/2006/main" noGrp="1"/>
          </p:cNvSpPr>
          <p:nvPr/>
        </p:nvSpPr>
        <p:spPr>
          <a:xfrm xmlns:a="http://schemas.openxmlformats.org/drawingml/2006/main">
            <a:off x="640080" y="5806440"/>
            <a:ext cx="6949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5A6472"/>
                </a:solidFill>
                <a:latin typeface="Calibri"/>
                <a:ea typeface="Calibri"/>
                <a:cs typeface="Calibri"/>
              </a:rPr>
              <a:t>Diagram predates the cliff’s resolution — the red card replaces its ‘trade-off’ box; ‘whitened-PCA noise’ in the sweep box is likewise superseded.</a:t>
            </a:r>
            <a:endParaRPr sz="1050"/>
          </a:p>
        </p:txBody>
      </p:sp>
    </p:spTree>
    <p:extLst>
      <p:ext uri="{BB962C8B-B14F-4D97-AF65-F5344CB8AC3E}">
        <p14:creationId xmlns:p14="http://schemas.microsoft.com/office/powerpoint/2010/main" val="12526597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849D07-2D6E-4487-AB44-AE1E50E47E98}"/>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PART II · N ENCODERS</a:t>
            </a:r>
            <a:endParaRPr sz="1100"/>
          </a:p>
        </p:txBody>
      </p:sp>
      <p:sp>
        <p:nvSpPr>
          <p:cNvPr id="3" name="Text 1">
            <a:extLst xmlns:a="http://schemas.openxmlformats.org/drawingml/2006/main">
              <a:ext uri="{FF2B5EF4-FFF2-40B4-BE49-F238E27FC236}">
                <a16:creationId xmlns:a16="http://schemas.microsoft.com/office/drawing/2014/main" id="{8D70F456-D39E-490D-BAD1-E4FB92E22A00}"/>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demo — zero-shot transfer to encoders the head never saw</a:t>
            </a:r>
            <a:endParaRPr sz="3000"/>
          </a:p>
        </p:txBody>
      </p:sp>
      <p:graphicFrame>
        <p:nvGraphicFramePr>
          <p:cNvPr id="10" name="Table 0"/>
          <p:cNvGraphicFramePr/>
          <p:nvPr/>
        </p:nvGraphicFramePr>
        <p:xfrm>
          <a:off xmlns:a="http://schemas.openxmlformats.org/drawingml/2006/main" x="640080" y="1463040"/>
          <a:ext xmlns:a="http://schemas.openxmlformats.org/drawingml/2006/main" cx="6949440" cy="914400"/>
        </p:xfrm>
        <a:graphic xmlns:a="http://schemas.openxmlformats.org/drawingml/2006/main">
          <a:graphicData uri="http://schemas.openxmlformats.org/drawingml/2006/table">
            <a:tbl>
              <a:tblPr/>
              <a:tblGrid>
                <a:gridCol w="1554480"/>
                <a:gridCol w="2651760"/>
                <a:gridCol w="822960"/>
                <a:gridCol w="1920240"/>
              </a:tblGrid>
              <a:tr h="384048">
                <a:tc>
                  <a:txBody>
                    <a:bodyPr/>
                    <a:lstStyle/>
                    <a:p>
                      <a:pPr marL="0" indent="0">
                        <a:buNone/>
                      </a:pPr>
                      <a:r>
                        <a:rPr sz="1150" b="1">
                          <a:solidFill>
                            <a:srgbClr val="FFFFFF"/>
                          </a:solidFill>
                          <a:latin typeface="Calibri"/>
                          <a:ea typeface="Calibri"/>
                          <a:cs typeface="Calibri"/>
                        </a:rPr>
                        <a:t>recipient encoder</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150" b="1">
                          <a:solidFill>
                            <a:srgbClr val="FFFFFF"/>
                          </a:solidFill>
                          <a:latin typeface="Calibri"/>
                          <a:ea typeface="Calibri"/>
                          <a:cs typeface="Calibri"/>
                        </a:rPr>
                        <a:t>relation to the head</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150" b="1">
                          <a:solidFill>
                            <a:srgbClr val="FFFFFF"/>
                          </a:solidFill>
                          <a:latin typeface="Calibri"/>
                          <a:ea typeface="Calibri"/>
                          <a:cs typeface="Calibri"/>
                        </a:rPr>
                        <a:t>R@1</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150" b="1">
                          <a:solidFill>
                            <a:srgbClr val="FFFFFF"/>
                          </a:solidFill>
                          <a:latin typeface="Calibri"/>
                          <a:ea typeface="Calibri"/>
                          <a:cs typeface="Calibri"/>
                        </a:rPr>
                        <a:t>% of a natively-fitted head</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r>
              <a:tr h="384048">
                <a:tc>
                  <a:txBody>
                    <a:bodyPr/>
                    <a:lstStyle/>
                    <a:p>
                      <a:pPr marL="0" indent="0">
                        <a:buNone/>
                      </a:pPr>
                      <a:r>
                        <a:rPr sz="1150">
                          <a:solidFill>
                            <a:srgbClr val="1A1A2E"/>
                          </a:solidFill>
                          <a:latin typeface="Calibri"/>
                          <a:ea typeface="Calibri"/>
                          <a:cs typeface="Calibri"/>
                        </a:rPr>
                        <a:t>DINOv2-base</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sibling — never seen</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0.445</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96.5%</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384048">
                <a:tc>
                  <a:txBody>
                    <a:bodyPr/>
                    <a:lstStyle/>
                    <a:p>
                      <a:pPr marL="0" indent="0">
                        <a:buNone/>
                      </a:pPr>
                      <a:r>
                        <a:rPr sz="1150">
                          <a:solidFill>
                            <a:srgbClr val="1A1A2E"/>
                          </a:solidFill>
                          <a:latin typeface="Calibri"/>
                          <a:ea typeface="Calibri"/>
                          <a:cs typeface="Calibri"/>
                        </a:rPr>
                        <a:t>DINOv2-large</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sibling — never seen</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0.473</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92.9%</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384048">
                <a:tc>
                  <a:txBody>
                    <a:bodyPr/>
                    <a:lstStyle/>
                    <a:p>
                      <a:pPr marL="0" indent="0">
                        <a:buNone/>
                      </a:pPr>
                      <a:r>
                        <a:rPr sz="1150">
                          <a:solidFill>
                            <a:srgbClr val="1A1A2E"/>
                          </a:solidFill>
                          <a:latin typeface="Calibri"/>
                          <a:ea typeface="Calibri"/>
                          <a:cs typeface="Calibri"/>
                        </a:rPr>
                        <a:t>SigLIP 2</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independent lineage — never seen</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0.557</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94.2%</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384048">
                <a:tc>
                  <a:txBody>
                    <a:bodyPr/>
                    <a:lstStyle/>
                    <a:p>
                      <a:pPr marL="0" indent="0">
                        <a:buNone/>
                      </a:pPr>
                      <a:r>
                        <a:rPr sz="1150" b="1">
                          <a:solidFill>
                            <a:srgbClr val="1A1A2E"/>
                          </a:solidFill>
                          <a:latin typeface="Calibri"/>
                          <a:ea typeface="Calibri"/>
                          <a:cs typeface="Calibri"/>
                        </a:rPr>
                        <a:t>ConvNeXt-base</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b="1">
                          <a:solidFill>
                            <a:srgbClr val="1A1A2E"/>
                          </a:solidFill>
                          <a:latin typeface="Calibri"/>
                          <a:ea typeface="Calibri"/>
                          <a:cs typeface="Calibri"/>
                        </a:rPr>
                        <a:t>convnet + fully supervised — never seen</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b="1">
                          <a:solidFill>
                            <a:srgbClr val="0F766E"/>
                          </a:solidFill>
                          <a:latin typeface="Calibri"/>
                          <a:ea typeface="Calibri"/>
                          <a:cs typeface="Calibri"/>
                        </a:rPr>
                        <a:t>96.7%  (above the family band)</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384048">
                <a:tc>
                  <a:txBody>
                    <a:bodyPr/>
                    <a:lstStyle/>
                    <a:p>
                      <a:pPr marL="0" indent="0">
                        <a:buNone/>
                      </a:pPr>
                      <a:r>
                        <a:rPr sz="1150">
                          <a:solidFill>
                            <a:srgbClr val="1A1A2E"/>
                          </a:solidFill>
                          <a:latin typeface="Calibri"/>
                          <a:ea typeface="Calibri"/>
                          <a:cs typeface="Calibri"/>
                        </a:rPr>
                        <a:t>random-map control</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the number that makes it mean anything</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1A1A2E"/>
                          </a:solidFill>
                          <a:latin typeface="Calibri"/>
                          <a:ea typeface="Calibri"/>
                          <a:cs typeface="Calibri"/>
                        </a:rPr>
                        <a:t>0.003</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150">
                          <a:solidFill>
                            <a:srgbClr val="B02418"/>
                          </a:solidFill>
                          <a:latin typeface="Calibri"/>
                          <a:ea typeface="Calibri"/>
                          <a:cs typeface="Calibri"/>
                        </a:rPr>
                        <a:t>chance = 0.001</a:t>
                      </a:r>
                      <a:endParaRPr sz="11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bl>
          </a:graphicData>
        </a:graphic>
      </p:graphicFrame>
      <p:sp>
        <p:nvSpPr>
          <p:cNvPr id="5" name="Text 2">
            <a:extLst xmlns:a="http://schemas.openxmlformats.org/drawingml/2006/main">
              <a:ext uri="{FF2B5EF4-FFF2-40B4-BE49-F238E27FC236}">
                <a16:creationId xmlns:a16="http://schemas.microsoft.com/office/drawing/2014/main" id="{A98DC0D9-7E8A-4359-B8BF-0B17EB485B2D}"/>
              </a:ext>
            </a:extLst>
          </p:cNvPr>
          <p:cNvSpPr>
            <a:spLocks xmlns:a="http://schemas.openxmlformats.org/drawingml/2006/main" noGrp="1"/>
          </p:cNvSpPr>
          <p:nvPr/>
        </p:nvSpPr>
        <p:spPr>
          <a:xfrm xmlns:a="http://schemas.openxmlformats.org/drawingml/2006/main">
            <a:off x="7818120" y="1508760"/>
            <a:ext cx="3840480" cy="4206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200">
                <a:solidFill>
                  <a:srgbClr val="1A1A2E"/>
                </a:solidFill>
                <a:latin typeface="Calibri"/>
                <a:ea typeface="Calibri"/>
                <a:cs typeface="Calibri"/>
              </a:rPr>
              <a:t>One head, trained ONCE on one encoder’s hub coordinates, applied unchanged to encoders absent from its fitting.</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Adding a model = fitting ONE entry map. Hub untouched, head untouched, every other map untouched.</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Zero-shot means the HEAD — the entry map is one closed-form solve on cached vectors.</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All 42 directed pairs through the shared hub: 103.6% of hubs built per-pair. Sharing costs nothing.</a:t>
            </a:r>
            <a:endParaRPr sz="12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4bf22760594e4db1"/>
          <a:stretch xmlns:a="http://schemas.openxmlformats.org/drawingml/2006/main">
            <a:fillRect l="0" t="0" r="0" b="0"/>
          </a:stretch>
        </p:blipFill>
        <p:spPr>
          <a:xfrm xmlns:a="http://schemas.openxmlformats.org/drawingml/2006/main">
            <a:off x="640080" y="3977640"/>
            <a:ext cx="4754880" cy="2295144"/>
          </a:xfrm>
          <a:prstGeom xmlns:a="http://schemas.openxmlformats.org/drawingml/2006/main" prst="rect">
            <a:avLst/>
          </a:prstGeom>
        </p:spPr>
      </p:pic>
    </p:spTree>
    <p:extLst>
      <p:ext uri="{BB962C8B-B14F-4D97-AF65-F5344CB8AC3E}">
        <p14:creationId xmlns:p14="http://schemas.microsoft.com/office/powerpoint/2010/main" val="10291081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26DEA2-8EDE-4E65-987E-4FF113A67563}"/>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FINDINGS · SIMILARITY</a:t>
            </a:r>
            <a:endParaRPr sz="1100"/>
          </a:p>
        </p:txBody>
      </p:sp>
      <p:sp>
        <p:nvSpPr>
          <p:cNvPr id="3" name="Text 1">
            <a:extLst xmlns:a="http://schemas.openxmlformats.org/drawingml/2006/main">
              <a:ext uri="{FF2B5EF4-FFF2-40B4-BE49-F238E27FC236}">
                <a16:creationId xmlns:a16="http://schemas.microsoft.com/office/drawing/2014/main" id="{02470268-39A9-49F0-AF72-DCB8CA34DDC7}"/>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What is actually shared: local structure, not global</a:t>
            </a:r>
            <a:endParaRPr sz="3000"/>
          </a:p>
        </p:txBody>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9d90e607cd9f4e57"/>
          <a:stretch xmlns:a="http://schemas.openxmlformats.org/drawingml/2006/main">
            <a:fillRect l="0" t="0" r="0" b="0"/>
          </a:stretch>
        </p:blipFill>
        <p:spPr>
          <a:xfrm xmlns:a="http://schemas.openxmlformats.org/drawingml/2006/main">
            <a:off x="640080" y="1463040"/>
            <a:ext cx="6309360" cy="346557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7DD0CB1F-444B-42EE-A596-C19CFF4212D9}"/>
              </a:ext>
            </a:extLst>
          </p:cNvPr>
          <p:cNvSpPr>
            <a:spLocks xmlns:a="http://schemas.openxmlformats.org/drawingml/2006/main" noGrp="1"/>
          </p:cNvSpPr>
          <p:nvPr/>
        </p:nvSpPr>
        <p:spPr>
          <a:xfrm xmlns:a="http://schemas.openxmlformats.org/drawingml/2006/main">
            <a:off x="7178040" y="1508760"/>
            <a:ext cx="4480560" cy="4480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250">
                <a:solidFill>
                  <a:srgbClr val="1A1A2E"/>
                </a:solidFill>
                <a:latin typeface="Calibri"/>
                <a:ea typeface="Calibri"/>
                <a:cs typeface="Calibri"/>
              </a:rPr>
              <a:t>Raw cross-space cosine ≈ 0.00 — coordinates never agree.</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But SHAPES do: distance ranks correlate at +0.681 Spearman, and 67.1% of an item’s 10 nearest neighbours are the same items in both spaces (27× chance).</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Agreement is strongest at small k and decays toward chance by k = 500 — in every pair, on three independent metrics (kNN, CKNNA, rank correlation).</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Neighbourhoods agree; global geometry diverges. ‘Same world’ means the same LOCAL arrangement of meaning.</a:t>
            </a:r>
            <a:endParaRPr sz="1250"/>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6f65520db6144c3"/>
          <a:stretch xmlns:a="http://schemas.openxmlformats.org/drawingml/2006/main"/>
        </p:blipFill>
        <p:spPr>
          <a:xfrm xmlns:a="http://schemas.openxmlformats.org/drawingml/2006/main">
            <a:off x="7162800" y="4000726"/>
            <a:ext cx="4476750" cy="1790248"/>
          </a:xfrm>
          <a:prstGeom xmlns:a="http://schemas.openxmlformats.org/drawingml/2006/main" prst="rect">
            <a:avLst/>
          </a:prstGeom>
        </p:spPr>
      </p:pic>
    </p:spTree>
    <p:extLst>
      <p:ext uri="{BB962C8B-B14F-4D97-AF65-F5344CB8AC3E}">
        <p14:creationId xmlns:p14="http://schemas.microsoft.com/office/powerpoint/2010/main" val="4717383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8BFDF7-79A2-4BB5-8539-F4EC30058EDC}"/>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FINDINGS · GEOMETRY</a:t>
            </a:r>
            <a:endParaRPr sz="1100"/>
          </a:p>
        </p:txBody>
      </p:sp>
      <p:sp>
        <p:nvSpPr>
          <p:cNvPr id="3" name="Text 1">
            <a:extLst xmlns:a="http://schemas.openxmlformats.org/drawingml/2006/main">
              <a:ext uri="{FF2B5EF4-FFF2-40B4-BE49-F238E27FC236}">
                <a16:creationId xmlns:a16="http://schemas.microsoft.com/office/drawing/2014/main" id="{F34971DB-C688-420F-A121-0A9EE01FC725}"/>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Isotropy, anisotropy, modality, objective — what decides agreement</a:t>
            </a:r>
            <a:endParaRPr sz="3000"/>
          </a:p>
        </p:txBody>
      </p:sp>
      <p:sp>
        <p:nvSpPr>
          <p:cNvPr id="4" name="Shape 2">
            <a:extLst xmlns:a="http://schemas.openxmlformats.org/drawingml/2006/main">
              <a:ext uri="{FF2B5EF4-FFF2-40B4-BE49-F238E27FC236}">
                <a16:creationId xmlns:a16="http://schemas.microsoft.com/office/drawing/2014/main" id="{62EB1336-354F-49A5-9EAF-597A68D28C71}"/>
              </a:ext>
            </a:extLst>
          </p:cNvPr>
          <p:cNvSpPr>
            <a:spLocks xmlns:a="http://schemas.openxmlformats.org/drawingml/2006/main" noGrp="1"/>
          </p:cNvSpPr>
          <p:nvPr/>
        </p:nvSpPr>
        <p:spPr>
          <a:xfrm xmlns:a="http://schemas.openxmlformats.org/drawingml/2006/main">
            <a:off x="502920" y="1417320"/>
            <a:ext cx="5486400" cy="2286000"/>
          </a:xfrm>
          <a:prstGeom xmlns:a="http://schemas.openxmlformats.org/drawingml/2006/main" prst="roundRect">
            <a:avLst>
              <a:gd name="adj" fmla="val 3200"/>
            </a:avLst>
          </a:prstGeom>
          <a:solidFill xmlns:a="http://schemas.openxmlformats.org/drawingml/2006/main">
            <a:srgbClr val="F2F5FB"/>
          </a:solidFill>
        </p:spPr>
      </p:sp>
      <p:sp>
        <p:nvSpPr>
          <p:cNvPr id="5" name="Text 3">
            <a:extLst xmlns:a="http://schemas.openxmlformats.org/drawingml/2006/main">
              <a:ext uri="{FF2B5EF4-FFF2-40B4-BE49-F238E27FC236}">
                <a16:creationId xmlns:a16="http://schemas.microsoft.com/office/drawing/2014/main" id="{0B8BA1C3-2AE2-414E-910A-23B7FCCFF600}"/>
              </a:ext>
            </a:extLst>
          </p:cNvPr>
          <p:cNvSpPr>
            <a:spLocks xmlns:a="http://schemas.openxmlformats.org/drawingml/2006/main" noGrp="1"/>
          </p:cNvSpPr>
          <p:nvPr/>
        </p:nvSpPr>
        <p:spPr>
          <a:xfrm xmlns:a="http://schemas.openxmlformats.org/drawingml/2006/main">
            <a:off x="777240" y="1645920"/>
            <a:ext cx="498348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A1A2E"/>
                </a:solidFill>
                <a:latin typeface="Calibri"/>
                <a:ea typeface="Calibri"/>
                <a:cs typeface="Calibri"/>
              </a:rPr>
              <a:t>Objective beats lineage beats modality.  </a:t>
            </a:r>
            <a:r>
              <a:rPr sz="1300">
                <a:solidFill>
                  <a:srgbClr val="1A1A2E"/>
                </a:solidFill>
                <a:latin typeface="Calibri"/>
                <a:ea typeface="Calibri"/>
                <a:cs typeface="Calibri"/>
              </a:rPr>
              <a:t>Sharing a TRAINING OBJECTIVE lifts pairwise agreement +53× over chance; shared lineage +44×; shared modality +29×. The top pair — bge–SBERT at +0.738 — shares an objective and no ancestry at all.</a:t>
            </a:r>
            <a:endParaRPr sz="1300"/>
          </a:p>
        </p:txBody>
      </p:sp>
      <p:sp>
        <p:nvSpPr>
          <p:cNvPr id="6" name="Shape 4">
            <a:extLst xmlns:a="http://schemas.openxmlformats.org/drawingml/2006/main">
              <a:ext uri="{FF2B5EF4-FFF2-40B4-BE49-F238E27FC236}">
                <a16:creationId xmlns:a16="http://schemas.microsoft.com/office/drawing/2014/main" id="{C05946F6-F8C1-4AAA-A072-53E06BDDCFAD}"/>
              </a:ext>
            </a:extLst>
          </p:cNvPr>
          <p:cNvSpPr>
            <a:spLocks xmlns:a="http://schemas.openxmlformats.org/drawingml/2006/main" noGrp="1"/>
          </p:cNvSpPr>
          <p:nvPr/>
        </p:nvSpPr>
        <p:spPr>
          <a:xfrm xmlns:a="http://schemas.openxmlformats.org/drawingml/2006/main">
            <a:off x="502920" y="3886200"/>
            <a:ext cx="5486400" cy="2377440"/>
          </a:xfrm>
          <a:prstGeom xmlns:a="http://schemas.openxmlformats.org/drawingml/2006/main" prst="roundRect">
            <a:avLst>
              <a:gd name="adj" fmla="val 3077"/>
            </a:avLst>
          </a:prstGeom>
          <a:solidFill xmlns:a="http://schemas.openxmlformats.org/drawingml/2006/main">
            <a:srgbClr val="F2F5FB"/>
          </a:solidFill>
        </p:spPr>
      </p:sp>
      <p:sp>
        <p:nvSpPr>
          <p:cNvPr id="7" name="Text 5">
            <a:extLst xmlns:a="http://schemas.openxmlformats.org/drawingml/2006/main">
              <a:ext uri="{FF2B5EF4-FFF2-40B4-BE49-F238E27FC236}">
                <a16:creationId xmlns:a16="http://schemas.microsoft.com/office/drawing/2014/main" id="{ABDDE79D-1972-40E5-9A10-EB33BCFF4565}"/>
              </a:ext>
            </a:extLst>
          </p:cNvPr>
          <p:cNvSpPr>
            <a:spLocks xmlns:a="http://schemas.openxmlformats.org/drawingml/2006/main" noGrp="1"/>
          </p:cNvSpPr>
          <p:nvPr/>
        </p:nvSpPr>
        <p:spPr>
          <a:xfrm xmlns:a="http://schemas.openxmlformats.org/drawingml/2006/main">
            <a:off x="777240" y="4114800"/>
            <a:ext cx="498348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A1A2E"/>
                </a:solidFill>
                <a:latin typeface="Calibri"/>
                <a:ea typeface="Calibri"/>
                <a:cs typeface="Calibri"/>
              </a:rPr>
              <a:t>Isotropy cuts both ways — measured twice.  </a:t>
            </a:r>
            <a:r>
              <a:rPr sz="1300">
                <a:solidFill>
                  <a:srgbClr val="1A1A2E"/>
                </a:solidFill>
                <a:latin typeface="Calibri"/>
                <a:ea typeface="Calibri"/>
                <a:cs typeface="Calibri"/>
              </a:rPr>
              <a:t>An isotropic (evenly spread) space HELPS reading a known correspondence, and HURTS finding an unknown one. One geometric property, opposite prescriptions — there is no single ‘good geometry’, only geometry good for a stated task.</a:t>
            </a:r>
            <a:endParaRPr sz="1300"/>
          </a:p>
        </p:txBody>
      </p:sp>
      <p:sp>
        <p:nvSpPr>
          <p:cNvPr id="8" name="Shape 6">
            <a:extLst xmlns:a="http://schemas.openxmlformats.org/drawingml/2006/main">
              <a:ext uri="{FF2B5EF4-FFF2-40B4-BE49-F238E27FC236}">
                <a16:creationId xmlns:a16="http://schemas.microsoft.com/office/drawing/2014/main" id="{C920273D-FE8B-4B23-B955-BA4879E811B9}"/>
              </a:ext>
            </a:extLst>
          </p:cNvPr>
          <p:cNvSpPr>
            <a:spLocks xmlns:a="http://schemas.openxmlformats.org/drawingml/2006/main" noGrp="1"/>
          </p:cNvSpPr>
          <p:nvPr/>
        </p:nvSpPr>
        <p:spPr>
          <a:xfrm xmlns:a="http://schemas.openxmlformats.org/drawingml/2006/main">
            <a:off x="6263640" y="1417320"/>
            <a:ext cx="5394960" cy="4846320"/>
          </a:xfrm>
          <a:prstGeom xmlns:a="http://schemas.openxmlformats.org/drawingml/2006/main" prst="roundRect">
            <a:avLst>
              <a:gd name="adj" fmla="val 1509"/>
            </a:avLst>
          </a:prstGeom>
          <a:solidFill xmlns:a="http://schemas.openxmlformats.org/drawingml/2006/main">
            <a:srgbClr val="1E2761"/>
          </a:solidFill>
        </p:spPr>
      </p:sp>
      <p:sp>
        <p:nvSpPr>
          <p:cNvPr id="9" name="Text 7">
            <a:extLst xmlns:a="http://schemas.openxmlformats.org/drawingml/2006/main">
              <a:ext uri="{FF2B5EF4-FFF2-40B4-BE49-F238E27FC236}">
                <a16:creationId xmlns:a16="http://schemas.microsoft.com/office/drawing/2014/main" id="{014D6EC0-8856-49F0-891A-A137F343C653}"/>
              </a:ext>
            </a:extLst>
          </p:cNvPr>
          <p:cNvSpPr>
            <a:spLocks xmlns:a="http://schemas.openxmlformats.org/drawingml/2006/main" noGrp="1"/>
          </p:cNvSpPr>
          <p:nvPr/>
        </p:nvSpPr>
        <p:spPr>
          <a:xfrm xmlns:a="http://schemas.openxmlformats.org/drawingml/2006/main">
            <a:off x="6537960" y="169164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Anisotropy, live: the GPT-2 collapse</a:t>
            </a:r>
            <a:endParaRPr sz="1600"/>
          </a:p>
        </p:txBody>
      </p:sp>
      <p:sp>
        <p:nvSpPr>
          <p:cNvPr id="10" name="Text 8">
            <a:extLst xmlns:a="http://schemas.openxmlformats.org/drawingml/2006/main">
              <a:ext uri="{FF2B5EF4-FFF2-40B4-BE49-F238E27FC236}">
                <a16:creationId xmlns:a16="http://schemas.microsoft.com/office/drawing/2014/main" id="{EB806A53-185E-4749-8184-502914394F3F}"/>
              </a:ext>
            </a:extLst>
          </p:cNvPr>
          <p:cNvSpPr>
            <a:spLocks xmlns:a="http://schemas.openxmlformats.org/drawingml/2006/main" noGrp="1"/>
          </p:cNvSpPr>
          <p:nvPr/>
        </p:nvSpPr>
        <p:spPr>
          <a:xfrm xmlns:a="http://schemas.openxmlformats.org/drawingml/2006/main">
            <a:off x="6537960" y="214884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E8EDF8"/>
                </a:solidFill>
                <a:latin typeface="Calibri"/>
                <a:ea typeface="Calibri"/>
                <a:cs typeface="Calibri"/>
              </a:rPr>
              <a:t>GPT-2’s caption space has effective rank 6.6 of 768 — every caption sits at cosine +0.999 to every other. A cone, not a cloud.
</a:t>
            </a:r>
            <a:r>
              <a:rPr sz="1250">
                <a:solidFill>
                  <a:srgbClr val="E8EDF8"/>
                </a:solidFill>
                <a:latin typeface="Calibri"/>
                <a:ea typeface="Calibri"/>
                <a:cs typeface="Calibri"/>
              </a:rPr>
              <a:t>Consequence: the hub READS OUT of it at 95.1% — but WRITES INTO it at 24.8%. A collapsed space can be consulted, not addressed.
</a:t>
            </a:r>
            <a:r>
              <a:rPr sz="1250" b="1">
                <a:solidFill>
                  <a:srgbClr val="CADCFC"/>
                </a:solidFill>
                <a:latin typeface="Calibri"/>
                <a:ea typeface="Calibri"/>
                <a:cs typeface="Calibri"/>
              </a:rPr>
              <a:t>The rescue: </a:t>
            </a:r>
            <a:r>
              <a:rPr sz="1250">
                <a:solidFill>
                  <a:srgbClr val="E8EDF8"/>
                </a:solidFill>
                <a:latin typeface="Calibri"/>
                <a:ea typeface="Calibri"/>
                <a:cs typeface="Calibri"/>
              </a:rPr>
              <a:t>whitening (an isotropy transform) lifts its retrieval R@1 from 0.130 to 0.478 — 102.6% of an encoder trained contrastively on 1.2 BILLION pairs. The information was there; the geometry hid it.</a:t>
            </a:r>
            <a:endParaRPr sz="1250"/>
          </a:p>
        </p:txBody>
      </p:sp>
    </p:spTree>
    <p:extLst>
      <p:ext uri="{BB962C8B-B14F-4D97-AF65-F5344CB8AC3E}">
        <p14:creationId xmlns:p14="http://schemas.microsoft.com/office/powerpoint/2010/main" val="2961106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6D4200D-8E20-446F-B093-D3363150160F}"/>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FINDINGS · HONESTY</a:t>
            </a:r>
            <a:endParaRPr sz="1100"/>
          </a:p>
        </p:txBody>
      </p:sp>
      <p:sp>
        <p:nvSpPr>
          <p:cNvPr id="3" name="Text 1">
            <a:extLst xmlns:a="http://schemas.openxmlformats.org/drawingml/2006/main">
              <a:ext uri="{FF2B5EF4-FFF2-40B4-BE49-F238E27FC236}">
                <a16:creationId xmlns:a16="http://schemas.microsoft.com/office/drawing/2014/main" id="{BB18734C-89EE-4A82-BA21-8AD59004E06C}"/>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G10 — what the hub is made of matters, and we declared it</a:t>
            </a:r>
            <a:endParaRPr sz="3000"/>
          </a:p>
        </p:txBody>
      </p:sp>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05c603bd971848ce"/>
          <a:stretch xmlns:a="http://schemas.openxmlformats.org/drawingml/2006/main">
            <a:fillRect l="0" t="0" r="0" b="0"/>
          </a:stretch>
        </p:blipFill>
        <p:spPr>
          <a:xfrm xmlns:a="http://schemas.openxmlformats.org/drawingml/2006/main">
            <a:off x="548640" y="1463040"/>
            <a:ext cx="5577840" cy="3063240"/>
          </a:xfrm>
          <a:prstGeom xmlns:a="http://schemas.openxmlformats.org/drawingml/2006/main" prst="rect">
            <a:avLst/>
          </a:prstGeom>
        </p:spPr>
      </p:pic>
      <p:pic>
        <p:nvPicPr>
          <p:cNvPr id="12" name="Image 1"/>
          <p:cNvPicPr>
            <a:picLocks xmlns:a="http://schemas.openxmlformats.org/drawingml/2006/main" noChangeAspect="1"/>
          </p:cNvPicPr>
          <p:nvPr/>
        </p:nvPicPr>
        <p:blipFill>
          <a:blip xmlns:r="http://schemas.openxmlformats.org/officeDocument/2006/relationships" xmlns:a="http://schemas.openxmlformats.org/drawingml/2006/main" r:embed="R2649c9af598b40fa"/>
          <a:stretch xmlns:a="http://schemas.openxmlformats.org/drawingml/2006/main">
            <a:fillRect l="0" t="0" r="0" b="0"/>
          </a:stretch>
        </p:blipFill>
        <p:spPr>
          <a:xfrm xmlns:a="http://schemas.openxmlformats.org/drawingml/2006/main">
            <a:off x="6263640" y="1463040"/>
            <a:ext cx="5577840" cy="2615184"/>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682E00E9-1B42-42E9-950F-6954A043B7A6}"/>
              </a:ext>
            </a:extLst>
          </p:cNvPr>
          <p:cNvSpPr>
            <a:spLocks xmlns:a="http://schemas.openxmlformats.org/drawingml/2006/main" noGrp="1"/>
          </p:cNvSpPr>
          <p:nvPr/>
        </p:nvSpPr>
        <p:spPr>
          <a:xfrm xmlns:a="http://schemas.openxmlformats.org/drawingml/2006/main">
            <a:off x="640080" y="4709160"/>
            <a:ext cx="109728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300">
                <a:solidFill>
                  <a:srgbClr val="1A1A2E"/>
                </a:solidFill>
                <a:latin typeface="Calibri"/>
                <a:ea typeface="Calibri"/>
                <a:cs typeface="Calibri"/>
              </a:rPr>
              <a:t>Which text space sits IN the hub moves transfer by 6.1 points at fixed count — and 11.2 points presence-vs-absence — even though every text space can linearly reach only 2–5% of the hub. Reachability does not predict influence.</a:t>
            </a:r>
            <a:endParaRPr sz="1300"/>
          </a:p>
          <a:p xmlns:a="http://schemas.openxmlformats.org/drawingml/2006/main">
            <a:pPr marL="152400" indent="-152400">
              <a:spcAft>
                <a:spcPts val="800"/>
              </a:spcAft>
              <a:buSzPct val="100000"/>
              <a:buChar char="•"/>
            </a:pPr>
            <a:r>
              <a:rPr sz="1300">
                <a:solidFill>
                  <a:srgbClr val="1A1A2E"/>
                </a:solidFill>
                <a:latin typeface="Calibri"/>
                <a:ea typeface="Calibri"/>
                <a:cs typeface="Calibri"/>
              </a:rPr>
              <a:t>And the head’s own target sitting inside the hub is worth +3.0 points beyond what ANY text member contributes. Not leakage — everything is held-out — but a real dependency, now measured and declared in the report before anyone else finds it.</a:t>
            </a:r>
            <a:endParaRPr sz="1300"/>
          </a:p>
        </p:txBody>
      </p:sp>
    </p:spTree>
    <p:extLst>
      <p:ext uri="{BB962C8B-B14F-4D97-AF65-F5344CB8AC3E}">
        <p14:creationId xmlns:p14="http://schemas.microsoft.com/office/powerpoint/2010/main" val="16027019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B61B78-E6F2-4ABB-BC09-1915437B7F67}"/>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FINDINGS · METHOD</a:t>
            </a:r>
            <a:endParaRPr sz="1100"/>
          </a:p>
        </p:txBody>
      </p:sp>
      <p:sp>
        <p:nvSpPr>
          <p:cNvPr id="3" name="Text 1">
            <a:extLst xmlns:a="http://schemas.openxmlformats.org/drawingml/2006/main">
              <a:ext uri="{FF2B5EF4-FFF2-40B4-BE49-F238E27FC236}">
                <a16:creationId xmlns:a16="http://schemas.microsoft.com/office/drawing/2014/main" id="{8B136A08-DA07-4BA3-918F-B67F3D27535A}"/>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width cliff — falsification as a first-class result</a:t>
            </a:r>
            <a:endParaRPr sz="3000"/>
          </a:p>
        </p:txBody>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a2bc82d33adc49e5"/>
          <a:stretch xmlns:a="http://schemas.openxmlformats.org/drawingml/2006/main">
            <a:fillRect l="0" t="0" r="0" b="0"/>
          </a:stretch>
        </p:blipFill>
        <p:spPr>
          <a:xfrm xmlns:a="http://schemas.openxmlformats.org/drawingml/2006/main">
            <a:off x="548640" y="1463040"/>
            <a:ext cx="6309360" cy="296265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30A336F6-9A55-4946-8C02-1D85940F1DF2}"/>
              </a:ext>
            </a:extLst>
          </p:cNvPr>
          <p:cNvSpPr>
            <a:spLocks xmlns:a="http://schemas.openxmlformats.org/drawingml/2006/main" noGrp="1"/>
          </p:cNvSpPr>
          <p:nvPr/>
        </p:nvSpPr>
        <p:spPr>
          <a:xfrm xmlns:a="http://schemas.openxmlformats.org/drawingml/2006/main">
            <a:off x="7086600" y="1508760"/>
            <a:ext cx="4572000" cy="4846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200">
                <a:solidFill>
                  <a:srgbClr val="1A1A2E"/>
                </a:solidFill>
                <a:latin typeface="Calibri"/>
                <a:ea typeface="Calibri"/>
                <a:cs typeface="Calibri"/>
              </a:rPr>
              <a:t>Transfer collapses when hub width reaches 768 — discovered by accident, chased for six experiments.</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TEN explanations tested and killed on pre-registered criteria — local-structure loss, spectral amplification, four cliff statistics, conditioning — including one of our own tests that was itself wrong, and is recorded as such.</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The survivor, confirmed to single-direction resolution: 768 is the source encoder’s algebraic rank. The last singular value falls 10.79 → 0.0054 and least squares divides by it.</a:t>
            </a:r>
            <a:endParaRPr sz="1200"/>
          </a:p>
          <a:p xmlns:a="http://schemas.openxmlformats.org/drawingml/2006/main">
            <a:pPr marL="152400" indent="-152400">
              <a:spcAft>
                <a:spcPts val="800"/>
              </a:spcAft>
              <a:buSzPct val="100000"/>
              <a:buChar char="•"/>
            </a:pPr>
            <a:r>
              <a:rPr sz="1200">
                <a:solidFill>
                  <a:srgbClr val="1A1A2E"/>
                </a:solidFill>
                <a:latin typeface="Calibri"/>
                <a:ea typeface="Calibri"/>
                <a:cs typeface="Calibri"/>
              </a:rPr>
              <a:t>Verdict: a NUMERICAL artifact of the fit — not a property of shared representations. Rule: hub width &lt; source rank. Ridge or truncation lifts it entirely.</a:t>
            </a:r>
            <a:endParaRPr sz="1200"/>
          </a:p>
        </p:txBody>
      </p:sp>
      <p:sp>
        <p:nvSpPr>
          <p:cNvPr id="6" name="Text 3">
            <a:extLst xmlns:a="http://schemas.openxmlformats.org/drawingml/2006/main">
              <a:ext uri="{FF2B5EF4-FFF2-40B4-BE49-F238E27FC236}">
                <a16:creationId xmlns:a16="http://schemas.microsoft.com/office/drawing/2014/main" id="{9539CCA5-5FC0-4702-9D79-873C35910C36}"/>
              </a:ext>
            </a:extLst>
          </p:cNvPr>
          <p:cNvSpPr>
            <a:spLocks xmlns:a="http://schemas.openxmlformats.org/drawingml/2006/main" noGrp="1"/>
          </p:cNvSpPr>
          <p:nvPr/>
        </p:nvSpPr>
        <p:spPr>
          <a:xfrm xmlns:a="http://schemas.openxmlformats.org/drawingml/2006/main">
            <a:off x="640080" y="4617720"/>
            <a:ext cx="6217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A6472"/>
                </a:solidFill>
                <a:latin typeface="Calibri"/>
                <a:ea typeface="Calibri"/>
                <a:cs typeface="Calibri"/>
              </a:rPr>
              <a:t>A step of −0.885 at one direction — held 0.894 at k=760, fell to 0.009 at k=768.</a:t>
            </a:r>
            <a:endParaRPr sz="1200"/>
          </a:p>
        </p:txBody>
      </p:sp>
    </p:spTree>
    <p:extLst>
      <p:ext uri="{BB962C8B-B14F-4D97-AF65-F5344CB8AC3E}">
        <p14:creationId xmlns:p14="http://schemas.microsoft.com/office/powerpoint/2010/main" val="20492829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1b5c6e004634a2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0966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7CED12-3424-4B93-A2C8-7EF67DF5AB0D}"/>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RECORD</a:t>
            </a:r>
            <a:endParaRPr sz="1100"/>
          </a:p>
        </p:txBody>
      </p:sp>
      <p:sp>
        <p:nvSpPr>
          <p:cNvPr id="3" name="Text 1">
            <a:extLst xmlns:a="http://schemas.openxmlformats.org/drawingml/2006/main">
              <a:ext uri="{FF2B5EF4-FFF2-40B4-BE49-F238E27FC236}">
                <a16:creationId xmlns:a16="http://schemas.microsoft.com/office/drawing/2014/main" id="{D4FDA279-48D7-4028-AAD3-05E93AF5028F}"/>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experiments, numbered</a:t>
            </a:r>
            <a:endParaRPr sz="3000"/>
          </a:p>
        </p:txBody>
      </p:sp>
      <p:graphicFrame>
        <p:nvGraphicFramePr>
          <p:cNvPr id="9" name="Table 0"/>
          <p:cNvGraphicFramePr/>
          <p:nvPr/>
        </p:nvGraphicFramePr>
        <p:xfrm>
          <a:off xmlns:a="http://schemas.openxmlformats.org/drawingml/2006/main" x="502920" y="1417320"/>
          <a:ext xmlns:a="http://schemas.openxmlformats.org/drawingml/2006/main" cx="11155680" cy="914400"/>
        </p:xfrm>
        <a:graphic xmlns:a="http://schemas.openxmlformats.org/drawingml/2006/main">
          <a:graphicData uri="http://schemas.openxmlformats.org/drawingml/2006/table">
            <a:tbl>
              <a:tblPr/>
              <a:tblGrid>
                <a:gridCol w="868680"/>
                <a:gridCol w="3108960"/>
                <a:gridCol w="2834640"/>
                <a:gridCol w="4343400"/>
              </a:tblGrid>
              <a:tr h="475488">
                <a:tc>
                  <a:txBody>
                    <a:bodyPr/>
                    <a:lstStyle/>
                    <a:p>
                      <a:pPr marL="0" indent="0">
                        <a:buNone/>
                      </a:pPr>
                      <a:r>
                        <a:rPr sz="1050" b="1">
                          <a:solidFill>
                            <a:srgbClr val="FFFFFF"/>
                          </a:solidFill>
                          <a:latin typeface="Calibri"/>
                          <a:ea typeface="Calibri"/>
                          <a:cs typeface="Calibri"/>
                        </a:rPr>
                        <a:t>#</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050" b="1">
                          <a:solidFill>
                            <a:srgbClr val="FFFFFF"/>
                          </a:solidFill>
                          <a:latin typeface="Calibri"/>
                          <a:ea typeface="Calibri"/>
                          <a:cs typeface="Calibri"/>
                        </a:rPr>
                        <a:t>goal</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050" b="1">
                          <a:solidFill>
                            <a:srgbClr val="FFFFFF"/>
                          </a:solidFill>
                          <a:latin typeface="Calibri"/>
                          <a:ea typeface="Calibri"/>
                          <a:cs typeface="Calibri"/>
                        </a:rPr>
                        <a:t>models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050" b="1">
                          <a:solidFill>
                            <a:srgbClr val="FFFFFF"/>
                          </a:solidFill>
                          <a:latin typeface="Calibri"/>
                          <a:ea typeface="Calibri"/>
                          <a:cs typeface="Calibri"/>
                        </a:rPr>
                        <a:t>outcome</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r>
              <a:tr h="475488">
                <a:tc>
                  <a:txBody>
                    <a:bodyPr/>
                    <a:lstStyle/>
                    <a:p>
                      <a:pPr marL="0" indent="0">
                        <a:buNone/>
                      </a:pPr>
                      <a:r>
                        <a:rPr sz="1050">
                          <a:solidFill>
                            <a:srgbClr val="1A1A2E"/>
                          </a:solidFill>
                          <a:latin typeface="Calibri"/>
                          <a:ea typeface="Calibri"/>
                          <a:cs typeface="Calibri"/>
                        </a:rPr>
                        <a:t>B</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transfer via one task-free matrix</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MobileCLIP-S1 → SigLIP 2</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88.4% of ceiling; 0.79 MB shipped — achieved</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475488">
                <a:tc>
                  <a:txBody>
                    <a:bodyPr/>
                    <a:lstStyle/>
                    <a:p>
                      <a:pPr marL="0" indent="0">
                        <a:buNone/>
                      </a:pPr>
                      <a:r>
                        <a:rPr sz="1050">
                          <a:solidFill>
                            <a:srgbClr val="1A1A2E"/>
                          </a:solidFill>
                          <a:latin typeface="Calibri"/>
                          <a:ea typeface="Calibri"/>
                          <a:cs typeface="Calibri"/>
                        </a:rPr>
                        <a:t>E1–E13</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cross-modal maps, capacity ladder, pooling</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DINOv2 s/b/l → bge-m3</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40.9 / 53.5 / 58.3% of ceiling; +15.3 pts per decade of parameters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475488">
                <a:tc>
                  <a:txBody>
                    <a:bodyPr/>
                    <a:lstStyle/>
                    <a:p>
                      <a:pPr marL="0" indent="0">
                        <a:buNone/>
                      </a:pPr>
                      <a:r>
                        <a:rPr sz="1050">
                          <a:solidFill>
                            <a:srgbClr val="1A1A2E"/>
                          </a:solidFill>
                          <a:latin typeface="Calibri"/>
                          <a:ea typeface="Calibri"/>
                          <a:cs typeface="Calibri"/>
                        </a:rPr>
                        <a:t>C.11–C.12</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isotropy rescue; pair-free recovery</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GPT-2, SBERT, MobileCLIP, SigLIP</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whitening 0.130→0.478; Gromov–Wasserstein 39.7% with NO pairs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475488">
                <a:tc>
                  <a:txBody>
                    <a:bodyPr/>
                    <a:lstStyle/>
                    <a:p>
                      <a:pPr marL="0" indent="0">
                        <a:buNone/>
                      </a:pPr>
                      <a:r>
                        <a:rPr sz="1050">
                          <a:solidFill>
                            <a:srgbClr val="1A1A2E"/>
                          </a:solidFill>
                          <a:latin typeface="Calibri"/>
                          <a:ea typeface="Calibri"/>
                          <a:cs typeface="Calibri"/>
                        </a:rPr>
                        <a:t>G0–G4</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rebuild hub exactly; cross-lineage; cross-architecture</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 SigLIP 2, ConvNeXt (held out)</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94.2% to the decimal; ConvNeXt 96.7% — above the band</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475488">
                <a:tc>
                  <a:txBody>
                    <a:bodyPr/>
                    <a:lstStyle/>
                    <a:p>
                      <a:pPr marL="0" indent="0">
                        <a:buNone/>
                      </a:pPr>
                      <a:r>
                        <a:rPr sz="1050">
                          <a:solidFill>
                            <a:srgbClr val="1A1A2E"/>
                          </a:solidFill>
                          <a:latin typeface="Calibri"/>
                          <a:ea typeface="Calibri"/>
                          <a:cs typeface="Calibri"/>
                        </a:rPr>
                        <a:t>G5–G7</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what predicts agreement; hub vs local structure</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all seven</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objective +53× &gt; lineage +44× &gt; modality +29×; hub neutral on healthy spaces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475488">
                <a:tc>
                  <a:txBody>
                    <a:bodyPr/>
                    <a:lstStyle/>
                    <a:p>
                      <a:pPr marL="0" indent="0">
                        <a:buNone/>
                      </a:pPr>
                      <a:r>
                        <a:rPr sz="1050">
                          <a:solidFill>
                            <a:srgbClr val="1A1A2E"/>
                          </a:solidFill>
                          <a:latin typeface="Calibri"/>
                          <a:ea typeface="Calibri"/>
                          <a:cs typeface="Calibri"/>
                        </a:rPr>
                        <a:t>G8–G16</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hunt the width cliff</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DINOv2 s/b as sources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located at source rank, mechanism confirmed; 8 accounts falsified first</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475488">
                <a:tc>
                  <a:txBody>
                    <a:bodyPr/>
                    <a:lstStyle/>
                    <a:p>
                      <a:pPr marL="0" indent="0">
                        <a:buNone/>
                      </a:pPr>
                      <a:r>
                        <a:rPr sz="1050">
                          <a:solidFill>
                            <a:srgbClr val="1A1A2E"/>
                          </a:solidFill>
                          <a:latin typeface="Calibri"/>
                          <a:ea typeface="Calibri"/>
                          <a:cs typeface="Calibri"/>
                        </a:rPr>
                        <a:t>G10</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hub composition; target-in-hub overlap</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hub variants × {bge, SBERT}</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identity 6.1 pt; presence 11.2 pt; overlap +3.0 pt — declared</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475488">
                <a:tc>
                  <a:txBody>
                    <a:bodyPr/>
                    <a:lstStyle/>
                    <a:p>
                      <a:pPr marL="0" indent="0">
                        <a:buNone/>
                      </a:pPr>
                      <a:r>
                        <a:rPr sz="1050">
                          <a:solidFill>
                            <a:srgbClr val="1A1A2E"/>
                          </a:solidFill>
                          <a:latin typeface="Calibri"/>
                          <a:ea typeface="Calibri"/>
                          <a:cs typeface="Calibri"/>
                        </a:rPr>
                        <a:t>K1–K3</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no-PCA replication; stratified re-run; bound the null</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all pairs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ordering reproduces raw; null bounded: 95% CI −0.038…+0.024 vs SESOI 0.050</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bl>
          </a:graphicData>
        </a:graphic>
      </p:graphicFrame>
      <p:sp>
        <p:nvSpPr>
          <p:cNvPr id="5" name="Text 2">
            <a:extLst xmlns:a="http://schemas.openxmlformats.org/drawingml/2006/main">
              <a:ext uri="{FF2B5EF4-FFF2-40B4-BE49-F238E27FC236}">
                <a16:creationId xmlns:a16="http://schemas.microsoft.com/office/drawing/2014/main" id="{DFE47674-A607-4587-95CA-91CF0D9480FE}"/>
              </a:ext>
            </a:extLst>
          </p:cNvPr>
          <p:cNvSpPr>
            <a:spLocks xmlns:a="http://schemas.openxmlformats.org/drawingml/2006/main" noGrp="1"/>
          </p:cNvSpPr>
          <p:nvPr/>
        </p:nvSpPr>
        <p:spPr>
          <a:xfrm xmlns:a="http://schemas.openxmlformats.org/drawingml/2006/main">
            <a:off x="502920" y="6172200"/>
            <a:ext cx="11155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5A6472"/>
                </a:solidFill>
                <a:latin typeface="Calibri"/>
                <a:ea typeface="Calibri"/>
                <a:cs typeface="Calibri"/>
              </a:rPr>
              <a:t>Failures kept on the record: the MLP could not beat the matrix — 0.9183 vs 0.9183, gain +0.0000, twice. Adding encoders to the hub: unchanged, CI includes zero.</a:t>
            </a:r>
            <a:endParaRPr sz="1150"/>
          </a:p>
        </p:txBody>
      </p:sp>
    </p:spTree>
    <p:extLst>
      <p:ext uri="{BB962C8B-B14F-4D97-AF65-F5344CB8AC3E}">
        <p14:creationId xmlns:p14="http://schemas.microsoft.com/office/powerpoint/2010/main" val="123269034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C05562-9732-4E0E-9F87-51C0572A2CD1}"/>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RECORD</a:t>
            </a:r>
            <a:endParaRPr sz="1100"/>
          </a:p>
        </p:txBody>
      </p:sp>
      <p:sp>
        <p:nvSpPr>
          <p:cNvPr id="3" name="Text 1">
            <a:extLst xmlns:a="http://schemas.openxmlformats.org/drawingml/2006/main">
              <a:ext uri="{FF2B5EF4-FFF2-40B4-BE49-F238E27FC236}">
                <a16:creationId xmlns:a16="http://schemas.microsoft.com/office/drawing/2014/main" id="{76F04594-0BC5-4328-9F94-CB2507DBAD03}"/>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encoders — who they are and how they were trained</a:t>
            </a:r>
            <a:endParaRPr sz="3000"/>
          </a:p>
        </p:txBody>
      </p:sp>
      <p:graphicFrame>
        <p:nvGraphicFramePr>
          <p:cNvPr id="11" name="Table 0"/>
          <p:cNvGraphicFramePr/>
          <p:nvPr/>
        </p:nvGraphicFramePr>
        <p:xfrm>
          <a:off xmlns:a="http://schemas.openxmlformats.org/drawingml/2006/main" x="502920" y="1417320"/>
          <a:ext xmlns:a="http://schemas.openxmlformats.org/drawingml/2006/main" cx="11155680" cy="914400"/>
        </p:xfrm>
        <a:graphic xmlns:a="http://schemas.openxmlformats.org/drawingml/2006/main">
          <a:graphicData uri="http://schemas.openxmlformats.org/drawingml/2006/table">
            <a:tbl>
              <a:tblPr/>
              <a:tblGrid>
                <a:gridCol w="1828800"/>
                <a:gridCol w="4846320"/>
                <a:gridCol w="4480560"/>
              </a:tblGrid>
              <a:tr h="0">
                <a:tc>
                  <a:txBody>
                    <a:bodyPr/>
                    <a:lstStyle/>
                    <a:p>
                      <a:pPr marL="0" indent="0">
                        <a:buNone/>
                      </a:pPr>
                      <a:r>
                        <a:rPr sz="1000" b="1">
                          <a:solidFill>
                            <a:srgbClr val="FFFFFF"/>
                          </a:solidFill>
                          <a:latin typeface="Calibri"/>
                          <a:ea typeface="Calibri"/>
                          <a:cs typeface="Calibri"/>
                        </a:rPr>
                        <a:t>encoder / dim</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000" b="1">
                          <a:solidFill>
                            <a:srgbClr val="FFFFFF"/>
                          </a:solidFill>
                          <a:latin typeface="Calibri"/>
                          <a:ea typeface="Calibri"/>
                          <a:cs typeface="Calibri"/>
                        </a:rPr>
                        <a:t>objective — what supervises it</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000" b="1">
                          <a:solidFill>
                            <a:srgbClr val="FFFFFF"/>
                          </a:solidFill>
                          <a:latin typeface="Calibri"/>
                          <a:ea typeface="Calibri"/>
                          <a:cs typeface="Calibri"/>
                        </a:rPr>
                        <a:t>role and result</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r>
              <a:tr h="0">
                <a:tc>
                  <a:txBody>
                    <a:bodyPr/>
                    <a:lstStyle/>
                    <a:p>
                      <a:pPr marL="0" indent="0">
                        <a:buNone/>
                      </a:pPr>
                      <a:r>
                        <a:rPr sz="1000">
                          <a:solidFill>
                            <a:srgbClr val="1A1A2E"/>
                          </a:solidFill>
                          <a:latin typeface="Calibri"/>
                          <a:ea typeface="Calibri"/>
                          <a:cs typeface="Calibri"/>
                        </a:rPr>
                        <a:t>DINOv2 s/b/l</a:t>
                      </a:r>
                      <a:endParaRPr sz="1000">
                        <a:latin typeface="Calibri"/>
                        <a:ea typeface="Calibri"/>
                        <a:cs typeface="Calibri"/>
                      </a:endParaRPr>
                    </a:p>
                    <a:p>
                      <a:pPr marL="0" indent="0">
                        <a:buNone/>
                      </a:pPr>
                      <a:r>
                        <a:rPr sz="1000">
                          <a:solidFill>
                            <a:srgbClr val="1A1A2E"/>
                          </a:solidFill>
                          <a:latin typeface="Calibri"/>
                          <a:ea typeface="Calibri"/>
                          <a:cs typeface="Calibri"/>
                        </a:rPr>
                        <a:t>768/1536/2048</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self-distillation: an EMA teacher’s outputs on other crops of the SAME image. No labels, no text — self-supervised on automatically curated data</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hub members; capacity ladder 40.9/53.5/58.3%; img_small sets hub width &lt; 768</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00">
                          <a:solidFill>
                            <a:srgbClr val="1A1A2E"/>
                          </a:solidFill>
                          <a:latin typeface="Calibri"/>
                          <a:ea typeface="Calibri"/>
                          <a:cs typeface="Calibri"/>
                        </a:rPr>
                        <a:t>bge-m3 · 1024</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contrastive on query–passage pairs — pair-supervised, text only</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hub member and the head’s target; top pair with SBERT +0.738</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00">
                          <a:solidFill>
                            <a:srgbClr val="1A1A2E"/>
                          </a:solidFill>
                          <a:latin typeface="Calibri"/>
                          <a:ea typeface="Calibri"/>
                          <a:cs typeface="Calibri"/>
                        </a:rPr>
                        <a:t>GPT-2 · 768</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next-token prediction — self-supervised; same hold-out-and-predict trick as DINOv2, on tokens</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the collapse case: rank 6.6; read 95.1% / write 24.8%; whitening rescues to 102.6%</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00">
                          <a:solidFill>
                            <a:srgbClr val="1A1A2E"/>
                          </a:solidFill>
                          <a:latin typeface="Calibri"/>
                          <a:ea typeface="Calibri"/>
                          <a:cs typeface="Calibri"/>
                        </a:rPr>
                        <a:t>BERT / SBERT · 768</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masked LM (self-sup.) / BERT fine-tuned on human-labelled NLI — SBERT is the one strictly supervised text space</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hub members from C.13.3; SBERT best head target at 101.0% of native</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00">
                          <a:solidFill>
                            <a:srgbClr val="1A1A2E"/>
                          </a:solidFill>
                          <a:latin typeface="Calibri"/>
                          <a:ea typeface="Calibri"/>
                          <a:cs typeface="Calibri"/>
                        </a:rPr>
                        <a:t>SigLIP 2 · 768</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image–text contrastive on web alt-text — pair-supervised</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HELD OUT: cross-lineage 94.2%, inside the family band</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00">
                          <a:solidFill>
                            <a:srgbClr val="1A1A2E"/>
                          </a:solidFill>
                          <a:latin typeface="Calibri"/>
                          <a:ea typeface="Calibri"/>
                          <a:cs typeface="Calibri"/>
                        </a:rPr>
                        <a:t>ConvNeXt · 1024</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ImageNet-22k classification — FULLY supervised, and a convnet</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HELD OUT: 96.7%, above the band — neither architecture nor supervision bounds the claim</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00">
                          <a:solidFill>
                            <a:srgbClr val="1A1A2E"/>
                          </a:solidFill>
                          <a:latin typeface="Calibri"/>
                          <a:ea typeface="Calibri"/>
                          <a:cs typeface="Calibri"/>
                        </a:rPr>
                        <a:t>MobileCLIP-S1 · 512</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image–text contrastive, distilled — pair-supervised</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00">
                          <a:solidFill>
                            <a:srgbClr val="1A1A2E"/>
                          </a:solidFill>
                          <a:latin typeface="Calibri"/>
                          <a:ea typeface="Calibri"/>
                          <a:cs typeface="Calibri"/>
                        </a:rPr>
                        <a:t>Experiment B source; adapter R² 0.592, shipped 0.79 MB</a:t>
                      </a:r>
                      <a:endParaRPr sz="100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bl>
          </a:graphicData>
        </a:graphic>
      </p:graphicFrame>
      <p:sp>
        <p:nvSpPr>
          <p:cNvPr id="5" name="Shape 2">
            <a:extLst xmlns:a="http://schemas.openxmlformats.org/drawingml/2006/main">
              <a:ext uri="{FF2B5EF4-FFF2-40B4-BE49-F238E27FC236}">
                <a16:creationId xmlns:a16="http://schemas.microsoft.com/office/drawing/2014/main" id="{DF1C98E3-9965-4FC0-9E4E-B259761CDBA7}"/>
              </a:ext>
            </a:extLst>
          </p:cNvPr>
          <p:cNvSpPr>
            <a:spLocks xmlns:a="http://schemas.openxmlformats.org/drawingml/2006/main" noGrp="1"/>
          </p:cNvSpPr>
          <p:nvPr/>
        </p:nvSpPr>
        <p:spPr>
          <a:xfrm xmlns:a="http://schemas.openxmlformats.org/drawingml/2006/main">
            <a:off x="502920" y="4297680"/>
            <a:ext cx="11155680" cy="1417320"/>
          </a:xfrm>
          <a:prstGeom xmlns:a="http://schemas.openxmlformats.org/drawingml/2006/main" prst="roundRect">
            <a:avLst>
              <a:gd name="adj" fmla="val 4516"/>
            </a:avLst>
          </a:prstGeom>
          <a:solidFill xmlns:a="http://schemas.openxmlformats.org/drawingml/2006/main">
            <a:srgbClr val="F2F5FB"/>
          </a:solidFill>
        </p:spPr>
      </p:sp>
      <p:sp>
        <p:nvSpPr>
          <p:cNvPr id="6" name="Text 3">
            <a:extLst xmlns:a="http://schemas.openxmlformats.org/drawingml/2006/main">
              <a:ext uri="{FF2B5EF4-FFF2-40B4-BE49-F238E27FC236}">
                <a16:creationId xmlns:a16="http://schemas.microsoft.com/office/drawing/2014/main" id="{3546757A-DF6F-47D0-B2A6-82E93A953FAC}"/>
              </a:ext>
            </a:extLst>
          </p:cNvPr>
          <p:cNvSpPr>
            <a:spLocks xmlns:a="http://schemas.openxmlformats.org/drawingml/2006/main" noGrp="1"/>
          </p:cNvSpPr>
          <p:nvPr/>
        </p:nvSpPr>
        <p:spPr>
          <a:xfrm xmlns:a="http://schemas.openxmlformats.org/drawingml/2006/main">
            <a:off x="777240" y="4498848"/>
            <a:ext cx="10607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A1A2E"/>
                </a:solidFill>
                <a:latin typeface="Calibri"/>
                <a:ea typeface="Calibri"/>
                <a:cs typeface="Calibri"/>
              </a:rPr>
              <a:t>One COCO row, behind every number here —  </a:t>
            </a:r>
            <a:r>
              <a:rPr sz="1250">
                <a:solidFill>
                  <a:srgbClr val="1A1A2E"/>
                </a:solidFill>
                <a:latin typeface="Calibri"/>
                <a:ea typeface="Calibri"/>
                <a:cs typeface="Calibri"/>
              </a:rPr>
              <a:t>five human captions: </a:t>
            </a:r>
            <a:r>
              <a:rPr sz="1250" i="1">
                <a:solidFill>
                  <a:srgbClr val="0F766E"/>
                </a:solidFill>
                <a:latin typeface="Calibri"/>
                <a:ea typeface="Calibri"/>
                <a:cs typeface="Calibri"/>
              </a:rPr>
              <a:t>“A cat sitting on a chair.” · “Cat on chair.” · “A cat is seated on a chair.” · “Cat sitting on the chair.” · “A cat perched on a wooden chair.” </a:t>
            </a:r>
            <a:r>
              <a:rPr sz="1250">
                <a:solidFill>
                  <a:srgbClr val="1A1A2E"/>
                </a:solidFill>
                <a:latin typeface="Calibri"/>
                <a:ea typeface="Calibri"/>
                <a:cs typeface="Calibri"/>
              </a:rPr>
              <a:t>— embedded and averaged into one target. At query time, ‘cat sit on a chair’ must rank the right cat above 999 impostors — including a sofa cat at 0.52 and a dog at 0.31. Chance is 0.001.</a:t>
            </a:r>
            <a:endParaRPr sz="1250"/>
          </a:p>
        </p:txBody>
      </p:sp>
      <p:sp>
        <p:nvSpPr>
          <p:cNvPr id="7" name="Text 4">
            <a:extLst xmlns:a="http://schemas.openxmlformats.org/drawingml/2006/main">
              <a:ext uri="{FF2B5EF4-FFF2-40B4-BE49-F238E27FC236}">
                <a16:creationId xmlns:a16="http://schemas.microsoft.com/office/drawing/2014/main" id="{1272B5C9-12CE-42B1-917B-D035C6D42FD1}"/>
              </a:ext>
            </a:extLst>
          </p:cNvPr>
          <p:cNvSpPr>
            <a:spLocks xmlns:a="http://schemas.openxmlformats.org/drawingml/2006/main" noGrp="1"/>
          </p:cNvSpPr>
          <p:nvPr/>
        </p:nvSpPr>
        <p:spPr>
          <a:xfrm xmlns:a="http://schemas.openxmlformats.org/drawingml/2006/main">
            <a:off x="502920" y="5943600"/>
            <a:ext cx="11155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766E"/>
                </a:solidFill>
                <a:latin typeface="Cambria"/>
                <a:ea typeface="Cambria"/>
                <a:cs typeface="Cambria"/>
              </a:rPr>
              <a:t>Three supervision regimes, four objectives — and all of them join one hub at 93–97% of native. Convergence does not require a shared training signal.</a:t>
            </a:r>
            <a:endParaRPr sz="1300"/>
          </a:p>
        </p:txBody>
      </p:sp>
    </p:spTree>
    <p:extLst>
      <p:ext uri="{BB962C8B-B14F-4D97-AF65-F5344CB8AC3E}">
        <p14:creationId xmlns:p14="http://schemas.microsoft.com/office/powerpoint/2010/main" val="2833494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F89483-C550-4067-B769-DF9B8BEFFAA1}"/>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RECORD</a:t>
            </a:r>
            <a:endParaRPr sz="1100"/>
          </a:p>
        </p:txBody>
      </p:sp>
      <p:sp>
        <p:nvSpPr>
          <p:cNvPr id="3" name="Text 1">
            <a:extLst xmlns:a="http://schemas.openxmlformats.org/drawingml/2006/main">
              <a:ext uri="{FF2B5EF4-FFF2-40B4-BE49-F238E27FC236}">
                <a16:creationId xmlns:a16="http://schemas.microsoft.com/office/drawing/2014/main" id="{9280793A-3905-45FD-8851-A7122908E7FD}"/>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Sources</a:t>
            </a:r>
            <a:endParaRPr sz="3000"/>
          </a:p>
        </p:txBody>
      </p:sp>
      <p:sp>
        <p:nvSpPr>
          <p:cNvPr id="4" name="Text 2">
            <a:extLst xmlns:a="http://schemas.openxmlformats.org/drawingml/2006/main">
              <a:ext uri="{FF2B5EF4-FFF2-40B4-BE49-F238E27FC236}">
                <a16:creationId xmlns:a16="http://schemas.microsoft.com/office/drawing/2014/main" id="{CB68753E-4D79-4A2D-89FC-824B5E4F94B2}"/>
              </a:ext>
            </a:extLst>
          </p:cNvPr>
          <p:cNvSpPr>
            <a:spLocks xmlns:a="http://schemas.openxmlformats.org/drawingml/2006/main" noGrp="1"/>
          </p:cNvSpPr>
          <p:nvPr/>
        </p:nvSpPr>
        <p:spPr>
          <a:xfrm xmlns:a="http://schemas.openxmlformats.org/drawingml/2006/main">
            <a:off x="502920" y="1417320"/>
            <a:ext cx="5486400" cy="4754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250">
                <a:solidFill>
                  <a:srgbClr val="1A1A2E"/>
                </a:solidFill>
                <a:latin typeface="Calibri"/>
                <a:ea typeface="Calibri"/>
                <a:cs typeface="Calibri"/>
              </a:rPr>
              <a:t>Huh, Cheung, Wang &amp; Isola (2024). The Platonic Representation Hypothesis. ICML — the framing, and the CKNNA metric.</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Lenc &amp; Vedaldi (2015). Understanding image representations by measuring equivariance and equivalence. CVPR — stitching.</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Bansal, Nakkiran &amp; Barak (2021). Revisiting model stitching. NeurIPS — the trained-connector baseline B departs from.</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Moschella et al. (2023). Relative representations enable zero-shot latent communication. ICLR — the pivot idea the hub extends.</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Gröger et al. (2026), ICML — the Aristotelian reading of convergence; assessed against these results.</a:t>
            </a:r>
            <a:endParaRPr sz="1250"/>
          </a:p>
        </p:txBody>
      </p:sp>
      <p:sp>
        <p:nvSpPr>
          <p:cNvPr id="5" name="Text 3">
            <a:extLst xmlns:a="http://schemas.openxmlformats.org/drawingml/2006/main">
              <a:ext uri="{FF2B5EF4-FFF2-40B4-BE49-F238E27FC236}">
                <a16:creationId xmlns:a16="http://schemas.microsoft.com/office/drawing/2014/main" id="{20975A09-8F39-4AA7-8BA5-A8C22258A317}"/>
              </a:ext>
            </a:extLst>
          </p:cNvPr>
          <p:cNvSpPr>
            <a:spLocks xmlns:a="http://schemas.openxmlformats.org/drawingml/2006/main" noGrp="1"/>
          </p:cNvSpPr>
          <p:nvPr/>
        </p:nvSpPr>
        <p:spPr>
          <a:xfrm xmlns:a="http://schemas.openxmlformats.org/drawingml/2006/main">
            <a:off x="6263640" y="1417320"/>
            <a:ext cx="5394960" cy="4754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800"/>
              </a:spcAft>
              <a:buSzPct val="100000"/>
              <a:buChar char="•"/>
            </a:pPr>
            <a:r>
              <a:rPr sz="1250">
                <a:solidFill>
                  <a:srgbClr val="1A1A2E"/>
                </a:solidFill>
                <a:latin typeface="Calibri"/>
                <a:ea typeface="Calibri"/>
                <a:cs typeface="Calibri"/>
              </a:rPr>
              <a:t>Oquab et al. (2023). DINOv2 — the image family and LVD-142M curation.</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Tschannen et al. (2025). SigLIP 2 · Vasu et al. (2024). MobileCLIP.</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Chen et al. (2024). BGE-M3 · Reimers &amp; Gurevych (2019). Sentence-BERT.</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Radford et al. (2019). GPT-2 · Devlin et al. (2019). BERT · Liu et al. (2022). ConvNeXt.</a:t>
            </a:r>
            <a:endParaRPr sz="1250"/>
          </a:p>
          <a:p xmlns:a="http://schemas.openxmlformats.org/drawingml/2006/main">
            <a:pPr marL="152400" indent="-152400">
              <a:spcAft>
                <a:spcPts val="800"/>
              </a:spcAft>
              <a:buSzPct val="100000"/>
              <a:buChar char="•"/>
            </a:pPr>
            <a:r>
              <a:rPr sz="1250">
                <a:solidFill>
                  <a:srgbClr val="1A1A2E"/>
                </a:solidFill>
                <a:latin typeface="Calibri"/>
                <a:ea typeface="Calibri"/>
                <a:cs typeface="Calibri"/>
              </a:rPr>
              <a:t>Lin et al. (2014). Microsoft COCO — the 9,533 image–caption rows under every number here.</a:t>
            </a:r>
            <a:endParaRPr sz="1250"/>
          </a:p>
        </p:txBody>
      </p:sp>
      <p:sp>
        <p:nvSpPr>
          <p:cNvPr id="6" name="Text 4">
            <a:extLst xmlns:a="http://schemas.openxmlformats.org/drawingml/2006/main">
              <a:ext uri="{FF2B5EF4-FFF2-40B4-BE49-F238E27FC236}">
                <a16:creationId xmlns:a16="http://schemas.microsoft.com/office/drawing/2014/main" id="{43F77681-96C3-4D32-8652-0F2D7A22CACF}"/>
              </a:ext>
            </a:extLst>
          </p:cNvPr>
          <p:cNvSpPr>
            <a:spLocks xmlns:a="http://schemas.openxmlformats.org/drawingml/2006/main" noGrp="1"/>
          </p:cNvSpPr>
          <p:nvPr/>
        </p:nvSpPr>
        <p:spPr>
          <a:xfrm xmlns:a="http://schemas.openxmlformats.org/drawingml/2006/main">
            <a:off x="502920" y="6035040"/>
            <a:ext cx="11155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A6472"/>
                </a:solidFill>
                <a:latin typeface="Calibri"/>
                <a:ea typeface="Calibri"/>
                <a:cs typeface="Calibri"/>
              </a:rPr>
              <a:t>Full method, all tables and the falsification ledger: Final_Project_Report.pdf (68 pp), with generator notebooks per figure.</a:t>
            </a:r>
            <a:endParaRPr sz="1200"/>
          </a:p>
        </p:txBody>
      </p:sp>
    </p:spTree>
    <p:extLst>
      <p:ext uri="{BB962C8B-B14F-4D97-AF65-F5344CB8AC3E}">
        <p14:creationId xmlns:p14="http://schemas.microsoft.com/office/powerpoint/2010/main" val="5215673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31F9F35-8CDC-4C93-8AB1-30664F55620C}"/>
              </a:ext>
            </a:extLst>
          </p:cNvPr>
          <p:cNvSpPr>
            <a:spLocks xmlns:a="http://schemas.openxmlformats.org/drawingml/2006/main" noGrp="1"/>
          </p:cNvSpPr>
          <p:nvPr/>
        </p:nvSpPr>
        <p:spPr>
          <a:xfrm xmlns:a="http://schemas.openxmlformats.org/drawingml/2006/main">
            <a:off x="502920" y="256032"/>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200">
                <a:solidFill>
                  <a:srgbClr val="5A6472"/>
                </a:solidFill>
                <a:latin typeface="Calibri"/>
                <a:ea typeface="Calibri"/>
                <a:cs typeface="Calibri"/>
              </a:rPr>
              <a:t>NEXT</a:t>
            </a:r>
            <a:endParaRPr sz="1100"/>
          </a:p>
        </p:txBody>
      </p:sp>
      <p:sp>
        <p:nvSpPr>
          <p:cNvPr id="3" name="Text 1">
            <a:extLst xmlns:a="http://schemas.openxmlformats.org/drawingml/2006/main">
              <a:ext uri="{FF2B5EF4-FFF2-40B4-BE49-F238E27FC236}">
                <a16:creationId xmlns:a16="http://schemas.microsoft.com/office/drawing/2014/main" id="{6732F034-21FF-4C11-AABE-DFBA338DBCB5}"/>
              </a:ext>
            </a:extLst>
          </p:cNvPr>
          <p:cNvSpPr>
            <a:spLocks xmlns:a="http://schemas.openxmlformats.org/drawingml/2006/main" noGrp="1"/>
          </p:cNvSpPr>
          <p:nvPr/>
        </p:nvSpPr>
        <p:spPr>
          <a:xfrm xmlns:a="http://schemas.openxmlformats.org/drawingml/2006/main">
            <a:off x="502920" y="502920"/>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What remains — in order of value</a:t>
            </a:r>
            <a:endParaRPr sz="3000"/>
          </a:p>
        </p:txBody>
      </p:sp>
      <p:graphicFrame>
        <p:nvGraphicFramePr>
          <p:cNvPr id="7" name="Table 0"/>
          <p:cNvGraphicFramePr/>
          <p:nvPr/>
        </p:nvGraphicFramePr>
        <p:xfrm>
          <a:off xmlns:a="http://schemas.openxmlformats.org/drawingml/2006/main" x="502920" y="1417320"/>
          <a:ext xmlns:a="http://schemas.openxmlformats.org/drawingml/2006/main" cx="11155680" cy="914400"/>
        </p:xfrm>
        <a:graphic xmlns:a="http://schemas.openxmlformats.org/drawingml/2006/main">
          <a:graphicData uri="http://schemas.openxmlformats.org/drawingml/2006/table">
            <a:tbl>
              <a:tblPr/>
              <a:tblGrid>
                <a:gridCol w="2194560"/>
                <a:gridCol w="4937760"/>
                <a:gridCol w="4023360"/>
              </a:tblGrid>
              <a:tr h="0">
                <a:tc>
                  <a:txBody>
                    <a:bodyPr/>
                    <a:lstStyle/>
                    <a:p>
                      <a:pPr marL="0" indent="0">
                        <a:buNone/>
                      </a:pPr>
                      <a:r>
                        <a:rPr sz="1050" b="1">
                          <a:solidFill>
                            <a:srgbClr val="FFFFFF"/>
                          </a:solidFill>
                          <a:latin typeface="Calibri"/>
                          <a:ea typeface="Calibri"/>
                          <a:cs typeface="Calibri"/>
                        </a:rPr>
                        <a:t>next test</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050" b="1">
                          <a:solidFill>
                            <a:srgbClr val="FFFFFF"/>
                          </a:solidFill>
                          <a:latin typeface="Calibri"/>
                          <a:ea typeface="Calibri"/>
                          <a:cs typeface="Calibri"/>
                        </a:rPr>
                        <a:t>the question</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c>
                  <a:txBody>
                    <a:bodyPr/>
                    <a:lstStyle/>
                    <a:p>
                      <a:pPr marL="0" indent="0">
                        <a:buNone/>
                      </a:pPr>
                      <a:r>
                        <a:rPr sz="1050" b="1">
                          <a:solidFill>
                            <a:srgbClr val="FFFFFF"/>
                          </a:solidFill>
                          <a:latin typeface="Calibri"/>
                          <a:ea typeface="Calibri"/>
                          <a:cs typeface="Calibri"/>
                        </a:rPr>
                        <a:t>why it matters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solidFill>
                      <a:srgbClr val="1E2761"/>
                    </a:solidFill>
                  </a:tcPr>
                </a:tc>
              </a:tr>
              <a:tr h="0">
                <a:tc>
                  <a:txBody>
                    <a:bodyPr/>
                    <a:lstStyle/>
                    <a:p>
                      <a:pPr marL="0" indent="0">
                        <a:buNone/>
                      </a:pPr>
                      <a:r>
                        <a:rPr sz="1050" b="1">
                          <a:solidFill>
                            <a:srgbClr val="1A1A2E"/>
                          </a:solidFill>
                          <a:latin typeface="Calibri"/>
                          <a:ea typeface="Calibri"/>
                          <a:cs typeface="Calibri"/>
                        </a:rPr>
                        <a:t>Reverse-direction transfer</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does the hub carry information TOWARD an image space, not just from one? ConvNeXt as TARGET is the cleanest case — it was never a hub member</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source and target roles are independent (G10 proved it on text); untested for images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50">
                          <a:solidFill>
                            <a:srgbClr val="1A1A2E"/>
                          </a:solidFill>
                          <a:latin typeface="Calibri"/>
                          <a:ea typeface="Calibri"/>
                          <a:cs typeface="Calibri"/>
                        </a:rPr>
                        <a:t>Experts vs one large model</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do K small experts in a shared hub match one big encoder at matched parameters?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turns the engineering argument into a benchmark outsiders care about (pre-registered as B1, not yet run)</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50">
                          <a:solidFill>
                            <a:srgbClr val="1A1A2E"/>
                          </a:solidFill>
                          <a:latin typeface="Calibri"/>
                          <a:ea typeface="Calibri"/>
                          <a:cs typeface="Calibri"/>
                        </a:rPr>
                        <a:t>More encoders per group</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objective predicts agreement better than lineage — on as few as one pair per cell</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the most interesting causal hint, currently the least powered</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50">
                          <a:solidFill>
                            <a:srgbClr val="1A1A2E"/>
                          </a:solidFill>
                          <a:latin typeface="Calibri"/>
                          <a:ea typeface="Calibri"/>
                          <a:cs typeface="Calibri"/>
                        </a:rPr>
                        <a:t>Other languages &amp; domains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does any of this survive outside COCO captions in English?</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the broadest stated limit</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r h="0">
                <a:tc>
                  <a:txBody>
                    <a:bodyPr/>
                    <a:lstStyle/>
                    <a:p>
                      <a:pPr marL="0" indent="0">
                        <a:buNone/>
                      </a:pPr>
                      <a:r>
                        <a:rPr sz="1050">
                          <a:solidFill>
                            <a:srgbClr val="1A1A2E"/>
                          </a:solidFill>
                          <a:latin typeface="Calibri"/>
                          <a:ea typeface="Calibri"/>
                          <a:cs typeface="Calibri"/>
                        </a:rPr>
                        <a:t>Non-linear hubs</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could a neighbourhood-preserving embedding carry local structure where whitened PCA does not?</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c>
                  <a:txBody>
                    <a:bodyPr/>
                    <a:lstStyle/>
                    <a:p>
                      <a:pPr marL="0" indent="0">
                        <a:buNone/>
                      </a:pPr>
                      <a:r>
                        <a:rPr sz="1050">
                          <a:solidFill>
                            <a:srgbClr val="1A1A2E"/>
                          </a:solidFill>
                          <a:latin typeface="Calibri"/>
                          <a:ea typeface="Calibri"/>
                          <a:cs typeface="Calibri"/>
                        </a:rPr>
                        <a:t>ruled out here by the no-training rule — the natural sequel</a:t>
                      </a:r>
                      <a:endParaRPr sz="1050">
                        <a:latin typeface="Calibri"/>
                        <a:ea typeface="Calibri"/>
                        <a:cs typeface="Calibri"/>
                      </a:endParaRPr>
                    </a:p>
                  </a:txBody>
                  <a:tcPr marL="91440" marR="91440" marT="45720" marB="45720" anchor="ctr">
                    <a:lnL w="6350" cmpd="sng">
                      <a:solidFill>
                        <a:srgbClr val="C2CAD6"/>
                      </a:solidFill>
                      <a:prstDash val="solid"/>
                    </a:lnL>
                    <a:lnR w="6350" cmpd="sng">
                      <a:solidFill>
                        <a:srgbClr val="C2CAD6"/>
                      </a:solidFill>
                      <a:prstDash val="solid"/>
                    </a:lnR>
                    <a:lnT w="6350" cmpd="sng">
                      <a:solidFill>
                        <a:srgbClr val="C2CAD6"/>
                      </a:solidFill>
                      <a:prstDash val="solid"/>
                    </a:lnT>
                    <a:lnB w="6350" cmpd="sng">
                      <a:solidFill>
                        <a:srgbClr val="C2CAD6"/>
                      </a:solidFill>
                      <a:prstDash val="solid"/>
                    </a:lnB>
                  </a:tcPr>
                </a:tc>
              </a:tr>
            </a:tbl>
          </a:graphicData>
        </a:graphic>
      </p:graphicFrame>
    </p:spTree>
    <p:extLst>
      <p:ext uri="{BB962C8B-B14F-4D97-AF65-F5344CB8AC3E}">
        <p14:creationId xmlns:p14="http://schemas.microsoft.com/office/powerpoint/2010/main" val="732446024"/>
      </p:ext>
    </p:extLst>
  </p:cSld>
</p:sld>
</file>

<file path=ppt/slides/slide2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f2a0a6f708b492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185154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e9bf4d983394e5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215673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f9ba46f0a20441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2156737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b25dca4f88e4cd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2156737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e01d2b8b63f4f7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2156737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042f19f42ee44b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2156737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2026-08-29T21:41:01.6380000Z</dcterms:created>
  <dcterms:modified xsi:type="dcterms:W3CDTF">2026-08-29T21:41:01.6380000Z</dcterms:modified>
</coreProperties>
</file>