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jW/X2qFXN+ILWPMX168TeLTrYQ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1ED831-198E-408C-AA95-3881B1BFC759}">
  <a:tblStyle styleId="{DB1ED831-198E-408C-AA95-3881B1BFC75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ChartSnapshot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ChartSnapshot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ChartSnapshot1" Type="http://schemas.openxmlformats.org/officeDocument/2006/relationships/package" Target="../embeddings/Microsoft_Excel_Sheet5.xlsx"/></Relationships>
</file>

<file path=ppt/charts/chart1.xml><?xml version="1.0" encoding="utf-8"?>
<c:chartSpace xmlns:c="http://schemas.openxmlformats.org/drawingml/2006/chart" xmlns:r="http://schemas.openxmlformats.org/officeDocument/2006/relationships">
  <c:lang val="en-US"/>
  <c:chart>
    <c:plotArea>
      <c:lineChart>
        <c:grouping val="standard"/>
        <c:ser>
          <c:idx val="0"/>
          <c:order val="0"/>
          <c:tx>
            <c:v>Trained Pythia</c:v>
          </c:tx>
          <c:spPr>
            <a:ln xmlns:a="http://schemas.openxmlformats.org/drawingml/2006/main" w="28575">
              <a:solidFill>
                <a:srgbClr val="2965C0"/>
              </a:solidFill>
            </a:ln>
          </c:spPr>
          <c:marker>
            <c:symbol val="circle"/>
            <c:size val="7"/>
            <c:spPr>
              <a:solidFill xmlns:a="http://schemas.openxmlformats.org/drawingml/2006/main">
                <a:srgbClr val="2965C0"/>
              </a:solidFill>
            </c:spPr>
          </c:marker>
          <c:cat>
            <c:strRef>
              <c:f>'Chart Data'!$A$2:$A$8</c:f>
              <c:strCache>
                <c:ptCount val="7"/>
                <c:pt idx="0">
                  <c:v>L0</c:v>
                </c:pt>
                <c:pt idx="1">
                  <c:v>L1</c:v>
                </c:pt>
                <c:pt idx="2">
                  <c:v>L3</c:v>
                </c:pt>
                <c:pt idx="3">
                  <c:v>L5</c:v>
                </c:pt>
                <c:pt idx="4">
                  <c:v>L8</c:v>
                </c:pt>
                <c:pt idx="5">
                  <c:v>L10</c:v>
                </c:pt>
                <c:pt idx="6">
                  <c:v>L11</c:v>
                </c:pt>
              </c:strCache>
            </c:strRef>
          </c:cat>
          <c:val>
            <c:numRef>
              <c:f>'Chart Data'!$B$2:$B$8</c:f>
              <c:numCache>
                <c:formatCode>0.0</c:formatCode>
                <c:ptCount val="7"/>
                <c:pt idx="0">
                  <c:v>0.59</c:v>
                </c:pt>
                <c:pt idx="1">
                  <c:v>0.716</c:v>
                </c:pt>
                <c:pt idx="2">
                  <c:v>0.733</c:v>
                </c:pt>
                <c:pt idx="3">
                  <c:v>0.744</c:v>
                </c:pt>
                <c:pt idx="4">
                  <c:v>0.779</c:v>
                </c:pt>
                <c:pt idx="5">
                  <c:v>0.793</c:v>
                </c:pt>
                <c:pt idx="6">
                  <c:v>0.797</c:v>
                </c:pt>
              </c:numCache>
            </c:numRef>
          </c:val>
        </c:ser>
        <c:ser>
          <c:idx val="1"/>
          <c:order val="1"/>
          <c:tx>
            <c:v>Random Pythia</c:v>
          </c:tx>
          <c:spPr>
            <a:ln xmlns:a="http://schemas.openxmlformats.org/drawingml/2006/main" w="28575">
              <a:solidFill>
                <a:srgbClr val="9BA8B5"/>
              </a:solidFill>
            </a:ln>
          </c:spPr>
          <c:marker>
            <c:symbol val="square"/>
            <c:size val="7"/>
            <c:spPr>
              <a:solidFill xmlns:a="http://schemas.openxmlformats.org/drawingml/2006/main">
                <a:srgbClr val="9BA8B5"/>
              </a:solidFill>
            </c:spPr>
          </c:marker>
          <c:cat>
            <c:strRef>
              <c:f>'Chart Data'!$C$2:$C$8</c:f>
              <c:strCache>
                <c:ptCount val="7"/>
                <c:pt idx="0">
                  <c:v>L0</c:v>
                </c:pt>
                <c:pt idx="1">
                  <c:v>L1</c:v>
                </c:pt>
                <c:pt idx="2">
                  <c:v>L3</c:v>
                </c:pt>
                <c:pt idx="3">
                  <c:v>L5</c:v>
                </c:pt>
                <c:pt idx="4">
                  <c:v>L8</c:v>
                </c:pt>
                <c:pt idx="5">
                  <c:v>L10</c:v>
                </c:pt>
                <c:pt idx="6">
                  <c:v>L11</c:v>
                </c:pt>
              </c:strCache>
            </c:strRef>
          </c:cat>
          <c:val>
            <c:numRef>
              <c:f>'Chart Data'!$D$2:$D$8</c:f>
              <c:numCache>
                <c:formatCode>0.0</c:formatCode>
                <c:ptCount val="7"/>
                <c:pt idx="0">
                  <c:v>0.375</c:v>
                </c:pt>
                <c:pt idx="1">
                  <c:v>0.288</c:v>
                </c:pt>
                <c:pt idx="2">
                  <c:v>0.208</c:v>
                </c:pt>
                <c:pt idx="3">
                  <c:v>0.157</c:v>
                </c:pt>
                <c:pt idx="4">
                  <c:v>0.117</c:v>
                </c:pt>
                <c:pt idx="5">
                  <c:v>0.099</c:v>
                </c:pt>
                <c:pt idx="6">
                  <c:v>0.09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Matched layer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Held-out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Native SigLIP</c:v>
          </c:tx>
          <c:spPr>
            <a:solidFill xmlns:a="http://schemas.openxmlformats.org/drawingml/2006/main">
              <a:srgbClr val="9BB9D4"/>
            </a:solidFill>
          </c:spPr>
          <c:cat>
            <c:strRef>
              <c:f>'Chart Data'!$A$2:$A$4</c:f>
              <c:strCache>
                <c:ptCount val="3"/>
                <c:pt idx="0">
                  <c:v>R@1</c:v>
                </c:pt>
                <c:pt idx="1">
                  <c:v>R@5</c:v>
                </c:pt>
                <c:pt idx="2">
                  <c:v>R@10</c:v>
                </c:pt>
              </c:strCache>
            </c:strRef>
          </c:cat>
          <c:val>
            <c:numRef>
              <c:f>'Chart Data'!$B$2:$B$4</c:f>
              <c:numCache>
                <c:formatCode>0.000</c:formatCode>
                <c:ptCount val="3"/>
                <c:pt idx="0">
                  <c:v>0.63</c:v>
                </c:pt>
                <c:pt idx="1">
                  <c:v>0.885</c:v>
                </c:pt>
                <c:pt idx="2">
                  <c:v>0.944</c:v>
                </c:pt>
              </c:numCache>
            </c:numRef>
          </c:val>
        </c:ser>
        <c:ser>
          <c:idx val="1"/>
          <c:order val="1"/>
          <c:tx>
            <c:v>Adapted MobileCLIP</c:v>
          </c:tx>
          <c:spPr>
            <a:solidFill xmlns:a="http://schemas.openxmlformats.org/drawingml/2006/main">
              <a:srgbClr val="087F83"/>
            </a:solidFill>
          </c:spPr>
          <c:cat>
            <c:strRef>
              <c:f>'Chart Data'!$C$2:$C$4</c:f>
              <c:strCache>
                <c:ptCount val="3"/>
                <c:pt idx="0">
                  <c:v>R@1</c:v>
                </c:pt>
                <c:pt idx="1">
                  <c:v>R@5</c:v>
                </c:pt>
                <c:pt idx="2">
                  <c:v>R@10</c:v>
                </c:pt>
              </c:strCache>
            </c:strRef>
          </c:cat>
          <c:val>
            <c:numRef>
              <c:f>'Chart Data'!$D$2:$D$4</c:f>
              <c:numCache>
                <c:formatCode>0.000</c:formatCode>
                <c:ptCount val="3"/>
                <c:pt idx="0">
                  <c:v>0.557</c:v>
                </c:pt>
                <c:pt idx="1">
                  <c:v>0.843</c:v>
                </c:pt>
                <c:pt idx="2">
                  <c:v>0.918</c:v>
                </c:pt>
              </c:numCache>
            </c:numRef>
          </c:val>
        </c:ser>
        <c:ser>
          <c:idx val="2"/>
          <c:order val="2"/>
          <c:tx>
            <c:v>No adapter / chance</c:v>
          </c:tx>
          <c:spPr>
            <a:solidFill xmlns:a="http://schemas.openxmlformats.org/drawingml/2006/main">
              <a:srgbClr val="BEC7D0"/>
            </a:solidFill>
          </c:spPr>
          <c:cat>
            <c:strRef>
              <c:f>'Chart Data'!$E$2:$E$4</c:f>
              <c:strCache>
                <c:ptCount val="3"/>
                <c:pt idx="0">
                  <c:v>R@1</c:v>
                </c:pt>
                <c:pt idx="1">
                  <c:v>R@5</c:v>
                </c:pt>
                <c:pt idx="2">
                  <c:v>R@10</c:v>
                </c:pt>
              </c:strCache>
            </c:strRef>
          </c:cat>
          <c:val>
            <c:numRef>
              <c:f>'Chart Data'!$F$2:$F$4</c:f>
              <c:numCache>
                <c:formatCode>0.000</c:formatCode>
                <c:ptCount val="3"/>
                <c:pt idx="0">
                  <c:v>0.001</c:v>
                </c:pt>
                <c:pt idx="1">
                  <c:v>0.005</c:v>
                </c:pt>
                <c:pt idx="2">
                  <c:v>0.01</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correct queries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retention</c:v>
          </c:tx>
          <c:spPr>
            <a:solidFill xmlns:a="http://schemas.openxmlformats.org/drawingml/2006/main">
              <a:srgbClr val="087F83"/>
            </a:solidFill>
          </c:spPr>
          <c:cat>
            <c:strRef>
              <c:f>'Chart Data'!$A$2:$A$5</c:f>
              <c:strCache>
                <c:ptCount val="4"/>
                <c:pt idx="0">
                  <c:v>DINO-base</c:v>
                </c:pt>
                <c:pt idx="1">
                  <c:v>DINO-large</c:v>
                </c:pt>
                <c:pt idx="2">
                  <c:v>SigLIP 2</c:v>
                </c:pt>
                <c:pt idx="3">
                  <c:v>ConvNeXt</c:v>
                </c:pt>
              </c:strCache>
            </c:strRef>
          </c:cat>
          <c:val>
            <c:numRef>
              <c:f>'Chart Data'!$B$2:$B$5</c:f>
              <c:numCache>
                <c:formatCode>0.0%</c:formatCode>
                <c:ptCount val="4"/>
                <c:pt idx="0">
                  <c:v>0.959</c:v>
                </c:pt>
                <c:pt idx="1">
                  <c:v>0.929</c:v>
                </c:pt>
                <c:pt idx="2">
                  <c:v>0.942</c:v>
                </c:pt>
                <c:pt idx="3">
                  <c:v>0.967</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Frozen R@1 / native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4.xml><?xml version="1.0" encoding="utf-8"?>
<c:chartSpace xmlns:c="http://schemas.openxmlformats.org/drawingml/2006/chart" xmlns:r="http://schemas.openxmlformats.org/officeDocument/2006/relationships">
  <c:lang val="en-US"/>
  <c:chart>
    <c:plotArea>
      <c:lineChart>
        <c:grouping val="standard"/>
        <c:ser>
          <c:idx val="0"/>
          <c:order val="0"/>
          <c:tx>
            <c:v>DINOv2</c:v>
          </c:tx>
          <c:spPr>
            <a:ln xmlns:a="http://schemas.openxmlformats.org/drawingml/2006/main" w="28575">
              <a:solidFill>
                <a:srgbClr val="2965C0"/>
              </a:solidFill>
            </a:ln>
          </c:spPr>
          <c:marker>
            <c:symbol val="circle"/>
            <c:size val="8"/>
            <c:spPr>
              <a:solidFill xmlns:a="http://schemas.openxmlformats.org/drawingml/2006/main">
                <a:srgbClr val="2965C0"/>
              </a:solidFill>
            </c:spPr>
          </c:marker>
          <c:cat>
            <c:strRef>
              <c:f>'Chart Data'!$A$2:$A$5</c:f>
              <c:strCache>
                <c:ptCount val="4"/>
                <c:pt idx="0">
                  <c:v>Small
~22M</c:v>
                </c:pt>
                <c:pt idx="1">
                  <c:v>Base
~87M</c:v>
                </c:pt>
                <c:pt idx="2">
                  <c:v>Large
~304M</c:v>
                </c:pt>
                <c:pt idx="3">
                  <c:v>Giant
~1.14B</c:v>
                </c:pt>
              </c:strCache>
            </c:strRef>
          </c:cat>
          <c:val>
            <c:numRef>
              <c:f>'Chart Data'!$B$2:$B$5</c:f>
              <c:numCache>
                <c:formatCode>0.000</c:formatCode>
                <c:ptCount val="4"/>
                <c:pt idx="0">
                  <c:v>0.381</c:v>
                </c:pt>
                <c:pt idx="1">
                  <c:v>0.381</c:v>
                </c:pt>
                <c:pt idx="2">
                  <c:v>0.418</c:v>
                </c:pt>
                <c:pt idx="3">
                  <c:v>0.339</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5.xml><?xml version="1.0" encoding="utf-8"?>
<c:chartSpace xmlns:c="http://schemas.openxmlformats.org/drawingml/2006/chart" xmlns:r="http://schemas.openxmlformats.org/officeDocument/2006/relationships">
  <c:lang val="en-US"/>
  <c:chart>
    <c:plotArea>
      <c:lineChart>
        <c:grouping val="standard"/>
        <c:ser>
          <c:idx val="0"/>
          <c:order val="0"/>
          <c:tx>
            <c:v>Text encoders</c:v>
          </c:tx>
          <c:spPr>
            <a:ln xmlns:a="http://schemas.openxmlformats.org/drawingml/2006/main" w="28575">
              <a:solidFill>
                <a:srgbClr val="087F83"/>
              </a:solidFill>
            </a:ln>
          </c:spPr>
          <c:marker>
            <c:symbol val="triangle"/>
            <c:size val="8"/>
            <c:spPr>
              <a:solidFill xmlns:a="http://schemas.openxmlformats.org/drawingml/2006/main">
                <a:srgbClr val="087F83"/>
              </a:solidFill>
            </c:spPr>
          </c:marker>
          <c:cat>
            <c:strRef>
              <c:f>'Chart Data'!$A$2:$A$4</c:f>
              <c:strCache>
                <c:ptCount val="3"/>
                <c:pt idx="0">
                  <c:v>bge
~0.57B</c:v>
                </c:pt>
                <c:pt idx="1">
                  <c:v>Qwen
0.6B</c:v>
                </c:pt>
                <c:pt idx="2">
                  <c:v>Qwen
4B</c:v>
                </c:pt>
              </c:strCache>
            </c:strRef>
          </c:cat>
          <c:val>
            <c:numRef>
              <c:f>'Chart Data'!$B$2:$B$4</c:f>
              <c:numCache>
                <c:formatCode>0.000</c:formatCode>
                <c:ptCount val="3"/>
                <c:pt idx="0">
                  <c:v>0.32</c:v>
                </c:pt>
                <c:pt idx="1">
                  <c:v>0.352</c:v>
                </c:pt>
                <c:pt idx="2">
                  <c:v>0.307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g3fb85ea8d0b_0_24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g3fb85ea8d0b_0_24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[0:00] Talk structure: hypothesis → measurements (spend time here) → data &amp; controls → three experiments → two discoveries → demo → achievements → close.</a:t>
            </a:r>
            <a:endParaRPr/>
          </a:p>
        </p:txBody>
      </p:sp>
      <p:sp>
        <p:nvSpPr>
          <p:cNvPr id="15" name="Google Shape;15;g3fb85ea8d0b_0_24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fb85ea8d0b_0_28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g3fb85ea8d0b_0_28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hypothesis is deliberately falsifiable: a linear map can rotate, scale and shear — it cannot compute new features or memorize exceptions. If it works, the structure was already there.</a:t>
            </a:r>
            <a:endParaRPr/>
          </a:p>
        </p:txBody>
      </p:sp>
      <p:sp>
        <p:nvSpPr>
          <p:cNvPr id="34" name="Google Shape;34;g3fb85ea8d0b_0_28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0:30 – 1:00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PRH proposes that learned representations increasingly agree about the structure of the world, including across modalities. I narrowed this to testable questions: are relationships shared before fitting a map, can a simple fitted map recover them on held-out items, and can a downstream component reuse the result? Compute, memory and project time favored smaller pretrained encoders, cached embeddings and closed-form maps. The report specifies Google Colab with a T4 sufficient for the original A/B sequence. Cached vectors let later linear solves run on CPU. That makes controlled experiments feasible on modest hardware. It also matches the deployment goal: a phone should not need the server encoder. This is evidence about a subset of PRH, not proof of a universal representation.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Huh et al., ICML 2024; Final Project Report §§1–3, 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1" name="Google Shape;5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b85ea8d0b_0_2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g3fb85ea8d0b_0_2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parameter is a learned coefficient inside the pretrained model. Vector width is the number of coordinates output for one item. They are different counts. The DINO hub features concatenate a CLS token with the mean of patch tokens, doubling native token width. CLS summarizes an image and patch tokens describe its parts. Self-supervision uses targets constructed from views of the data, rather than human class labels. ConvNeXt uses ImageNet-22k class supervision. MobileCLIP and SigLIP use image-text pairs. These training types describe stages; the later ridge fit itself uses known pair correspondences.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Atlas pp. 1, 4, 6, 9 | Report E.10 | Official model cards</a:t>
            </a:r>
            <a:endParaRPr/>
          </a:p>
          <a:p>
            <a:pPr indent="0" lvl="0" marL="0" rtl="0" algn="l">
              <a:spcBef>
                <a:spcPts val="0"/>
              </a:spcBef>
              <a:spcAft>
                <a:spcPts val="0"/>
              </a:spcAft>
              <a:buNone/>
            </a:pPr>
            <a:r>
              <a:rPr lang="en-US" sz="1200"/>
              <a:t>Primary document: Project_Atlas(5).pdf. Companion report references identify supporting details or protocol corrections.</a:t>
            </a:r>
            <a:endParaRPr/>
          </a:p>
        </p:txBody>
      </p:sp>
      <p:sp>
        <p:nvSpPr>
          <p:cNvPr id="63" name="Google Shape;63;g3fb85ea8d0b_0_2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b85ea8d0b_0_2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fb85ea8d0b_0_2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model creators’ pretraining corpora differ from the project’s fitting data. WikiText-103 contains Wikipedia passages. COCO provides photographs with human captions. The project extracts frozen vectors and fits transformations on its training rows. B tests one real caption per query. Hub text anchors average five caption embeddings for the same image. This is different from averaging patch tokens within one image, and no image vectors from different images are averaged together. Fit preprocessing using training rows only. The larger teacher-target experiments contain 39999 rows with a 37999/2000 split.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Atlas pp. 3–6, 10–11 | Report §§3–4 and E.10–E.15</a:t>
            </a:r>
            <a:endParaRPr/>
          </a:p>
          <a:p>
            <a:pPr indent="0" lvl="0" marL="0" rtl="0" algn="l">
              <a:spcBef>
                <a:spcPts val="0"/>
              </a:spcBef>
              <a:spcAft>
                <a:spcPts val="0"/>
              </a:spcAft>
              <a:buNone/>
            </a:pPr>
            <a:r>
              <a:rPr lang="en-US" sz="1200"/>
              <a:t>Primary document: Project_Atlas(5).pdf. Companion report references identify supporting details or protocol corrections.</a:t>
            </a:r>
            <a:endParaRPr/>
          </a:p>
        </p:txBody>
      </p:sp>
      <p:sp>
        <p:nvSpPr>
          <p:cNvPr id="72" name="Google Shape;72;g3fb85ea8d0b_0_2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 – 1:45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modality is the kind of input, such as pixels or text. An objective is the learning task, such as next-token prediction or matching image-caption pairs. An encoder maps an input to a vector. Those numbers are coordinates in that encoder’s representation space. Structure means relationships among many items: which cats are near which dogs, and which are far from airplanes. Two encoders can preserve some relationships while using different coordinates. We therefore compare relational geometry or fit a map. Raw vectors from unrelated encoders are not directly comparable, and cosine is undefined when their dimensions differ.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Supplied cat–dog illustration; model cards; Project Atlas §1</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81" name="Google Shape;8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b85ea8d0b_0_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b85ea8d0b_0_13: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fb85ea8d0b_0_13: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12:15 – 13:00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single similarity number cannot answer every scientific question. Cosine compares two vector directions within a compatible space. Spearman compares the ordering of distances computed separately inside two spaces. Neighborhood overlap asks whether the same nearby items appear in both lists. CKA compares centered similarity structures across a set of items. Ridge and Procrustes instead test what kind of fitted mapping succeeds. For a cat on a chair, agreement may mean another cat is nearby in both spaces even if its numeric coordinates differ. This motivates separating no-map geometry evidence from trained-map retrieval evidence and separating local agreement from global metric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Similarity_Methods_Master_Table.pdf; Report C.13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03" name="Google Shape;10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1:45 – 2:45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WikiText-103 contains English Wikipedia passages. COCO supplies everyday photographs with human-written captions. The pretrained networks learned from their creators’ corpora. My datasets are used to extract representations and fit or evaluate mappings; I did not pretrain those encoders. Experiment A uses WikiText-103 passages. Experiment B uses COCO val2017 with one caption per image. The hub uses aligned COCO image rows with five caption embeddings averaged into one text anchor. All transforms must be fitted using training rows only. Closed-form ridge is still supervised fitting, even though it has no gradient loop. Distillation follow-ups train a separate head on teacher targets. They do not modify the pretrained backbone unless the gated unfreezing experiment is run.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C.9, E.10, E.15; Results Summary, cached vectors and splits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13" name="Google Shape;11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2:45 – 3:45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Experiment A compares GPT-2, about 124 million parameters, and Pythia-160M. Both predict the next token, but they come from different model families and pretraining corpora. Each passage goes through both frozen models. Masked mean pooling yields one 768-dimensional vector per layer. A random-weight Pythia control keeps the architecture and input while removing learned weights. CKA asks whether the relational patterns agree; ridge stitching asks how much target variance a linear map predicts on held-out passages. Shared objective and overlapping real-world knowledge remain part of the scope; different labs do not prove that all pretraining content was disjoint.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GPT-2 and Pythia model provenance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23" name="Google Shape;12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b85ea8d0b_0_6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fb85ea8d0b_0_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fb85ea8d0b_0_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57" name="Google Shape;15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5:00 – 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engineering system solves a concrete compatibility problem. The phone produces a 512-dimensional MobileCLIP image vector; the server search space uses 768-dimensional SigLIP 2 vectors. I fit one matrix on paired embeddings of the same training images, normalize its output, and index those adapted vectors alongside native SigLIP image vectors. Text queries use the native SigLIP text encoder. The adapter therefore translates image vectors between encoders. The overall search crosses modalities, but the fitted bridge itself is image-to-image. Only a compact adapter joins the phone model. Native encoders remain frozen.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MobileCLIP-S1 and SigLIP 2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70" name="Google Shape;17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85ea8d0b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fb85ea8d0b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93" name="Google Shape;193;g3fb85ea8d0b_0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b85ea8d0b_0_1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fb85ea8d0b_0_1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Honest scope: this is a qualitative demo on 9 vectors. The quantitative claim is B3's Recall@K on 1,000 held-out images.</a:t>
            </a:r>
            <a:endParaRPr/>
          </a:p>
        </p:txBody>
      </p:sp>
      <p:sp>
        <p:nvSpPr>
          <p:cNvPr id="201" name="Google Shape;201;g3fb85ea8d0b_0_1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6:00 – 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Recall at K is the fraction of queries for which the correct image appears in the first K results. The linear adapter reaches 0.557 at one, 0.843 at five, and 0.918 at ten. The native SigLIP comparison is 0.630, 0.885 and 0.944. Dividing gives 88.4, 95.3 and 97.2 percent retention. Thus the results-grid use case is stronger than the exact top-one use case. The top-one gate of ninety percent retention was missed. The raw no-adapter condition remains at chance. The numeric vector fit has R squared 0.592 and cosine 0.900; these measure different aspects and are not contradictory.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Tables 4–5; 1,000 candidates, one-caption query protocol</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20" name="Google Shape;2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b85ea8d0b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3fb85ea8d0b_0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33" name="Google Shape;233;g3fb85ea8d0b_0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b85ea8d0b_0_2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b85ea8d0b_0_26: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fb85ea8d0b_0_26: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b85ea8d0b_0_18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fb85ea8d0b_0_18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[18:15] The headline discovery. 'Same world' means same LOCAL arrangement of meaning. The map-projection metaphor is the takeaway line.</a:t>
            </a:r>
            <a:endParaRPr/>
          </a:p>
        </p:txBody>
      </p:sp>
      <p:sp>
        <p:nvSpPr>
          <p:cNvPr id="247" name="Google Shape;247;g3fb85ea8d0b_0_18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7:15 – 8:00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package contains 512 times 768 coefficients. At two bytes per coefficient, that is 786432 bytes, about 0.79 decimal megabytes, plus minor packaging overhead. Its computation is a matrix multiplication and normalization. The small vision encoder still has a real inference cost; the map does not make that free. The reported prototype supports local indexing while sending embeddings rather than raw photos to the shared system. I do not treat embeddings as a privacy guarantee. The demo reports 39 milliseconds for its path and a simulated network comparison, not a controlled phone battery benchmark. MLP controls found no meaningful gain; that supports this design choice without proving every possible nonlinear model would fail.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§§4.4–4.6; Results Summary, F1–F5; Apple MobileCLIP repository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62" name="Google Shape;26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8:45 – 10:00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second engineering system creates a common 512-dimensional coordinate system. First collect embeddings for the same fitting items. The later protocol audit specifies one scalar rescaling per space, followed by concatenation, PCA truncation, and whitening of retained directions. This corrects earlier shorthand that implied independent z-scoring of every column. The published four-space hub concatenates three DINO encoders and bge for 5376 dimensions. The intermediate five-space version adds GPT-2; seven spaces also add BERT and SBERT. A member helps define the hub basis. An encoder added later can simply receive an entry map. These are different operations.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E.14; published 4-space, intermediate 5-space, extended 7-space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75" name="Google Shape;27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10:00 – 11:15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There are three distinct fitted components. Hub construction defines H. Each entry map learns X_k W_k approximately H. Then the caption head learns from H_small, which is DINO-small’s predicted hub coordinates, to actual bge caption embeddings. H and H_small have the same coordinate frame but need not have identical values. During a query, run only the selected encoder, its entry map and the output head. A cat image produces a predicted bge vector and cosine ranking retrieves a caption. The caption head was trained on DINO-small’s route; its usefulness through another route is an empirical transfer result. The hub is not divided into encoder-specific compartments.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Frozen_Hub_Caption_Transfer_Corrected.pdf</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86" name="Google Shape;28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11:15 – 12:15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held-out encoder did not define the hub or train the caption head. For ConvNeXt, fit one entry map from its training-item embeddings to the existing H, then reuse the frozen head. The reported published retention is 96.7 percent of a head fitted for ConvNeXt itself. This is not 96.7 percent retrieval accuracy. SigLIP retains 94.2 percent and supplies a separate lineage test. ConvNeXt changes architecture and supervision regime, although the broader objective and corpus factors remain confounded. Zero-shot refers to the head transfer, not to zero data for fitting the new entry map. The rebuilt protocol gives different levels and stays separate.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Hub Scores Summary, published column; Report E.2 and G0-exact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03" name="Google Shape;30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13:00 – 14:15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principal geometry result. CKNNA restricts a centered alignment calculation to mutual nearest-neighbor relationships. Across the seven-encoder comparisons, all twenty-one unordered pairs score higher locally than at the global limit. The supplied figure also compares this literature metric with the project’s neighborhood measure, giving a Spearman pair-ranking correlation of 0.81. That correlation measures agreement between the two diagnostics, not direct encoder alignment. I avoid using the descending overlap-to-chance curve as the proof, because its maximum already shrinks with neighborhood size. The evidence supports shared local relations on these samples. It does not establish one universal globally identical manifold.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C.13.8–C.13.10; supplied CKNNA.png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15" name="Google Shape;31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14:15 – 15:00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Readable means a fitted map can extract useful information from a source space. Writable means prediction into the target space supports the intended ranking. GPT-2 reaches 95.1 percent in the source diagnostic but only 24.8 percent as a target. These are normalized diagnostic scores, not accuracy. Its average pair cosine is near 0.999, so very small differences determine rankings. bge and SBERT work much better as targets under the reported protocol. The full-rank GPT-2 whitening experiment improves retrieval, but hub PCA whitening is a different operation. The comparison is an explanation of the directional failure, not a claim that GPT-2 can never support retrieval.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C.13.3–C.13.4, C.11; supplied read/write diagnostics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26" name="Google Shape;32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b85ea8d0b_0_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b85ea8d0b_0_95: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fb85ea8d0b_0_95: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b85ea8d0b_0_10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fb85ea8d0b_0_10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[15:45] A discovery, not a planned result. The rescue number (102.6% of a billion-pair model, for free) is the memorable one. Centering-alone is the control that isolates isotropy.</a:t>
            </a:r>
            <a:endParaRPr/>
          </a:p>
        </p:txBody>
      </p:sp>
      <p:sp>
        <p:nvSpPr>
          <p:cNvPr id="345" name="Google Shape;345;g3fb85ea8d0b_0_10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b85ea8d0b_0_11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fb85ea8d0b_0_1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[17:00] DEMO 2. Show G2: image or caption in, ranked results out, through the shared hub. The random-map control (0.003) and ConvNeXt held-out (96.7%) are the two numbers to say aloud.</a:t>
            </a:r>
            <a:endParaRPr/>
          </a:p>
        </p:txBody>
      </p:sp>
      <p:sp>
        <p:nvSpPr>
          <p:cNvPr id="358" name="Google Shape;358;g3fb85ea8d0b_0_1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b85ea8d0b_0_1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fb85ea8d0b_0_13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[19:00] The causal hint: what you train FOR matters more than what you train ON or which sense you use. bge-SBERT (shared objective, no ancestry) is the cleanest evidence.</a:t>
            </a:r>
            <a:endParaRPr/>
          </a:p>
        </p:txBody>
      </p:sp>
      <p:sp>
        <p:nvSpPr>
          <p:cNvPr id="370" name="Google Shape;370;g3fb85ea8d0b_0_1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b85ea8d0b_0_15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3fb85ea8d0b_0_15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[19:30] Land the achievements and the honesty in one breath. The falsification ledger, including my own errors, is the scientific-integrity signature of the project.</a:t>
            </a:r>
            <a:endParaRPr/>
          </a:p>
        </p:txBody>
      </p:sp>
      <p:sp>
        <p:nvSpPr>
          <p:cNvPr id="387" name="Google Shape;387;g3fb85ea8d0b_0_15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fb85ea8d0b_0_17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fb85ea8d0b_0_17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[20:00] Close. The one-paragraph summary is the sentence to leave them with. To-do slide doubles as the answer to 'what about big models?' — conceded and prioritised.</a:t>
            </a:r>
            <a:endParaRPr/>
          </a:p>
        </p:txBody>
      </p:sp>
      <p:sp>
        <p:nvSpPr>
          <p:cNvPr id="403" name="Google Shape;403;g3fb85ea8d0b_0_17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fb85ea8d0b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fb85ea8d0b_0_90: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fb85ea8d0b_0_90: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15:00 – 16:00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early small/base/large fitted-retrieval ladder improved. The later no-map geometry test asks a different question and extends to DINO giant and Qwen four billion. The best cross-modal Spearman values rise and then fall in both plotted ladders. DINO large has 0.418 and giant 0.339. Qwen 0.6B has 0.352 and Qwen 4B 0.307. These are best-pair statistics, so the counterpart can change. The findings reject the tested monotonic predictions at this scale, not the entire PRH. Giant’s fitted transfer score is inconclusive because the entry fit has only 2.8 rows per dimension. More paired data comes before interpreting that ratio.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Table C12s; supplied scale_ladder_rho.png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21" name="Google Shape;42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16:00 – 17:15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Each control tests a specific alternative explanation. First, removing the adapter lowers verification AUC from 0.999 to 0.477. In the same G4 lineage run, fitted-map retrieval R@1 is 0.557 versus 0.003 for a random entry map, near the 0.001 chance rate. The seven-space score of 0.451 belongs to another run, so it is not paired with G4’s 0.003 here. Second, use matched averages: full-matrix CKA 0.359 versus 0.067, and mean stitching R squared 0.737 versus 0.173. At layer eleven alone, the comparison is 0.797 versus 0.090. Third, shuffling E1 correspondence changes R squared from 0.511 to minus 0.130, a gap of 0.641. Fourth, the native reference uses the same task and rows. Finally, ConvNeXt and SigLIP test head transfer beyond the construction family. ConvNeXt’s 96.7 percent sits slightly above the 93.8–96.5 percent ViT band in that run, but this is not a statistical claim that convolution is superior.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C.9, C.13.2, D.2, E.2; Results Summary(3)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32" name="Google Shape;432;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17:15 – 17:45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Several negative results matter as much as the headline wins. Too few fitting rows initially understated language-model stitching. A nonlinear adapter did not improve the measured task meaningfully. The top-one retrieval gate remained missed. The hub-width cliff initially looked like a scientific limit; follow-up experiments traced it to an unstable near-null direction in the caption-head fit, and truncation or stronger head regularization repaired it. Finally, ratio metrics and shrinking chance-normalized bounds can mislead. I retain the direct measurements and narrow the claims: finite nonlinear controls cannot prove exact linearity, and a smaller normalization denominator does not establish conservative performance.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C.13.9, E.8, E.13–E.17</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42" name="Google Shape;442;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17:45 – 19:00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priority is enough data for the larger encoders, with fixed image identities, valid splits, matched pooling, correct checkpoint metadata and stable regularization. The proposed 35133-item corpus, if four thousand are held out, leaves 31133 fitting items: roughly ten rows per dimension for DINO giant. It is a proposal, not completed evidence. Second, measure larger-model transfer and raw geometry independently and test more than one large family. Third, directly compare a selected set of small experts with a large encoder at matched latency, memory, energy and task quality. Device measurements and broader domains are necessary before claiming general deployment superiority.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E.13–E.16; Project Atlas next tests; proposed validation plan</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51" name="Google Shape;451;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19:00 – 20:00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science shows recoverable representational structure in specific independently developed models and strong evidence that agreement is local in the tested encoder set. It also finds limits: global equivalence is not established, bigger models do not uniformly improve raw alignment, and diagnostics depend on geometry and statistical power. The first engineering achievement is a compact mobile-to-server adapter with measured retrieval and Core ML export. The second is a common hub with reusable heads and one-map extensions to held-out encoders. The next claim to earn is efficiency against one large model under matched hardware and task conditions. The appendix contains the experiment inventory, models, formulas and sources.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§§3–5, C.13, E.2, E.16; sources and full inventory follow</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61" name="Google Shape;461;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b85ea8d0b_0_22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3fb85ea8d0b_0_22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[19:45] Land the three pillars. The 'supported scope' caveat is the honest boundary. Close on 'Thank you'.</a:t>
            </a:r>
            <a:endParaRPr/>
          </a:p>
        </p:txBody>
      </p:sp>
      <p:sp>
        <p:nvSpPr>
          <p:cNvPr id="474" name="Google Shape;474;g3fb85ea8d0b_0_22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Parameter counts are approximate and checkpoint-dependent. Stored feature dimensions describe this project. SBERT here is all-mpnet-base-v2, not a generic NLI-only BERT model. Its official card describes contrastive fine-tuning on over one billion pairs with mixed sources. Qwen maximum widths are 1024 and 2560, with configurable truncation. BERT used BooksCorpus and English Wikipedia, and SBERT all-mpnet uses mixed sentence-pair corpora after MPNet pretraining. The project uses dense bge vectors; bge itself has several retrieval objectives. These networks arrive pretrained and remain frozen in the main experiments.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Status Report; official model cards linked in resources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93" name="Google Shape;49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approximate model sizes as context, not to infer inference speed. MobileCLIP size is image tower only; combined image-text models have additional parameters. The DINO feature widths double native token width by concatenating CLS and mean patch tokens. DINO small/base/large share family ancestry and distillation history, so the cross-lineage SigLIP and cross-architecture ConvNeXt tests are important. DINOv2 pretraining uses LVD-142M images. SigLIP 2 uses WebLI image-text data, and MobileCLIP uses reinforced image-text training data. SigLIP 2 uses a richer recipe than a single contrastive label; refer to its model card.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official DINOv2, MobileCLIP, SigLIP 2 model 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02" name="Google Shape;502;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Self-supervision manufactures targets from the data, such as masked tokens or another crop. Pair supervision uses a known association such as image and caption. Supervised fitting includes ridge when corresponding targets are provided. Unsupervised here means the fitting procedure receives no item pairing, for example the Gromov-Wasserstein recovery condition. PCA estimates variance directions without labels. Whitening rescales retained directions. These terms describe a particular training stage and should not be used as an all-or-nothing label for a whole pipeline.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E.10–E.14; official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11" name="Google Shape;511;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 metric is interchangeable with another. R squared can be negative and includes magnitude errors. Cosine depends on compatible coordinate spaces and can saturate in anisotropic data. Spearman ignores distance magnitudes and retains only ordering. CKA is not invariant to arbitrary invertible transformations, and dimensionality can affect its null. CKNNA targets mutual local neighborhoods. The exact definition and null depend on the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Similarity Methods Master Table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20" name="Google Shape;52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Chance depends on the number of candidates. Verification, per-query ranking and global membership thresholding are different tasks, so their scores must not be merged. Native retention is a ratio of empirical performances rather than an accuracy or a strict ceiling. The five-rows-per-dimension floor is a project heuristic, not a universal theorem. A small bootstrap interval on dependent pair data needs a clustering scheme appropriate to the experimental units.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D.2, E.5, E.13–E.16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29" name="Google Shape;529;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reported inventory, not a claim of independently rerunning the notebooks. Stage labels drift between versions: B6 names a live demo in the report, while the status document groups B6–B10 as quantization tiers. The table retains both descriptions and does not invent unsupported stage-to-stage mappings.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and D; Status Report, B6–B10</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38" name="Google Shape;53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E1 started with eight thousand pairs before the matched-size caches grew. F-series run-specific cosine levels differ between documents, so the main talk emphasizes no measured nonlinear gain and keeps each run’s reference intact. F5 reports improvement over the shipped map but not a clean universal pass of the top-one gate. F3/F4 remain gated and unrun, preserving frozen-backbone claims.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C.9–C.12; Results Summary; Status Report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47" name="Google Shape;54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G1 asks about composition through a hub compared with direct maps. G3 uses bespoke pair-specific hubs as the reference, so its retention is a different metric. G4 includes cross-lineage and cross-architecture extensions. G7 and K3 concern the effect of projection on local agreement, not whether every item neighborhood survives unchanged.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E.1–E.6; Results Summary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56" name="Google Shape;55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diagnostic sequence is part of the contribution. Several plausible explanations failed. The eventual mechanism localized instability to the caption head’s nearly null singular direction. Results after repair must be compared under the same protocol. K3’s small number of underlying encoders limits the generality of its bootstrap bound.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E.3–E.8; Results Summary addenda</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65" name="Google Shape;565;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Larger encoders have already been examined, but some adapter tests are underpowered. Treating all of this as future work would conceal the negative raw-geometry result; treating a degenerate 100% ratio as success would overstate the evidence. Qwen and bge differ in family and training recipe, so their comparison is not a pure controlled parameter-count experiment. A higher-dimensional concat can be rank deficient and still permit truncated PCA; the concern is estimation quality and sufficient data, not mathematical impossibility of any hub.</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Project Atlas next tests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74" name="Google Shape;574;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 is a matrix of learned coefficients, separate from the encoder’s pretrained weights. With row vectors, x has d input coordinates and xW has p output coordinates. Ridge learns W from paired input and target rows, with alpha controlling regularization. An intercept or centering step must match the implementation. Procrustes restricts the map to an orthogonal alignment; general ridge can also rescale directions. The singular value decomposition describes a linear map through orthogonal transforms and directional scaling. PCA and SVD are decompositions, not neural encoders. The two numerical fit scores below come from Experiment B, and the gap supports the need for a fuller linear alignment in that setting.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Linear Maps Ridge and SVD Study Guide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83" name="Google Shape;583;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Matrices use row-vector convention. H is a reference learned from the paired training set. X_k is the feature matrix supplied to the entry pipeline; preprocessing and intercept details must match the notebook. Scalar balancing is separate from whitening the retained joint PCA directions. Ridge is supervised fitting, even though the solve is closed form.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E.14; Frozen Hub Caption Transfer Corrected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95" name="Google Shape;595;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are material distinctions, not cosmetic edits. Some uploaded illustrations describe older five-space constructions while the reproduced published transfer protocol uses four. Several source summaries overstate exact linearity and conservation of ratios. This deck keeps the measurements and corrects those interpretations. It also corrects generic NLI-only SBERT wording to the actual all-mpnet checkpoint. Underpowered fits are not guaranteed to make normalized scores conservative because numerator and denominator can both move.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E.14–E.17; Results Summary; Status Report; official SBERT card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608" name="Google Shape;608;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links supply the theoretical and model background. The project reports remain the source for the experimental numbers. The original notebooks and trained artifacts were not rerun or audited during creation of this deck. Full URLs are retained in these notes for convenient access.</a:t>
            </a:r>
            <a:endParaRPr/>
          </a:p>
          <a:p>
            <a:pPr indent="0" lvl="0" marL="0" rtl="0" algn="l">
              <a:spcBef>
                <a:spcPts val="0"/>
              </a:spcBef>
              <a:spcAft>
                <a:spcPts val="0"/>
              </a:spcAft>
              <a:buNone/>
            </a:pPr>
            <a:r>
              <a:rPr lang="en-US" sz="1200"/>
              <a:t>Qwen 0.6B: https://huggingface.co/Qwen/Qwen3-Embedding-0.6B</a:t>
            </a:r>
            <a:endParaRPr/>
          </a:p>
          <a:p>
            <a:pPr indent="0" lvl="0" marL="0" rtl="0" algn="l">
              <a:spcBef>
                <a:spcPts val="0"/>
              </a:spcBef>
              <a:spcAft>
                <a:spcPts val="0"/>
              </a:spcAft>
              <a:buNone/>
            </a:pPr>
            <a:r>
              <a:rPr lang="en-US" sz="1200"/>
              <a:t>Qwen 4B: https://huggingface.co/Qwen/Qwen3-Embedding-4B</a:t>
            </a:r>
            <a:endParaRPr/>
          </a:p>
          <a:p>
            <a:pPr indent="0" lvl="0" marL="0" rtl="0" algn="l">
              <a:spcBef>
                <a:spcPts val="0"/>
              </a:spcBef>
              <a:spcAft>
                <a:spcPts val="0"/>
              </a:spcAft>
              <a:buNone/>
            </a:pPr>
            <a:r>
              <a:rPr lang="en-US" sz="1200"/>
              <a:t>PRH: https://proceedings.mlr.press/v235/huh24a.html</a:t>
            </a:r>
            <a:endParaRPr/>
          </a:p>
          <a:p>
            <a:pPr indent="0" lvl="0" marL="0" rtl="0" algn="l">
              <a:spcBef>
                <a:spcPts val="0"/>
              </a:spcBef>
              <a:spcAft>
                <a:spcPts val="0"/>
              </a:spcAft>
              <a:buNone/>
            </a:pPr>
            <a:r>
              <a:rPr lang="en-US" sz="1200"/>
              <a:t>CKA: https://proceedings.mlr.press/v97/kornblith19a.html</a:t>
            </a:r>
            <a:endParaRPr/>
          </a:p>
          <a:p>
            <a:pPr indent="0" lvl="0" marL="0" rtl="0" algn="l">
              <a:spcBef>
                <a:spcPts val="0"/>
              </a:spcBef>
              <a:spcAft>
                <a:spcPts val="0"/>
              </a:spcAft>
              <a:buNone/>
            </a:pPr>
            <a:r>
              <a:rPr lang="en-US" sz="1200"/>
              <a:t>COCO: https://cocodataset.org/</a:t>
            </a:r>
            <a:endParaRPr/>
          </a:p>
          <a:p>
            <a:pPr indent="0" lvl="0" marL="0" rtl="0" algn="l">
              <a:spcBef>
                <a:spcPts val="0"/>
              </a:spcBef>
              <a:spcAft>
                <a:spcPts val="0"/>
              </a:spcAft>
              <a:buNone/>
            </a:pPr>
            <a:r>
              <a:rPr lang="en-US" sz="1200"/>
              <a:t>WikiText: https://huggingface.co/datasets/Salesforce/wikitext</a:t>
            </a:r>
            <a:endParaRPr/>
          </a:p>
          <a:p>
            <a:pPr indent="0" lvl="0" marL="0" rtl="0" algn="l">
              <a:spcBef>
                <a:spcPts val="0"/>
              </a:spcBef>
              <a:spcAft>
                <a:spcPts val="0"/>
              </a:spcAft>
              <a:buNone/>
            </a:pPr>
            <a:r>
              <a:rPr lang="en-US" sz="1200"/>
              <a:t>MobileCLIP: https://github.com/apple-aiml-research/ml-mobileclip</a:t>
            </a:r>
            <a:endParaRPr/>
          </a:p>
          <a:p>
            <a:pPr indent="0" lvl="0" marL="0" rtl="0" algn="l">
              <a:spcBef>
                <a:spcPts val="0"/>
              </a:spcBef>
              <a:spcAft>
                <a:spcPts val="0"/>
              </a:spcAft>
              <a:buNone/>
            </a:pPr>
            <a:r>
              <a:rPr lang="en-US" sz="1200"/>
              <a:t>DINOv2: https://github.com/facebookresearch/dinov2</a:t>
            </a:r>
            <a:endParaRPr/>
          </a:p>
          <a:p>
            <a:pPr indent="0" lvl="0" marL="0" rtl="0" algn="l">
              <a:spcBef>
                <a:spcPts val="0"/>
              </a:spcBef>
              <a:spcAft>
                <a:spcPts val="0"/>
              </a:spcAft>
              <a:buNone/>
            </a:pPr>
            <a:r>
              <a:rPr lang="en-US" sz="1200"/>
              <a:t>Pythia: https://huggingface.co/EleutherAI/pythia-160m</a:t>
            </a:r>
            <a:endParaRPr/>
          </a:p>
          <a:p>
            <a:pPr indent="0" lvl="0" marL="0" rtl="0" algn="l">
              <a:spcBef>
                <a:spcPts val="0"/>
              </a:spcBef>
              <a:spcAft>
                <a:spcPts val="0"/>
              </a:spcAft>
              <a:buNone/>
            </a:pPr>
            <a:r>
              <a:rPr lang="en-US" sz="1200"/>
              <a:t>SigLIP 2: https://huggingface.co/google/siglip2-base-patch16-224</a:t>
            </a:r>
            <a:endParaRPr/>
          </a:p>
          <a:p>
            <a:pPr indent="0" lvl="0" marL="0" rtl="0" algn="l">
              <a:spcBef>
                <a:spcPts val="0"/>
              </a:spcBef>
              <a:spcAft>
                <a:spcPts val="0"/>
              </a:spcAft>
              <a:buNone/>
            </a:pPr>
            <a:r>
              <a:rPr lang="en-US" sz="1200"/>
              <a:t>bge: https://huggingface.co/BAAI/bge-m3</a:t>
            </a:r>
            <a:endParaRPr/>
          </a:p>
          <a:p>
            <a:pPr indent="0" lvl="0" marL="0" rtl="0" algn="l">
              <a:spcBef>
                <a:spcPts val="0"/>
              </a:spcBef>
              <a:spcAft>
                <a:spcPts val="0"/>
              </a:spcAft>
              <a:buNone/>
            </a:pPr>
            <a:r>
              <a:rPr lang="en-US" sz="1200"/>
              <a:t>SBERT: https://huggingface.co/sentence-transformers/all-mpnet-base-v2</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Primary papers, official repositories and supplied project artifacts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617" name="Google Shape;617;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olab.research.google.com/drive/1345-4KuiPsoQWFU74CHrS2OxOV4AV8im?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hyperlink" Target="https://drive.google.com/drive/folders/15xBpKE-DW8e60dXhq3n5KLSs7kHSFj0_" TargetMode="External"/><Relationship Id="rId5" Type="http://schemas.openxmlformats.org/officeDocument/2006/relationships/hyperlink" Target="https://drive.google.com/drive/folders/15xBpKE-DW8e60dXhq3n5KLSs7kHSFj0_"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chart" Target="../charts/chart4.xml"/><Relationship Id="rId4"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 name="Shape 16"/>
        <p:cNvGrpSpPr/>
        <p:nvPr/>
      </p:nvGrpSpPr>
      <p:grpSpPr>
        <a:xfrm>
          <a:off x="0" y="0"/>
          <a:ext cx="0" cy="0"/>
          <a:chOff x="0" y="0"/>
          <a:chExt cx="0" cy="0"/>
        </a:xfrm>
      </p:grpSpPr>
      <p:sp>
        <p:nvSpPr>
          <p:cNvPr id="17" name="Google Shape;17;g3fb85ea8d0b_0_247"/>
          <p:cNvSpPr txBox="1"/>
          <p:nvPr/>
        </p:nvSpPr>
        <p:spPr>
          <a:xfrm>
            <a:off x="731520" y="1188720"/>
            <a:ext cx="10698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SHARED REPRESENTATIONS, PRACTICAL ADAPTERS</a:t>
            </a:r>
            <a:endParaRPr b="0" i="0" sz="1300" u="none" cap="none" strike="noStrike">
              <a:solidFill>
                <a:schemeClr val="dk1"/>
              </a:solidFill>
              <a:latin typeface="Calibri"/>
              <a:ea typeface="Calibri"/>
              <a:cs typeface="Calibri"/>
              <a:sym typeface="Calibri"/>
            </a:endParaRPr>
          </a:p>
        </p:txBody>
      </p:sp>
      <p:sp>
        <p:nvSpPr>
          <p:cNvPr id="18" name="Google Shape;18;g3fb85ea8d0b_0_247"/>
          <p:cNvSpPr txBox="1"/>
          <p:nvPr/>
        </p:nvSpPr>
        <p:spPr>
          <a:xfrm>
            <a:off x="731520" y="1627632"/>
            <a:ext cx="106986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A bounded test of the Platonic Representation Hypothesis —</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and two engineering implementations</a:t>
            </a:r>
            <a:endParaRPr b="0" i="0" sz="3200" u="none" cap="none" strike="noStrike">
              <a:solidFill>
                <a:schemeClr val="dk1"/>
              </a:solidFill>
              <a:latin typeface="Calibri"/>
              <a:ea typeface="Calibri"/>
              <a:cs typeface="Calibri"/>
              <a:sym typeface="Calibri"/>
            </a:endParaRPr>
          </a:p>
        </p:txBody>
      </p:sp>
      <p:sp>
        <p:nvSpPr>
          <p:cNvPr id="19" name="Google Shape;19;g3fb85ea8d0b_0_247"/>
          <p:cNvSpPr txBox="1"/>
          <p:nvPr/>
        </p:nvSpPr>
        <p:spPr>
          <a:xfrm>
            <a:off x="731520" y="3246120"/>
            <a:ext cx="10515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Do independently trained models discover the same world, and can one matrix move knowledge between them?</a:t>
            </a:r>
            <a:endParaRPr b="0" i="0" sz="1600" u="none" cap="none" strike="noStrike">
              <a:solidFill>
                <a:schemeClr val="dk1"/>
              </a:solidFill>
              <a:latin typeface="Calibri"/>
              <a:ea typeface="Calibri"/>
              <a:cs typeface="Calibri"/>
              <a:sym typeface="Calibri"/>
            </a:endParaRPr>
          </a:p>
        </p:txBody>
      </p:sp>
      <p:sp>
        <p:nvSpPr>
          <p:cNvPr id="20" name="Google Shape;20;g3fb85ea8d0b_0_247"/>
          <p:cNvSpPr/>
          <p:nvPr/>
        </p:nvSpPr>
        <p:spPr>
          <a:xfrm>
            <a:off x="461772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fb85ea8d0b_0_247"/>
          <p:cNvSpPr txBox="1"/>
          <p:nvPr/>
        </p:nvSpPr>
        <p:spPr>
          <a:xfrm>
            <a:off x="461772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Experiment A</a:t>
            </a:r>
            <a:endParaRPr b="0" i="0" sz="1200" u="none" cap="none" strike="noStrike">
              <a:solidFill>
                <a:schemeClr val="dk1"/>
              </a:solidFill>
              <a:latin typeface="Calibri"/>
              <a:ea typeface="Calibri"/>
              <a:cs typeface="Calibri"/>
              <a:sym typeface="Calibri"/>
            </a:endParaRPr>
          </a:p>
        </p:txBody>
      </p:sp>
      <p:sp>
        <p:nvSpPr>
          <p:cNvPr id="22" name="Google Shape;22;g3fb85ea8d0b_0_247"/>
          <p:cNvSpPr txBox="1"/>
          <p:nvPr/>
        </p:nvSpPr>
        <p:spPr>
          <a:xfrm>
            <a:off x="461772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Layer-by-layer convergence: GPT-2 → Pythia</a:t>
            </a:r>
            <a:endParaRPr b="0" i="0" sz="950" u="none" cap="none" strike="noStrike">
              <a:solidFill>
                <a:schemeClr val="dk1"/>
              </a:solidFill>
              <a:latin typeface="Calibri"/>
              <a:ea typeface="Calibri"/>
              <a:cs typeface="Calibri"/>
              <a:sym typeface="Calibri"/>
            </a:endParaRPr>
          </a:p>
        </p:txBody>
      </p:sp>
      <p:sp>
        <p:nvSpPr>
          <p:cNvPr id="23" name="Google Shape;23;g3fb85ea8d0b_0_247"/>
          <p:cNvSpPr/>
          <p:nvPr/>
        </p:nvSpPr>
        <p:spPr>
          <a:xfrm>
            <a:off x="681228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3fb85ea8d0b_0_247"/>
          <p:cNvSpPr txBox="1"/>
          <p:nvPr/>
        </p:nvSpPr>
        <p:spPr>
          <a:xfrm>
            <a:off x="681228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Experiment B</a:t>
            </a:r>
            <a:endParaRPr b="0" i="0" sz="1200" u="none" cap="none" strike="noStrike">
              <a:solidFill>
                <a:schemeClr val="dk1"/>
              </a:solidFill>
              <a:latin typeface="Calibri"/>
              <a:ea typeface="Calibri"/>
              <a:cs typeface="Calibri"/>
              <a:sym typeface="Calibri"/>
            </a:endParaRPr>
          </a:p>
        </p:txBody>
      </p:sp>
      <p:sp>
        <p:nvSpPr>
          <p:cNvPr id="25" name="Google Shape;25;g3fb85ea8d0b_0_247"/>
          <p:cNvSpPr txBox="1"/>
          <p:nvPr/>
        </p:nvSpPr>
        <p:spPr>
          <a:xfrm>
            <a:off x="681228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Phone→server adapter: 0.79 MB, 95.3% of native</a:t>
            </a:r>
            <a:endParaRPr b="0" i="0" sz="950" u="none" cap="none" strike="noStrike">
              <a:solidFill>
                <a:schemeClr val="dk1"/>
              </a:solidFill>
              <a:latin typeface="Calibri"/>
              <a:ea typeface="Calibri"/>
              <a:cs typeface="Calibri"/>
              <a:sym typeface="Calibri"/>
            </a:endParaRPr>
          </a:p>
        </p:txBody>
      </p:sp>
      <p:sp>
        <p:nvSpPr>
          <p:cNvPr id="26" name="Google Shape;26;g3fb85ea8d0b_0_247"/>
          <p:cNvSpPr/>
          <p:nvPr/>
        </p:nvSpPr>
        <p:spPr>
          <a:xfrm>
            <a:off x="900684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fb85ea8d0b_0_247"/>
          <p:cNvSpPr txBox="1"/>
          <p:nvPr/>
        </p:nvSpPr>
        <p:spPr>
          <a:xfrm>
            <a:off x="900684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Shared hub</a:t>
            </a:r>
            <a:endParaRPr b="0" i="0" sz="1200" u="none" cap="none" strike="noStrike">
              <a:solidFill>
                <a:schemeClr val="dk1"/>
              </a:solidFill>
              <a:latin typeface="Calibri"/>
              <a:ea typeface="Calibri"/>
              <a:cs typeface="Calibri"/>
              <a:sym typeface="Calibri"/>
            </a:endParaRPr>
          </a:p>
        </p:txBody>
      </p:sp>
      <p:sp>
        <p:nvSpPr>
          <p:cNvPr id="28" name="Google Shape;28;g3fb85ea8d0b_0_247"/>
          <p:cNvSpPr txBox="1"/>
          <p:nvPr/>
        </p:nvSpPr>
        <p:spPr>
          <a:xfrm>
            <a:off x="900684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Seven encoders, one space, one frozen head</a:t>
            </a:r>
            <a:endParaRPr b="0" i="0" sz="950" u="none" cap="none" strike="noStrike">
              <a:solidFill>
                <a:schemeClr val="dk1"/>
              </a:solidFill>
              <a:latin typeface="Calibri"/>
              <a:ea typeface="Calibri"/>
              <a:cs typeface="Calibri"/>
              <a:sym typeface="Calibri"/>
            </a:endParaRPr>
          </a:p>
        </p:txBody>
      </p:sp>
      <p:sp>
        <p:nvSpPr>
          <p:cNvPr id="29" name="Google Shape;29;g3fb85ea8d0b_0_247"/>
          <p:cNvSpPr txBox="1"/>
          <p:nvPr/>
        </p:nvSpPr>
        <p:spPr>
          <a:xfrm>
            <a:off x="731520" y="5394960"/>
            <a:ext cx="1069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Liad Kashanovsky · AI Expert final project · 20-minute defense · 17 September 2026</a:t>
            </a:r>
            <a:endParaRPr b="0" i="0" sz="1200" u="none" cap="none" strike="noStrike">
              <a:solidFill>
                <a:schemeClr val="dk1"/>
              </a:solidFill>
              <a:latin typeface="Calibri"/>
              <a:ea typeface="Calibri"/>
              <a:cs typeface="Calibri"/>
              <a:sym typeface="Calibri"/>
            </a:endParaRPr>
          </a:p>
        </p:txBody>
      </p:sp>
      <p:sp>
        <p:nvSpPr>
          <p:cNvPr id="30" name="Google Shape;30;g3fb85ea8d0b_0_247"/>
          <p:cNvSpPr txBox="1"/>
          <p:nvPr/>
        </p:nvSpPr>
        <p:spPr>
          <a:xfrm>
            <a:off x="731520" y="5760720"/>
            <a:ext cx="1069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0" i="1" lang="en-US" sz="1100" u="none" cap="none" strike="noStrike">
                <a:solidFill>
                  <a:srgbClr val="CADCFC"/>
                </a:solidFill>
                <a:latin typeface="Calibri"/>
                <a:ea typeface="Calibri"/>
                <a:cs typeface="Calibri"/>
                <a:sym typeface="Calibri"/>
              </a:rPr>
              <a:t>8 encoders · 9 findings · 11 falsified explanations · 2 shipped systems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g3fb85ea8d0b_0_287"/>
          <p:cNvSpPr/>
          <p:nvPr/>
        </p:nvSpPr>
        <p:spPr>
          <a:xfrm>
            <a:off x="640080" y="310896"/>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MOTIVATION</a:t>
            </a:r>
            <a:endParaRPr b="0" i="0" sz="1200" u="none" cap="none" strike="noStrike">
              <a:solidFill>
                <a:schemeClr val="dk1"/>
              </a:solidFill>
              <a:latin typeface="Calibri"/>
              <a:ea typeface="Calibri"/>
              <a:cs typeface="Calibri"/>
              <a:sym typeface="Calibri"/>
            </a:endParaRPr>
          </a:p>
        </p:txBody>
      </p:sp>
      <p:sp>
        <p:nvSpPr>
          <p:cNvPr id="37" name="Google Shape;37;g3fb85ea8d0b_0_287"/>
          <p:cNvSpPr/>
          <p:nvPr/>
        </p:nvSpPr>
        <p:spPr>
          <a:xfrm>
            <a:off x="640080" y="566928"/>
            <a:ext cx="10881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3000"/>
              <a:buFont typeface="Cambria"/>
              <a:buNone/>
            </a:pPr>
            <a:r>
              <a:rPr b="1" i="0" lang="en-US" sz="3000" u="none" cap="none" strike="noStrike">
                <a:solidFill>
                  <a:srgbClr val="16232E"/>
                </a:solidFill>
                <a:latin typeface="Cambria"/>
                <a:ea typeface="Cambria"/>
                <a:cs typeface="Cambria"/>
                <a:sym typeface="Cambria"/>
              </a:rPr>
              <a:t>The question, and why the obvious answer fails</a:t>
            </a:r>
            <a:endParaRPr b="0" i="0" sz="3000" u="none" cap="none" strike="noStrike">
              <a:solidFill>
                <a:schemeClr val="dk1"/>
              </a:solidFill>
              <a:latin typeface="Calibri"/>
              <a:ea typeface="Calibri"/>
              <a:cs typeface="Calibri"/>
              <a:sym typeface="Calibri"/>
            </a:endParaRPr>
          </a:p>
        </p:txBody>
      </p:sp>
      <p:sp>
        <p:nvSpPr>
          <p:cNvPr id="38" name="Google Shape;38;g3fb85ea8d0b_0_287"/>
          <p:cNvSpPr/>
          <p:nvPr/>
        </p:nvSpPr>
        <p:spPr>
          <a:xfrm>
            <a:off x="640080" y="1371600"/>
            <a:ext cx="5394900" cy="1920300"/>
          </a:xfrm>
          <a:prstGeom prst="roundRect">
            <a:avLst>
              <a:gd fmla="val 2857" name="adj"/>
            </a:avLst>
          </a:prstGeom>
          <a:solidFill>
            <a:srgbClr val="F4F7F9"/>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fb85ea8d0b_0_287"/>
          <p:cNvSpPr/>
          <p:nvPr/>
        </p:nvSpPr>
        <p:spPr>
          <a:xfrm>
            <a:off x="914400" y="1572768"/>
            <a:ext cx="4846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1500"/>
              <a:buFont typeface="Calibri"/>
              <a:buNone/>
            </a:pPr>
            <a:r>
              <a:rPr b="1" i="0" lang="en-US" sz="1500" u="none" cap="none" strike="noStrike">
                <a:solidFill>
                  <a:srgbClr val="16232E"/>
                </a:solidFill>
                <a:latin typeface="Calibri"/>
                <a:ea typeface="Calibri"/>
                <a:cs typeface="Calibri"/>
                <a:sym typeface="Calibri"/>
              </a:rPr>
              <a:t>Can layers from different models be assembled without training?</a:t>
            </a:r>
            <a:endParaRPr b="0" i="0" sz="1500" u="none" cap="none" strike="noStrike">
              <a:solidFill>
                <a:schemeClr val="dk1"/>
              </a:solidFill>
              <a:latin typeface="Calibri"/>
              <a:ea typeface="Calibri"/>
              <a:cs typeface="Calibri"/>
              <a:sym typeface="Calibri"/>
            </a:endParaRPr>
          </a:p>
        </p:txBody>
      </p:sp>
      <p:sp>
        <p:nvSpPr>
          <p:cNvPr id="40" name="Google Shape;40;g3fb85ea8d0b_0_287"/>
          <p:cNvSpPr/>
          <p:nvPr/>
        </p:nvSpPr>
        <p:spPr>
          <a:xfrm>
            <a:off x="914400" y="2148840"/>
            <a:ext cx="4846200" cy="10059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6B78"/>
              </a:buClr>
              <a:buSzPts val="1300"/>
              <a:buFont typeface="Calibri"/>
              <a:buChar char="•"/>
            </a:pPr>
            <a:r>
              <a:rPr b="0" i="0" lang="en-US" sz="1300" u="none" cap="none" strike="noStrike">
                <a:solidFill>
                  <a:srgbClr val="5A6B78"/>
                </a:solidFill>
                <a:latin typeface="Calibri"/>
                <a:ea typeface="Calibri"/>
                <a:cs typeface="Calibri"/>
                <a:sym typeface="Calibri"/>
              </a:rPr>
              <a:t>Weight merging works only within one lineage (SLERP, TIES, DARE).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B78"/>
              </a:buClr>
              <a:buSzPts val="1300"/>
              <a:buFont typeface="Calibri"/>
              <a:buChar char="•"/>
            </a:pPr>
            <a:r>
              <a:rPr b="0" i="0" lang="en-US" sz="1300" u="none" cap="none" strike="noStrike">
                <a:solidFill>
                  <a:srgbClr val="5A6B78"/>
                </a:solidFill>
                <a:latin typeface="Calibri"/>
                <a:ea typeface="Calibri"/>
                <a:cs typeface="Calibri"/>
                <a:sym typeface="Calibri"/>
              </a:rPr>
              <a:t>Cross-architecture transplants fail — permutation symmetry.</a:t>
            </a:r>
            <a:endParaRPr b="0" i="0" sz="1300" u="none" cap="none" strike="noStrike">
              <a:solidFill>
                <a:schemeClr val="dk1"/>
              </a:solidFill>
              <a:latin typeface="Calibri"/>
              <a:ea typeface="Calibri"/>
              <a:cs typeface="Calibri"/>
              <a:sym typeface="Calibri"/>
            </a:endParaRPr>
          </a:p>
        </p:txBody>
      </p:sp>
      <p:sp>
        <p:nvSpPr>
          <p:cNvPr id="41" name="Google Shape;41;g3fb85ea8d0b_0_287"/>
          <p:cNvSpPr/>
          <p:nvPr/>
        </p:nvSpPr>
        <p:spPr>
          <a:xfrm>
            <a:off x="6309360" y="1371600"/>
            <a:ext cx="5212200" cy="1920300"/>
          </a:xfrm>
          <a:prstGeom prst="roundRect">
            <a:avLst>
              <a:gd fmla="val 2857" name="adj"/>
            </a:avLst>
          </a:prstGeom>
          <a:solidFill>
            <a:srgbClr val="EAF2F7"/>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fb85ea8d0b_0_287"/>
          <p:cNvSpPr/>
          <p:nvPr/>
        </p:nvSpPr>
        <p:spPr>
          <a:xfrm>
            <a:off x="6583680" y="1572768"/>
            <a:ext cx="4663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0"/>
              <a:buFont typeface="Calibri"/>
              <a:buNone/>
            </a:pPr>
            <a:r>
              <a:rPr b="1" i="0" lang="en-US" sz="1500" u="none" cap="none" strike="noStrike">
                <a:solidFill>
                  <a:srgbClr val="065A82"/>
                </a:solidFill>
                <a:latin typeface="Calibri"/>
                <a:ea typeface="Calibri"/>
                <a:cs typeface="Calibri"/>
                <a:sym typeface="Calibri"/>
              </a:rPr>
              <a:t>But representations may still converge</a:t>
            </a:r>
            <a:endParaRPr b="0" i="0" sz="1500" u="none" cap="none" strike="noStrike">
              <a:solidFill>
                <a:schemeClr val="dk1"/>
              </a:solidFill>
              <a:latin typeface="Calibri"/>
              <a:ea typeface="Calibri"/>
              <a:cs typeface="Calibri"/>
              <a:sym typeface="Calibri"/>
            </a:endParaRPr>
          </a:p>
        </p:txBody>
      </p:sp>
      <p:sp>
        <p:nvSpPr>
          <p:cNvPr id="43" name="Google Shape;43;g3fb85ea8d0b_0_287"/>
          <p:cNvSpPr/>
          <p:nvPr/>
        </p:nvSpPr>
        <p:spPr>
          <a:xfrm>
            <a:off x="6583680" y="2011680"/>
            <a:ext cx="4663500" cy="10974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A6B78"/>
              </a:buClr>
              <a:buSzPts val="1300"/>
              <a:buFont typeface="Calibri"/>
              <a:buNone/>
            </a:pPr>
            <a:r>
              <a:rPr b="0" i="0" lang="en-US" sz="1300" u="none" cap="none" strike="noStrike">
                <a:solidFill>
                  <a:srgbClr val="5A6B78"/>
                </a:solidFill>
                <a:latin typeface="Calibri"/>
                <a:ea typeface="Calibri"/>
                <a:cs typeface="Calibri"/>
                <a:sym typeface="Calibri"/>
              </a:rPr>
              <a:t>Same content, different coordinate systems.</a:t>
            </a:r>
            <a:endParaRPr b="0" i="0" sz="1300" u="none" cap="none" strike="noStrike">
              <a:solidFill>
                <a:schemeClr val="dk1"/>
              </a:solidFill>
              <a:latin typeface="Calibri"/>
              <a:ea typeface="Calibri"/>
              <a:cs typeface="Calibri"/>
              <a:sym typeface="Calibri"/>
            </a:endParaRPr>
          </a:p>
          <a:p>
            <a:pPr indent="0" lvl="0" marL="0" marR="0" rtl="0" algn="l">
              <a:lnSpc>
                <a:spcPct val="138461"/>
              </a:lnSpc>
              <a:spcBef>
                <a:spcPts val="0"/>
              </a:spcBef>
              <a:spcAft>
                <a:spcPts val="0"/>
              </a:spcAft>
              <a:buClr>
                <a:srgbClr val="5A6B78"/>
              </a:buClr>
              <a:buSzPts val="1300"/>
              <a:buFont typeface="Calibri"/>
              <a:buNone/>
            </a:pPr>
            <a:r>
              <a:rPr b="0" i="0" lang="en-US" sz="1300" u="none" cap="none" strike="noStrike">
                <a:solidFill>
                  <a:srgbClr val="5A6B78"/>
                </a:solidFill>
                <a:latin typeface="Calibri"/>
                <a:ea typeface="Calibri"/>
                <a:cs typeface="Calibri"/>
                <a:sym typeface="Calibri"/>
              </a:rPr>
              <a:t>Git Re-Basin · CKA studies · Platonic Representation Hypothesis · vec2vec</a:t>
            </a:r>
            <a:endParaRPr b="0" i="0" sz="1300" u="none" cap="none" strike="noStrike">
              <a:solidFill>
                <a:schemeClr val="dk1"/>
              </a:solidFill>
              <a:latin typeface="Calibri"/>
              <a:ea typeface="Calibri"/>
              <a:cs typeface="Calibri"/>
              <a:sym typeface="Calibri"/>
            </a:endParaRPr>
          </a:p>
        </p:txBody>
      </p:sp>
      <p:sp>
        <p:nvSpPr>
          <p:cNvPr id="44" name="Google Shape;44;g3fb85ea8d0b_0_287"/>
          <p:cNvSpPr/>
          <p:nvPr/>
        </p:nvSpPr>
        <p:spPr>
          <a:xfrm>
            <a:off x="640080" y="3611880"/>
            <a:ext cx="10881300" cy="1143000"/>
          </a:xfrm>
          <a:prstGeom prst="roundRect">
            <a:avLst>
              <a:gd fmla="val 480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fb85ea8d0b_0_287"/>
          <p:cNvSpPr/>
          <p:nvPr/>
        </p:nvSpPr>
        <p:spPr>
          <a:xfrm>
            <a:off x="960120" y="3794760"/>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B8CC"/>
              </a:buClr>
              <a:buSzPts val="1100"/>
              <a:buFont typeface="Calibri"/>
              <a:buNone/>
            </a:pPr>
            <a:r>
              <a:rPr b="0" i="0" lang="en-US" sz="1100" u="none" cap="none" strike="noStrike">
                <a:solidFill>
                  <a:srgbClr val="9DB8CC"/>
                </a:solidFill>
                <a:latin typeface="Calibri"/>
                <a:ea typeface="Calibri"/>
                <a:cs typeface="Calibri"/>
                <a:sym typeface="Calibri"/>
              </a:rPr>
              <a:t>HYPOTHESIS</a:t>
            </a:r>
            <a:endParaRPr b="0" i="0" sz="1100" u="none" cap="none" strike="noStrike">
              <a:solidFill>
                <a:schemeClr val="dk1"/>
              </a:solidFill>
              <a:latin typeface="Calibri"/>
              <a:ea typeface="Calibri"/>
              <a:cs typeface="Calibri"/>
              <a:sym typeface="Calibri"/>
            </a:endParaRPr>
          </a:p>
        </p:txBody>
      </p:sp>
      <p:sp>
        <p:nvSpPr>
          <p:cNvPr id="46" name="Google Shape;46;g3fb85ea8d0b_0_287"/>
          <p:cNvSpPr/>
          <p:nvPr/>
        </p:nvSpPr>
        <p:spPr>
          <a:xfrm>
            <a:off x="960120" y="4069080"/>
            <a:ext cx="10241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Well-trained independent models share representations up to a linear transformation.</a:t>
            </a:r>
            <a:endParaRPr b="0" i="0" sz="1900" u="none" cap="none" strike="noStrike">
              <a:solidFill>
                <a:schemeClr val="dk1"/>
              </a:solidFill>
              <a:latin typeface="Calibri"/>
              <a:ea typeface="Calibri"/>
              <a:cs typeface="Calibri"/>
              <a:sym typeface="Calibri"/>
            </a:endParaRPr>
          </a:p>
        </p:txBody>
      </p:sp>
      <p:sp>
        <p:nvSpPr>
          <p:cNvPr id="47" name="Google Shape;47;g3fb85ea8d0b_0_287"/>
          <p:cNvSpPr/>
          <p:nvPr/>
        </p:nvSpPr>
        <p:spPr>
          <a:xfrm>
            <a:off x="640080" y="4983480"/>
            <a:ext cx="10881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Every word load-bearing:   well-trained → needs a random-weights control   ·   independent → no shared lineage   ·   up to linear → strong enough to undo rotations, too weak to invent information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Research question and practical constraints</a:t>
            </a:r>
            <a:endParaRPr/>
          </a:p>
        </p:txBody>
      </p:sp>
      <p:sp>
        <p:nvSpPr>
          <p:cNvPr id="54" name="Google Shape;54;p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Huh et al., ICML 2024; Final Project Report §§1–3, E.16</a:t>
            </a:r>
            <a:endParaRPr/>
          </a:p>
        </p:txBody>
      </p:sp>
      <p:sp>
        <p:nvSpPr>
          <p:cNvPr id="55" name="Google Shape;55;p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a:t>
            </a:r>
            <a:endParaRPr/>
          </a:p>
        </p:txBody>
      </p:sp>
      <p:sp>
        <p:nvSpPr>
          <p:cNvPr id="56" name="Google Shape;56;p2"/>
          <p:cNvSpPr/>
          <p:nvPr/>
        </p:nvSpPr>
        <p:spPr>
          <a:xfrm>
            <a:off x="571500" y="1571625"/>
            <a:ext cx="11049000" cy="53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Scientific scope: shared relations and useful linear mappings on held-out items.</a:t>
            </a:r>
            <a:endParaRPr/>
          </a:p>
        </p:txBody>
      </p:sp>
      <p:sp>
        <p:nvSpPr>
          <p:cNvPr id="57" name="Google Shape;57;p2"/>
          <p:cNvSpPr/>
          <p:nvPr/>
        </p:nvSpPr>
        <p:spPr>
          <a:xfrm>
            <a:off x="571500" y="25755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Practical constraint: limited compute and device memory favor frozen, smaller encoders.</a:t>
            </a:r>
            <a:endParaRPr/>
          </a:p>
        </p:txBody>
      </p:sp>
      <p:sp>
        <p:nvSpPr>
          <p:cNvPr id="58" name="Google Shape;58;p2"/>
          <p:cNvSpPr/>
          <p:nvPr/>
        </p:nvSpPr>
        <p:spPr>
          <a:xfrm>
            <a:off x="571500" y="3291463"/>
            <a:ext cx="11620500" cy="109530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SzPts val="1100"/>
              <a:buNone/>
            </a:pPr>
            <a:r>
              <a:rPr lang="en-US" sz="2100">
                <a:solidFill>
                  <a:srgbClr val="142A45"/>
                </a:solidFill>
              </a:rPr>
              <a:t>Engineering -</a:t>
            </a:r>
            <a:r>
              <a:rPr lang="en-US" sz="2100">
                <a:solidFill>
                  <a:srgbClr val="142A45"/>
                </a:solidFill>
              </a:rPr>
              <a:t> From science to engineering: MobileCLIP → SigLIP: reuse SigLIP’s stronger search space while a constrained device runs only MobileCLIP and a compact linear adapter.</a:t>
            </a:r>
            <a:br>
              <a:rPr lang="en-US" sz="2100">
                <a:solidFill>
                  <a:srgbClr val="142A45"/>
                </a:solidFill>
              </a:rPr>
            </a:br>
            <a:r>
              <a:rPr lang="en-US" sz="2100">
                <a:solidFill>
                  <a:srgbClr val="142A45"/>
                </a:solidFill>
              </a:rPr>
              <a:t>The Hub: connect multiple image and text encoders through one shared coordinate system, allowing new encoders to reuse existing search heads after fitting only one lightweight entry map.</a:t>
            </a:r>
            <a:endParaRPr sz="2100">
              <a:solidFill>
                <a:srgbClr val="142A45"/>
              </a:solidFill>
            </a:endParaRPr>
          </a:p>
          <a:p>
            <a:pPr indent="0" lvl="0" marL="0" marR="381000" rtl="0" algn="l">
              <a:lnSpc>
                <a:spcPct val="115000"/>
              </a:lnSpc>
              <a:spcBef>
                <a:spcPts val="1200"/>
              </a:spcBef>
              <a:spcAft>
                <a:spcPts val="0"/>
              </a:spcAft>
              <a:buSzPts val="1100"/>
              <a:buNone/>
            </a:pPr>
            <a:r>
              <a:t/>
            </a:r>
            <a:endParaRPr sz="2100">
              <a:solidFill>
                <a:srgbClr val="142A45"/>
              </a:solidFill>
            </a:endParaRPr>
          </a:p>
          <a:p>
            <a:pPr indent="0" lvl="0" marL="0" marR="381000" rtl="0" algn="l">
              <a:lnSpc>
                <a:spcPct val="115000"/>
              </a:lnSpc>
              <a:spcBef>
                <a:spcPts val="1200"/>
              </a:spcBef>
              <a:spcAft>
                <a:spcPts val="0"/>
              </a:spcAft>
              <a:buSzPts val="1100"/>
              <a:buNone/>
            </a:pPr>
            <a:r>
              <a:t/>
            </a:r>
            <a:endParaRPr sz="2100">
              <a:solidFill>
                <a:srgbClr val="142A45"/>
              </a:solidFill>
            </a:endParaRPr>
          </a:p>
          <a:p>
            <a:pPr indent="0" lvl="0" marL="0" marR="381000" rtl="0" algn="l">
              <a:lnSpc>
                <a:spcPct val="115000"/>
              </a:lnSpc>
              <a:spcBef>
                <a:spcPts val="1200"/>
              </a:spcBef>
              <a:spcAft>
                <a:spcPts val="0"/>
              </a:spcAft>
              <a:buClr>
                <a:schemeClr val="dk1"/>
              </a:buClr>
              <a:buSzPts val="1100"/>
              <a:buFont typeface="Arial"/>
              <a:buNone/>
            </a:pPr>
            <a:r>
              <a:t/>
            </a:r>
            <a:endParaRPr sz="2100">
              <a:solidFill>
                <a:srgbClr val="142A45"/>
              </a:solidFill>
            </a:endParaRPr>
          </a:p>
          <a:p>
            <a:pPr indent="0" lvl="0" marL="0" marR="0" rtl="0" algn="l">
              <a:spcBef>
                <a:spcPts val="1200"/>
              </a:spcBef>
              <a:spcAft>
                <a:spcPts val="0"/>
              </a:spcAft>
              <a:buNone/>
            </a:pPr>
            <a:r>
              <a:t/>
            </a:r>
            <a:endParaRPr sz="2100">
              <a:solidFill>
                <a:srgbClr val="142A45"/>
              </a:solidFill>
            </a:endParaRPr>
          </a:p>
        </p:txBody>
      </p:sp>
      <p:sp>
        <p:nvSpPr>
          <p:cNvPr id="59" name="Google Shape;59;p2"/>
          <p:cNvSpPr/>
          <p:nvPr/>
        </p:nvSpPr>
        <p:spPr>
          <a:xfrm>
            <a:off x="571500" y="5574100"/>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Supported scope: selected models, datasets and metrics. Universal convergence remains open.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g3fb85ea8d0b_0_269"/>
          <p:cNvSpPr/>
          <p:nvPr/>
        </p:nvSpPr>
        <p:spPr>
          <a:xfrm>
            <a:off x="571500" y="342900"/>
            <a:ext cx="110490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42A45"/>
                </a:solidFill>
              </a:rPr>
              <a:t>V</a:t>
            </a:r>
            <a:r>
              <a:rPr b="1" lang="en-US" sz="3225">
                <a:solidFill>
                  <a:srgbClr val="142A45"/>
                </a:solidFill>
                <a:latin typeface="Arial"/>
                <a:ea typeface="Arial"/>
                <a:cs typeface="Arial"/>
                <a:sym typeface="Arial"/>
              </a:rPr>
              <a:t>ision models and feature pooling</a:t>
            </a:r>
            <a:endParaRPr/>
          </a:p>
        </p:txBody>
      </p:sp>
      <p:sp>
        <p:nvSpPr>
          <p:cNvPr id="66" name="Google Shape;66;g3fb85ea8d0b_0_269"/>
          <p:cNvSpPr/>
          <p:nvPr/>
        </p:nvSpPr>
        <p:spPr>
          <a:xfrm>
            <a:off x="571500" y="6438900"/>
            <a:ext cx="104775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Atlas pp. 1, 4, 6, 9 | Report E.10 | Official model cards</a:t>
            </a:r>
            <a:endParaRPr/>
          </a:p>
        </p:txBody>
      </p:sp>
      <p:sp>
        <p:nvSpPr>
          <p:cNvPr id="67" name="Google Shape;67;g3fb85ea8d0b_0_269"/>
          <p:cNvSpPr/>
          <p:nvPr/>
        </p:nvSpPr>
        <p:spPr>
          <a:xfrm>
            <a:off x="11287125" y="6438900"/>
            <a:ext cx="428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25</a:t>
            </a:r>
            <a:endParaRPr/>
          </a:p>
        </p:txBody>
      </p:sp>
      <p:graphicFrame>
        <p:nvGraphicFramePr>
          <p:cNvPr id="68" name="Google Shape;68;g3fb85ea8d0b_0_269"/>
          <p:cNvGraphicFramePr/>
          <p:nvPr/>
        </p:nvGraphicFramePr>
        <p:xfrm>
          <a:off x="571500" y="1524000"/>
          <a:ext cx="3000000" cy="3000000"/>
        </p:xfrm>
        <a:graphic>
          <a:graphicData uri="http://schemas.openxmlformats.org/drawingml/2006/table">
            <a:tbl>
              <a:tblPr>
                <a:noFill/>
                <a:tableStyleId>{DB1ED831-198E-408C-AA95-3881B1BFC759}</a:tableStyleId>
              </a:tblPr>
              <a:tblGrid>
                <a:gridCol w="2667000"/>
                <a:gridCol w="2047875"/>
                <a:gridCol w="2667000"/>
                <a:gridCol w="3667125"/>
              </a:tblGrid>
              <a:tr h="69057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Model</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Parameters ≈</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Project feature width</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Training signal</a:t>
                      </a:r>
                      <a:endParaRPr/>
                    </a:p>
                  </a:txBody>
                  <a:tcPr marT="76200" marB="76200" marR="95250" marL="95250" anchor="ctr">
                    <a:solidFill>
                      <a:srgbClr val="142A45"/>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MobileCLIP-S1</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21.5M vision</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Image-text pairs and distillation</a:t>
                      </a:r>
                      <a:endParaRPr/>
                    </a:p>
                  </a:txBody>
                  <a:tcPr marT="76200" marB="76200" marR="95250" marL="95250" anchor="ctr">
                    <a:solidFill>
                      <a:srgbClr val="F0F5F8"/>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SigLIP 2 base</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0.4B full model</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768</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Image-text sigmoid loss and auxiliary objectives</a:t>
                      </a:r>
                      <a:endParaRPr/>
                    </a:p>
                  </a:txBody>
                  <a:tcPr marT="76200" marB="76200" marR="95250" marL="95250" anchor="ctr">
                    <a:solidFill>
                      <a:srgbClr val="FFFFFF"/>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DINOv2 S / B / L</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22 / 87 / 304M</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768 / 1536 / 2048</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Self-supervised visual views, no caption loss</a:t>
                      </a:r>
                      <a:endParaRPr/>
                    </a:p>
                  </a:txBody>
                  <a:tcPr marT="76200" marB="76200" marR="95250" marL="95250" anchor="ctr">
                    <a:solidFill>
                      <a:srgbClr val="F0F5F8"/>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ConvNeXt-base</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89M</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1,024</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Supervised ImageNet-22k classes</a:t>
                      </a:r>
                      <a:endParaRPr/>
                    </a:p>
                  </a:txBody>
                  <a:tcPr marT="76200" marB="76200" marR="95250" marL="95250" anchor="ctr">
                    <a:solidFill>
                      <a:srgbClr val="FFFFFF"/>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DINOv2 giant</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1.14B</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3,072 CLS + patch</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Visual self-supervision, larger-scale follow-up</a:t>
                      </a:r>
                      <a:endParaRPr/>
                    </a:p>
                  </a:txBody>
                  <a:tcPr marT="76200" marB="76200" marR="95250" marL="95250" anchor="ctr">
                    <a:solidFill>
                      <a:srgbClr val="F0F5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g3fb85ea8d0b_0_277"/>
          <p:cNvSpPr/>
          <p:nvPr/>
        </p:nvSpPr>
        <p:spPr>
          <a:xfrm>
            <a:off x="571500" y="342900"/>
            <a:ext cx="110490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42A45"/>
                </a:solidFill>
              </a:rPr>
              <a:t>D</a:t>
            </a:r>
            <a:r>
              <a:rPr b="1" lang="en-US" sz="3225">
                <a:solidFill>
                  <a:srgbClr val="142A45"/>
                </a:solidFill>
                <a:latin typeface="Arial"/>
                <a:ea typeface="Arial"/>
                <a:cs typeface="Arial"/>
                <a:sym typeface="Arial"/>
              </a:rPr>
              <a:t>atasets and what was fitted</a:t>
            </a:r>
            <a:endParaRPr/>
          </a:p>
        </p:txBody>
      </p:sp>
      <p:sp>
        <p:nvSpPr>
          <p:cNvPr id="75" name="Google Shape;75;g3fb85ea8d0b_0_277"/>
          <p:cNvSpPr/>
          <p:nvPr/>
        </p:nvSpPr>
        <p:spPr>
          <a:xfrm>
            <a:off x="571500" y="6438900"/>
            <a:ext cx="104775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Atlas pp. 3–6, 10–11 | Report §§3–4 and E.10–E.15</a:t>
            </a:r>
            <a:endParaRPr/>
          </a:p>
        </p:txBody>
      </p:sp>
      <p:sp>
        <p:nvSpPr>
          <p:cNvPr id="76" name="Google Shape;76;g3fb85ea8d0b_0_277"/>
          <p:cNvSpPr/>
          <p:nvPr/>
        </p:nvSpPr>
        <p:spPr>
          <a:xfrm>
            <a:off x="11287125" y="6438900"/>
            <a:ext cx="428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26</a:t>
            </a:r>
            <a:endParaRPr/>
          </a:p>
        </p:txBody>
      </p:sp>
      <p:graphicFrame>
        <p:nvGraphicFramePr>
          <p:cNvPr id="77" name="Google Shape;77;g3fb85ea8d0b_0_277"/>
          <p:cNvGraphicFramePr/>
          <p:nvPr/>
        </p:nvGraphicFramePr>
        <p:xfrm>
          <a:off x="571500" y="1524000"/>
          <a:ext cx="3000000" cy="3000000"/>
        </p:xfrm>
        <a:graphic>
          <a:graphicData uri="http://schemas.openxmlformats.org/drawingml/2006/table">
            <a:tbl>
              <a:tblPr>
                <a:noFill/>
                <a:tableStyleId>{DB1ED831-198E-408C-AA95-3881B1BFC759}</a:tableStyleId>
              </a:tblPr>
              <a:tblGrid>
                <a:gridCol w="1666875"/>
                <a:gridCol w="3048000"/>
                <a:gridCol w="2762250"/>
                <a:gridCol w="3571875"/>
              </a:tblGrid>
              <a:tr h="6826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Study</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Data</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Fit / evaluation</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Learned here</a:t>
                      </a:r>
                      <a:endParaRPr/>
                    </a:p>
                  </a:txBody>
                  <a:tcPr marT="76200" marB="76200" marR="95250" marL="95250" anchor="ctr">
                    <a:solidFill>
                      <a:srgbClr val="142A45"/>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WikiText-103 passages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7,500 / 2,500</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Layer-wise ridge maps</a:t>
                      </a:r>
                      <a:endParaRPr/>
                    </a:p>
                  </a:txBody>
                  <a:tcPr marT="76200" marB="76200" marR="95250" marL="95250" anchor="ctr">
                    <a:solidFill>
                      <a:srgbClr val="F0F5F8"/>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B</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val2017</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3,000 / 1,000</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 × 768 adapter</a:t>
                      </a:r>
                      <a:endParaRPr/>
                    </a:p>
                  </a:txBody>
                  <a:tcPr marT="76200" marB="76200" marR="95250" marL="95250" anchor="ctr">
                    <a:solidFill>
                      <a:srgbClr val="FFFFFF"/>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Hub</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Aligned COCO train caches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8,533 / 1,000</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entry maps, caption head</a:t>
                      </a:r>
                      <a:endParaRPr/>
                    </a:p>
                  </a:txBody>
                  <a:tcPr marT="76200" marB="76200" marR="95250" marL="95250" anchor="ctr">
                    <a:solidFill>
                      <a:srgbClr val="F0F5F8"/>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F follow-up</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Teacher image vectors</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37,999 / 2,000</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and nonlinear MLP</a:t>
                      </a:r>
                      <a:endParaRPr/>
                    </a:p>
                  </a:txBody>
                  <a:tcPr marT="76200" marB="76200" marR="95250" marL="95250" anchor="ctr">
                    <a:solidFill>
                      <a:srgbClr val="FFFFFF"/>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 pair recovery</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1,500-item paired sets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Pairing hidden during fitting</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Unsupervised GW correspondence</a:t>
                      </a:r>
                      <a:endParaRPr/>
                    </a:p>
                  </a:txBody>
                  <a:tcPr marT="76200" marB="76200" marR="95250" marL="95250" anchor="ctr">
                    <a:solidFill>
                      <a:srgbClr val="F0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Modality, objective and representation space</a:t>
            </a:r>
            <a:endParaRPr/>
          </a:p>
        </p:txBody>
      </p:sp>
      <p:sp>
        <p:nvSpPr>
          <p:cNvPr id="84" name="Google Shape;84;p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Supplied cat–dog illustration; model cards; Project Atlas §1</a:t>
            </a:r>
            <a:endParaRPr/>
          </a:p>
        </p:txBody>
      </p:sp>
      <p:sp>
        <p:nvSpPr>
          <p:cNvPr id="85" name="Google Shape;85;p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a:t>
            </a:r>
            <a:endParaRPr/>
          </a:p>
        </p:txBody>
      </p:sp>
      <p:pic>
        <p:nvPicPr>
          <p:cNvPr id="86" name="Google Shape;86;p3"/>
          <p:cNvPicPr preferRelativeResize="0"/>
          <p:nvPr/>
        </p:nvPicPr>
        <p:blipFill rotWithShape="1">
          <a:blip r:embed="rId3">
            <a:alphaModFix/>
          </a:blip>
          <a:srcRect b="32000" l="0" r="0" t="0"/>
          <a:stretch/>
        </p:blipFill>
        <p:spPr>
          <a:xfrm>
            <a:off x="571500" y="1952625"/>
            <a:ext cx="6762750" cy="2590800"/>
          </a:xfrm>
          <a:prstGeom prst="rect">
            <a:avLst/>
          </a:prstGeom>
          <a:noFill/>
          <a:ln>
            <a:noFill/>
          </a:ln>
        </p:spPr>
      </p:pic>
      <p:sp>
        <p:nvSpPr>
          <p:cNvPr id="87" name="Google Shape;87;p3"/>
          <p:cNvSpPr/>
          <p:nvPr/>
        </p:nvSpPr>
        <p:spPr>
          <a:xfrm>
            <a:off x="571500" y="4953000"/>
            <a:ext cx="67627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87F83"/>
                </a:solidFill>
                <a:latin typeface="Arial"/>
                <a:ea typeface="Arial"/>
                <a:cs typeface="Arial"/>
                <a:sym typeface="Arial"/>
              </a:rPr>
              <a:t>Shared structure means similar relationships among items.</a:t>
            </a:r>
            <a:endParaRPr/>
          </a:p>
        </p:txBody>
      </p:sp>
      <p:sp>
        <p:nvSpPr>
          <p:cNvPr id="88" name="Google Shape;88;p3"/>
          <p:cNvSpPr/>
          <p:nvPr/>
        </p:nvSpPr>
        <p:spPr>
          <a:xfrm>
            <a:off x="7620000" y="16192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Modality = pixels or text</a:t>
            </a:r>
            <a:endParaRPr/>
          </a:p>
        </p:txBody>
      </p:sp>
      <p:sp>
        <p:nvSpPr>
          <p:cNvPr id="89" name="Google Shape;89;p3"/>
          <p:cNvSpPr/>
          <p:nvPr/>
        </p:nvSpPr>
        <p:spPr>
          <a:xfrm>
            <a:off x="7620000" y="24765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Objective = what training rewards</a:t>
            </a:r>
            <a:endParaRPr/>
          </a:p>
        </p:txBody>
      </p:sp>
      <p:sp>
        <p:nvSpPr>
          <p:cNvPr id="90" name="Google Shape;90;p3"/>
          <p:cNvSpPr/>
          <p:nvPr/>
        </p:nvSpPr>
        <p:spPr>
          <a:xfrm>
            <a:off x="7620000" y="33337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Embedding = numerical representation</a:t>
            </a:r>
            <a:endParaRPr/>
          </a:p>
        </p:txBody>
      </p:sp>
      <p:sp>
        <p:nvSpPr>
          <p:cNvPr id="91" name="Google Shape;91;p3"/>
          <p:cNvSpPr/>
          <p:nvPr/>
        </p:nvSpPr>
        <p:spPr>
          <a:xfrm>
            <a:off x="7620000" y="41910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Structure = relations among items</a:t>
            </a:r>
            <a:endParaRPr/>
          </a:p>
        </p:txBody>
      </p:sp>
      <p:sp>
        <p:nvSpPr>
          <p:cNvPr id="92" name="Google Shape;92;p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Cat–dog diagrams are explanatory schematics, not measured embeddings.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home/claude/deck/img/cave_allegory_seven.png" id="98" name="Google Shape;98;g3fb85ea8d0b_0_13"/>
          <p:cNvPicPr preferRelativeResize="0"/>
          <p:nvPr/>
        </p:nvPicPr>
        <p:blipFill rotWithShape="1">
          <a:blip r:embed="rId3">
            <a:alphaModFix/>
          </a:blip>
          <a:srcRect b="0" l="0" r="0" t="0"/>
          <a:stretch/>
        </p:blipFill>
        <p:spPr>
          <a:xfrm>
            <a:off x="0" y="1366450"/>
            <a:ext cx="12192000" cy="5634912"/>
          </a:xfrm>
          <a:prstGeom prst="rect">
            <a:avLst/>
          </a:prstGeom>
          <a:noFill/>
          <a:ln>
            <a:noFill/>
          </a:ln>
        </p:spPr>
      </p:pic>
      <p:sp>
        <p:nvSpPr>
          <p:cNvPr id="99" name="Google Shape;99;g3fb85ea8d0b_0_13"/>
          <p:cNvSpPr/>
          <p:nvPr/>
        </p:nvSpPr>
        <p:spPr>
          <a:xfrm>
            <a:off x="697400" y="239125"/>
            <a:ext cx="6489600" cy="952500"/>
          </a:xfrm>
          <a:prstGeom prst="roundRect">
            <a:avLst>
              <a:gd fmla="val 5000" name="adj"/>
            </a:avLst>
          </a:prstGeom>
          <a:solidFill>
            <a:srgbClr val="EEF3FF"/>
          </a:solidFill>
          <a:ln cap="flat" cmpd="sng" w="12700">
            <a:solidFill>
              <a:srgbClr val="D6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rgbClr val="1F2937"/>
                </a:solidFill>
                <a:latin typeface="Cambria"/>
                <a:ea typeface="Cambria"/>
                <a:cs typeface="Cambria"/>
                <a:sym typeface="Cambria"/>
              </a:rPr>
              <a:t>Models trained separately — different data, different objectives, sometimes different senses entirely — are said to be converging on the same underlying picture of the world. </a:t>
            </a:r>
            <a:r>
              <a:rPr b="1" lang="en-US" sz="1600">
                <a:solidFill>
                  <a:srgbClr val="1E2761"/>
                </a:solidFill>
                <a:latin typeface="Cambria"/>
                <a:ea typeface="Cambria"/>
                <a:cs typeface="Cambria"/>
                <a:sym typeface="Cambria"/>
              </a:rPr>
              <a:t>The name comes from Plato: there is one reality, and each model sees a shadow of it.</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Similarity has several meanings</a:t>
            </a:r>
            <a:endParaRPr/>
          </a:p>
        </p:txBody>
      </p:sp>
      <p:sp>
        <p:nvSpPr>
          <p:cNvPr id="106" name="Google Shape;106;p1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Similarity_Methods_Master_Table.pdf; Report C.13</a:t>
            </a:r>
            <a:endParaRPr/>
          </a:p>
        </p:txBody>
      </p:sp>
      <p:sp>
        <p:nvSpPr>
          <p:cNvPr id="107" name="Google Shape;107;p1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14</a:t>
            </a:r>
            <a:endParaRPr/>
          </a:p>
        </p:txBody>
      </p:sp>
      <p:graphicFrame>
        <p:nvGraphicFramePr>
          <p:cNvPr id="108" name="Google Shape;108;p14"/>
          <p:cNvGraphicFramePr/>
          <p:nvPr/>
        </p:nvGraphicFramePr>
        <p:xfrm>
          <a:off x="571500" y="1476375"/>
          <a:ext cx="3000000" cy="3000000"/>
        </p:xfrm>
        <a:graphic>
          <a:graphicData uri="http://schemas.openxmlformats.org/drawingml/2006/table">
            <a:tbl>
              <a:tblPr>
                <a:noFill/>
                <a:tableStyleId>{DB1ED831-198E-408C-AA95-3881B1BFC759}</a:tableStyleId>
              </a:tblPr>
              <a:tblGrid>
                <a:gridCol w="2571750"/>
                <a:gridCol w="6477000"/>
                <a:gridCol w="200025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Measurement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Cat–dog 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Map fitted?</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these compatible vectors point alike?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 or after mapping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Spearman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both spaces rank item distances alike?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k-NN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this cat have the same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CKA / CKNNA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similarity patterns agree globally / locally?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Ridge / Procrustes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a full linear map / rotation recover targets?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Yes</a:t>
                      </a:r>
                      <a:endParaRPr/>
                    </a:p>
                  </a:txBody>
                  <a:tcPr marT="85725" marB="85725" marR="95250" marL="95250" anchor="ctr">
                    <a:solidFill>
                      <a:srgbClr val="F1F5F8"/>
                    </a:solidFill>
                  </a:tcPr>
                </a:tc>
              </a:tr>
            </a:tbl>
          </a:graphicData>
        </a:graphic>
      </p:graphicFrame>
      <p:sp>
        <p:nvSpPr>
          <p:cNvPr id="109" name="Google Shape;109;p1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CKA = centered kernel alignment. CKNNA measures alignment of mutual-neighbor 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Data and what this project actually fits</a:t>
            </a:r>
            <a:endParaRPr/>
          </a:p>
        </p:txBody>
      </p:sp>
      <p:sp>
        <p:nvSpPr>
          <p:cNvPr id="116" name="Google Shape;116;p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C.9, E.10, E.15; Results Summary, cached vectors and splits</a:t>
            </a:r>
            <a:endParaRPr/>
          </a:p>
        </p:txBody>
      </p:sp>
      <p:sp>
        <p:nvSpPr>
          <p:cNvPr id="117" name="Google Shape;117;p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4</a:t>
            </a:r>
            <a:endParaRPr/>
          </a:p>
        </p:txBody>
      </p:sp>
      <p:graphicFrame>
        <p:nvGraphicFramePr>
          <p:cNvPr id="118" name="Google Shape;118;p4"/>
          <p:cNvGraphicFramePr/>
          <p:nvPr/>
        </p:nvGraphicFramePr>
        <p:xfrm>
          <a:off x="571500" y="1428750"/>
          <a:ext cx="3000000" cy="3000000"/>
        </p:xfrm>
        <a:graphic>
          <a:graphicData uri="http://schemas.openxmlformats.org/drawingml/2006/table">
            <a:tbl>
              <a:tblPr>
                <a:noFill/>
                <a:tableStyleId>{DB1ED831-198E-408C-AA95-3881B1BFC759}</a:tableStyleId>
              </a:tblPr>
              <a:tblGrid>
                <a:gridCol w="1095375"/>
                <a:gridCol w="2619375"/>
                <a:gridCol w="2952750"/>
                <a:gridCol w="4381500"/>
              </a:tblGrid>
              <a:tr h="762000">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Study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Data 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Fit / evaluation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Learned in this project</a:t>
                      </a:r>
                      <a:endParaRPr/>
                    </a:p>
                  </a:txBody>
                  <a:tcPr marT="85725" marB="85725" marR="95250" marL="95250" anchor="ctr">
                    <a:solidFill>
                      <a:srgbClr val="142A45"/>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WikiText-103: Wikipedia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7,500 / 2,500 passages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Layer-wise linear maps</a:t>
                      </a:r>
                      <a:endParaRPr/>
                    </a:p>
                  </a:txBody>
                  <a:tcPr marT="85725" marB="85725" marR="95250" marL="95250" anchor="ctr">
                    <a:solidFill>
                      <a:srgbClr val="F1F5F8"/>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val2017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3,000 / 1,000 images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 × 768 adapter</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F follow-up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Teacher image embeddings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37,999 / 2,000 rows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and separate MLP</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lang="en-US" sz="1725">
                          <a:solidFill>
                            <a:srgbClr val="142A45"/>
                          </a:solidFill>
                        </a:rPr>
                        <a:t>E-G </a:t>
                      </a:r>
                      <a:r>
                        <a:rPr b="0" lang="en-US" sz="1725">
                          <a:solidFill>
                            <a:srgbClr val="142A45"/>
                          </a:solidFill>
                          <a:latin typeface="Arial"/>
                          <a:ea typeface="Arial"/>
                          <a:cs typeface="Arial"/>
                          <a:sym typeface="Arial"/>
                        </a:rPr>
                        <a:t>Hub</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train2017 caches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8,533 / 1,000 items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entry maps, caption head</a:t>
                      </a:r>
                      <a:endParaRPr/>
                    </a:p>
                  </a:txBody>
                  <a:tcPr marT="85725" marB="85725" marR="95250" marL="95250" anchor="ctr">
                    <a:solidFill>
                      <a:srgbClr val="F1F5F8"/>
                    </a:solidFill>
                  </a:tcPr>
                </a:tc>
              </a:tr>
            </a:tbl>
          </a:graphicData>
        </a:graphic>
      </p:graphicFrame>
      <p:sp>
        <p:nvSpPr>
          <p:cNvPr id="119" name="Google Shape;119;p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 uses one caption per image. Hub targets average five caption embeddings.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independent language models</a:t>
            </a:r>
            <a:endParaRPr/>
          </a:p>
        </p:txBody>
      </p:sp>
      <p:sp>
        <p:nvSpPr>
          <p:cNvPr id="126" name="Google Shape;126;p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GPT-2 and Pythia model provenance</a:t>
            </a:r>
            <a:endParaRPr/>
          </a:p>
        </p:txBody>
      </p:sp>
      <p:sp>
        <p:nvSpPr>
          <p:cNvPr id="127" name="Google Shape;127;p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5</a:t>
            </a:r>
            <a:endParaRPr/>
          </a:p>
        </p:txBody>
      </p:sp>
      <p:sp>
        <p:nvSpPr>
          <p:cNvPr id="128" name="Google Shape;128;p5"/>
          <p:cNvSpPr/>
          <p:nvPr/>
        </p:nvSpPr>
        <p:spPr>
          <a:xfrm>
            <a:off x="571500" y="1524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Same WikiText passage</a:t>
            </a:r>
            <a:endParaRPr/>
          </a:p>
        </p:txBody>
      </p:sp>
      <p:sp>
        <p:nvSpPr>
          <p:cNvPr id="129" name="Google Shape;129;p5"/>
          <p:cNvSpPr/>
          <p:nvPr/>
        </p:nvSpPr>
        <p:spPr>
          <a:xfrm>
            <a:off x="5715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GPT-2 · 124M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WebText</a:t>
            </a:r>
            <a:endParaRPr/>
          </a:p>
        </p:txBody>
      </p:sp>
      <p:sp>
        <p:nvSpPr>
          <p:cNvPr id="130" name="Google Shape;130;p5"/>
          <p:cNvSpPr/>
          <p:nvPr/>
        </p:nvSpPr>
        <p:spPr>
          <a:xfrm>
            <a:off x="428625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Pythia · 160M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The Pile</a:t>
            </a:r>
            <a:endParaRPr/>
          </a:p>
        </p:txBody>
      </p:sp>
      <p:sp>
        <p:nvSpPr>
          <p:cNvPr id="131" name="Google Shape;131;p5"/>
          <p:cNvSpPr/>
          <p:nvPr/>
        </p:nvSpPr>
        <p:spPr>
          <a:xfrm>
            <a:off x="80010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Random Pythia</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control</a:t>
            </a:r>
            <a:endParaRPr/>
          </a:p>
        </p:txBody>
      </p:sp>
      <p:cxnSp>
        <p:nvCxnSpPr>
          <p:cNvPr id="132" name="Google Shape;132;p5"/>
          <p:cNvCxnSpPr>
            <a:stCxn id="128" idx="2"/>
            <a:endCxn id="129" idx="0"/>
          </p:cNvCxnSpPr>
          <p:nvPr/>
        </p:nvCxnSpPr>
        <p:spPr>
          <a:xfrm>
            <a:off x="2000250" y="2333625"/>
            <a:ext cx="0" cy="714300"/>
          </a:xfrm>
          <a:prstGeom prst="straightConnector1">
            <a:avLst/>
          </a:prstGeom>
          <a:noFill/>
          <a:ln cap="flat" cmpd="sng" w="19050">
            <a:solidFill>
              <a:srgbClr val="087F83"/>
            </a:solidFill>
            <a:prstDash val="solid"/>
            <a:round/>
            <a:headEnd len="sm" w="sm" type="none"/>
            <a:tailEnd len="sm" w="sm" type="triangle"/>
          </a:ln>
        </p:spPr>
      </p:cxnSp>
      <p:cxnSp>
        <p:nvCxnSpPr>
          <p:cNvPr id="133" name="Google Shape;133;p5"/>
          <p:cNvCxnSpPr>
            <a:stCxn id="128" idx="2"/>
            <a:endCxn id="130" idx="0"/>
          </p:cNvCxnSpPr>
          <p:nvPr/>
        </p:nvCxnSpPr>
        <p:spPr>
          <a:xfrm flipH="1" rot="-5400000">
            <a:off x="3500550" y="833325"/>
            <a:ext cx="714300" cy="37149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cxnSp>
        <p:nvCxnSpPr>
          <p:cNvPr id="134" name="Google Shape;134;p5"/>
          <p:cNvCxnSpPr>
            <a:stCxn id="128" idx="2"/>
            <a:endCxn id="131" idx="0"/>
          </p:cNvCxnSpPr>
          <p:nvPr/>
        </p:nvCxnSpPr>
        <p:spPr>
          <a:xfrm flipH="1" rot="-5400000">
            <a:off x="5357850" y="-1023975"/>
            <a:ext cx="714300" cy="74295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sp>
        <p:nvSpPr>
          <p:cNvPr id="135" name="Google Shape;135;p5"/>
          <p:cNvSpPr/>
          <p:nvPr/>
        </p:nvSpPr>
        <p:spPr>
          <a:xfrm>
            <a:off x="571500" y="4333875"/>
            <a:ext cx="110490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087F83"/>
                </a:solidFill>
                <a:latin typeface="Arial"/>
                <a:ea typeface="Arial"/>
                <a:cs typeface="Arial"/>
                <a:sym typeface="Arial"/>
              </a:rPr>
              <a:t>13 states per model, each pooled to 768 coordinates</a:t>
            </a:r>
            <a:endParaRPr/>
          </a:p>
        </p:txBody>
      </p:sp>
      <p:sp>
        <p:nvSpPr>
          <p:cNvPr id="136" name="Google Shape;136;p5"/>
          <p:cNvSpPr/>
          <p:nvPr/>
        </p:nvSpPr>
        <p:spPr>
          <a:xfrm>
            <a:off x="571500" y="5143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CKA (centered kernel alignment) compares relational structure. Ridge predicts coordinates.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g3fb85ea8d0b_0_61"/>
          <p:cNvSpPr txBox="1"/>
          <p:nvPr/>
        </p:nvSpPr>
        <p:spPr>
          <a:xfrm>
            <a:off x="11338560" y="6446520"/>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143" name="Google Shape;143;g3fb85ea8d0b_0_61"/>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EXPERIMENT A · TWO LANGUAGE MODELS</a:t>
            </a:r>
            <a:endParaRPr b="0" i="0" sz="1100" u="none" cap="none" strike="noStrike">
              <a:solidFill>
                <a:schemeClr val="dk1"/>
              </a:solidFill>
              <a:latin typeface="Calibri"/>
              <a:ea typeface="Calibri"/>
              <a:cs typeface="Calibri"/>
              <a:sym typeface="Calibri"/>
            </a:endParaRPr>
          </a:p>
        </p:txBody>
      </p:sp>
      <p:sp>
        <p:nvSpPr>
          <p:cNvPr id="144" name="Google Shape;144;g3fb85ea8d0b_0_61"/>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Do GPT-2 and Pythia-160M carry the same information, layer by layer?</a:t>
            </a:r>
            <a:endParaRPr b="0" i="0" sz="2700" u="none" cap="none" strike="noStrike">
              <a:solidFill>
                <a:schemeClr val="dk1"/>
              </a:solidFill>
              <a:latin typeface="Calibri"/>
              <a:ea typeface="Calibri"/>
              <a:cs typeface="Calibri"/>
              <a:sym typeface="Calibri"/>
            </a:endParaRPr>
          </a:p>
        </p:txBody>
      </p:sp>
      <p:pic>
        <p:nvPicPr>
          <p:cNvPr descr="/home/claude/deck/img/cka.png" id="145" name="Google Shape;145;g3fb85ea8d0b_0_61"/>
          <p:cNvPicPr preferRelativeResize="0"/>
          <p:nvPr/>
        </p:nvPicPr>
        <p:blipFill rotWithShape="1">
          <a:blip r:embed="rId3">
            <a:alphaModFix/>
          </a:blip>
          <a:srcRect b="0" l="0" r="0" t="0"/>
          <a:stretch/>
        </p:blipFill>
        <p:spPr>
          <a:xfrm>
            <a:off x="548640" y="1508760"/>
            <a:ext cx="3749040" cy="3108961"/>
          </a:xfrm>
          <a:prstGeom prst="rect">
            <a:avLst/>
          </a:prstGeom>
          <a:noFill/>
          <a:ln>
            <a:noFill/>
          </a:ln>
        </p:spPr>
      </p:pic>
      <p:pic>
        <p:nvPicPr>
          <p:cNvPr descr="/home/claude/deck/img/stitching_r2.png" id="146" name="Google Shape;146;g3fb85ea8d0b_0_61"/>
          <p:cNvPicPr preferRelativeResize="0"/>
          <p:nvPr/>
        </p:nvPicPr>
        <p:blipFill rotWithShape="1">
          <a:blip r:embed="rId4">
            <a:alphaModFix/>
          </a:blip>
          <a:srcRect b="0" l="0" r="0" t="0"/>
          <a:stretch/>
        </p:blipFill>
        <p:spPr>
          <a:xfrm>
            <a:off x="4434840" y="1508760"/>
            <a:ext cx="4023361" cy="2148840"/>
          </a:xfrm>
          <a:prstGeom prst="rect">
            <a:avLst/>
          </a:prstGeom>
          <a:noFill/>
          <a:ln>
            <a:noFill/>
          </a:ln>
        </p:spPr>
      </p:pic>
      <p:sp>
        <p:nvSpPr>
          <p:cNvPr id="147" name="Google Shape;147;g3fb85ea8d0b_0_61"/>
          <p:cNvSpPr/>
          <p:nvPr/>
        </p:nvSpPr>
        <p:spPr>
          <a:xfrm>
            <a:off x="8595360" y="1508760"/>
            <a:ext cx="3017400" cy="3108900"/>
          </a:xfrm>
          <a:prstGeom prst="roundRect">
            <a:avLst>
              <a:gd fmla="val 2424"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fb85ea8d0b_0_61"/>
          <p:cNvSpPr txBox="1"/>
          <p:nvPr/>
        </p:nvSpPr>
        <p:spPr>
          <a:xfrm>
            <a:off x="8759952" y="1618488"/>
            <a:ext cx="2688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Data &amp; setup</a:t>
            </a:r>
            <a:endParaRPr b="0" i="0" sz="1300" u="none" cap="none" strike="noStrike">
              <a:solidFill>
                <a:schemeClr val="dk1"/>
              </a:solidFill>
              <a:latin typeface="Calibri"/>
              <a:ea typeface="Calibri"/>
              <a:cs typeface="Calibri"/>
              <a:sym typeface="Calibri"/>
            </a:endParaRPr>
          </a:p>
        </p:txBody>
      </p:sp>
      <p:sp>
        <p:nvSpPr>
          <p:cNvPr id="149" name="Google Shape;149;g3fb85ea8d0b_0_61"/>
          <p:cNvSpPr txBox="1"/>
          <p:nvPr/>
        </p:nvSpPr>
        <p:spPr>
          <a:xfrm>
            <a:off x="8759952" y="2011680"/>
            <a:ext cx="268830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0" i="0" lang="en-US" sz="1100" u="none" cap="none" strike="noStrike">
                <a:solidFill>
                  <a:srgbClr val="1F2937"/>
                </a:solidFill>
                <a:latin typeface="Calibri"/>
                <a:ea typeface="Calibri"/>
                <a:cs typeface="Calibri"/>
                <a:sym typeface="Calibri"/>
              </a:rPr>
              <a:t>Data: 10,000 WikiText passages through both frozen models. Hidden states masked-mean-pooled per layer → A_layers [13, 10000, 768]. Per layer: CKA (structure) and one ridge map GPT-2→Pythia (stitching), with a seeded random-weights Pythia as control. 7,500 train / 768 = 9.8 rows/dim. Nothing was trained.</a:t>
            </a:r>
            <a:endParaRPr b="0" i="0" sz="1100" u="none" cap="none" strike="noStrike">
              <a:solidFill>
                <a:schemeClr val="dk1"/>
              </a:solidFill>
              <a:latin typeface="Calibri"/>
              <a:ea typeface="Calibri"/>
              <a:cs typeface="Calibri"/>
              <a:sym typeface="Calibri"/>
            </a:endParaRPr>
          </a:p>
        </p:txBody>
      </p:sp>
      <p:sp>
        <p:nvSpPr>
          <p:cNvPr id="150" name="Google Shape;150;g3fb85ea8d0b_0_61"/>
          <p:cNvSpPr txBox="1"/>
          <p:nvPr/>
        </p:nvSpPr>
        <p:spPr>
          <a:xfrm>
            <a:off x="548640" y="4709160"/>
            <a:ext cx="7955400" cy="1737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Measured — CKA (structure agreement): trained 0.359 vs random 0.067 = 5.3× (diagonal mean 0.424 = 6.3×). Stitching R² (linear map GPT-2→Pythia): 0.797 at layer 11 vs 0.173 random.</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Proved: convergence exists at all, across architectures and data — the licence for everything after. The trained curve RISES with depth (0.59→0.80) while the random control DECAYS (0.38→0.09): opposite slopes, an 8× gap at layer 11.</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Failure caught → converted: a rank-one ‘hubness’ component carried 97% of the CKA matrix; dividing marginals out lifted the diagonal 0.98→1.16. Run 1 (1,646 rows) FAILED on starvation; run 2 (10,000) passed — same pipeline, more rows.</a:t>
            </a:r>
            <a:endParaRPr b="0" i="0" sz="1050" u="none" cap="none" strike="noStrike">
              <a:solidFill>
                <a:schemeClr val="dk1"/>
              </a:solidFill>
              <a:latin typeface="Calibri"/>
              <a:ea typeface="Calibri"/>
              <a:cs typeface="Calibri"/>
              <a:sym typeface="Calibri"/>
            </a:endParaRPr>
          </a:p>
        </p:txBody>
      </p:sp>
      <p:sp>
        <p:nvSpPr>
          <p:cNvPr id="151" name="Google Shape;151;g3fb85ea8d0b_0_61"/>
          <p:cNvSpPr/>
          <p:nvPr/>
        </p:nvSpPr>
        <p:spPr>
          <a:xfrm>
            <a:off x="8595360" y="4709160"/>
            <a:ext cx="3017400" cy="1737300"/>
          </a:xfrm>
          <a:prstGeom prst="roundRect">
            <a:avLst>
              <a:gd fmla="val 3158" name="adj"/>
            </a:avLst>
          </a:prstGeom>
          <a:solidFill>
            <a:srgbClr val="F5F7FB"/>
          </a:solidFill>
          <a:ln cap="flat" cmpd="sng" w="12700">
            <a:solidFill>
              <a:srgbClr val="D6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fb85ea8d0b_0_61"/>
          <p:cNvSpPr txBox="1"/>
          <p:nvPr/>
        </p:nvSpPr>
        <p:spPr>
          <a:xfrm>
            <a:off x="8732520" y="478231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000"/>
              <a:buFont typeface="Calibri"/>
              <a:buNone/>
            </a:pPr>
            <a:r>
              <a:rPr b="1" i="0" lang="en-US" sz="1000" u="none" cap="none" strike="noStrike">
                <a:solidFill>
                  <a:srgbClr val="C8551A"/>
                </a:solidFill>
                <a:latin typeface="Calibri"/>
                <a:ea typeface="Calibri"/>
                <a:cs typeface="Calibri"/>
                <a:sym typeface="Calibri"/>
              </a:rPr>
              <a:t>the short math</a:t>
            </a:r>
            <a:endParaRPr b="0" i="0" sz="1000" u="none" cap="none" strike="noStrike">
              <a:solidFill>
                <a:schemeClr val="dk1"/>
              </a:solidFill>
              <a:latin typeface="Calibri"/>
              <a:ea typeface="Calibri"/>
              <a:cs typeface="Calibri"/>
              <a:sym typeface="Calibri"/>
            </a:endParaRPr>
          </a:p>
        </p:txBody>
      </p:sp>
      <p:sp>
        <p:nvSpPr>
          <p:cNvPr id="153" name="Google Shape;153;g3fb85ea8d0b_0_61"/>
          <p:cNvSpPr txBox="1"/>
          <p:nvPr/>
        </p:nvSpPr>
        <p:spPr>
          <a:xfrm>
            <a:off x="8732520" y="5056632"/>
            <a:ext cx="27432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CKA(K,L) = HSIC(K,L)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  sqrt(HSIC(K,K) HSIC(L,L))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pool_i = sum_t h_t / T (pads out)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W_l = ridge(X_l -&gt; Y_l) per layer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learned structure exceeds control</a:t>
            </a:r>
            <a:endParaRPr/>
          </a:p>
        </p:txBody>
      </p:sp>
      <p:sp>
        <p:nvSpPr>
          <p:cNvPr id="160" name="Google Shape;160;p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61" name="Google Shape;161;p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graphicFrame>
        <p:nvGraphicFramePr>
          <p:cNvPr id="162" name="Google Shape;162;p6"/>
          <p:cNvGraphicFramePr/>
          <p:nvPr/>
        </p:nvGraphicFramePr>
        <p:xfrm>
          <a:off x="571500" y="1476375"/>
          <a:ext cx="7239000" cy="3667125"/>
        </p:xfrm>
        <a:graphic>
          <a:graphicData uri="http://schemas.openxmlformats.org/drawingml/2006/chart">
            <c:chart r:id="rId3"/>
          </a:graphicData>
        </a:graphic>
      </p:graphicFrame>
      <p:sp>
        <p:nvSpPr>
          <p:cNvPr id="163" name="Google Shape;163;p6"/>
          <p:cNvSpPr/>
          <p:nvPr/>
        </p:nvSpPr>
        <p:spPr>
          <a:xfrm>
            <a:off x="8239125" y="1762125"/>
            <a:ext cx="3333750" cy="619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87F83"/>
                </a:solidFill>
                <a:latin typeface="Arial"/>
                <a:ea typeface="Arial"/>
                <a:cs typeface="Arial"/>
                <a:sym typeface="Arial"/>
              </a:rPr>
              <a:t>R² = 0.797</a:t>
            </a:r>
            <a:endParaRPr/>
          </a:p>
        </p:txBody>
      </p:sp>
      <p:sp>
        <p:nvSpPr>
          <p:cNvPr id="164" name="Google Shape;164;p6"/>
          <p:cNvSpPr/>
          <p:nvPr/>
        </p:nvSpPr>
        <p:spPr>
          <a:xfrm>
            <a:off x="8239125" y="2476500"/>
            <a:ext cx="3238500" cy="1095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At L11, a linear map explains about 80% of target variance.</a:t>
            </a:r>
            <a:endParaRPr/>
          </a:p>
        </p:txBody>
      </p:sp>
      <p:sp>
        <p:nvSpPr>
          <p:cNvPr id="165" name="Google Shape;165;p6"/>
          <p:cNvSpPr/>
          <p:nvPr/>
        </p:nvSpPr>
        <p:spPr>
          <a:xfrm>
            <a:off x="8239125" y="3762375"/>
            <a:ext cx="333375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25">
                <a:solidFill>
                  <a:srgbClr val="142A45"/>
                </a:solidFill>
                <a:latin typeface="Arial"/>
                <a:ea typeface="Arial"/>
                <a:cs typeface="Arial"/>
                <a:sym typeface="Arial"/>
              </a:rPr>
              <a:t>CKA: similarity-pattern agreement</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0.359 trained</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0.067 random</a:t>
            </a:r>
            <a:endParaRPr/>
          </a:p>
        </p:txBody>
      </p:sp>
      <p:sp>
        <p:nvSpPr>
          <p:cNvPr id="166" name="Google Shape;166;p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Measured alignment supports the restricted hypothesis on this model pair.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7"/>
          <p:cNvSpPr/>
          <p:nvPr/>
        </p:nvSpPr>
        <p:spPr>
          <a:xfrm>
            <a:off x="571500" y="404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one index for phone and server</a:t>
            </a:r>
            <a:endParaRPr/>
          </a:p>
        </p:txBody>
      </p:sp>
      <p:sp>
        <p:nvSpPr>
          <p:cNvPr id="173" name="Google Shape;173;p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MobileCLIP-S1 and SigLIP 2 model cards</a:t>
            </a:r>
            <a:endParaRPr/>
          </a:p>
        </p:txBody>
      </p:sp>
      <p:sp>
        <p:nvSpPr>
          <p:cNvPr id="174" name="Google Shape;174;p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7</a:t>
            </a:r>
            <a:endParaRPr/>
          </a:p>
        </p:txBody>
      </p:sp>
      <p:sp>
        <p:nvSpPr>
          <p:cNvPr id="175" name="Google Shape;175;p7"/>
          <p:cNvSpPr/>
          <p:nvPr/>
        </p:nvSpPr>
        <p:spPr>
          <a:xfrm>
            <a:off x="571500" y="1666875"/>
            <a:ext cx="2476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 dog photo</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MobileCLIP-S1</a:t>
            </a:r>
            <a:endParaRPr/>
          </a:p>
        </p:txBody>
      </p:sp>
      <p:sp>
        <p:nvSpPr>
          <p:cNvPr id="176" name="Google Shape;176;p7"/>
          <p:cNvSpPr/>
          <p:nvPr/>
        </p:nvSpPr>
        <p:spPr>
          <a:xfrm>
            <a:off x="4000500" y="1666875"/>
            <a:ext cx="30480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512-vector × W</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 512 × 768</a:t>
            </a:r>
            <a:endParaRPr/>
          </a:p>
        </p:txBody>
      </p:sp>
      <p:sp>
        <p:nvSpPr>
          <p:cNvPr id="177" name="Google Shape;177;p7"/>
          <p:cNvSpPr/>
          <p:nvPr/>
        </p:nvSpPr>
        <p:spPr>
          <a:xfrm>
            <a:off x="8239125" y="166687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Normalize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cxnSp>
        <p:nvCxnSpPr>
          <p:cNvPr id="178" name="Google Shape;178;p7"/>
          <p:cNvCxnSpPr>
            <a:stCxn id="175" idx="3"/>
            <a:endCxn id="176" idx="1"/>
          </p:cNvCxnSpPr>
          <p:nvPr/>
        </p:nvCxnSpPr>
        <p:spPr>
          <a:xfrm>
            <a:off x="3048000" y="2071688"/>
            <a:ext cx="952500" cy="0"/>
          </a:xfrm>
          <a:prstGeom prst="straightConnector1">
            <a:avLst/>
          </a:prstGeom>
          <a:noFill/>
          <a:ln cap="flat" cmpd="sng" w="19050">
            <a:solidFill>
              <a:srgbClr val="087F83"/>
            </a:solidFill>
            <a:prstDash val="solid"/>
            <a:round/>
            <a:headEnd len="sm" w="sm" type="none"/>
            <a:tailEnd len="sm" w="sm" type="triangle"/>
          </a:ln>
        </p:spPr>
      </p:cxnSp>
      <p:cxnSp>
        <p:nvCxnSpPr>
          <p:cNvPr id="179" name="Google Shape;179;p7"/>
          <p:cNvCxnSpPr>
            <a:stCxn id="176" idx="3"/>
            <a:endCxn id="177" idx="1"/>
          </p:cNvCxnSpPr>
          <p:nvPr/>
        </p:nvCxnSpPr>
        <p:spPr>
          <a:xfrm>
            <a:off x="7048500" y="2071688"/>
            <a:ext cx="1190700" cy="0"/>
          </a:xfrm>
          <a:prstGeom prst="straightConnector1">
            <a:avLst/>
          </a:prstGeom>
          <a:noFill/>
          <a:ln cap="flat" cmpd="sng" w="19050">
            <a:solidFill>
              <a:srgbClr val="087F83"/>
            </a:solidFill>
            <a:prstDash val="solid"/>
            <a:round/>
            <a:headEnd len="sm" w="sm" type="none"/>
            <a:tailEnd len="sm" w="sm" type="triangle"/>
          </a:ln>
        </p:spPr>
      </p:cxnSp>
      <p:sp>
        <p:nvSpPr>
          <p:cNvPr id="180" name="Google Shape;180;p7"/>
          <p:cNvSpPr/>
          <p:nvPr/>
        </p:nvSpPr>
        <p:spPr>
          <a:xfrm>
            <a:off x="571500" y="366712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Native SigLIP image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sp>
        <p:nvSpPr>
          <p:cNvPr id="181" name="Google Shape;181;p7"/>
          <p:cNvSpPr/>
          <p:nvPr/>
        </p:nvSpPr>
        <p:spPr>
          <a:xfrm>
            <a:off x="5048250" y="3667125"/>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One shared index</a:t>
            </a:r>
            <a:endParaRPr/>
          </a:p>
        </p:txBody>
      </p:sp>
      <p:cxnSp>
        <p:nvCxnSpPr>
          <p:cNvPr id="182" name="Google Shape;182;p7"/>
          <p:cNvCxnSpPr>
            <a:stCxn id="180" idx="3"/>
            <a:endCxn id="181" idx="1"/>
          </p:cNvCxnSpPr>
          <p:nvPr/>
        </p:nvCxnSpPr>
        <p:spPr>
          <a:xfrm>
            <a:off x="3524250" y="4071938"/>
            <a:ext cx="1524000" cy="0"/>
          </a:xfrm>
          <a:prstGeom prst="straightConnector1">
            <a:avLst/>
          </a:prstGeom>
          <a:noFill/>
          <a:ln cap="flat" cmpd="sng" w="19050">
            <a:solidFill>
              <a:srgbClr val="087F83"/>
            </a:solidFill>
            <a:prstDash val="solid"/>
            <a:round/>
            <a:headEnd len="sm" w="sm" type="none"/>
            <a:tailEnd len="sm" w="sm" type="triangle"/>
          </a:ln>
        </p:spPr>
      </p:cxnSp>
      <p:cxnSp>
        <p:nvCxnSpPr>
          <p:cNvPr id="183" name="Google Shape;183;p7"/>
          <p:cNvCxnSpPr>
            <a:stCxn id="177" idx="2"/>
            <a:endCxn id="181" idx="3"/>
          </p:cNvCxnSpPr>
          <p:nvPr/>
        </p:nvCxnSpPr>
        <p:spPr>
          <a:xfrm rot="5400000">
            <a:off x="8012850" y="2369250"/>
            <a:ext cx="1595400" cy="1809900"/>
          </a:xfrm>
          <a:prstGeom prst="bentConnector5">
            <a:avLst>
              <a:gd fmla="val 0" name="adj1"/>
              <a:gd fmla="val 0" name="adj2"/>
              <a:gd fmla="val 0" name="adj3"/>
            </a:avLst>
          </a:prstGeom>
          <a:noFill/>
          <a:ln cap="flat" cmpd="sng" w="19050">
            <a:solidFill>
              <a:srgbClr val="087F83"/>
            </a:solidFill>
            <a:prstDash val="solid"/>
            <a:round/>
            <a:headEnd len="sm" w="sm" type="none"/>
            <a:tailEnd len="sm" w="sm" type="triangle"/>
          </a:ln>
        </p:spPr>
      </p:cxnSp>
      <p:sp>
        <p:nvSpPr>
          <p:cNvPr id="184" name="Google Shape;184;p7"/>
          <p:cNvSpPr/>
          <p:nvPr/>
        </p:nvSpPr>
        <p:spPr>
          <a:xfrm>
            <a:off x="571500" y="5095875"/>
            <a:ext cx="1095375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142A45"/>
                </a:solidFill>
                <a:latin typeface="Arial"/>
                <a:ea typeface="Arial"/>
                <a:cs typeface="Arial"/>
                <a:sym typeface="Arial"/>
              </a:rPr>
              <a:t>Query “a cat on a chair”: SigLIP text supplies the comparison vector.</a:t>
            </a:r>
            <a:endParaRPr/>
          </a:p>
        </p:txBody>
      </p:sp>
      <p:sp>
        <p:nvSpPr>
          <p:cNvPr id="185" name="Google Shape;185;p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Fit: 3,000 paired images. Test: 1,000 held-out images.</a:t>
            </a:r>
            <a:endParaRPr/>
          </a:p>
        </p:txBody>
      </p:sp>
      <p:sp>
        <p:nvSpPr>
          <p:cNvPr id="186" name="Google Shape;186;p7"/>
          <p:cNvSpPr/>
          <p:nvPr/>
        </p:nvSpPr>
        <p:spPr>
          <a:xfrm>
            <a:off x="9564575" y="404100"/>
            <a:ext cx="1523988" cy="465048"/>
          </a:xfrm>
          <a:prstGeom prst="flowChartTerminator">
            <a:avLst/>
          </a:prstGeom>
          <a:solidFill>
            <a:srgbClr val="C8551A"/>
          </a:solidFill>
          <a:ln cap="flat" cmpd="sng" w="9525">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7">
            <a:hlinkClick r:id="rId3"/>
          </p:cNvPr>
          <p:cNvSpPr txBox="1"/>
          <p:nvPr/>
        </p:nvSpPr>
        <p:spPr>
          <a:xfrm>
            <a:off x="9782275" y="434050"/>
            <a:ext cx="1129800" cy="400200"/>
          </a:xfrm>
          <a:prstGeom prst="rect">
            <a:avLst/>
          </a:prstGeom>
          <a:noFill/>
          <a:ln cap="flat" cmpd="sng" w="9525">
            <a:solidFill>
              <a:srgbClr val="B91C1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lt1"/>
                </a:solidFill>
              </a:rPr>
              <a:t>Live Demo</a:t>
            </a:r>
            <a:endParaRPr b="1">
              <a:solidFill>
                <a:schemeClr val="lt1"/>
              </a:solidFill>
            </a:endParaRPr>
          </a:p>
        </p:txBody>
      </p:sp>
      <p:sp>
        <p:nvSpPr>
          <p:cNvPr id="188" name="Google Shape;188;p7"/>
          <p:cNvSpPr txBox="1"/>
          <p:nvPr/>
        </p:nvSpPr>
        <p:spPr>
          <a:xfrm>
            <a:off x="11943650" y="-115300"/>
            <a:ext cx="696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9" name="Google Shape;189;p7"/>
          <p:cNvSpPr txBox="1"/>
          <p:nvPr/>
        </p:nvSpPr>
        <p:spPr>
          <a:xfrm>
            <a:off x="9979500" y="1082888"/>
            <a:ext cx="221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g3fb85ea8d0b_0_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96" name="Google Shape;196;g3fb85ea8d0b_0_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197" name="Google Shape;197;g3fb85ea8d0b_0_1" title="ChatGPT Image Sep 16, 2026, 06_46_44 PM.png"/>
          <p:cNvPicPr preferRelativeResize="0"/>
          <p:nvPr/>
        </p:nvPicPr>
        <p:blipFill rotWithShape="1">
          <a:blip r:embed="rId3">
            <a:alphaModFix/>
          </a:blip>
          <a:srcRect b="12035" l="0" r="0" t="12035"/>
          <a:stretch/>
        </p:blipFill>
        <p:spPr>
          <a:xfrm>
            <a:off x="343300" y="368150"/>
            <a:ext cx="12041673" cy="514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b85ea8d0b_0_197"/>
          <p:cNvSpPr/>
          <p:nvPr/>
        </p:nvSpPr>
        <p:spPr>
          <a:xfrm>
            <a:off x="640080" y="310896"/>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DEMONSTRATED</a:t>
            </a:r>
            <a:endParaRPr b="0" i="0" sz="1200" u="none" cap="none" strike="noStrike">
              <a:solidFill>
                <a:schemeClr val="dk1"/>
              </a:solidFill>
              <a:latin typeface="Calibri"/>
              <a:ea typeface="Calibri"/>
              <a:cs typeface="Calibri"/>
              <a:sym typeface="Calibri"/>
            </a:endParaRPr>
          </a:p>
        </p:txBody>
      </p:sp>
      <p:sp>
        <p:nvSpPr>
          <p:cNvPr id="204" name="Google Shape;204;g3fb85ea8d0b_0_197"/>
          <p:cNvSpPr/>
          <p:nvPr/>
        </p:nvSpPr>
        <p:spPr>
          <a:xfrm>
            <a:off x="640080" y="566928"/>
            <a:ext cx="10881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3000"/>
              <a:buFont typeface="Cambria"/>
              <a:buNone/>
            </a:pPr>
            <a:r>
              <a:rPr b="1" i="0" lang="en-US" sz="3000" u="none" cap="none" strike="noStrike">
                <a:solidFill>
                  <a:srgbClr val="16232E"/>
                </a:solidFill>
                <a:latin typeface="Cambria"/>
                <a:ea typeface="Cambria"/>
                <a:cs typeface="Cambria"/>
                <a:sym typeface="Cambria"/>
              </a:rPr>
              <a:t>It runs — one query, both tiers, one ranking</a:t>
            </a:r>
            <a:endParaRPr b="0" i="0" sz="3000" u="none" cap="none" strike="noStrike">
              <a:solidFill>
                <a:schemeClr val="dk1"/>
              </a:solidFill>
              <a:latin typeface="Calibri"/>
              <a:ea typeface="Calibri"/>
              <a:cs typeface="Calibri"/>
              <a:sym typeface="Calibri"/>
            </a:endParaRPr>
          </a:p>
        </p:txBody>
      </p:sp>
      <p:pic>
        <p:nvPicPr>
          <p:cNvPr descr="sl_cone.png" id="205" name="Google Shape;205;g3fb85ea8d0b_0_197"/>
          <p:cNvPicPr preferRelativeResize="0"/>
          <p:nvPr/>
        </p:nvPicPr>
        <p:blipFill rotWithShape="1">
          <a:blip r:embed="rId3">
            <a:alphaModFix/>
          </a:blip>
          <a:srcRect b="0" l="0" r="0" t="0"/>
          <a:stretch/>
        </p:blipFill>
        <p:spPr>
          <a:xfrm>
            <a:off x="640080" y="1280160"/>
            <a:ext cx="3931919" cy="3931921"/>
          </a:xfrm>
          <a:prstGeom prst="rect">
            <a:avLst/>
          </a:prstGeom>
          <a:noFill/>
          <a:ln>
            <a:noFill/>
          </a:ln>
        </p:spPr>
      </p:pic>
      <p:sp>
        <p:nvSpPr>
          <p:cNvPr id="206" name="Google Shape;206;g3fb85ea8d0b_0_197"/>
          <p:cNvSpPr/>
          <p:nvPr/>
        </p:nvSpPr>
        <p:spPr>
          <a:xfrm>
            <a:off x="4937760" y="1280160"/>
            <a:ext cx="6583800" cy="1874400"/>
          </a:xfrm>
          <a:prstGeom prst="roundRect">
            <a:avLst>
              <a:gd fmla="val 2927" name="adj"/>
            </a:avLst>
          </a:prstGeom>
          <a:solidFill>
            <a:srgbClr val="FFFFFF"/>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fb85ea8d0b_0_197"/>
          <p:cNvSpPr/>
          <p:nvPr/>
        </p:nvSpPr>
        <p:spPr>
          <a:xfrm>
            <a:off x="5212080" y="1463040"/>
            <a:ext cx="6035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1400"/>
              <a:buFont typeface="Calibri"/>
              <a:buNone/>
            </a:pPr>
            <a:r>
              <a:rPr b="1" i="0" lang="en-US" sz="1400" u="none" cap="none" strike="noStrike">
                <a:solidFill>
                  <a:srgbClr val="16232E"/>
                </a:solidFill>
                <a:latin typeface="Calibri"/>
                <a:ea typeface="Calibri"/>
                <a:cs typeface="Calibri"/>
                <a:sym typeface="Calibri"/>
              </a:rPr>
              <a:t>Live demo, measured</a:t>
            </a:r>
            <a:endParaRPr b="0" i="0" sz="1400" u="none" cap="none" strike="noStrike">
              <a:solidFill>
                <a:schemeClr val="dk1"/>
              </a:solidFill>
              <a:latin typeface="Calibri"/>
              <a:ea typeface="Calibri"/>
              <a:cs typeface="Calibri"/>
              <a:sym typeface="Calibri"/>
            </a:endParaRPr>
          </a:p>
        </p:txBody>
      </p:sp>
      <p:sp>
        <p:nvSpPr>
          <p:cNvPr id="208" name="Google Shape;208;g3fb85ea8d0b_0_197"/>
          <p:cNvSpPr/>
          <p:nvPr/>
        </p:nvSpPr>
        <p:spPr>
          <a:xfrm>
            <a:off x="5212080" y="1828800"/>
            <a:ext cx="6035100" cy="11886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1.  MOBILE   P = 91.3%   </a:t>
            </a:r>
            <a:r>
              <a:rPr b="0" i="0" lang="en-US" sz="1150" u="none" cap="none" strike="noStrike">
                <a:solidFill>
                  <a:srgbClr val="5A6B78"/>
                </a:solidFill>
                <a:latin typeface="Calibri"/>
                <a:ea typeface="Calibri"/>
                <a:cs typeface="Calibri"/>
                <a:sym typeface="Calibri"/>
              </a:rPr>
              <a:t>the uploaded photo, indexed via the phone path</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65A82"/>
                </a:solidFill>
                <a:latin typeface="Calibri"/>
                <a:ea typeface="Calibri"/>
                <a:cs typeface="Calibri"/>
                <a:sym typeface="Calibri"/>
              </a:rPr>
              <a:t>2.  SERVER    P = 5.0%    </a:t>
            </a:r>
            <a:r>
              <a:rPr b="0" i="0" lang="en-US" sz="1150" u="none" cap="none" strike="noStrike">
                <a:solidFill>
                  <a:srgbClr val="5A6B78"/>
                </a:solidFill>
                <a:latin typeface="Calibri"/>
                <a:ea typeface="Calibri"/>
                <a:cs typeface="Calibri"/>
                <a:sym typeface="Calibri"/>
              </a:rPr>
              <a:t>goldfinches, indexed natively</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F766E"/>
                </a:solidFill>
                <a:latin typeface="Calibri"/>
                <a:ea typeface="Calibri"/>
                <a:cs typeface="Calibri"/>
                <a:sym typeface="Calibri"/>
              </a:rPr>
              <a:t>3.  MOBILE   P = 1.0%</a:t>
            </a:r>
            <a:endParaRPr b="0" i="0" sz="1250" u="none" cap="none" strike="noStrike">
              <a:solidFill>
                <a:schemeClr val="dk1"/>
              </a:solidFill>
              <a:latin typeface="Calibri"/>
              <a:ea typeface="Calibri"/>
              <a:cs typeface="Calibri"/>
              <a:sym typeface="Calibri"/>
            </a:endParaRPr>
          </a:p>
        </p:txBody>
      </p:sp>
      <p:sp>
        <p:nvSpPr>
          <p:cNvPr id="209" name="Google Shape;209;g3fb85ea8d0b_0_197"/>
          <p:cNvSpPr/>
          <p:nvPr/>
        </p:nvSpPr>
        <p:spPr>
          <a:xfrm>
            <a:off x="4937760" y="3337560"/>
            <a:ext cx="3200400" cy="1874400"/>
          </a:xfrm>
          <a:prstGeom prst="roundRect">
            <a:avLst>
              <a:gd fmla="val 2927" name="adj"/>
            </a:avLst>
          </a:prstGeom>
          <a:solidFill>
            <a:srgbClr val="EAF2F7"/>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fb85ea8d0b_0_197"/>
          <p:cNvSpPr/>
          <p:nvPr/>
        </p:nvSpPr>
        <p:spPr>
          <a:xfrm>
            <a:off x="512064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5A82"/>
              </a:buClr>
              <a:buSzPts val="2800"/>
              <a:buFont typeface="Cambria"/>
              <a:buNone/>
            </a:pPr>
            <a:r>
              <a:rPr b="1" i="0" lang="en-US" sz="2800" u="none" cap="none" strike="noStrike">
                <a:solidFill>
                  <a:srgbClr val="065A82"/>
                </a:solidFill>
                <a:latin typeface="Cambria"/>
                <a:ea typeface="Cambria"/>
                <a:cs typeface="Cambria"/>
                <a:sym typeface="Cambria"/>
              </a:rPr>
              <a:t>39 ms</a:t>
            </a:r>
            <a:endParaRPr b="0" i="0" sz="2800" u="none" cap="none" strike="noStrike">
              <a:solidFill>
                <a:schemeClr val="dk1"/>
              </a:solidFill>
              <a:latin typeface="Calibri"/>
              <a:ea typeface="Calibri"/>
              <a:cs typeface="Calibri"/>
              <a:sym typeface="Calibri"/>
            </a:endParaRPr>
          </a:p>
        </p:txBody>
      </p:sp>
      <p:sp>
        <p:nvSpPr>
          <p:cNvPr id="211" name="Google Shape;211;g3fb85ea8d0b_0_197"/>
          <p:cNvSpPr/>
          <p:nvPr/>
        </p:nvSpPr>
        <p:spPr>
          <a:xfrm>
            <a:off x="512064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photo indexed on the</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phone path, end to end</a:t>
            </a:r>
            <a:endParaRPr b="0" i="0" sz="1100" u="none" cap="none" strike="noStrike">
              <a:solidFill>
                <a:schemeClr val="dk1"/>
              </a:solidFill>
              <a:latin typeface="Calibri"/>
              <a:ea typeface="Calibri"/>
              <a:cs typeface="Calibri"/>
              <a:sym typeface="Calibri"/>
            </a:endParaRPr>
          </a:p>
        </p:txBody>
      </p:sp>
      <p:sp>
        <p:nvSpPr>
          <p:cNvPr id="212" name="Google Shape;212;g3fb85ea8d0b_0_197"/>
          <p:cNvSpPr/>
          <p:nvPr/>
        </p:nvSpPr>
        <p:spPr>
          <a:xfrm>
            <a:off x="512064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auto-captioned by BLIP</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on upload</a:t>
            </a:r>
            <a:endParaRPr b="0" i="0" sz="1050" u="none" cap="none" strike="noStrike">
              <a:solidFill>
                <a:schemeClr val="dk1"/>
              </a:solidFill>
              <a:latin typeface="Calibri"/>
              <a:ea typeface="Calibri"/>
              <a:cs typeface="Calibri"/>
              <a:sym typeface="Calibri"/>
            </a:endParaRPr>
          </a:p>
        </p:txBody>
      </p:sp>
      <p:sp>
        <p:nvSpPr>
          <p:cNvPr id="213" name="Google Shape;213;g3fb85ea8d0b_0_197"/>
          <p:cNvSpPr/>
          <p:nvPr/>
        </p:nvSpPr>
        <p:spPr>
          <a:xfrm>
            <a:off x="8321040" y="3337560"/>
            <a:ext cx="3200400" cy="1874400"/>
          </a:xfrm>
          <a:prstGeom prst="roundRect">
            <a:avLst>
              <a:gd fmla="val 2927" name="adj"/>
            </a:avLst>
          </a:prstGeom>
          <a:solidFill>
            <a:srgbClr val="EFF6F2"/>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fb85ea8d0b_0_197"/>
          <p:cNvSpPr/>
          <p:nvPr/>
        </p:nvSpPr>
        <p:spPr>
          <a:xfrm>
            <a:off x="850392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2800"/>
              <a:buFont typeface="Cambria"/>
              <a:buNone/>
            </a:pPr>
            <a:r>
              <a:rPr b="1" i="0" lang="en-US" sz="2800" u="none" cap="none" strike="noStrike">
                <a:solidFill>
                  <a:srgbClr val="0F766E"/>
                </a:solidFill>
                <a:latin typeface="Cambria"/>
                <a:ea typeface="Cambria"/>
                <a:cs typeface="Cambria"/>
                <a:sym typeface="Cambria"/>
              </a:rPr>
              <a:t>0.08 ms</a:t>
            </a:r>
            <a:endParaRPr b="0" i="0" sz="2800" u="none" cap="none" strike="noStrike">
              <a:solidFill>
                <a:schemeClr val="dk1"/>
              </a:solidFill>
              <a:latin typeface="Calibri"/>
              <a:ea typeface="Calibri"/>
              <a:cs typeface="Calibri"/>
              <a:sym typeface="Calibri"/>
            </a:endParaRPr>
          </a:p>
        </p:txBody>
      </p:sp>
      <p:sp>
        <p:nvSpPr>
          <p:cNvPr id="215" name="Google Shape;215;g3fb85ea8d0b_0_197"/>
          <p:cNvSpPr/>
          <p:nvPr/>
        </p:nvSpPr>
        <p:spPr>
          <a:xfrm>
            <a:off x="850392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local search vs 150 ms</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simulated network RTT</a:t>
            </a:r>
            <a:endParaRPr b="0" i="0" sz="1100" u="none" cap="none" strike="noStrike">
              <a:solidFill>
                <a:schemeClr val="dk1"/>
              </a:solidFill>
              <a:latin typeface="Calibri"/>
              <a:ea typeface="Calibri"/>
              <a:cs typeface="Calibri"/>
              <a:sym typeface="Calibri"/>
            </a:endParaRPr>
          </a:p>
        </p:txBody>
      </p:sp>
      <p:sp>
        <p:nvSpPr>
          <p:cNvPr id="216" name="Google Shape;216;g3fb85ea8d0b_0_197"/>
          <p:cNvSpPr/>
          <p:nvPr/>
        </p:nvSpPr>
        <p:spPr>
          <a:xfrm>
            <a:off x="850392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same math either way —</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the network is the difference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retrieval quality and its cost</a:t>
            </a:r>
            <a:endParaRPr/>
          </a:p>
        </p:txBody>
      </p:sp>
      <p:sp>
        <p:nvSpPr>
          <p:cNvPr id="223" name="Google Shape;223;p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Tables 4–5; 1,000 candidates, one-caption query protocol</a:t>
            </a:r>
            <a:endParaRPr/>
          </a:p>
        </p:txBody>
      </p:sp>
      <p:sp>
        <p:nvSpPr>
          <p:cNvPr id="224" name="Google Shape;224;p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8</a:t>
            </a:r>
            <a:endParaRPr/>
          </a:p>
        </p:txBody>
      </p:sp>
      <p:graphicFrame>
        <p:nvGraphicFramePr>
          <p:cNvPr id="225" name="Google Shape;225;p8"/>
          <p:cNvGraphicFramePr/>
          <p:nvPr/>
        </p:nvGraphicFramePr>
        <p:xfrm>
          <a:off x="571500" y="1428750"/>
          <a:ext cx="7381875" cy="3905250"/>
        </p:xfrm>
        <a:graphic>
          <a:graphicData uri="http://schemas.openxmlformats.org/drawingml/2006/chart">
            <c:chart r:id="rId3"/>
          </a:graphicData>
        </a:graphic>
      </p:graphicFrame>
      <p:sp>
        <p:nvSpPr>
          <p:cNvPr id="226" name="Google Shape;226;p8"/>
          <p:cNvSpPr/>
          <p:nvPr/>
        </p:nvSpPr>
        <p:spPr>
          <a:xfrm>
            <a:off x="8477250" y="1666875"/>
            <a:ext cx="28575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087F83"/>
                </a:solidFill>
                <a:latin typeface="Arial"/>
                <a:ea typeface="Arial"/>
                <a:cs typeface="Arial"/>
                <a:sym typeface="Arial"/>
              </a:rPr>
              <a:t>95.3%</a:t>
            </a:r>
            <a:endParaRPr/>
          </a:p>
        </p:txBody>
      </p:sp>
      <p:sp>
        <p:nvSpPr>
          <p:cNvPr id="227" name="Google Shape;227;p8"/>
          <p:cNvSpPr/>
          <p:nvPr/>
        </p:nvSpPr>
        <p:spPr>
          <a:xfrm>
            <a:off x="8477250" y="2571750"/>
            <a:ext cx="28575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of native R@5</a:t>
            </a:r>
            <a:endParaRPr/>
          </a:p>
          <a:p>
            <a:pPr indent="0" lvl="0" marL="0" marR="0" rtl="0" algn="l">
              <a:spcBef>
                <a:spcPts val="0"/>
              </a:spcBef>
              <a:spcAft>
                <a:spcPts val="0"/>
              </a:spcAft>
              <a:buNone/>
            </a:pPr>
            <a:r>
              <a:rPr b="0" lang="en-US" sz="2100">
                <a:solidFill>
                  <a:srgbClr val="142A45"/>
                </a:solidFill>
                <a:latin typeface="Arial"/>
                <a:ea typeface="Arial"/>
                <a:cs typeface="Arial"/>
                <a:sym typeface="Arial"/>
              </a:rPr>
              <a:t>0.843 / 0.885</a:t>
            </a:r>
            <a:endParaRPr/>
          </a:p>
        </p:txBody>
      </p:sp>
      <p:sp>
        <p:nvSpPr>
          <p:cNvPr id="228" name="Google Shape;228;p8"/>
          <p:cNvSpPr/>
          <p:nvPr/>
        </p:nvSpPr>
        <p:spPr>
          <a:xfrm>
            <a:off x="8239125" y="4143375"/>
            <a:ext cx="333375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B75E23"/>
                </a:solidFill>
                <a:latin typeface="Arial"/>
                <a:ea typeface="Arial"/>
                <a:cs typeface="Arial"/>
                <a:sym typeface="Arial"/>
              </a:rPr>
              <a:t>R@1 retention: 88.4%</a:t>
            </a:r>
            <a:endParaRPr/>
          </a:p>
          <a:p>
            <a:pPr indent="0" lvl="0" marL="0" marR="0" rtl="0" algn="l">
              <a:spcBef>
                <a:spcPts val="0"/>
              </a:spcBef>
              <a:spcAft>
                <a:spcPts val="0"/>
              </a:spcAft>
              <a:buNone/>
            </a:pPr>
            <a:r>
              <a:rPr b="0" lang="en-US" sz="1875">
                <a:solidFill>
                  <a:srgbClr val="B75E23"/>
                </a:solidFill>
                <a:latin typeface="Arial"/>
                <a:ea typeface="Arial"/>
                <a:cs typeface="Arial"/>
                <a:sym typeface="Arial"/>
              </a:rPr>
              <a:t>Below the 90% gate</a:t>
            </a:r>
            <a:endParaRPr/>
          </a:p>
        </p:txBody>
      </p:sp>
      <p:sp>
        <p:nvSpPr>
          <p:cNvPr id="229" name="Google Shape;229;p8"/>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R@5: the matching image appears among the first five results.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g3fb85ea8d0b_0_3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236" name="Google Shape;236;g3fb85ea8d0b_0_3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237" name="Google Shape;237;g3fb85ea8d0b_0_31" title="proof_geometry_real.png"/>
          <p:cNvPicPr preferRelativeResize="0"/>
          <p:nvPr/>
        </p:nvPicPr>
        <p:blipFill rotWithShape="1">
          <a:blip r:embed="rId3">
            <a:alphaModFix/>
          </a:blip>
          <a:srcRect b="0" l="0" r="0" t="0"/>
          <a:stretch/>
        </p:blipFill>
        <p:spPr>
          <a:xfrm>
            <a:off x="343300" y="368150"/>
            <a:ext cx="12041671" cy="5145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g3fb85ea8d0b_0_26" title="ChatGPT Image Sep 16, 2026, 06_47_57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g3fb85ea8d0b_0_183"/>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250" name="Google Shape;250;g3fb85ea8d0b_0_183"/>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CENTRAL DISCOVERY</a:t>
            </a:r>
            <a:endParaRPr b="0" i="0" sz="1100" u="none" cap="none" strike="noStrike">
              <a:solidFill>
                <a:schemeClr val="dk1"/>
              </a:solidFill>
              <a:latin typeface="Calibri"/>
              <a:ea typeface="Calibri"/>
              <a:cs typeface="Calibri"/>
              <a:sym typeface="Calibri"/>
            </a:endParaRPr>
          </a:p>
        </p:txBody>
      </p:sp>
      <p:sp>
        <p:nvSpPr>
          <p:cNvPr id="251" name="Google Shape;251;g3fb85ea8d0b_0_183"/>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What is shared is LOCAL structure, not global geometry</a:t>
            </a:r>
            <a:endParaRPr b="0" i="0" sz="2800" u="none" cap="none" strike="noStrike">
              <a:solidFill>
                <a:schemeClr val="dk1"/>
              </a:solidFill>
              <a:latin typeface="Calibri"/>
              <a:ea typeface="Calibri"/>
              <a:cs typeface="Calibri"/>
              <a:sym typeface="Calibri"/>
            </a:endParaRPr>
          </a:p>
        </p:txBody>
      </p:sp>
      <p:pic>
        <p:nvPicPr>
          <p:cNvPr descr="/home/claude/deck/img/similarity_explained.png" id="252" name="Google Shape;252;g3fb85ea8d0b_0_183"/>
          <p:cNvPicPr preferRelativeResize="0"/>
          <p:nvPr/>
        </p:nvPicPr>
        <p:blipFill rotWithShape="1">
          <a:blip r:embed="rId3">
            <a:alphaModFix/>
          </a:blip>
          <a:srcRect b="0" l="0" r="0" t="0"/>
          <a:stretch/>
        </p:blipFill>
        <p:spPr>
          <a:xfrm>
            <a:off x="548640" y="1463040"/>
            <a:ext cx="11064239" cy="2743199"/>
          </a:xfrm>
          <a:prstGeom prst="rect">
            <a:avLst/>
          </a:prstGeom>
          <a:noFill/>
          <a:ln>
            <a:noFill/>
          </a:ln>
        </p:spPr>
      </p:pic>
      <p:sp>
        <p:nvSpPr>
          <p:cNvPr id="253" name="Google Shape;253;g3fb85ea8d0b_0_183"/>
          <p:cNvSpPr/>
          <p:nvPr/>
        </p:nvSpPr>
        <p:spPr>
          <a:xfrm>
            <a:off x="548640" y="4343400"/>
            <a:ext cx="5394900" cy="1920300"/>
          </a:xfrm>
          <a:prstGeom prst="roundRect">
            <a:avLst>
              <a:gd fmla="val 381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fb85ea8d0b_0_183"/>
          <p:cNvSpPr txBox="1"/>
          <p:nvPr/>
        </p:nvSpPr>
        <p:spPr>
          <a:xfrm>
            <a:off x="71323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The finding, on three metrics</a:t>
            </a:r>
            <a:endParaRPr b="0" i="0" sz="1300" u="none" cap="none" strike="noStrike">
              <a:solidFill>
                <a:schemeClr val="dk1"/>
              </a:solidFill>
              <a:latin typeface="Calibri"/>
              <a:ea typeface="Calibri"/>
              <a:cs typeface="Calibri"/>
              <a:sym typeface="Calibri"/>
            </a:endParaRPr>
          </a:p>
        </p:txBody>
      </p:sp>
      <p:sp>
        <p:nvSpPr>
          <p:cNvPr id="255" name="Google Shape;255;g3fb85ea8d0b_0_183"/>
          <p:cNvSpPr txBox="1"/>
          <p:nvPr/>
        </p:nvSpPr>
        <p:spPr>
          <a:xfrm>
            <a:off x="71323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Raw cosine ≈ 0 — coordinates never agree. But shapes do: distance-rank ρ +0.681, and 67% of an item's 10 nearest neighbours are shared (27× chance). Agreement is strongest for near neighbours and decays to chance by k = 500 — confirmed on k-NN, CKNNA, and rank correlation, including the metric PRH's own authors designed.</a:t>
            </a:r>
            <a:endParaRPr b="0" i="0" sz="1150" u="none" cap="none" strike="noStrike">
              <a:solidFill>
                <a:schemeClr val="dk1"/>
              </a:solidFill>
              <a:latin typeface="Calibri"/>
              <a:ea typeface="Calibri"/>
              <a:cs typeface="Calibri"/>
              <a:sym typeface="Calibri"/>
            </a:endParaRPr>
          </a:p>
        </p:txBody>
      </p:sp>
      <p:sp>
        <p:nvSpPr>
          <p:cNvPr id="256" name="Google Shape;256;g3fb85ea8d0b_0_183"/>
          <p:cNvSpPr/>
          <p:nvPr/>
        </p:nvSpPr>
        <p:spPr>
          <a:xfrm>
            <a:off x="6217920" y="4343400"/>
            <a:ext cx="5394900" cy="1920300"/>
          </a:xfrm>
          <a:prstGeom prst="roundRect">
            <a:avLst>
              <a:gd fmla="val 3810" name="adj"/>
            </a:avLst>
          </a:prstGeom>
          <a:solidFill>
            <a:srgbClr val="EEF7F3"/>
          </a:solidFill>
          <a:ln cap="flat" cmpd="sng" w="12700">
            <a:solidFill>
              <a:srgbClr val="EEF7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fb85ea8d0b_0_183"/>
          <p:cNvSpPr txBox="1"/>
          <p:nvPr/>
        </p:nvSpPr>
        <p:spPr>
          <a:xfrm>
            <a:off x="638251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Why it matters</a:t>
            </a:r>
            <a:endParaRPr b="0" i="0" sz="1300" u="none" cap="none" strike="noStrike">
              <a:solidFill>
                <a:schemeClr val="dk1"/>
              </a:solidFill>
              <a:latin typeface="Calibri"/>
              <a:ea typeface="Calibri"/>
              <a:cs typeface="Calibri"/>
              <a:sym typeface="Calibri"/>
            </a:endParaRPr>
          </a:p>
        </p:txBody>
      </p:sp>
      <p:sp>
        <p:nvSpPr>
          <p:cNvPr id="258" name="Google Shape;258;g3fb85ea8d0b_0_183"/>
          <p:cNvSpPr txBox="1"/>
          <p:nvPr/>
        </p:nvSpPr>
        <p:spPr>
          <a:xfrm>
            <a:off x="638251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It narrows the Platonic claim to its DEFENSIBLE form. Models do not build the same space — they build different CHARTS of one shared structure, like two map projections of the Earth that disagree on area but both keep Spain next to France. It also explains why one linear map reaches most, but not all, of the ceiling.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Small adapter, measurable deployment advantages</a:t>
            </a:r>
            <a:endParaRPr/>
          </a:p>
        </p:txBody>
      </p:sp>
      <p:sp>
        <p:nvSpPr>
          <p:cNvPr id="265" name="Google Shape;265;p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§§4.4–4.6; Results Summary, F1–F5; Apple MobileCLIP repository</a:t>
            </a:r>
            <a:endParaRPr/>
          </a:p>
        </p:txBody>
      </p:sp>
      <p:sp>
        <p:nvSpPr>
          <p:cNvPr id="266" name="Google Shape;266;p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9</a:t>
            </a:r>
            <a:endParaRPr/>
          </a:p>
        </p:txBody>
      </p:sp>
      <p:sp>
        <p:nvSpPr>
          <p:cNvPr id="267" name="Google Shape;267;p9"/>
          <p:cNvSpPr/>
          <p:nvPr/>
        </p:nvSpPr>
        <p:spPr>
          <a:xfrm>
            <a:off x="571500" y="1524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0.79 MB fp16 adapter: 393,216 coefficients; one matrix multiply plus normalization.</a:t>
            </a:r>
            <a:endParaRPr/>
          </a:p>
        </p:txBody>
      </p:sp>
      <p:sp>
        <p:nvSpPr>
          <p:cNvPr id="268" name="Google Shape;268;p9"/>
          <p:cNvSpPr/>
          <p:nvPr/>
        </p:nvSpPr>
        <p:spPr>
          <a:xfrm>
            <a:off x="571500" y="2476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MobileCLIP-S1 vision tower: 21.5M parameters. Small enough to target constrained devices.</a:t>
            </a:r>
            <a:endParaRPr/>
          </a:p>
        </p:txBody>
      </p:sp>
      <p:sp>
        <p:nvSpPr>
          <p:cNvPr id="269" name="Google Shape;269;p9"/>
          <p:cNvSpPr/>
          <p:nvPr/>
        </p:nvSpPr>
        <p:spPr>
          <a:xfrm>
            <a:off x="571500" y="3429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Core ML export and shared Qdrant index: reuse one search space across device tiers.</a:t>
            </a:r>
            <a:endParaRPr/>
          </a:p>
        </p:txBody>
      </p:sp>
      <p:sp>
        <p:nvSpPr>
          <p:cNvPr id="270" name="Google Shape;270;p9"/>
          <p:cNvSpPr/>
          <p:nvPr/>
        </p:nvSpPr>
        <p:spPr>
          <a:xfrm>
            <a:off x="571500" y="4381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Cosine measures direction agreement: MLP 0.903 versus ridge 0.900. Little measured gain.</a:t>
            </a:r>
            <a:endParaRPr/>
          </a:p>
        </p:txBody>
      </p:sp>
      <p:sp>
        <p:nvSpPr>
          <p:cNvPr id="271" name="Google Shape;271;p9"/>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Reported prototype timings are not device-wide latency, battery or privacy guarantees.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Engineering system 2: the shared hub</a:t>
            </a:r>
            <a:endParaRPr/>
          </a:p>
        </p:txBody>
      </p:sp>
      <p:sp>
        <p:nvSpPr>
          <p:cNvPr id="278" name="Google Shape;278;p1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E.14; published 4-space, intermediate 5-space, extended 7-space</a:t>
            </a:r>
            <a:endParaRPr/>
          </a:p>
        </p:txBody>
      </p:sp>
      <p:sp>
        <p:nvSpPr>
          <p:cNvPr id="279" name="Google Shape;279;p1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11</a:t>
            </a:r>
            <a:endParaRPr/>
          </a:p>
        </p:txBody>
      </p:sp>
      <p:graphicFrame>
        <p:nvGraphicFramePr>
          <p:cNvPr id="280" name="Google Shape;280;p11"/>
          <p:cNvGraphicFramePr/>
          <p:nvPr/>
        </p:nvGraphicFramePr>
        <p:xfrm>
          <a:off x="571500" y="1571625"/>
          <a:ext cx="3000000" cy="3000000"/>
        </p:xfrm>
        <a:graphic>
          <a:graphicData uri="http://schemas.openxmlformats.org/drawingml/2006/table">
            <a:tbl>
              <a:tblPr>
                <a:noFill/>
                <a:tableStyleId>{DB1ED831-198E-408C-AA95-3881B1BFC759}</a:tableStyleId>
              </a:tblPr>
              <a:tblGrid>
                <a:gridCol w="2762250"/>
                <a:gridCol w="6000750"/>
                <a:gridCol w="2286000"/>
              </a:tblGrid>
              <a:tr h="5953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Configuration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Members defining the basis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Concat width</a:t>
                      </a:r>
                      <a:endParaRPr/>
                    </a:p>
                  </a:txBody>
                  <a:tcPr marT="85725" marB="85725" marR="95250" marL="95250" anchor="ctr">
                    <a:solidFill>
                      <a:srgbClr val="142A45"/>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Published 4-space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DINO small/base/large + bge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5,376</a:t>
                      </a:r>
                      <a:endParaRPr/>
                    </a:p>
                  </a:txBody>
                  <a:tcPr marT="85725" marB="85725" marR="95250" marL="95250" anchor="ctr">
                    <a:solidFill>
                      <a:srgbClr val="F1F5F8"/>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Intermediate 5-space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Four-space + GPT-2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6,144</a:t>
                      </a:r>
                      <a:endParaRPr/>
                    </a:p>
                  </a:txBody>
                  <a:tcPr marT="85725" marB="85725" marR="95250" marL="95250" anchor="ctr">
                    <a:solidFill>
                      <a:srgbClr val="FFFFFF"/>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Extended 7-space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Five-space + BERT + 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7,680</a:t>
                      </a:r>
                      <a:endParaRPr/>
                    </a:p>
                  </a:txBody>
                  <a:tcPr marT="85725" marB="85725" marR="95250" marL="95250" anchor="ctr">
                    <a:solidFill>
                      <a:srgbClr val="F1F5F8"/>
                    </a:solidFill>
                  </a:tcPr>
                </a:tc>
              </a:tr>
            </a:tbl>
          </a:graphicData>
        </a:graphic>
      </p:graphicFrame>
      <p:sp>
        <p:nvSpPr>
          <p:cNvPr id="281" name="Google Shape;281;p11"/>
          <p:cNvSpPr/>
          <p:nvPr/>
        </p:nvSpPr>
        <p:spPr>
          <a:xfrm>
            <a:off x="571500" y="4333875"/>
            <a:ext cx="11049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087F83"/>
                </a:solidFill>
                <a:latin typeface="Arial"/>
                <a:ea typeface="Arial"/>
                <a:cs typeface="Arial"/>
                <a:sym typeface="Arial"/>
              </a:rPr>
              <a:t>Scale each space · concatenate · PCA to 512 · whiten</a:t>
            </a:r>
            <a:endParaRPr/>
          </a:p>
        </p:txBody>
      </p:sp>
      <p:sp>
        <p:nvSpPr>
          <p:cNvPr id="282" name="Google Shape;282;p1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Reference H comes from the fitted construction. Entry maps then learn to predict 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Training references and prediction routes</a:t>
            </a:r>
            <a:endParaRPr/>
          </a:p>
        </p:txBody>
      </p:sp>
      <p:sp>
        <p:nvSpPr>
          <p:cNvPr id="289" name="Google Shape;289;p1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Frozen_Hub_Caption_Transfer_Corrected.pdf</a:t>
            </a:r>
            <a:endParaRPr/>
          </a:p>
        </p:txBody>
      </p:sp>
      <p:sp>
        <p:nvSpPr>
          <p:cNvPr id="290" name="Google Shape;290;p1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12</a:t>
            </a:r>
            <a:endParaRPr/>
          </a:p>
        </p:txBody>
      </p:sp>
      <p:graphicFrame>
        <p:nvGraphicFramePr>
          <p:cNvPr id="291" name="Google Shape;291;p12"/>
          <p:cNvGraphicFramePr/>
          <p:nvPr/>
        </p:nvGraphicFramePr>
        <p:xfrm>
          <a:off x="571500" y="1428750"/>
          <a:ext cx="3000000" cy="3000000"/>
        </p:xfrm>
        <a:graphic>
          <a:graphicData uri="http://schemas.openxmlformats.org/drawingml/2006/table">
            <a:tbl>
              <a:tblPr>
                <a:noFill/>
                <a:tableStyleId>{DB1ED831-198E-408C-AA95-3881B1BFC759}</a:tableStyleId>
              </a:tblPr>
              <a:tblGrid>
                <a:gridCol w="2571750"/>
                <a:gridCol w="4095750"/>
                <a:gridCol w="4381500"/>
              </a:tblGrid>
              <a:tr h="6191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Fit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Input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Training reference / target</a:t>
                      </a:r>
                      <a:endParaRPr/>
                    </a:p>
                  </a:txBody>
                  <a:tcPr marT="85725" marB="85725" marR="95250" marL="95250" anchor="ctr">
                    <a:solidFill>
                      <a:srgbClr val="142A45"/>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Hub basis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Aligned member embeddings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Data-derived PCA coordinates H</a:t>
                      </a:r>
                      <a:endParaRPr/>
                    </a:p>
                  </a:txBody>
                  <a:tcPr marT="85725" marB="85725" marR="95250" marL="95250" anchor="ctr">
                    <a:solidFill>
                      <a:srgbClr val="F1F5F8"/>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Entry map W_k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Encoder features X_k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Reference hub coordinates H</a:t>
                      </a:r>
                      <a:endParaRPr/>
                    </a:p>
                  </a:txBody>
                  <a:tcPr marT="85725" marB="85725" marR="95250" marL="95250" anchor="ctr">
                    <a:solidFill>
                      <a:srgbClr val="FFFFFF"/>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Caption head W_head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H_small = X_small W_small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Actual bge caption vectors T_bge</a:t>
                      </a:r>
                      <a:endParaRPr/>
                    </a:p>
                  </a:txBody>
                  <a:tcPr marT="85725" marB="85725" marR="95250" marL="95250" anchor="ctr">
                    <a:solidFill>
                      <a:srgbClr val="F1F5F8"/>
                    </a:solidFill>
                  </a:tcPr>
                </a:tc>
              </a:tr>
            </a:tbl>
          </a:graphicData>
        </a:graphic>
      </p:graphicFrame>
      <p:sp>
        <p:nvSpPr>
          <p:cNvPr id="292" name="Google Shape;292;p12"/>
          <p:cNvSpPr/>
          <p:nvPr/>
        </p:nvSpPr>
        <p:spPr>
          <a:xfrm>
            <a:off x="571500" y="4305300"/>
            <a:ext cx="11049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087F83"/>
                </a:solidFill>
                <a:latin typeface="Arial"/>
                <a:ea typeface="Arial"/>
                <a:cs typeface="Arial"/>
                <a:sym typeface="Arial"/>
              </a:rPr>
              <a:t>At prediction time</a:t>
            </a:r>
            <a:endParaRPr/>
          </a:p>
        </p:txBody>
      </p:sp>
      <p:sp>
        <p:nvSpPr>
          <p:cNvPr id="293" name="Google Shape;293;p12"/>
          <p:cNvSpPr/>
          <p:nvPr/>
        </p:nvSpPr>
        <p:spPr>
          <a:xfrm>
            <a:off x="57150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image vector</a:t>
            </a:r>
            <a:endParaRPr/>
          </a:p>
        </p:txBody>
      </p:sp>
      <p:sp>
        <p:nvSpPr>
          <p:cNvPr id="294" name="Google Shape;294;p12"/>
          <p:cNvSpPr/>
          <p:nvPr/>
        </p:nvSpPr>
        <p:spPr>
          <a:xfrm>
            <a:off x="3476625"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W_k</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hub</a:t>
            </a:r>
            <a:endParaRPr/>
          </a:p>
        </p:txBody>
      </p:sp>
      <p:sp>
        <p:nvSpPr>
          <p:cNvPr id="295" name="Google Shape;295;p12"/>
          <p:cNvSpPr/>
          <p:nvPr/>
        </p:nvSpPr>
        <p:spPr>
          <a:xfrm>
            <a:off x="638175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W_head</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bge</a:t>
            </a:r>
            <a:endParaRPr/>
          </a:p>
        </p:txBody>
      </p:sp>
      <p:sp>
        <p:nvSpPr>
          <p:cNvPr id="296" name="Google Shape;296;p12"/>
          <p:cNvSpPr/>
          <p:nvPr/>
        </p:nvSpPr>
        <p:spPr>
          <a:xfrm>
            <a:off x="9286875" y="4905375"/>
            <a:ext cx="233362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Rank captions</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cat / dog / others</a:t>
            </a:r>
            <a:endParaRPr/>
          </a:p>
        </p:txBody>
      </p:sp>
      <p:cxnSp>
        <p:nvCxnSpPr>
          <p:cNvPr id="297" name="Google Shape;297;p12"/>
          <p:cNvCxnSpPr>
            <a:stCxn id="293" idx="3"/>
            <a:endCxn id="294" idx="1"/>
          </p:cNvCxnSpPr>
          <p:nvPr/>
        </p:nvCxnSpPr>
        <p:spPr>
          <a:xfrm>
            <a:off x="2809875"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98" name="Google Shape;298;p12"/>
          <p:cNvCxnSpPr>
            <a:stCxn id="294" idx="3"/>
            <a:endCxn id="295" idx="1"/>
          </p:cNvCxnSpPr>
          <p:nvPr/>
        </p:nvCxnSpPr>
        <p:spPr>
          <a:xfrm>
            <a:off x="5715000"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99" name="Google Shape;299;p12"/>
          <p:cNvCxnSpPr>
            <a:stCxn id="295" idx="3"/>
            <a:endCxn id="296" idx="1"/>
          </p:cNvCxnSpPr>
          <p:nvPr/>
        </p:nvCxnSpPr>
        <p:spPr>
          <a:xfrm>
            <a:off x="8620125" y="5286375"/>
            <a:ext cx="666900" cy="0"/>
          </a:xfrm>
          <a:prstGeom prst="straightConnector1">
            <a:avLst/>
          </a:prstGeom>
          <a:noFill/>
          <a:ln cap="flat" cmpd="sng" w="19050">
            <a:solidFill>
              <a:srgbClr val="087F83"/>
            </a:solidFill>
            <a:prstDash val="solid"/>
            <a:round/>
            <a:headEnd len="sm" w="sm" type="none"/>
            <a:tailEnd len="sm" w="sm"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1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 frozen head transfers to new encoders</a:t>
            </a:r>
            <a:endParaRPr/>
          </a:p>
        </p:txBody>
      </p:sp>
      <p:sp>
        <p:nvSpPr>
          <p:cNvPr id="306" name="Google Shape;306;p1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Hub Scores Summary, published column; Report E.2 and G0-exact</a:t>
            </a:r>
            <a:endParaRPr/>
          </a:p>
        </p:txBody>
      </p:sp>
      <p:sp>
        <p:nvSpPr>
          <p:cNvPr id="307" name="Google Shape;307;p1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13</a:t>
            </a:r>
            <a:endParaRPr/>
          </a:p>
        </p:txBody>
      </p:sp>
      <p:graphicFrame>
        <p:nvGraphicFramePr>
          <p:cNvPr id="308" name="Google Shape;308;p13"/>
          <p:cNvGraphicFramePr/>
          <p:nvPr/>
        </p:nvGraphicFramePr>
        <p:xfrm>
          <a:off x="571500" y="1476375"/>
          <a:ext cx="7429500" cy="3810000"/>
        </p:xfrm>
        <a:graphic>
          <a:graphicData uri="http://schemas.openxmlformats.org/drawingml/2006/chart">
            <c:chart r:id="rId3"/>
          </a:graphicData>
        </a:graphic>
      </p:graphicFrame>
      <p:sp>
        <p:nvSpPr>
          <p:cNvPr id="309" name="Google Shape;309;p13"/>
          <p:cNvSpPr/>
          <p:nvPr/>
        </p:nvSpPr>
        <p:spPr>
          <a:xfrm>
            <a:off x="8334375" y="1666875"/>
            <a:ext cx="32385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00">
                <a:solidFill>
                  <a:srgbClr val="087F83"/>
                </a:solidFill>
                <a:latin typeface="Arial"/>
                <a:ea typeface="Arial"/>
                <a:cs typeface="Arial"/>
                <a:sym typeface="Arial"/>
              </a:rPr>
              <a:t>ConvNeXt: 96.7%</a:t>
            </a:r>
            <a:endParaRPr/>
          </a:p>
        </p:txBody>
      </p:sp>
      <p:sp>
        <p:nvSpPr>
          <p:cNvPr id="310" name="Google Shape;310;p13"/>
          <p:cNvSpPr/>
          <p:nvPr/>
        </p:nvSpPr>
        <p:spPr>
          <a:xfrm>
            <a:off x="8334375" y="2667000"/>
            <a:ext cx="32385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One new entry map.</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hub.</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caption head.</a:t>
            </a:r>
            <a:endParaRPr/>
          </a:p>
        </p:txBody>
      </p:sp>
      <p:sp>
        <p:nvSpPr>
          <p:cNvPr id="311" name="Google Shape;311;p1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Retention measures reusable-head performance relative to an encoder-specific head.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1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The strongest shared structure is local</a:t>
            </a:r>
            <a:endParaRPr/>
          </a:p>
        </p:txBody>
      </p:sp>
      <p:sp>
        <p:nvSpPr>
          <p:cNvPr id="318" name="Google Shape;318;p1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C.13.8–C.13.10; supplied CKNNA.png</a:t>
            </a:r>
            <a:endParaRPr/>
          </a:p>
        </p:txBody>
      </p:sp>
      <p:sp>
        <p:nvSpPr>
          <p:cNvPr id="319" name="Google Shape;319;p1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15</a:t>
            </a:r>
            <a:endParaRPr/>
          </a:p>
        </p:txBody>
      </p:sp>
      <p:pic>
        <p:nvPicPr>
          <p:cNvPr id="320" name="Google Shape;320;p15"/>
          <p:cNvPicPr preferRelativeResize="0"/>
          <p:nvPr/>
        </p:nvPicPr>
        <p:blipFill rotWithShape="1">
          <a:blip r:embed="rId3">
            <a:alphaModFix/>
          </a:blip>
          <a:srcRect b="0" l="0" r="0" t="0"/>
          <a:stretch/>
        </p:blipFill>
        <p:spPr>
          <a:xfrm>
            <a:off x="1272153" y="1509713"/>
            <a:ext cx="9647694" cy="3429000"/>
          </a:xfrm>
          <a:prstGeom prst="rect">
            <a:avLst/>
          </a:prstGeom>
          <a:noFill/>
          <a:ln>
            <a:noFill/>
          </a:ln>
        </p:spPr>
      </p:pic>
      <p:sp>
        <p:nvSpPr>
          <p:cNvPr id="321" name="Google Shape;321;p15"/>
          <p:cNvSpPr/>
          <p:nvPr/>
        </p:nvSpPr>
        <p:spPr>
          <a:xfrm>
            <a:off x="571500" y="5114925"/>
            <a:ext cx="11049000" cy="5048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087F83"/>
                </a:solidFill>
                <a:latin typeface="Arial"/>
                <a:ea typeface="Arial"/>
                <a:cs typeface="Arial"/>
                <a:sym typeface="Arial"/>
              </a:rPr>
              <a:t>21 / 21 pairs: local CKNNA exceeds the global limit</a:t>
            </a:r>
            <a:endParaRPr/>
          </a:p>
        </p:txBody>
      </p:sp>
      <p:sp>
        <p:nvSpPr>
          <p:cNvPr id="322" name="Google Shape;322;p15"/>
          <p:cNvSpPr/>
          <p:nvPr/>
        </p:nvSpPr>
        <p:spPr>
          <a:xfrm>
            <a:off x="571500" y="57245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CKNNA compares local similarity structure. The falling overlap/chance curve alone is insufficient.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1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GPT-2 separates reading from writing</a:t>
            </a:r>
            <a:endParaRPr/>
          </a:p>
        </p:txBody>
      </p:sp>
      <p:sp>
        <p:nvSpPr>
          <p:cNvPr id="329" name="Google Shape;329;p1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C.13.3–C.13.4, C.11; supplied read/write diagnostics</a:t>
            </a:r>
            <a:endParaRPr/>
          </a:p>
        </p:txBody>
      </p:sp>
      <p:sp>
        <p:nvSpPr>
          <p:cNvPr id="330" name="Google Shape;330;p1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16</a:t>
            </a:r>
            <a:endParaRPr/>
          </a:p>
        </p:txBody>
      </p:sp>
      <p:graphicFrame>
        <p:nvGraphicFramePr>
          <p:cNvPr id="331" name="Google Shape;331;p16"/>
          <p:cNvGraphicFramePr/>
          <p:nvPr/>
        </p:nvGraphicFramePr>
        <p:xfrm>
          <a:off x="571500" y="1571625"/>
          <a:ext cx="3000000" cy="3000000"/>
        </p:xfrm>
        <a:graphic>
          <a:graphicData uri="http://schemas.openxmlformats.org/drawingml/2006/table">
            <a:tbl>
              <a:tblPr>
                <a:noFill/>
                <a:tableStyleId>{DB1ED831-198E-408C-AA95-3881B1BFC759}</a:tableStyleId>
              </a:tblPr>
              <a:tblGrid>
                <a:gridCol w="2286000"/>
                <a:gridCol w="1809750"/>
                <a:gridCol w="2000250"/>
                <a:gridCol w="4953000"/>
              </a:tblGrid>
              <a:tr h="66675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Space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Read out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Write into</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95.1%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24.8%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Recoverable content, fragile target ranking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bge-m3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Useful caption target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Not supplied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101.0%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Relative target score, not accuracy</a:t>
                      </a:r>
                      <a:endParaRPr/>
                    </a:p>
                  </a:txBody>
                  <a:tcPr marT="85725" marB="85725" marR="95250" marL="95250" anchor="ctr">
                    <a:solidFill>
                      <a:srgbClr val="F1F5F8"/>
                    </a:solidFill>
                  </a:tcPr>
                </a:tc>
              </a:tr>
            </a:tbl>
          </a:graphicData>
        </a:graphic>
      </p:graphicFrame>
      <p:sp>
        <p:nvSpPr>
          <p:cNvPr id="332" name="Google Shape;332;p16"/>
          <p:cNvSpPr/>
          <p:nvPr/>
        </p:nvSpPr>
        <p:spPr>
          <a:xfrm>
            <a:off x="571500" y="4619625"/>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87F83"/>
                </a:solidFill>
                <a:latin typeface="Arial"/>
                <a:ea typeface="Arial"/>
                <a:cs typeface="Arial"/>
                <a:sym typeface="Arial"/>
              </a:rPr>
              <a:t>Read: source vector into hub. Write: hub prediction into a target space.</a:t>
            </a:r>
            <a:endParaRPr/>
          </a:p>
        </p:txBody>
      </p:sp>
      <p:sp>
        <p:nvSpPr>
          <p:cNvPr id="333" name="Google Shape;333;p1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*bge read figure comes from the supplied discussion; diagnostics use their own references.</a:t>
            </a:r>
            <a:endParaRPr/>
          </a:p>
        </p:txBody>
      </p:sp>
      <p:sp>
        <p:nvSpPr>
          <p:cNvPr id="334" name="Google Shape;334;p16"/>
          <p:cNvSpPr/>
          <p:nvPr/>
        </p:nvSpPr>
        <p:spPr>
          <a:xfrm>
            <a:off x="10195560" y="274320"/>
            <a:ext cx="1417200" cy="347400"/>
          </a:xfrm>
          <a:prstGeom prst="roundRect">
            <a:avLst>
              <a:gd fmla="val 26316" name="adj"/>
            </a:avLst>
          </a:prstGeom>
          <a:solidFill>
            <a:srgbClr val="C8551A"/>
          </a:solidFill>
          <a:ln cap="flat" cmpd="sng" w="12700">
            <a:solidFill>
              <a:srgbClr val="C855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txBox="1"/>
          <p:nvPr/>
        </p:nvSpPr>
        <p:spPr>
          <a:xfrm>
            <a:off x="10195560" y="274320"/>
            <a:ext cx="1417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LIVE DEMO</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g3fb85ea8d0b_0_95" title="ChatGPT Image Sep 16, 2026, 06_47_10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g3fb85ea8d0b_0_100"/>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348" name="Google Shape;348;g3fb85ea8d0b_0_100"/>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DISCOVERY · ISOTROPY, NOT SIMILARITY-TRAINING</a:t>
            </a:r>
            <a:endParaRPr b="0" i="0" sz="1100" u="none" cap="none" strike="noStrike">
              <a:solidFill>
                <a:schemeClr val="dk1"/>
              </a:solidFill>
              <a:latin typeface="Calibri"/>
              <a:ea typeface="Calibri"/>
              <a:cs typeface="Calibri"/>
              <a:sym typeface="Calibri"/>
            </a:endParaRPr>
          </a:p>
        </p:txBody>
      </p:sp>
      <p:sp>
        <p:nvSpPr>
          <p:cNvPr id="349" name="Google Shape;349;g3fb85ea8d0b_0_100"/>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collapsed language space, rescued to 102.6% of a contrastive encoder by a free linear transform</a:t>
            </a:r>
            <a:endParaRPr b="0" i="0" sz="2800" u="none" cap="none" strike="noStrike">
              <a:solidFill>
                <a:schemeClr val="dk1"/>
              </a:solidFill>
              <a:latin typeface="Calibri"/>
              <a:ea typeface="Calibri"/>
              <a:cs typeface="Calibri"/>
              <a:sym typeface="Calibri"/>
            </a:endParaRPr>
          </a:p>
        </p:txBody>
      </p:sp>
      <p:pic>
        <p:nvPicPr>
          <p:cNvPr descr="/home/claude/deck/img/flow_e13.png" id="350" name="Google Shape;350;g3fb85ea8d0b_0_100"/>
          <p:cNvPicPr preferRelativeResize="0"/>
          <p:nvPr/>
        </p:nvPicPr>
        <p:blipFill rotWithShape="1">
          <a:blip r:embed="rId3">
            <a:alphaModFix/>
          </a:blip>
          <a:srcRect b="0" l="0" r="0" t="0"/>
          <a:stretch/>
        </p:blipFill>
        <p:spPr>
          <a:xfrm>
            <a:off x="548640" y="1463040"/>
            <a:ext cx="5943600" cy="3200401"/>
          </a:xfrm>
          <a:prstGeom prst="rect">
            <a:avLst/>
          </a:prstGeom>
          <a:noFill/>
          <a:ln>
            <a:noFill/>
          </a:ln>
        </p:spPr>
      </p:pic>
      <p:sp>
        <p:nvSpPr>
          <p:cNvPr id="351" name="Google Shape;351;g3fb85ea8d0b_0_100"/>
          <p:cNvSpPr/>
          <p:nvPr/>
        </p:nvSpPr>
        <p:spPr>
          <a:xfrm>
            <a:off x="6766560" y="1463040"/>
            <a:ext cx="4846200" cy="3200400"/>
          </a:xfrm>
          <a:prstGeom prst="roundRect">
            <a:avLst>
              <a:gd fmla="val 2286"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fb85ea8d0b_0_100"/>
          <p:cNvSpPr txBox="1"/>
          <p:nvPr/>
        </p:nvSpPr>
        <p:spPr>
          <a:xfrm>
            <a:off x="6931152" y="1572768"/>
            <a:ext cx="4517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What happened</a:t>
            </a:r>
            <a:endParaRPr b="0" i="0" sz="1300" u="none" cap="none" strike="noStrike">
              <a:solidFill>
                <a:schemeClr val="dk1"/>
              </a:solidFill>
              <a:latin typeface="Calibri"/>
              <a:ea typeface="Calibri"/>
              <a:cs typeface="Calibri"/>
              <a:sym typeface="Calibri"/>
            </a:endParaRPr>
          </a:p>
        </p:txBody>
      </p:sp>
      <p:sp>
        <p:nvSpPr>
          <p:cNvPr id="353" name="Google Shape;353;g3fb85ea8d0b_0_100"/>
          <p:cNvSpPr txBox="1"/>
          <p:nvPr/>
        </p:nvSpPr>
        <p:spPr>
          <a:xfrm>
            <a:off x="6931152" y="1965960"/>
            <a:ext cx="4517100" cy="260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GPT-2's caption space has effective rank 6.6 of 768 — every caption sits at cosine +0.999 to every other. A cone, not a cloud. Cosine reads 1.000 while retrieval R@1 is 0.130.</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Whitening (divide each direction by its spread — label-free, linear) lifts R@1 to 0.478 = 102.6% of an encoder trained contrastively on 1.2 BILLION pairs. The information was there; the geometry hid it.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CONTROL: centering alone (no whitening) leaves rank at 6.5 and fails — so it is the isotropy, not the shift.</a:t>
            </a:r>
            <a:endParaRPr b="0" i="0" sz="1150" u="none" cap="none" strike="noStrike">
              <a:solidFill>
                <a:schemeClr val="dk1"/>
              </a:solidFill>
              <a:latin typeface="Calibri"/>
              <a:ea typeface="Calibri"/>
              <a:cs typeface="Calibri"/>
              <a:sym typeface="Calibri"/>
            </a:endParaRPr>
          </a:p>
        </p:txBody>
      </p:sp>
      <p:sp>
        <p:nvSpPr>
          <p:cNvPr id="354" name="Google Shape;354;g3fb85ea8d0b_0_100"/>
          <p:cNvSpPr txBox="1"/>
          <p:nvPr/>
        </p:nvSpPr>
        <p:spPr>
          <a:xfrm>
            <a:off x="548640" y="4892040"/>
            <a:ext cx="1106430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Measured — effective rank vs R@1 correlate at ρ +0.94 across encoders: isotropy is a dial, not a switch.</a:t>
            </a:r>
            <a:endParaRPr b="0" i="0" sz="11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Proved: isotropy is NECESSARY, not sufficient — a linear transform supplies the coordinate frame; contrastive training adds the arrangement that survives whitening.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g3fb85ea8d0b_0_112"/>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361" name="Google Shape;361;g3fb85ea8d0b_0_112"/>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HUB · MANY ENCODERS, ONE SPACE</a:t>
            </a:r>
            <a:endParaRPr b="0" i="0" sz="1100" u="none" cap="none" strike="noStrike">
              <a:solidFill>
                <a:schemeClr val="dk1"/>
              </a:solidFill>
              <a:latin typeface="Calibri"/>
              <a:ea typeface="Calibri"/>
              <a:cs typeface="Calibri"/>
              <a:sym typeface="Calibri"/>
            </a:endParaRPr>
          </a:p>
        </p:txBody>
      </p:sp>
      <p:sp>
        <p:nvSpPr>
          <p:cNvPr id="362" name="Google Shape;362;g3fb85ea8d0b_0_112"/>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component trained on ONE encoder transfers to encoders it never saw</a:t>
            </a:r>
            <a:endParaRPr b="0" i="0" sz="2800" u="none" cap="none" strike="noStrike">
              <a:solidFill>
                <a:schemeClr val="dk1"/>
              </a:solidFill>
              <a:latin typeface="Calibri"/>
              <a:ea typeface="Calibri"/>
              <a:cs typeface="Calibri"/>
              <a:sym typeface="Calibri"/>
            </a:endParaRPr>
          </a:p>
        </p:txBody>
      </p:sp>
      <p:pic>
        <p:nvPicPr>
          <p:cNvPr descr="/home/claude/deck/img/hub_arch.png" id="363" name="Google Shape;363;g3fb85ea8d0b_0_112"/>
          <p:cNvPicPr preferRelativeResize="0"/>
          <p:nvPr/>
        </p:nvPicPr>
        <p:blipFill rotWithShape="1">
          <a:blip r:embed="rId3">
            <a:alphaModFix/>
          </a:blip>
          <a:srcRect b="0" l="0" r="0" t="0"/>
          <a:stretch/>
        </p:blipFill>
        <p:spPr>
          <a:xfrm>
            <a:off x="548640" y="1463040"/>
            <a:ext cx="5760718" cy="4206241"/>
          </a:xfrm>
          <a:prstGeom prst="rect">
            <a:avLst/>
          </a:prstGeom>
          <a:noFill/>
          <a:ln>
            <a:noFill/>
          </a:ln>
        </p:spPr>
      </p:pic>
      <p:graphicFrame>
        <p:nvGraphicFramePr>
          <p:cNvPr id="364" name="Google Shape;364;g3fb85ea8d0b_0_112"/>
          <p:cNvGraphicFramePr/>
          <p:nvPr/>
        </p:nvGraphicFramePr>
        <p:xfrm>
          <a:off x="6492240" y="1463040"/>
          <a:ext cx="3000000" cy="3000000"/>
        </p:xfrm>
        <a:graphic>
          <a:graphicData uri="http://schemas.openxmlformats.org/drawingml/2006/table">
            <a:tbl>
              <a:tblPr>
                <a:noFill/>
                <a:tableStyleId>{DB1ED831-198E-408C-AA95-3881B1BFC759}</a:tableStyleId>
              </a:tblPr>
              <a:tblGrid>
                <a:gridCol w="2377450"/>
                <a:gridCol w="777250"/>
                <a:gridCol w="960125"/>
                <a:gridCol w="1005850"/>
              </a:tblGrid>
              <a:tr h="1333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recipient (never seen)</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R@1</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 native</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control</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DINOv2-base (sibling)</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0.445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SigLIP 2 (new lineage)</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0.557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94.2%</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ConvNeXt (convnet, supervised)</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random-map control</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0.003</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chance 0.001</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bl>
          </a:graphicData>
        </a:graphic>
      </p:graphicFrame>
      <p:sp>
        <p:nvSpPr>
          <p:cNvPr id="365" name="Google Shape;365;g3fb85ea8d0b_0_112"/>
          <p:cNvSpPr txBox="1"/>
          <p:nvPr/>
        </p:nvSpPr>
        <p:spPr>
          <a:xfrm>
            <a:off x="6492240" y="3063240"/>
            <a:ext cx="5120700" cy="2743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Build once (no training): z-score → concatenate → PCA to 512 → whiten. One ridge map per encoder INTO the hub; one caption head OUT. Adding a model = ONE solve; hub, head, every other map untouched.</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CONTROLS: a random entry map scores 0.003 (chance 0.001). ConvNeXt — a convnet, fully supervised, never a member — hits 96.7%, ABOVE the ViT band: neither architecture nor supervision bounds the claim.</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All 42 directed pairs share one hub at 103.6% of per-pair hubs — sharing is free.</a:t>
            </a:r>
            <a:endParaRPr b="0" i="0" sz="1050" u="none" cap="none" strike="noStrike">
              <a:solidFill>
                <a:schemeClr val="dk1"/>
              </a:solidFill>
              <a:latin typeface="Calibri"/>
              <a:ea typeface="Calibri"/>
              <a:cs typeface="Calibri"/>
              <a:sym typeface="Calibri"/>
            </a:endParaRPr>
          </a:p>
        </p:txBody>
      </p:sp>
      <p:sp>
        <p:nvSpPr>
          <p:cNvPr id="366" name="Google Shape;366;g3fb85ea8d0b_0_112">
            <a:hlinkClick r:id="rId4"/>
          </p:cNvPr>
          <p:cNvSpPr txBox="1"/>
          <p:nvPr/>
        </p:nvSpPr>
        <p:spPr>
          <a:xfrm>
            <a:off x="548640" y="5852160"/>
            <a:ext cx="576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Calibri"/>
              <a:buNone/>
            </a:pPr>
            <a:r>
              <a:rPr b="0" i="0" lang="en-US" sz="1200" u="sng" cap="none" strike="noStrike">
                <a:solidFill>
                  <a:srgbClr val="0F766E"/>
                </a:solidFill>
                <a:latin typeface="Calibri"/>
                <a:ea typeface="Calibri"/>
                <a:cs typeface="Calibri"/>
                <a:sym typeface="Calibri"/>
                <a:hlinkClick r:id="rId5">
                  <a:extLst>
                    <a:ext uri="{A12FA001-AC4F-418D-AE19-62706E023703}">
                      <ahyp:hlinkClr val="tx"/>
                    </a:ext>
                  </a:extLst>
                </a:hlinkClick>
              </a:rPr>
              <a:t>▶ Demo notebook G2 (live) — Drive: convergence_experiment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g3fb85ea8d0b_0_139"/>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73" name="Google Shape;373;g3fb85ea8d0b_0_139"/>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AND WHAT DECIDES HOW MUCH</a:t>
            </a:r>
            <a:endParaRPr b="0" i="0" sz="1100" u="none" cap="none" strike="noStrike">
              <a:solidFill>
                <a:schemeClr val="dk1"/>
              </a:solidFill>
              <a:latin typeface="Calibri"/>
              <a:ea typeface="Calibri"/>
              <a:cs typeface="Calibri"/>
              <a:sym typeface="Calibri"/>
            </a:endParaRPr>
          </a:p>
        </p:txBody>
      </p:sp>
      <p:sp>
        <p:nvSpPr>
          <p:cNvPr id="374" name="Google Shape;374;g3fb85ea8d0b_0_139"/>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Objective beats lineage beats modality</a:t>
            </a:r>
            <a:endParaRPr b="0" i="0" sz="2800" u="none" cap="none" strike="noStrike">
              <a:solidFill>
                <a:schemeClr val="dk1"/>
              </a:solidFill>
              <a:latin typeface="Calibri"/>
              <a:ea typeface="Calibri"/>
              <a:cs typeface="Calibri"/>
              <a:sym typeface="Calibri"/>
            </a:endParaRPr>
          </a:p>
        </p:txBody>
      </p:sp>
      <p:pic>
        <p:nvPicPr>
          <p:cNvPr descr="/home/claude/deck/img/shape_order.png" id="375" name="Google Shape;375;g3fb85ea8d0b_0_139"/>
          <p:cNvPicPr preferRelativeResize="0"/>
          <p:nvPr/>
        </p:nvPicPr>
        <p:blipFill rotWithShape="1">
          <a:blip r:embed="rId3">
            <a:alphaModFix/>
          </a:blip>
          <a:srcRect b="0" l="0" r="0" t="0"/>
          <a:stretch/>
        </p:blipFill>
        <p:spPr>
          <a:xfrm>
            <a:off x="548640" y="1463040"/>
            <a:ext cx="5577838" cy="3108960"/>
          </a:xfrm>
          <a:prstGeom prst="rect">
            <a:avLst/>
          </a:prstGeom>
          <a:noFill/>
          <a:ln>
            <a:noFill/>
          </a:ln>
        </p:spPr>
      </p:pic>
      <p:pic>
        <p:nvPicPr>
          <p:cNvPr descr="/home/claude/deck/img/encoder_map.png" id="376" name="Google Shape;376;g3fb85ea8d0b_0_139"/>
          <p:cNvPicPr preferRelativeResize="0"/>
          <p:nvPr/>
        </p:nvPicPr>
        <p:blipFill rotWithShape="1">
          <a:blip r:embed="rId4">
            <a:alphaModFix/>
          </a:blip>
          <a:srcRect b="0" l="0" r="0" t="0"/>
          <a:stretch/>
        </p:blipFill>
        <p:spPr>
          <a:xfrm>
            <a:off x="6309360" y="1463040"/>
            <a:ext cx="5303520" cy="2834639"/>
          </a:xfrm>
          <a:prstGeom prst="rect">
            <a:avLst/>
          </a:prstGeom>
          <a:noFill/>
          <a:ln>
            <a:noFill/>
          </a:ln>
        </p:spPr>
      </p:pic>
      <p:sp>
        <p:nvSpPr>
          <p:cNvPr id="377" name="Google Shape;377;g3fb85ea8d0b_0_139"/>
          <p:cNvSpPr txBox="1"/>
          <p:nvPr/>
        </p:nvSpPr>
        <p:spPr>
          <a:xfrm>
            <a:off x="5486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+53×</a:t>
            </a:r>
            <a:endParaRPr b="0" i="0" sz="3600" u="none" cap="none" strike="noStrike">
              <a:solidFill>
                <a:schemeClr val="dk1"/>
              </a:solidFill>
              <a:latin typeface="Calibri"/>
              <a:ea typeface="Calibri"/>
              <a:cs typeface="Calibri"/>
              <a:sym typeface="Calibri"/>
            </a:endParaRPr>
          </a:p>
        </p:txBody>
      </p:sp>
      <p:sp>
        <p:nvSpPr>
          <p:cNvPr id="378" name="Google Shape;378;g3fb85ea8d0b_0_139"/>
          <p:cNvSpPr txBox="1"/>
          <p:nvPr/>
        </p:nvSpPr>
        <p:spPr>
          <a:xfrm>
            <a:off x="5486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OBJECTIVE</a:t>
            </a:r>
            <a:endParaRPr b="0" i="0" sz="1100" u="none" cap="none" strike="noStrike">
              <a:solidFill>
                <a:schemeClr val="dk1"/>
              </a:solidFill>
              <a:latin typeface="Calibri"/>
              <a:ea typeface="Calibri"/>
              <a:cs typeface="Calibri"/>
              <a:sym typeface="Calibri"/>
            </a:endParaRPr>
          </a:p>
        </p:txBody>
      </p:sp>
      <p:sp>
        <p:nvSpPr>
          <p:cNvPr id="379" name="Google Shape;379;g3fb85ea8d0b_0_139"/>
          <p:cNvSpPr txBox="1"/>
          <p:nvPr/>
        </p:nvSpPr>
        <p:spPr>
          <a:xfrm>
            <a:off x="23774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+44×</a:t>
            </a:r>
            <a:endParaRPr b="0" i="0" sz="3600" u="none" cap="none" strike="noStrike">
              <a:solidFill>
                <a:schemeClr val="dk1"/>
              </a:solidFill>
              <a:latin typeface="Calibri"/>
              <a:ea typeface="Calibri"/>
              <a:cs typeface="Calibri"/>
              <a:sym typeface="Calibri"/>
            </a:endParaRPr>
          </a:p>
        </p:txBody>
      </p:sp>
      <p:sp>
        <p:nvSpPr>
          <p:cNvPr id="380" name="Google Shape;380;g3fb85ea8d0b_0_139"/>
          <p:cNvSpPr txBox="1"/>
          <p:nvPr/>
        </p:nvSpPr>
        <p:spPr>
          <a:xfrm>
            <a:off x="23774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LINEAGE</a:t>
            </a:r>
            <a:endParaRPr b="0" i="0" sz="1100" u="none" cap="none" strike="noStrike">
              <a:solidFill>
                <a:schemeClr val="dk1"/>
              </a:solidFill>
              <a:latin typeface="Calibri"/>
              <a:ea typeface="Calibri"/>
              <a:cs typeface="Calibri"/>
              <a:sym typeface="Calibri"/>
            </a:endParaRPr>
          </a:p>
        </p:txBody>
      </p:sp>
      <p:sp>
        <p:nvSpPr>
          <p:cNvPr id="381" name="Google Shape;381;g3fb85ea8d0b_0_139"/>
          <p:cNvSpPr txBox="1"/>
          <p:nvPr/>
        </p:nvSpPr>
        <p:spPr>
          <a:xfrm>
            <a:off x="42062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+29×</a:t>
            </a:r>
            <a:endParaRPr b="0" i="0" sz="3600" u="none" cap="none" strike="noStrike">
              <a:solidFill>
                <a:schemeClr val="dk1"/>
              </a:solidFill>
              <a:latin typeface="Calibri"/>
              <a:ea typeface="Calibri"/>
              <a:cs typeface="Calibri"/>
              <a:sym typeface="Calibri"/>
            </a:endParaRPr>
          </a:p>
        </p:txBody>
      </p:sp>
      <p:sp>
        <p:nvSpPr>
          <p:cNvPr id="382" name="Google Shape;382;g3fb85ea8d0b_0_139"/>
          <p:cNvSpPr txBox="1"/>
          <p:nvPr/>
        </p:nvSpPr>
        <p:spPr>
          <a:xfrm>
            <a:off x="42062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MODALITY</a:t>
            </a:r>
            <a:endParaRPr b="0" i="0" sz="1100" u="none" cap="none" strike="noStrike">
              <a:solidFill>
                <a:schemeClr val="dk1"/>
              </a:solidFill>
              <a:latin typeface="Calibri"/>
              <a:ea typeface="Calibri"/>
              <a:cs typeface="Calibri"/>
              <a:sym typeface="Calibri"/>
            </a:endParaRPr>
          </a:p>
        </p:txBody>
      </p:sp>
      <p:sp>
        <p:nvSpPr>
          <p:cNvPr id="383" name="Google Shape;383;g3fb85ea8d0b_0_139"/>
          <p:cNvSpPr txBox="1"/>
          <p:nvPr/>
        </p:nvSpPr>
        <p:spPr>
          <a:xfrm>
            <a:off x="6309360" y="4480560"/>
            <a:ext cx="5303400" cy="1828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Top pair: bge–SBERT ρ +0.76 — shares an objective and NO ancestry; beats the sibling image pair.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ConvNeXt: LOWEST raw shape agreement (0.33–0.40), HIGHEST transfer (96.7%) — raw shape does not predict transfer.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MDS map (right): no map fitted — encoders cluster by training OBJECTIVE, not by modality.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g3fb85ea8d0b_0_155"/>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390" name="Google Shape;390;g3fb85ea8d0b_0_155"/>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ACHIEVEMENTS — AND THE HONESTY THAT BACKS THEM</a:t>
            </a:r>
            <a:endParaRPr b="0" i="0" sz="1100" u="none" cap="none" strike="noStrike">
              <a:solidFill>
                <a:schemeClr val="dk1"/>
              </a:solidFill>
              <a:latin typeface="Calibri"/>
              <a:ea typeface="Calibri"/>
              <a:cs typeface="Calibri"/>
              <a:sym typeface="Calibri"/>
            </a:endParaRPr>
          </a:p>
        </p:txBody>
      </p:sp>
      <p:sp>
        <p:nvSpPr>
          <p:cNvPr id="391" name="Google Shape;391;g3fb85ea8d0b_0_155"/>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Nine findings, two shipped systems, eleven falsified explanations</a:t>
            </a:r>
            <a:endParaRPr b="0" i="0" sz="2800" u="none" cap="none" strike="noStrike">
              <a:solidFill>
                <a:schemeClr val="dk1"/>
              </a:solidFill>
              <a:latin typeface="Calibri"/>
              <a:ea typeface="Calibri"/>
              <a:cs typeface="Calibri"/>
              <a:sym typeface="Calibri"/>
            </a:endParaRPr>
          </a:p>
        </p:txBody>
      </p:sp>
      <p:sp>
        <p:nvSpPr>
          <p:cNvPr id="392" name="Google Shape;392;g3fb85ea8d0b_0_155"/>
          <p:cNvSpPr/>
          <p:nvPr/>
        </p:nvSpPr>
        <p:spPr>
          <a:xfrm>
            <a:off x="548640" y="1463040"/>
            <a:ext cx="5486400" cy="3108900"/>
          </a:xfrm>
          <a:prstGeom prst="roundRect">
            <a:avLst>
              <a:gd fmla="val 2353" name="adj"/>
            </a:avLst>
          </a:prstGeom>
          <a:solidFill>
            <a:srgbClr val="EEF7F3"/>
          </a:solidFill>
          <a:ln cap="flat" cmpd="sng" w="12700">
            <a:solidFill>
              <a:srgbClr val="CFE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fb85ea8d0b_0_155"/>
          <p:cNvSpPr txBox="1"/>
          <p:nvPr/>
        </p:nvSpPr>
        <p:spPr>
          <a:xfrm>
            <a:off x="713232" y="1572768"/>
            <a:ext cx="512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300"/>
              <a:buFont typeface="Calibri"/>
              <a:buNone/>
            </a:pPr>
            <a:r>
              <a:rPr b="1" i="0" lang="en-US" sz="1300" u="none" cap="none" strike="noStrike">
                <a:solidFill>
                  <a:srgbClr val="1B5E20"/>
                </a:solidFill>
                <a:latin typeface="Calibri"/>
                <a:ea typeface="Calibri"/>
                <a:cs typeface="Calibri"/>
                <a:sym typeface="Calibri"/>
              </a:rPr>
              <a:t>PROVED &amp; BUILT</a:t>
            </a:r>
            <a:endParaRPr b="0" i="0" sz="1300" u="none" cap="none" strike="noStrike">
              <a:solidFill>
                <a:schemeClr val="dk1"/>
              </a:solidFill>
              <a:latin typeface="Calibri"/>
              <a:ea typeface="Calibri"/>
              <a:cs typeface="Calibri"/>
              <a:sym typeface="Calibri"/>
            </a:endParaRPr>
          </a:p>
        </p:txBody>
      </p:sp>
      <p:sp>
        <p:nvSpPr>
          <p:cNvPr id="394" name="Google Shape;394;g3fb85ea8d0b_0_155"/>
          <p:cNvSpPr txBox="1"/>
          <p:nvPr/>
        </p:nvSpPr>
        <p:spPr>
          <a:xfrm>
            <a:off x="713232" y="1901952"/>
            <a:ext cx="51663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Convergence is real but LOCAL; linear, not rigid (0.038 vs 0.592).</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Cross-modal with no joint training: 40.9–58.3% of ceiling, 358×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Isotropy rescue: a collapsed space → 102.6% of a billion-pair encoder.</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Self-identifying from shape alone: 39.7% exact with ZERO pairs (595×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Objective &gt; lineage &gt; modality (+53 / +44 / +29×).</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Shipped: a 0.79 MB phone adapter, and a hub where adding a model is one solve.</a:t>
            </a:r>
            <a:endParaRPr b="0" i="0" sz="1050" u="none" cap="none" strike="noStrike">
              <a:solidFill>
                <a:schemeClr val="dk1"/>
              </a:solidFill>
              <a:latin typeface="Calibri"/>
              <a:ea typeface="Calibri"/>
              <a:cs typeface="Calibri"/>
              <a:sym typeface="Calibri"/>
            </a:endParaRPr>
          </a:p>
        </p:txBody>
      </p:sp>
      <p:sp>
        <p:nvSpPr>
          <p:cNvPr id="395" name="Google Shape;395;g3fb85ea8d0b_0_155"/>
          <p:cNvSpPr/>
          <p:nvPr/>
        </p:nvSpPr>
        <p:spPr>
          <a:xfrm>
            <a:off x="6217920" y="1463040"/>
            <a:ext cx="5394900" cy="3108900"/>
          </a:xfrm>
          <a:prstGeom prst="roundRect">
            <a:avLst>
              <a:gd fmla="val 2353" name="adj"/>
            </a:avLst>
          </a:prstGeom>
          <a:solidFill>
            <a:srgbClr val="FFF4EC"/>
          </a:solidFill>
          <a:ln cap="flat" cmpd="sng" w="12700">
            <a:solidFill>
              <a:srgbClr val="F0D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fb85ea8d0b_0_155"/>
          <p:cNvSpPr txBox="1"/>
          <p:nvPr/>
        </p:nvSpPr>
        <p:spPr>
          <a:xfrm>
            <a:off x="6382512" y="1572768"/>
            <a:ext cx="5029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1C1C"/>
              </a:buClr>
              <a:buSzPts val="1300"/>
              <a:buFont typeface="Calibri"/>
              <a:buNone/>
            </a:pPr>
            <a:r>
              <a:rPr b="1" i="0" lang="en-US" sz="1300" u="none" cap="none" strike="noStrike">
                <a:solidFill>
                  <a:srgbClr val="B91C1C"/>
                </a:solidFill>
                <a:latin typeface="Calibri"/>
                <a:ea typeface="Calibri"/>
                <a:cs typeface="Calibri"/>
                <a:sym typeface="Calibri"/>
              </a:rPr>
              <a:t>FALSIFIED, KEPT ON THE RECORD (11 — two of them mine)</a:t>
            </a:r>
            <a:endParaRPr b="0" i="0" sz="1300" u="none" cap="none" strike="noStrike">
              <a:solidFill>
                <a:schemeClr val="dk1"/>
              </a:solidFill>
              <a:latin typeface="Calibri"/>
              <a:ea typeface="Calibri"/>
              <a:cs typeface="Calibri"/>
              <a:sym typeface="Calibri"/>
            </a:endParaRPr>
          </a:p>
        </p:txBody>
      </p:sp>
      <p:sp>
        <p:nvSpPr>
          <p:cNvPr id="397" name="Google Shape;397;g3fb85ea8d0b_0_155"/>
          <p:cNvSpPr txBox="1"/>
          <p:nvPr/>
        </p:nvSpPr>
        <p:spPr>
          <a:xfrm>
            <a:off x="6382512" y="1901952"/>
            <a:ext cx="50748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'Same space' — refuted (raw cosine ≈ 0). It is local, not global.</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 rotation aligns them' — refuted (0.038). 'An MLP beats the matrix' — refuted (+0.0000).</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'Scaling keeps helping' — refuted (both ladders fall past 304M).</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The width cliff: transfer collapses at hub width = 768. Seven mechanisms falsified; the eighth confirmed — 768 is the source encoder's algebraic rank, a NUMERICAL artifact, not a property of sharing. One of my own tests was wrong and is recorded as such.</a:t>
            </a:r>
            <a:endParaRPr b="0" i="0" sz="1050" u="none" cap="none" strike="noStrike">
              <a:solidFill>
                <a:schemeClr val="dk1"/>
              </a:solidFill>
              <a:latin typeface="Calibri"/>
              <a:ea typeface="Calibri"/>
              <a:cs typeface="Calibri"/>
              <a:sym typeface="Calibri"/>
            </a:endParaRPr>
          </a:p>
        </p:txBody>
      </p:sp>
      <p:sp>
        <p:nvSpPr>
          <p:cNvPr id="398" name="Google Shape;398;g3fb85ea8d0b_0_155"/>
          <p:cNvSpPr txBox="1"/>
          <p:nvPr/>
        </p:nvSpPr>
        <p:spPr>
          <a:xfrm>
            <a:off x="548640" y="4754880"/>
            <a:ext cx="110643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1" lang="en-US" sz="1350" u="none" cap="none" strike="noStrike">
                <a:solidFill>
                  <a:srgbClr val="1E2761"/>
                </a:solidFill>
                <a:latin typeface="Calibri"/>
                <a:ea typeface="Calibri"/>
                <a:cs typeface="Calibri"/>
                <a:sym typeface="Calibri"/>
              </a:rPr>
              <a:t>The method IS the result: a claim that survived a test which could have killed it is worth more than one never exposed to one.</a:t>
            </a:r>
            <a:endParaRPr b="0" i="0" sz="1350" u="none" cap="none" strike="noStrike">
              <a:solidFill>
                <a:schemeClr val="dk1"/>
              </a:solidFill>
              <a:latin typeface="Calibri"/>
              <a:ea typeface="Calibri"/>
              <a:cs typeface="Calibri"/>
              <a:sym typeface="Calibri"/>
            </a:endParaRPr>
          </a:p>
        </p:txBody>
      </p:sp>
      <p:sp>
        <p:nvSpPr>
          <p:cNvPr id="399" name="Google Shape;399;g3fb85ea8d0b_0_155"/>
          <p:cNvSpPr txBox="1"/>
          <p:nvPr/>
        </p:nvSpPr>
        <p:spPr>
          <a:xfrm>
            <a:off x="548640" y="5669280"/>
            <a:ext cx="110643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Full method, all tables and the falsification ledger: Final_Project_Report.pdf (74 pp) · the story with the math: Project_Atlas.pdf</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04" name="Shape 404"/>
        <p:cNvGrpSpPr/>
        <p:nvPr/>
      </p:nvGrpSpPr>
      <p:grpSpPr>
        <a:xfrm>
          <a:off x="0" y="0"/>
          <a:ext cx="0" cy="0"/>
          <a:chOff x="0" y="0"/>
          <a:chExt cx="0" cy="0"/>
        </a:xfrm>
      </p:grpSpPr>
      <p:sp>
        <p:nvSpPr>
          <p:cNvPr id="405" name="Google Shape;405;g3fb85ea8d0b_0_170"/>
          <p:cNvSpPr txBox="1"/>
          <p:nvPr/>
        </p:nvSpPr>
        <p:spPr>
          <a:xfrm>
            <a:off x="731520" y="68580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406" name="Google Shape;406;g3fb85ea8d0b_0_170"/>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407" name="Google Shape;407;g3fb85ea8d0b_0_170"/>
          <p:cNvSpPr/>
          <p:nvPr/>
        </p:nvSpPr>
        <p:spPr>
          <a:xfrm>
            <a:off x="731520" y="3337560"/>
            <a:ext cx="10515600" cy="1691700"/>
          </a:xfrm>
          <a:prstGeom prst="roundRect">
            <a:avLst>
              <a:gd fmla="val 4324"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fb85ea8d0b_0_170"/>
          <p:cNvSpPr txBox="1"/>
          <p:nvPr/>
        </p:nvSpPr>
        <p:spPr>
          <a:xfrm>
            <a:off x="914400" y="3456432"/>
            <a:ext cx="1005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NEXT, IN ORDER OF VALUE</a:t>
            </a:r>
            <a:endParaRPr b="0" i="0" sz="1100" u="none" cap="none" strike="noStrike">
              <a:solidFill>
                <a:schemeClr val="dk1"/>
              </a:solidFill>
              <a:latin typeface="Calibri"/>
              <a:ea typeface="Calibri"/>
              <a:cs typeface="Calibri"/>
              <a:sym typeface="Calibri"/>
            </a:endParaRPr>
          </a:p>
        </p:txBody>
      </p:sp>
      <p:sp>
        <p:nvSpPr>
          <p:cNvPr id="409" name="Google Shape;409;g3fb85ea8d0b_0_170"/>
          <p:cNvSpPr txBox="1"/>
          <p:nvPr/>
        </p:nvSpPr>
        <p:spPr>
          <a:xfrm>
            <a:off x="914400" y="3767328"/>
            <a:ext cx="10149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1 · Scale the text side to 7B+ — the examiner's first question, and Qwen-4B already fell.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2 · K small experts vs one large model, at matched parameters (pre-registered B1).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3 · Re-estimate the hub on a 35k-item corpus; then rebuild it WITH DINOv2-giant as a member.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4 · Reverse-direction transfer (ConvNeXt as target) · other languages · non-linear hubs.</a:t>
            </a:r>
            <a:endParaRPr b="0" i="0" sz="1250" u="none" cap="none" strike="noStrike">
              <a:solidFill>
                <a:schemeClr val="dk1"/>
              </a:solidFill>
              <a:latin typeface="Calibri"/>
              <a:ea typeface="Calibri"/>
              <a:cs typeface="Calibri"/>
              <a:sym typeface="Calibri"/>
            </a:endParaRPr>
          </a:p>
        </p:txBody>
      </p:sp>
      <p:sp>
        <p:nvSpPr>
          <p:cNvPr id="410" name="Google Shape;410;g3fb85ea8d0b_0_170"/>
          <p:cNvSpPr txBox="1"/>
          <p:nvPr/>
        </p:nvSpPr>
        <p:spPr>
          <a:xfrm>
            <a:off x="731520" y="5257800"/>
            <a:ext cx="10698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Science: a subset of PRH proved, narrowed to its defensible form.     Engineering: two small-expert systems that run without a GPU.     Method: 11 falsified explanations kept on the record.</a:t>
            </a:r>
            <a:endParaRPr b="0" i="0" sz="1300" u="none" cap="none" strike="noStrike">
              <a:solidFill>
                <a:schemeClr val="dk1"/>
              </a:solidFill>
              <a:latin typeface="Calibri"/>
              <a:ea typeface="Calibri"/>
              <a:cs typeface="Calibri"/>
              <a:sym typeface="Calibri"/>
            </a:endParaRPr>
          </a:p>
        </p:txBody>
      </p:sp>
      <p:sp>
        <p:nvSpPr>
          <p:cNvPr id="411" name="Google Shape;411;g3fb85ea8d0b_0_170"/>
          <p:cNvSpPr txBox="1"/>
          <p:nvPr/>
        </p:nvSpPr>
        <p:spPr>
          <a:xfrm>
            <a:off x="731520" y="608076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Thank you — questions welcome.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g3fb85ea8d0b_0_90" title="spearman pairwise distances - shape agreement.png"/>
          <p:cNvPicPr preferRelativeResize="0"/>
          <p:nvPr/>
        </p:nvPicPr>
        <p:blipFill>
          <a:blip r:embed="rId3">
            <a:alphaModFix/>
          </a:blip>
          <a:stretch>
            <a:fillRect/>
          </a:stretch>
        </p:blipFill>
        <p:spPr>
          <a:xfrm>
            <a:off x="259275" y="-752553"/>
            <a:ext cx="11264524" cy="873107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1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Larger-model tests: progress and limits</a:t>
            </a:r>
            <a:endParaRPr/>
          </a:p>
        </p:txBody>
      </p:sp>
      <p:sp>
        <p:nvSpPr>
          <p:cNvPr id="424" name="Google Shape;424;p1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Table C12s; supplied scale_ladder_rho.png</a:t>
            </a:r>
            <a:endParaRPr/>
          </a:p>
        </p:txBody>
      </p:sp>
      <p:sp>
        <p:nvSpPr>
          <p:cNvPr id="425" name="Google Shape;425;p1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17</a:t>
            </a:r>
            <a:endParaRPr/>
          </a:p>
        </p:txBody>
      </p:sp>
      <p:graphicFrame>
        <p:nvGraphicFramePr>
          <p:cNvPr id="426" name="Google Shape;426;p17"/>
          <p:cNvGraphicFramePr/>
          <p:nvPr/>
        </p:nvGraphicFramePr>
        <p:xfrm>
          <a:off x="571500" y="1619250"/>
          <a:ext cx="5334000" cy="3238500"/>
        </p:xfrm>
        <a:graphic>
          <a:graphicData uri="http://schemas.openxmlformats.org/drawingml/2006/chart">
            <c:chart r:id="rId3"/>
          </a:graphicData>
        </a:graphic>
      </p:graphicFrame>
      <p:graphicFrame>
        <p:nvGraphicFramePr>
          <p:cNvPr id="427" name="Google Shape;427;p17"/>
          <p:cNvGraphicFramePr/>
          <p:nvPr/>
        </p:nvGraphicFramePr>
        <p:xfrm>
          <a:off x="6334125" y="1619250"/>
          <a:ext cx="5286375" cy="3238500"/>
        </p:xfrm>
        <a:graphic>
          <a:graphicData uri="http://schemas.openxmlformats.org/drawingml/2006/chart">
            <c:chart r:id="rId4"/>
          </a:graphicData>
        </a:graphic>
      </p:graphicFrame>
      <p:sp>
        <p:nvSpPr>
          <p:cNvPr id="428" name="Google Shape;428;p1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ρ ranks pairwise distances with no fitted map. Bigger did not mean higher agreement here.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1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Six controls and the numbers they guard</a:t>
            </a:r>
            <a:endParaRPr/>
          </a:p>
        </p:txBody>
      </p:sp>
      <p:sp>
        <p:nvSpPr>
          <p:cNvPr id="435" name="Google Shape;435;p1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C.9, C.13.2, D.2, E.2; Results Summary(3)</a:t>
            </a:r>
            <a:endParaRPr/>
          </a:p>
        </p:txBody>
      </p:sp>
      <p:sp>
        <p:nvSpPr>
          <p:cNvPr id="436" name="Google Shape;436;p1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18</a:t>
            </a:r>
            <a:endParaRPr/>
          </a:p>
        </p:txBody>
      </p:sp>
      <p:graphicFrame>
        <p:nvGraphicFramePr>
          <p:cNvPr id="437" name="Google Shape;437;p18"/>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2095500"/>
                <a:gridCol w="2238375"/>
                <a:gridCol w="2381250"/>
                <a:gridCol w="4333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Fitted result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 / reference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What this checks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map / no adapter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.999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.557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.477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.003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The learned bridge supplies useful information.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model weights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.359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.737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.067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.173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Learned representations exceed the random-weight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 item pairing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R² .511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Shuffled R² −.130</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Gap .641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item correspondence matters to the fitted map.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Matched native reference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.843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Native R@5 .885</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95.3% 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Task, rows and caption treatment must match.</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ConvNeXt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96.7%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ViT band 93.8–96.5%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 supervised convnet outside the hub membership.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SigLIP 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94.2%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Encoder-specific head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an unrelated lineage with the caption head frozen.</a:t>
                      </a:r>
                      <a:endParaRPr/>
                    </a:p>
                  </a:txBody>
                  <a:tcPr marT="85725" marB="85725" marR="95250" marL="95250" anchor="ctr">
                    <a:solidFill>
                      <a:srgbClr val="FFFFFF"/>
                    </a:solidFill>
                  </a:tcPr>
                </a:tc>
              </a:tr>
            </a:tbl>
          </a:graphicData>
        </a:graphic>
      </p:graphicFrame>
      <p:sp>
        <p:nvSpPr>
          <p:cNvPr id="438" name="Google Shape;438;p18"/>
          <p:cNvSpPr/>
          <p:nvPr/>
        </p:nvSpPr>
        <p:spPr>
          <a:xfrm>
            <a:off x="571500" y="6000750"/>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R² explains target variance. AUC separates pairs. R@K counts successful retrievals.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1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Failures sharpened the claims</a:t>
            </a:r>
            <a:endParaRPr/>
          </a:p>
        </p:txBody>
      </p:sp>
      <p:sp>
        <p:nvSpPr>
          <p:cNvPr id="445" name="Google Shape;445;p1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C.13.9, E.8, E.13–E.17</a:t>
            </a:r>
            <a:endParaRPr/>
          </a:p>
        </p:txBody>
      </p:sp>
      <p:sp>
        <p:nvSpPr>
          <p:cNvPr id="446" name="Google Shape;446;p1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19</a:t>
            </a:r>
            <a:endParaRPr/>
          </a:p>
        </p:txBody>
      </p:sp>
      <p:graphicFrame>
        <p:nvGraphicFramePr>
          <p:cNvPr id="447" name="Google Shape;447;p19"/>
          <p:cNvGraphicFramePr/>
          <p:nvPr/>
        </p:nvGraphicFramePr>
        <p:xfrm>
          <a:off x="571500" y="1476375"/>
          <a:ext cx="3000000" cy="3000000"/>
        </p:xfrm>
        <a:graphic>
          <a:graphicData uri="http://schemas.openxmlformats.org/drawingml/2006/table">
            <a:tbl>
              <a:tblPr>
                <a:noFill/>
                <a:tableStyleId>{DB1ED831-198E-408C-AA95-3881B1BFC759}</a:tableStyleId>
              </a:tblPr>
              <a:tblGrid>
                <a:gridCol w="4381500"/>
                <a:gridCol w="666750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Observation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Lesson / correction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initial fit underpowered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Increase paired rows before interpreting a failure.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MLP did not improve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linear map was sufficient in the tested controls.</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88.4% retention at R@1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Report the missed 90% gate.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Hub: width cliff</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Near-null head-fit direction; regularization or truncation repairs it.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Metric traps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Ratios, geometry and chance need matched interpretation.</a:t>
                      </a:r>
                      <a:endParaRPr/>
                    </a:p>
                  </a:txBody>
                  <a:tcPr marT="85725" marB="85725" marR="95250" marL="95250" anchor="ctr">
                    <a:solidFill>
                      <a:srgbClr val="F1F5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2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Next tests, in priority order</a:t>
            </a:r>
            <a:endParaRPr/>
          </a:p>
        </p:txBody>
      </p:sp>
      <p:sp>
        <p:nvSpPr>
          <p:cNvPr id="454" name="Google Shape;454;p2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E.13–E.16; Project Atlas next tests; proposed validation plan</a:t>
            </a:r>
            <a:endParaRPr/>
          </a:p>
        </p:txBody>
      </p:sp>
      <p:sp>
        <p:nvSpPr>
          <p:cNvPr id="455" name="Google Shape;455;p2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20</a:t>
            </a:r>
            <a:endParaRPr/>
          </a:p>
        </p:txBody>
      </p:sp>
      <p:graphicFrame>
        <p:nvGraphicFramePr>
          <p:cNvPr id="456" name="Google Shape;456;p20"/>
          <p:cNvGraphicFramePr/>
          <p:nvPr/>
        </p:nvGraphicFramePr>
        <p:xfrm>
          <a:off x="571500" y="1476375"/>
          <a:ext cx="3000000" cy="3000000"/>
        </p:xfrm>
        <a:graphic>
          <a:graphicData uri="http://schemas.openxmlformats.org/drawingml/2006/table">
            <a:tbl>
              <a:tblPr>
                <a:noFill/>
                <a:tableStyleId>{DB1ED831-198E-408C-AA95-3881B1BFC759}</a:tableStyleId>
              </a:tblPr>
              <a:tblGrid>
                <a:gridCol w="1047750"/>
                <a:gridCol w="4953000"/>
                <a:gridCol w="5048250"/>
              </a:tblGrid>
              <a:tr h="7429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Priority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Success evidence</a:t>
                      </a:r>
                      <a:endParaRPr/>
                    </a:p>
                  </a:txBody>
                  <a:tcPr marT="85725" marB="85725" marR="95250" marL="95250" anchor="ctr">
                    <a:solidFill>
                      <a:srgbClr val="142A45"/>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Expand paired corpus; repeat giant / Qwen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Stable absolute R@K, intervals and non-degenerate references</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Extend model scale with matched pooling and controls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Raw geometry and transfer reported separately</a:t>
                      </a:r>
                      <a:endParaRPr/>
                    </a:p>
                  </a:txBody>
                  <a:tcPr marT="85725" marB="85725" marR="95250" marL="95250" anchor="ctr">
                    <a:solidFill>
                      <a:srgbClr val="FFFFFF"/>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Small experts versus a large encoder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Matched task quality, device latency, RAM and energy</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Domains, languages, image-target heads and mobile tests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Transfer beyond COCO; actual device benchmarks</a:t>
                      </a:r>
                      <a:endParaRPr/>
                    </a:p>
                  </a:txBody>
                  <a:tcPr marT="85725" marB="85725" marR="95250" marL="95250" anchor="ctr">
                    <a:solidFill>
                      <a:srgbClr val="FFFFFF"/>
                    </a:solidFill>
                  </a:tcPr>
                </a:tc>
              </a:tr>
            </a:tbl>
          </a:graphicData>
        </a:graphic>
      </p:graphicFrame>
      <p:sp>
        <p:nvSpPr>
          <p:cNvPr id="457" name="Google Shape;457;p20"/>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Completed: initial larger-model geometry tests. Pending: stronger power and broader validation.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2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Achievements and the defensible conclusion</a:t>
            </a:r>
            <a:endParaRPr/>
          </a:p>
        </p:txBody>
      </p:sp>
      <p:sp>
        <p:nvSpPr>
          <p:cNvPr id="464" name="Google Shape;464;p2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§§3–5, C.13, E.2, E.16; sources and full inventory follow</a:t>
            </a:r>
            <a:endParaRPr/>
          </a:p>
        </p:txBody>
      </p:sp>
      <p:sp>
        <p:nvSpPr>
          <p:cNvPr id="465" name="Google Shape;465;p2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21</a:t>
            </a:r>
            <a:endParaRPr/>
          </a:p>
        </p:txBody>
      </p:sp>
      <p:sp>
        <p:nvSpPr>
          <p:cNvPr id="466" name="Google Shape;466;p21"/>
          <p:cNvSpPr/>
          <p:nvPr/>
        </p:nvSpPr>
        <p:spPr>
          <a:xfrm>
            <a:off x="571500" y="166687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Science: shared relations and linearly recoverable information on held-out data.</a:t>
            </a:r>
            <a:endParaRPr/>
          </a:p>
        </p:txBody>
      </p:sp>
      <p:sp>
        <p:nvSpPr>
          <p:cNvPr id="467" name="Google Shape;467;p21"/>
          <p:cNvSpPr/>
          <p:nvPr/>
        </p:nvSpPr>
        <p:spPr>
          <a:xfrm>
            <a:off x="571500" y="266700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1: 0.79 MB adapter; 95.3% of native retrieval at R@5.</a:t>
            </a:r>
            <a:endParaRPr/>
          </a:p>
        </p:txBody>
      </p:sp>
      <p:sp>
        <p:nvSpPr>
          <p:cNvPr id="468" name="Google Shape;468;p21"/>
          <p:cNvSpPr/>
          <p:nvPr/>
        </p:nvSpPr>
        <p:spPr>
          <a:xfrm>
            <a:off x="571500" y="366712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2: reusable hub head; ConvNeXt retains 96.7% of its native reference.</a:t>
            </a:r>
            <a:endParaRPr/>
          </a:p>
        </p:txBody>
      </p:sp>
      <p:sp>
        <p:nvSpPr>
          <p:cNvPr id="469" name="Google Shape;469;p21"/>
          <p:cNvSpPr/>
          <p:nvPr/>
        </p:nvSpPr>
        <p:spPr>
          <a:xfrm>
            <a:off x="571500" y="466725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Boundary: useful interoperability supports a restricted PRH claim. Broader proof remains open.</a:t>
            </a:r>
            <a:endParaRPr/>
          </a:p>
        </p:txBody>
      </p:sp>
      <p:sp>
        <p:nvSpPr>
          <p:cNvPr id="470" name="Google Shape;470;p2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Questions · experiment inventory, model details, terms and resources in the appendix</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75" name="Shape 475"/>
        <p:cNvGrpSpPr/>
        <p:nvPr/>
      </p:nvGrpSpPr>
      <p:grpSpPr>
        <a:xfrm>
          <a:off x="0" y="0"/>
          <a:ext cx="0" cy="0"/>
          <a:chOff x="0" y="0"/>
          <a:chExt cx="0" cy="0"/>
        </a:xfrm>
      </p:grpSpPr>
      <p:sp>
        <p:nvSpPr>
          <p:cNvPr id="476" name="Google Shape;476;g3fb85ea8d0b_0_227"/>
          <p:cNvSpPr txBox="1"/>
          <p:nvPr/>
        </p:nvSpPr>
        <p:spPr>
          <a:xfrm>
            <a:off x="731520" y="685800"/>
            <a:ext cx="10698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477" name="Google Shape;477;g3fb85ea8d0b_0_227"/>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coordinate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478" name="Google Shape;478;g3fb85ea8d0b_0_227"/>
          <p:cNvSpPr/>
          <p:nvPr/>
        </p:nvSpPr>
        <p:spPr>
          <a:xfrm>
            <a:off x="73152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fb85ea8d0b_0_227"/>
          <p:cNvSpPr txBox="1"/>
          <p:nvPr/>
        </p:nvSpPr>
        <p:spPr>
          <a:xfrm>
            <a:off x="89611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Science</a:t>
            </a:r>
            <a:endParaRPr b="0" i="0" sz="1300" u="none" cap="none" strike="noStrike">
              <a:solidFill>
                <a:schemeClr val="dk1"/>
              </a:solidFill>
              <a:latin typeface="Calibri"/>
              <a:ea typeface="Calibri"/>
              <a:cs typeface="Calibri"/>
              <a:sym typeface="Calibri"/>
            </a:endParaRPr>
          </a:p>
        </p:txBody>
      </p:sp>
      <p:sp>
        <p:nvSpPr>
          <p:cNvPr id="480" name="Google Shape;480;g3fb85ea8d0b_0_227"/>
          <p:cNvSpPr txBox="1"/>
          <p:nvPr/>
        </p:nvSpPr>
        <p:spPr>
          <a:xfrm>
            <a:off x="89611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 subset of PRH proved, narrowed to its defensible form</a:t>
            </a:r>
            <a:endParaRPr b="0" i="0" sz="1100" u="none" cap="none" strike="noStrike">
              <a:solidFill>
                <a:schemeClr val="dk1"/>
              </a:solidFill>
              <a:latin typeface="Calibri"/>
              <a:ea typeface="Calibri"/>
              <a:cs typeface="Calibri"/>
              <a:sym typeface="Calibri"/>
            </a:endParaRPr>
          </a:p>
        </p:txBody>
      </p:sp>
      <p:sp>
        <p:nvSpPr>
          <p:cNvPr id="481" name="Google Shape;481;g3fb85ea8d0b_0_227"/>
          <p:cNvSpPr/>
          <p:nvPr/>
        </p:nvSpPr>
        <p:spPr>
          <a:xfrm>
            <a:off x="452628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fb85ea8d0b_0_227"/>
          <p:cNvSpPr txBox="1"/>
          <p:nvPr/>
        </p:nvSpPr>
        <p:spPr>
          <a:xfrm>
            <a:off x="469087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Engineering</a:t>
            </a:r>
            <a:endParaRPr b="0" i="0" sz="1300" u="none" cap="none" strike="noStrike">
              <a:solidFill>
                <a:schemeClr val="dk1"/>
              </a:solidFill>
              <a:latin typeface="Calibri"/>
              <a:ea typeface="Calibri"/>
              <a:cs typeface="Calibri"/>
              <a:sym typeface="Calibri"/>
            </a:endParaRPr>
          </a:p>
        </p:txBody>
      </p:sp>
      <p:sp>
        <p:nvSpPr>
          <p:cNvPr id="483" name="Google Shape;483;g3fb85ea8d0b_0_227"/>
          <p:cNvSpPr txBox="1"/>
          <p:nvPr/>
        </p:nvSpPr>
        <p:spPr>
          <a:xfrm>
            <a:off x="469087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two small-expert systems that run without a GPU</a:t>
            </a:r>
            <a:endParaRPr b="0" i="0" sz="1100" u="none" cap="none" strike="noStrike">
              <a:solidFill>
                <a:schemeClr val="dk1"/>
              </a:solidFill>
              <a:latin typeface="Calibri"/>
              <a:ea typeface="Calibri"/>
              <a:cs typeface="Calibri"/>
              <a:sym typeface="Calibri"/>
            </a:endParaRPr>
          </a:p>
        </p:txBody>
      </p:sp>
      <p:sp>
        <p:nvSpPr>
          <p:cNvPr id="484" name="Google Shape;484;g3fb85ea8d0b_0_227"/>
          <p:cNvSpPr/>
          <p:nvPr/>
        </p:nvSpPr>
        <p:spPr>
          <a:xfrm>
            <a:off x="832104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fb85ea8d0b_0_227"/>
          <p:cNvSpPr txBox="1"/>
          <p:nvPr/>
        </p:nvSpPr>
        <p:spPr>
          <a:xfrm>
            <a:off x="848563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Method</a:t>
            </a:r>
            <a:endParaRPr b="0" i="0" sz="1300" u="none" cap="none" strike="noStrike">
              <a:solidFill>
                <a:schemeClr val="dk1"/>
              </a:solidFill>
              <a:latin typeface="Calibri"/>
              <a:ea typeface="Calibri"/>
              <a:cs typeface="Calibri"/>
              <a:sym typeface="Calibri"/>
            </a:endParaRPr>
          </a:p>
        </p:txBody>
      </p:sp>
      <p:sp>
        <p:nvSpPr>
          <p:cNvPr id="486" name="Google Shape;486;g3fb85ea8d0b_0_227"/>
          <p:cNvSpPr txBox="1"/>
          <p:nvPr/>
        </p:nvSpPr>
        <p:spPr>
          <a:xfrm>
            <a:off x="848563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11 falsified explanations kept on the record</a:t>
            </a:r>
            <a:endParaRPr b="0" i="0" sz="1100" u="none" cap="none" strike="noStrike">
              <a:solidFill>
                <a:schemeClr val="dk1"/>
              </a:solidFill>
              <a:latin typeface="Calibri"/>
              <a:ea typeface="Calibri"/>
              <a:cs typeface="Calibri"/>
              <a:sym typeface="Calibri"/>
            </a:endParaRPr>
          </a:p>
        </p:txBody>
      </p:sp>
      <p:sp>
        <p:nvSpPr>
          <p:cNvPr id="487" name="Google Shape;487;g3fb85ea8d0b_0_227"/>
          <p:cNvSpPr txBox="1"/>
          <p:nvPr/>
        </p:nvSpPr>
        <p:spPr>
          <a:xfrm>
            <a:off x="731520" y="4937760"/>
            <a:ext cx="10698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1" lang="en-US" sz="1200" u="none" cap="none" strike="noStrike">
                <a:solidFill>
                  <a:srgbClr val="CADCFC"/>
                </a:solidFill>
                <a:latin typeface="Calibri"/>
                <a:ea typeface="Calibri"/>
                <a:cs typeface="Calibri"/>
                <a:sym typeface="Calibri"/>
              </a:rPr>
              <a:t>Supported scope: selected models, datasets and metrics on COCO / WikiText-103. Universal convergence remains open.</a:t>
            </a:r>
            <a:endParaRPr b="0" i="0" sz="1200" u="none" cap="none" strike="noStrike">
              <a:solidFill>
                <a:schemeClr val="dk1"/>
              </a:solidFill>
              <a:latin typeface="Calibri"/>
              <a:ea typeface="Calibri"/>
              <a:cs typeface="Calibri"/>
              <a:sym typeface="Calibri"/>
            </a:endParaRPr>
          </a:p>
        </p:txBody>
      </p:sp>
      <p:sp>
        <p:nvSpPr>
          <p:cNvPr id="488" name="Google Shape;488;g3fb85ea8d0b_0_227"/>
          <p:cNvSpPr txBox="1"/>
          <p:nvPr/>
        </p:nvSpPr>
        <p:spPr>
          <a:xfrm>
            <a:off x="731520" y="562356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Thank you — questions welcome.</a:t>
            </a:r>
            <a:endParaRPr b="0" i="0" sz="1800" u="none" cap="none" strike="noStrike">
              <a:solidFill>
                <a:schemeClr val="dk1"/>
              </a:solidFill>
              <a:latin typeface="Calibri"/>
              <a:ea typeface="Calibri"/>
              <a:cs typeface="Calibri"/>
              <a:sym typeface="Calibri"/>
            </a:endParaRPr>
          </a:p>
        </p:txBody>
      </p:sp>
      <p:sp>
        <p:nvSpPr>
          <p:cNvPr id="489" name="Google Shape;489;g3fb85ea8d0b_0_227"/>
          <p:cNvSpPr txBox="1"/>
          <p:nvPr/>
        </p:nvSpPr>
        <p:spPr>
          <a:xfrm>
            <a:off x="731520" y="6172200"/>
            <a:ext cx="10698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Full method, tables and falsification ledger: Final_Project_Report.pdf (74 pp)  ·  the story with the math: Project_Atlas.pdf</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2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language and text</a:t>
            </a:r>
            <a:endParaRPr/>
          </a:p>
        </p:txBody>
      </p:sp>
      <p:sp>
        <p:nvSpPr>
          <p:cNvPr id="496" name="Google Shape;496;p2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Status Report; official model cards linked in resources</a:t>
            </a:r>
            <a:endParaRPr/>
          </a:p>
        </p:txBody>
      </p:sp>
      <p:sp>
        <p:nvSpPr>
          <p:cNvPr id="497" name="Google Shape;497;p2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22</a:t>
            </a:r>
            <a:endParaRPr/>
          </a:p>
        </p:txBody>
      </p:sp>
      <p:graphicFrame>
        <p:nvGraphicFramePr>
          <p:cNvPr id="498" name="Google Shape;498;p22"/>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1952625"/>
                <a:gridCol w="1524000"/>
                <a:gridCol w="1571625"/>
                <a:gridCol w="3810000"/>
                <a:gridCol w="2190750"/>
              </a:tblGrid>
              <a:tr h="653150">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Approx. parameters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Vector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Pretraining / objective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Role</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124M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WebText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hub text source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Pythia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160M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 per layer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The Pile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counterpart/control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BERT-base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Masked-token + original NSP objectives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SBERT all-mpnet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MPNet + contrastive sentence-pair fine-tuning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bge-m3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~568M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Multilingual retrieval, contrastive and unified tuning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Hub member and target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Qwen3 Embedding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0.6B / 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 / 2,560 (max.)</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Embedding-tuned causal model; last-token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Scale extension</a:t>
                      </a:r>
                      <a:endParaRPr/>
                    </a:p>
                  </a:txBody>
                  <a:tcPr marT="85725" marB="85725" marR="95250" marL="9525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2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vision</a:t>
            </a:r>
            <a:endParaRPr/>
          </a:p>
        </p:txBody>
      </p:sp>
      <p:sp>
        <p:nvSpPr>
          <p:cNvPr id="505" name="Google Shape;505;p2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official DINOv2, MobileCLIP, SigLIP 2 model sources</a:t>
            </a:r>
            <a:endParaRPr/>
          </a:p>
        </p:txBody>
      </p:sp>
      <p:sp>
        <p:nvSpPr>
          <p:cNvPr id="506" name="Google Shape;506;p2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23</a:t>
            </a:r>
            <a:endParaRPr/>
          </a:p>
        </p:txBody>
      </p:sp>
      <p:graphicFrame>
        <p:nvGraphicFramePr>
          <p:cNvPr id="507" name="Google Shape;507;p23"/>
          <p:cNvGraphicFramePr/>
          <p:nvPr/>
        </p:nvGraphicFramePr>
        <p:xfrm>
          <a:off x="571500" y="1428750"/>
          <a:ext cx="3000000" cy="3000000"/>
        </p:xfrm>
        <a:graphic>
          <a:graphicData uri="http://schemas.openxmlformats.org/drawingml/2006/table">
            <a:tbl>
              <a:tblPr>
                <a:noFill/>
                <a:tableStyleId>{DB1ED831-198E-408C-AA95-3881B1BFC759}</a:tableStyleId>
              </a:tblPr>
              <a:tblGrid>
                <a:gridCol w="2190750"/>
                <a:gridCol w="2000250"/>
                <a:gridCol w="2095500"/>
                <a:gridCol w="2857500"/>
                <a:gridCol w="1905000"/>
              </a:tblGrid>
              <a:tr h="7064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Approx. size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Stored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Training signal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Role</a:t>
                      </a:r>
                      <a:endParaRPr/>
                    </a:p>
                  </a:txBody>
                  <a:tcPr marT="85725" marB="85725" marR="95250" marL="95250" anchor="ctr">
                    <a:solidFill>
                      <a:srgbClr val="142A45"/>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MobileCLIP-S1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21.5M 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512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Image-text pairing + distillation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Phone encoder, B</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2 base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~0.4B full model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Sigmoid image-text loss + auxiliary objectives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target; held-out hub route</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S / B / 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~22 / 87 / 304M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 / 1536 / 2048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Self-supervised DINO + iBOT; no caption loss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 ladder; hub members</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giant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~1.14B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3,072 CLS+patch</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Same visual family; matched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scale test</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ConvNeXt-base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~89M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ImageNet-22k class supervision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convolutional route</a:t>
                      </a:r>
                      <a:endParaRPr/>
                    </a:p>
                  </a:txBody>
                  <a:tcPr marT="85725" marB="85725" marR="95250" marL="95250" anchor="ctr">
                    <a:solidFill>
                      <a:srgbClr val="F1F5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2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supervision and geometry terms</a:t>
            </a:r>
            <a:endParaRPr/>
          </a:p>
        </p:txBody>
      </p:sp>
      <p:sp>
        <p:nvSpPr>
          <p:cNvPr id="514" name="Google Shape;514;p2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E.10–E.14; official model cards</a:t>
            </a:r>
            <a:endParaRPr/>
          </a:p>
        </p:txBody>
      </p:sp>
      <p:sp>
        <p:nvSpPr>
          <p:cNvPr id="515" name="Google Shape;515;p2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24</a:t>
            </a:r>
            <a:endParaRPr/>
          </a:p>
        </p:txBody>
      </p:sp>
      <p:graphicFrame>
        <p:nvGraphicFramePr>
          <p:cNvPr id="516" name="Google Shape;516;p24"/>
          <p:cNvGraphicFramePr/>
          <p:nvPr/>
        </p:nvGraphicFramePr>
        <p:xfrm>
          <a:off x="571500" y="1428750"/>
          <a:ext cx="3000000" cy="3000000"/>
        </p:xfrm>
        <a:graphic>
          <a:graphicData uri="http://schemas.openxmlformats.org/drawingml/2006/table">
            <a:tbl>
              <a:tblPr>
                <a:noFill/>
                <a:tableStyleId>{DB1ED831-198E-408C-AA95-3881B1BFC759}</a:tableStyleId>
              </a:tblPr>
              <a:tblGrid>
                <a:gridCol w="2857500"/>
                <a:gridCol w="8191500"/>
              </a:tblGrid>
              <a:tr h="6395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Term</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Meaning in this project</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Self-supervised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Targets come from the data itself: next token, masked token, image views.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Supervised / pair-supervised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Known labels or correspondences guide fitting; ridge pairs also count.</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Unsupervised matching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Recover correspondence from geometry without supplied item pairs.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 whitening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Choose variance directions / rescale retained directions.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Anisotropy / effective rank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Uneven directional statistics / spectral concentration, not literal semantic dimensions.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Manifold / coordinate chart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 low-dimensional geometric model / a representation of it; an interpretation here.</a:t>
                      </a:r>
                      <a:endParaRPr/>
                    </a:p>
                  </a:txBody>
                  <a:tcPr marT="85725" marB="85725" marR="95250" marL="95250"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2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metric definitions and blind spots</a:t>
            </a:r>
            <a:endParaRPr/>
          </a:p>
        </p:txBody>
      </p:sp>
      <p:sp>
        <p:nvSpPr>
          <p:cNvPr id="523" name="Google Shape;523;p2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Similarity Methods Master Table</a:t>
            </a:r>
            <a:endParaRPr/>
          </a:p>
        </p:txBody>
      </p:sp>
      <p:sp>
        <p:nvSpPr>
          <p:cNvPr id="524" name="Google Shape;524;p2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25</a:t>
            </a:r>
            <a:endParaRPr/>
          </a:p>
        </p:txBody>
      </p:sp>
      <p:graphicFrame>
        <p:nvGraphicFramePr>
          <p:cNvPr id="525" name="Google Shape;525;p25"/>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2190750"/>
                <a:gridCol w="4381500"/>
                <a:gridCol w="4476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Meaning</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Caution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x·y / (||x|| ||y||): direction agreement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Near-one scores can be uninformative in collapsed spaces.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R²</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1 − SSE/SST: target variance explained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Includes magnitude; may be negative.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Spearman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Correlation of ranked within-space pair distances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map needed; not retrieval accuracy.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Agreement of centered similarity structures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Calibrate against controls and width effects.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CKNNA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Centered alignment on mutual k-nearest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Specify k; compare local and global within this metric.</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k-NN overlap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neighbors divided by 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Null ≈ k/(N−1) when self is excluded.</a:t>
                      </a:r>
                      <a:endParaRPr/>
                    </a:p>
                  </a:txBody>
                  <a:tcPr marT="85725" marB="85725" marR="95250" marL="95250"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2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retrieval, uncertainty and power</a:t>
            </a:r>
            <a:endParaRPr/>
          </a:p>
        </p:txBody>
      </p:sp>
      <p:sp>
        <p:nvSpPr>
          <p:cNvPr id="532" name="Google Shape;532;p2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D.2, E.5, E.13–E.16</a:t>
            </a:r>
            <a:endParaRPr/>
          </a:p>
        </p:txBody>
      </p:sp>
      <p:sp>
        <p:nvSpPr>
          <p:cNvPr id="533" name="Google Shape;533;p2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26</a:t>
            </a:r>
            <a:endParaRPr/>
          </a:p>
        </p:txBody>
      </p:sp>
      <p:graphicFrame>
        <p:nvGraphicFramePr>
          <p:cNvPr id="534" name="Google Shape;534;p26"/>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2333625"/>
                <a:gridCol w="2857500"/>
                <a:gridCol w="5857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example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One-sentence reading</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 0.843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image appears among first five for 84.3% of queries.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95.3%; ConvNeXt 96.7%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Ratio to the appropriate native reference within each protocol.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Verification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0.999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Probability of ordering a positive pair above a sampled negative.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Instance ranking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0.987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 the same photo across encoders, not a caption query.</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Membership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0.889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Ranks member queries above nonmembers across score thresholds.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Power / uncertainty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Giant: 2.8 rows/dim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Insufficient fitting evidence under the project’s prespecified heuristic.</a:t>
                      </a:r>
                      <a:endParaRPr/>
                    </a:p>
                  </a:txBody>
                  <a:tcPr marT="85725" marB="85725" marR="95250" marL="95250"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2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A and B</a:t>
            </a:r>
            <a:endParaRPr/>
          </a:p>
        </p:txBody>
      </p:sp>
      <p:sp>
        <p:nvSpPr>
          <p:cNvPr id="541" name="Google Shape;541;p2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and D; Status Report, B6–B10</a:t>
            </a:r>
            <a:endParaRPr/>
          </a:p>
        </p:txBody>
      </p:sp>
      <p:sp>
        <p:nvSpPr>
          <p:cNvPr id="542" name="Google Shape;542;p2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27</a:t>
            </a:r>
            <a:endParaRPr/>
          </a:p>
        </p:txBody>
      </p:sp>
      <p:graphicFrame>
        <p:nvGraphicFramePr>
          <p:cNvPr id="543" name="Google Shape;543;p27"/>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1476375"/>
                <a:gridCol w="4667250"/>
                <a:gridCol w="49053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 / implementation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Extract all layer representations on WikiText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10k passages; trained and random models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 layer matching and geometry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Trained/control gap; later hub-dominance caveat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stitching; small versus larger sample run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held-out R² 0.737; peak 0.797</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B1–B3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Paired caches; ridge/Procrustes/MLP; retrieval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cosine .900; R@1 .557; R@5 .843</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B4–B5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Core ML export; fp16 parity; qualitative galleries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0.79 MB artifact; held-out qualitative demonstrations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B6–B10 / 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Live demo, quantization and decision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Reported complete; stage numbering varies by document</a:t>
                      </a:r>
                      <a:endParaRPr/>
                    </a:p>
                  </a:txBody>
                  <a:tcPr marT="85725" marB="85725" marR="95250" marL="95250"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2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C, E and F</a:t>
            </a:r>
            <a:endParaRPr/>
          </a:p>
        </p:txBody>
      </p:sp>
      <p:sp>
        <p:nvSpPr>
          <p:cNvPr id="550" name="Google Shape;550;p2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C.9–C.12; Results Summary; Status Report</a:t>
            </a:r>
            <a:endParaRPr/>
          </a:p>
        </p:txBody>
      </p:sp>
      <p:sp>
        <p:nvSpPr>
          <p:cNvPr id="551" name="Google Shape;551;p2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28</a:t>
            </a:r>
            <a:endParaRPr/>
          </a:p>
        </p:txBody>
      </p:sp>
      <p:graphicFrame>
        <p:nvGraphicFramePr>
          <p:cNvPr id="552" name="Google Shape;552;p28"/>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1714500"/>
                <a:gridCol w="4095750"/>
                <a:gridCol w="5238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Result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C1 / C1.1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pairs without correspondence labels?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GW exact match 39.7% vs 1/1500 chance; ICP and whitening hurt.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 image to bge text, and S/B/L capacity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40.9 / 53.5 / 58.3% of matched R@1 reference.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E1.1–E1.3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GPT-2 swap, whitening rescue, text ladder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Geometry affects retrieval; pre-registered rank ordering supported.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E2 / E3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Search demo and functional consumer test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Demo built; R@5 stitching penalty .049; internal splice scaffolded.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F1–F2 / F5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Teacher corpus, MLP versus ridge, larger refit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nonlinear gain; refit R@1 +.0244 in paired evaluation.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F3–F4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Unfreeze student trunk / change bottleneck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Built but deliberately gated and unrun.</a:t>
                      </a:r>
                      <a:endParaRPr/>
                    </a:p>
                  </a:txBody>
                  <a:tcPr marT="85725" marB="85725" marR="95250" marL="95250"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7" name="Shape 557"/>
        <p:cNvGrpSpPr/>
        <p:nvPr/>
      </p:nvGrpSpPr>
      <p:grpSpPr>
        <a:xfrm>
          <a:off x="0" y="0"/>
          <a:ext cx="0" cy="0"/>
          <a:chOff x="0" y="0"/>
          <a:chExt cx="0" cy="0"/>
        </a:xfrm>
      </p:grpSpPr>
      <p:sp>
        <p:nvSpPr>
          <p:cNvPr id="558" name="Google Shape;558;p2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G0–G7</a:t>
            </a:r>
            <a:endParaRPr/>
          </a:p>
        </p:txBody>
      </p:sp>
      <p:sp>
        <p:nvSpPr>
          <p:cNvPr id="559" name="Google Shape;559;p2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E.1–E.6; Results Summary</a:t>
            </a:r>
            <a:endParaRPr/>
          </a:p>
        </p:txBody>
      </p:sp>
      <p:sp>
        <p:nvSpPr>
          <p:cNvPr id="560" name="Google Shape;560;p2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29</a:t>
            </a:r>
            <a:endParaRPr/>
          </a:p>
        </p:txBody>
      </p:sp>
      <p:graphicFrame>
        <p:nvGraphicFramePr>
          <p:cNvPr id="561" name="Google Shape;561;p29"/>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1619250"/>
                <a:gridCol w="3905250"/>
                <a:gridCol w="5524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result</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G0-exact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published protocol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members, scalar scaling, seed-0 split; SigLIP 94.2% reproduced.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 / G2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hub, composition, working demo</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Seven-space R@1 .451 vs five-space .445; live retrieval prototype.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versus bespoke pairwise hubs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42 ordered pairs; mean relative performance 103.6%.</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 G4-conv</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lineage and architecture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94.2%; ConvNeXt 96.7% of native in published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G5 / G6</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Scale of agreement; manifold diagnostics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21/21 local CKNNA stronger; mean R²: ridge .667 vs Procrustes .194.</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Local-structure effect and width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effect near zero; width cliff required later diagnosis.</a:t>
                      </a:r>
                      <a:endParaRPr/>
                    </a:p>
                  </a:txBody>
                  <a:tcPr marT="85725" marB="85725" marR="95250" marL="95250"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3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G8–G16, K, H, V</a:t>
            </a:r>
            <a:endParaRPr/>
          </a:p>
        </p:txBody>
      </p:sp>
      <p:sp>
        <p:nvSpPr>
          <p:cNvPr id="568" name="Google Shape;568;p3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E.3–E.8; Results Summary addenda</a:t>
            </a:r>
            <a:endParaRPr/>
          </a:p>
        </p:txBody>
      </p:sp>
      <p:sp>
        <p:nvSpPr>
          <p:cNvPr id="569" name="Google Shape;569;p3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30</a:t>
            </a:r>
            <a:endParaRPr/>
          </a:p>
        </p:txBody>
      </p:sp>
      <p:graphicFrame>
        <p:nvGraphicFramePr>
          <p:cNvPr id="570" name="Google Shape;570;p30"/>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1952625"/>
                <a:gridCol w="4000500"/>
                <a:gridCol w="5095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candidate discontinuity statistics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All failed to track the observed transfer cliff.</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G9 / G11 / G12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Source dimension and target swaps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Cliff location followed source width in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Hub text composition and target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 identity matters; matching-target benefit disclosed.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G13–G16</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Ablations, rank, singular direction and repair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Corrected flawed tests; truncation / stronger head ridge repairs fit.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K1–K3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Raw Procrustes, reproduction, bounded null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gain CI [−.038, +.024]; prespecified ±.050 margin.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H1 / V1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Artifact, power, shuffle and independent checks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47 checks, no hard failures; verification AUC .9994 reproduced.</a:t>
                      </a:r>
                      <a:endParaRPr/>
                    </a:p>
                  </a:txBody>
                  <a:tcPr marT="85725" marB="85725" marR="95250" marL="95250"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3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scale tests and remaining tasks</a:t>
            </a:r>
            <a:endParaRPr/>
          </a:p>
        </p:txBody>
      </p:sp>
      <p:sp>
        <p:nvSpPr>
          <p:cNvPr id="577" name="Google Shape;577;p3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Project Atlas next tests</a:t>
            </a:r>
            <a:endParaRPr/>
          </a:p>
        </p:txBody>
      </p:sp>
      <p:sp>
        <p:nvSpPr>
          <p:cNvPr id="578" name="Google Shape;578;p3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31</a:t>
            </a:r>
            <a:endParaRPr/>
          </a:p>
        </p:txBody>
      </p:sp>
      <p:graphicFrame>
        <p:nvGraphicFramePr>
          <p:cNvPr id="579" name="Google Shape;579;p31"/>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2524125"/>
                <a:gridCol w="3905250"/>
                <a:gridCol w="461962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Observed / planned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P1: giant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100% ratio; 2.8 fitting rows/dim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Inconclusive, reference degeneracy.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P2: giant raw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.339 versus large .418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monotonic threshold failed.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 Qwen-4B raw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 versus bge .320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threshold failed; model-family confounds remain.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P3b / P4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.6B ρ .352; geometry and transfer diverge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Architecture control; do not infer transfer from ρ.</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more paired rows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35,133 total / 4,000 eval proposed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31,133 fit rows; ~10.1 per giant input dimension.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new studies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Experts vs generalist, domains, device power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Prospective tasks; no claimed outcomes yet.</a:t>
                      </a:r>
                      <a:endParaRPr/>
                    </a:p>
                  </a:txBody>
                  <a:tcPr marT="85725" marB="85725" marR="95250" marL="95250" anchor="ctr">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3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the map W and linear controls</a:t>
            </a:r>
            <a:endParaRPr/>
          </a:p>
        </p:txBody>
      </p:sp>
      <p:sp>
        <p:nvSpPr>
          <p:cNvPr id="586" name="Google Shape;586;p3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Linear Maps Ridge and SVD Study Guide</a:t>
            </a:r>
            <a:endParaRPr/>
          </a:p>
        </p:txBody>
      </p:sp>
      <p:sp>
        <p:nvSpPr>
          <p:cNvPr id="587" name="Google Shape;587;p3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32</a:t>
            </a:r>
            <a:endParaRPr/>
          </a:p>
        </p:txBody>
      </p:sp>
      <p:sp>
        <p:nvSpPr>
          <p:cNvPr id="588" name="Google Shape;588;p32"/>
          <p:cNvSpPr/>
          <p:nvPr/>
        </p:nvSpPr>
        <p:spPr>
          <a:xfrm>
            <a:off x="571500" y="147637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W is the learned translation matrix. Prediction: x [1 × d] · W [d × p] = ŷ [1 × p].</a:t>
            </a:r>
            <a:endParaRPr/>
          </a:p>
        </p:txBody>
      </p:sp>
      <p:sp>
        <p:nvSpPr>
          <p:cNvPr id="589" name="Google Shape;589;p32"/>
          <p:cNvSpPr/>
          <p:nvPr/>
        </p:nvSpPr>
        <p:spPr>
          <a:xfrm>
            <a:off x="571500" y="2381250"/>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Ridge fit: W = (XᵀX + αI)⁻¹XᵀY. α controls the penalty on large coefficients.</a:t>
            </a:r>
            <a:endParaRPr/>
          </a:p>
        </p:txBody>
      </p:sp>
      <p:sp>
        <p:nvSpPr>
          <p:cNvPr id="590" name="Google Shape;590;p32"/>
          <p:cNvSpPr/>
          <p:nvPr/>
        </p:nvSpPr>
        <p:spPr>
          <a:xfrm>
            <a:off x="571500" y="328612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SVD: W = UΣVᵀ. Orthogonal transforms and directional scaling describe the map.</a:t>
            </a:r>
            <a:endParaRPr/>
          </a:p>
        </p:txBody>
      </p:sp>
      <p:graphicFrame>
        <p:nvGraphicFramePr>
          <p:cNvPr id="591" name="Google Shape;591;p32"/>
          <p:cNvGraphicFramePr/>
          <p:nvPr/>
        </p:nvGraphicFramePr>
        <p:xfrm>
          <a:off x="571500" y="4381500"/>
          <a:ext cx="3000000" cy="3000000"/>
        </p:xfrm>
        <a:graphic>
          <a:graphicData uri="http://schemas.openxmlformats.org/drawingml/2006/table">
            <a:tbl>
              <a:tblPr>
                <a:noFill/>
                <a:tableStyleId>{DB1ED831-198E-408C-AA95-3881B1BFC759}</a:tableStyleId>
              </a:tblPr>
              <a:tblGrid>
                <a:gridCol w="4667250"/>
                <a:gridCol w="3524250"/>
                <a:gridCol w="2857500"/>
              </a:tblGrid>
              <a:tr h="5556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Experiment B 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R²: target variance explained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Cosine: direction agreement</a:t>
                      </a:r>
                      <a:endParaRPr/>
                    </a:p>
                  </a:txBody>
                  <a:tcPr marT="85725" marB="85725" marR="95250" marL="95250" anchor="ctr">
                    <a:solidFill>
                      <a:srgbClr val="142A45"/>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full linear map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0.592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0.900</a:t>
                      </a:r>
                      <a:endParaRPr/>
                    </a:p>
                  </a:txBody>
                  <a:tcPr marT="85725" marB="85725" marR="95250" marL="95250" anchor="ctr">
                    <a:solidFill>
                      <a:srgbClr val="F1F5F8"/>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Procrustes, orthogonal alignment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0.038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0.775</a:t>
                      </a:r>
                      <a:endParaRPr/>
                    </a:p>
                  </a:txBody>
                  <a:tcPr marT="85725" marB="85725" marR="95250" marL="95250"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3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hub equations and training roles</a:t>
            </a:r>
            <a:endParaRPr/>
          </a:p>
        </p:txBody>
      </p:sp>
      <p:sp>
        <p:nvSpPr>
          <p:cNvPr id="598" name="Google Shape;598;p3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E.14; Frozen Hub Caption Transfer Corrected</a:t>
            </a:r>
            <a:endParaRPr/>
          </a:p>
        </p:txBody>
      </p:sp>
      <p:sp>
        <p:nvSpPr>
          <p:cNvPr id="599" name="Google Shape;599;p3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33</a:t>
            </a:r>
            <a:endParaRPr/>
          </a:p>
        </p:txBody>
      </p:sp>
      <p:sp>
        <p:nvSpPr>
          <p:cNvPr id="600" name="Google Shape;600;p33"/>
          <p:cNvSpPr/>
          <p:nvPr/>
        </p:nvSpPr>
        <p:spPr>
          <a:xfrm>
            <a:off x="571500" y="15716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Hub construction: H = whiten(PCA₅₁₂(concat(X₁/s₁, …, X_K/s_K)))</a:t>
            </a:r>
            <a:endParaRPr/>
          </a:p>
        </p:txBody>
      </p:sp>
      <p:sp>
        <p:nvSpPr>
          <p:cNvPr id="601" name="Google Shape;601;p33"/>
          <p:cNvSpPr/>
          <p:nvPr/>
        </p:nvSpPr>
        <p:spPr>
          <a:xfrm>
            <a:off x="571500" y="238125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Entry fit: W_k = argmin_W ||X_k W − H||²_F + α_k ||W||²_F</a:t>
            </a:r>
            <a:endParaRPr/>
          </a:p>
        </p:txBody>
      </p:sp>
      <p:sp>
        <p:nvSpPr>
          <p:cNvPr id="602" name="Google Shape;602;p33"/>
          <p:cNvSpPr/>
          <p:nvPr/>
        </p:nvSpPr>
        <p:spPr>
          <a:xfrm>
            <a:off x="571500" y="319087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input: H_small = X_small W_small</a:t>
            </a:r>
            <a:endParaRPr/>
          </a:p>
        </p:txBody>
      </p:sp>
      <p:sp>
        <p:nvSpPr>
          <p:cNvPr id="603" name="Google Shape;603;p33"/>
          <p:cNvSpPr/>
          <p:nvPr/>
        </p:nvSpPr>
        <p:spPr>
          <a:xfrm>
            <a:off x="571500" y="4000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fit: W_head = argmin_W ||H_small W − T_bge||²_F + α_h ||W||²_F</a:t>
            </a:r>
            <a:endParaRPr/>
          </a:p>
        </p:txBody>
      </p:sp>
      <p:sp>
        <p:nvSpPr>
          <p:cNvPr id="604" name="Google Shape;604;p33"/>
          <p:cNvSpPr/>
          <p:nvPr/>
        </p:nvSpPr>
        <p:spPr>
          <a:xfrm>
            <a:off x="571500" y="48101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Query: t̂ = x_k W_k W_head; rank actual bge captions by cosine.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3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source disagreements resolved</a:t>
            </a:r>
            <a:endParaRPr/>
          </a:p>
        </p:txBody>
      </p:sp>
      <p:sp>
        <p:nvSpPr>
          <p:cNvPr id="611" name="Google Shape;611;p3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E.14–E.17; Results Summary; Status Report; official SBERT card</a:t>
            </a:r>
            <a:endParaRPr/>
          </a:p>
        </p:txBody>
      </p:sp>
      <p:sp>
        <p:nvSpPr>
          <p:cNvPr id="612" name="Google Shape;612;p3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34</a:t>
            </a:r>
            <a:endParaRPr/>
          </a:p>
        </p:txBody>
      </p:sp>
      <p:graphicFrame>
        <p:nvGraphicFramePr>
          <p:cNvPr id="613" name="Google Shape;613;p34"/>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4762500"/>
                <a:gridCol w="6286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Source wording / ambiguity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Treatment in this presentation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 5 or 7 members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Separate configurations: 5376, 6144 and 7680 concat dimensions.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Column z-score versus space scaling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Later E.14 audit specifies one scalar per 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Small denominator is “conservative”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Unsupported: fixed-numerator ratios increase as denominator shrinks.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MLP equality proves exact linearity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Finite controls support linear sufficiency under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Status lists completed tests as TODO</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later report addenda for completion status.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SBERT as NLI-only BERT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all-mpnet-base-v2 provenance from its official card.</a:t>
                      </a:r>
                      <a:endParaRPr/>
                    </a:p>
                  </a:txBody>
                  <a:tcPr marT="85725" marB="85725" marR="95250" marL="95250" anchor="ctr">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3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research and implementation resources</a:t>
            </a:r>
            <a:endParaRPr/>
          </a:p>
        </p:txBody>
      </p:sp>
      <p:sp>
        <p:nvSpPr>
          <p:cNvPr id="620" name="Google Shape;620;p3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Primary papers, official repositories and supplied project artifacts</a:t>
            </a:r>
            <a:endParaRPr/>
          </a:p>
        </p:txBody>
      </p:sp>
      <p:sp>
        <p:nvSpPr>
          <p:cNvPr id="621" name="Google Shape;621;p3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35</a:t>
            </a:r>
            <a:endParaRPr/>
          </a:p>
        </p:txBody>
      </p:sp>
      <p:graphicFrame>
        <p:nvGraphicFramePr>
          <p:cNvPr id="622" name="Google Shape;622;p35"/>
          <p:cNvGraphicFramePr/>
          <p:nvPr/>
        </p:nvGraphicFramePr>
        <p:xfrm>
          <a:off x="571500" y="1381125"/>
          <a:ext cx="3000000" cy="3000000"/>
        </p:xfrm>
        <a:graphic>
          <a:graphicData uri="http://schemas.openxmlformats.org/drawingml/2006/table">
            <a:tbl>
              <a:tblPr>
                <a:noFill/>
                <a:tableStyleId>{DB1ED831-198E-408C-AA95-3881B1BFC759}</a:tableStyleId>
              </a:tblPr>
              <a:tblGrid>
                <a:gridCol w="5810250"/>
                <a:gridCol w="5238750"/>
              </a:tblGrid>
              <a:tr h="639525">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Resource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Use</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Huh et al. (2024), PRH; Kornblith et al. (2019), CKA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Scientific motivation and representation metrics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COCO; Salesforce WikiText-103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Image-caption pairs and passage data</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Apple MobileCLIP; Google SigLIP 2; Meta DINOv2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vision model code and provenance</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EleutherAI Pythia; BAAI bge-m3; Sentence Transformers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language and text model cards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Final_Project_Report(7), Results_Summary(3), Project_Atlas(4)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Reported experiments, protocol details and later corrections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PyTorch, Transformers, scikit-learn, Core ML, Qdrant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Encoding, linear fitting, device export and shared retrieval</a:t>
                      </a:r>
                      <a:endParaRPr/>
                    </a:p>
                  </a:txBody>
                  <a:tcPr marT="85725" marB="85725" marR="95250" marL="95250" anchor="ctr">
                    <a:solidFill>
                      <a:srgbClr val="FFFFFF"/>
                    </a:solidFill>
                  </a:tcPr>
                </a:tc>
              </a:tr>
            </a:tbl>
          </a:graphicData>
        </a:graphic>
      </p:graphicFrame>
      <p:sp>
        <p:nvSpPr>
          <p:cNvPr id="623" name="Google Shape;623;p35"/>
          <p:cNvSpPr/>
          <p:nvPr/>
        </p:nvSpPr>
        <p:spPr>
          <a:xfrm>
            <a:off x="571500" y="59531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Full links and per-slide sources appear in speaker notes.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