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7.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8.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9.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0.xml" ContentType="application/vnd.openxmlformats-officedocument.drawingml.chart+xml"/>
  <Override PartName="/ppt/slides/charts/chart1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139703bd4a64713" /><Relationship Type="http://schemas.openxmlformats.org/officeDocument/2006/relationships/extended-properties" Target="/docProps/app.xml" Id="Rcf91359122ff42a9" /><Relationship Type="http://schemas.openxmlformats.org/officeDocument/2006/relationships/officeDocument" Target="/ppt/presentation.xml" Id="Rbe791941edec4f14" /></Relationships>
</file>

<file path=ppt/presentation.xml><?xml version="1.0" encoding="utf-8"?>
<p:presentation xmlns:p="http://schemas.openxmlformats.org/presentationml/2006/main">
  <p:sldMasterIdLst>
    <p:sldMasterId xmlns:r="http://schemas.openxmlformats.org/officeDocument/2006/relationships" id="2147483648" r:id="R439238775c4647c4"/>
  </p:sldMasterIdLst>
  <p:notesMasterIdLst>
    <p:notesMasterId xmlns:r="http://schemas.openxmlformats.org/officeDocument/2006/relationships" r:id="R4e8c1dd5f444474e"/>
  </p:notesMasterIdLst>
  <p:sldIdLst>
    <p:sldId xmlns:r="http://schemas.openxmlformats.org/officeDocument/2006/relationships" id="256" r:id="R5ae6e13bc7464611"/>
    <p:sldId xmlns:r="http://schemas.openxmlformats.org/officeDocument/2006/relationships" id="257" r:id="R4f9a27d52c474fa5"/>
    <p:sldId xmlns:r="http://schemas.openxmlformats.org/officeDocument/2006/relationships" id="258" r:id="Rbd5295e86a504f8a"/>
    <p:sldId xmlns:r="http://schemas.openxmlformats.org/officeDocument/2006/relationships" id="259" r:id="R9ae8512e40874d11"/>
    <p:sldId xmlns:r="http://schemas.openxmlformats.org/officeDocument/2006/relationships" id="260" r:id="Rb6e0bca16ad9481a"/>
    <p:sldId xmlns:r="http://schemas.openxmlformats.org/officeDocument/2006/relationships" id="261" r:id="Rb6edafb2807d4d84"/>
    <p:sldId xmlns:r="http://schemas.openxmlformats.org/officeDocument/2006/relationships" id="262" r:id="R38361c9083db457c"/>
    <p:sldId xmlns:r="http://schemas.openxmlformats.org/officeDocument/2006/relationships" id="263" r:id="R1df006932be540d8"/>
    <p:sldId xmlns:r="http://schemas.openxmlformats.org/officeDocument/2006/relationships" id="264" r:id="Rfaa0ed0c85ae4cc2"/>
    <p:sldId xmlns:r="http://schemas.openxmlformats.org/officeDocument/2006/relationships" id="265" r:id="R4a46f89968c04c28"/>
    <p:sldId xmlns:r="http://schemas.openxmlformats.org/officeDocument/2006/relationships" id="266" r:id="R9e53a74a70814014"/>
    <p:sldId xmlns:r="http://schemas.openxmlformats.org/officeDocument/2006/relationships" id="267" r:id="R6f675509901e4b42"/>
    <p:sldId xmlns:r="http://schemas.openxmlformats.org/officeDocument/2006/relationships" id="268" r:id="Re21152f1cc3a47ef"/>
    <p:sldId xmlns:r="http://schemas.openxmlformats.org/officeDocument/2006/relationships" id="269" r:id="Rf7088fab86dc4932"/>
    <p:sldId xmlns:r="http://schemas.openxmlformats.org/officeDocument/2006/relationships" id="270" r:id="R5d756d770d29410f"/>
    <p:sldId xmlns:r="http://schemas.openxmlformats.org/officeDocument/2006/relationships" id="271" r:id="Rc479d410d06b474f"/>
    <p:sldId xmlns:r="http://schemas.openxmlformats.org/officeDocument/2006/relationships" id="272" r:id="Rd6a2d558fc7d481a"/>
    <p:sldId xmlns:r="http://schemas.openxmlformats.org/officeDocument/2006/relationships" id="273" r:id="Rf55de37882464bb6"/>
    <p:sldId xmlns:r="http://schemas.openxmlformats.org/officeDocument/2006/relationships" id="274" r:id="R51ce74da7b5b45fa"/>
    <p:sldId xmlns:r="http://schemas.openxmlformats.org/officeDocument/2006/relationships" id="275" r:id="R255434a00eab4b99"/>
    <p:sldId xmlns:r="http://schemas.openxmlformats.org/officeDocument/2006/relationships" id="276" r:id="R75a69388adb34cdd"/>
    <p:sldId xmlns:r="http://schemas.openxmlformats.org/officeDocument/2006/relationships" id="277" r:id="R3f95a02680af495b"/>
    <p:sldId xmlns:r="http://schemas.openxmlformats.org/officeDocument/2006/relationships" id="278" r:id="R6496bc4c39304ce7"/>
    <p:sldId xmlns:r="http://schemas.openxmlformats.org/officeDocument/2006/relationships" id="279" r:id="Rb0f69f985f2548b4"/>
    <p:sldId xmlns:r="http://schemas.openxmlformats.org/officeDocument/2006/relationships" id="280" r:id="R6099229d9b2d42e4"/>
    <p:sldId xmlns:r="http://schemas.openxmlformats.org/officeDocument/2006/relationships" id="281" r:id="R481254c8a3b44eba"/>
    <p:sldId xmlns:r="http://schemas.openxmlformats.org/officeDocument/2006/relationships" id="282" r:id="R2138f88ffbcd48c5"/>
    <p:sldId xmlns:r="http://schemas.openxmlformats.org/officeDocument/2006/relationships" id="283" r:id="R63bf8b01d1f04b3d"/>
    <p:sldId xmlns:r="http://schemas.openxmlformats.org/officeDocument/2006/relationships" id="284" r:id="R551d31162e784c1d"/>
    <p:sldId xmlns:r="http://schemas.openxmlformats.org/officeDocument/2006/relationships" id="285" r:id="Rbbb3b5d6ba4746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f677e021db424f" /><Relationship Type="http://schemas.openxmlformats.org/officeDocument/2006/relationships/slideMaster" Target="/ppt/slideMasters/slideMaster1.xml" Id="R439238775c4647c4" /><Relationship Type="http://schemas.openxmlformats.org/officeDocument/2006/relationships/notesMaster" Target="/ppt/notesMasters/notesMaster1.xml" Id="R4e8c1dd5f444474e" /><Relationship Type="http://schemas.openxmlformats.org/officeDocument/2006/relationships/presProps" Target="/ppt/presProps.xml" Id="Rc16793e38ab54781" /><Relationship Type="http://schemas.openxmlformats.org/officeDocument/2006/relationships/tableStyles" Target="/ppt/tableStyles.xml" Id="R59de2703801d4c31" /><Relationship Type="http://schemas.openxmlformats.org/officeDocument/2006/relationships/slide" Target="/ppt/slides/slide1.xml" Id="R5ae6e13bc7464611" /><Relationship Type="http://schemas.openxmlformats.org/officeDocument/2006/relationships/slide" Target="/ppt/slides/slide2.xml" Id="R4f9a27d52c474fa5" /><Relationship Type="http://schemas.openxmlformats.org/officeDocument/2006/relationships/slide" Target="/ppt/slides/slide3.xml" Id="Rbd5295e86a504f8a" /><Relationship Type="http://schemas.openxmlformats.org/officeDocument/2006/relationships/slide" Target="/ppt/slides/slide4.xml" Id="R9ae8512e40874d11" /><Relationship Type="http://schemas.openxmlformats.org/officeDocument/2006/relationships/slide" Target="/ppt/slides/slide5.xml" Id="Rb6e0bca16ad9481a" /><Relationship Type="http://schemas.openxmlformats.org/officeDocument/2006/relationships/slide" Target="/ppt/slides/slide6.xml" Id="Rb6edafb2807d4d84" /><Relationship Type="http://schemas.openxmlformats.org/officeDocument/2006/relationships/slide" Target="/ppt/slides/slide7.xml" Id="R38361c9083db457c" /><Relationship Type="http://schemas.openxmlformats.org/officeDocument/2006/relationships/slide" Target="/ppt/slides/slide8.xml" Id="R1df006932be540d8" /><Relationship Type="http://schemas.openxmlformats.org/officeDocument/2006/relationships/slide" Target="/ppt/slides/slide9.xml" Id="Rfaa0ed0c85ae4cc2" /><Relationship Type="http://schemas.openxmlformats.org/officeDocument/2006/relationships/slide" Target="/ppt/slides/slide10.xml" Id="R4a46f89968c04c28" /><Relationship Type="http://schemas.openxmlformats.org/officeDocument/2006/relationships/slide" Target="/ppt/slides/slide11.xml" Id="R9e53a74a70814014" /><Relationship Type="http://schemas.openxmlformats.org/officeDocument/2006/relationships/slide" Target="/ppt/slides/slide12.xml" Id="R6f675509901e4b42" /><Relationship Type="http://schemas.openxmlformats.org/officeDocument/2006/relationships/slide" Target="/ppt/slides/slide13.xml" Id="Re21152f1cc3a47ef" /><Relationship Type="http://schemas.openxmlformats.org/officeDocument/2006/relationships/slide" Target="/ppt/slides/slide14.xml" Id="Rf7088fab86dc4932" /><Relationship Type="http://schemas.openxmlformats.org/officeDocument/2006/relationships/slide" Target="/ppt/slides/slide15.xml" Id="R5d756d770d29410f" /><Relationship Type="http://schemas.openxmlformats.org/officeDocument/2006/relationships/slide" Target="/ppt/slides/slide16.xml" Id="Rc479d410d06b474f" /><Relationship Type="http://schemas.openxmlformats.org/officeDocument/2006/relationships/slide" Target="/ppt/slides/slide17.xml" Id="Rd6a2d558fc7d481a" /><Relationship Type="http://schemas.openxmlformats.org/officeDocument/2006/relationships/slide" Target="/ppt/slides/slide18.xml" Id="Rf55de37882464bb6" /><Relationship Type="http://schemas.openxmlformats.org/officeDocument/2006/relationships/slide" Target="/ppt/slides/slide19.xml" Id="R51ce74da7b5b45fa" /><Relationship Type="http://schemas.openxmlformats.org/officeDocument/2006/relationships/slide" Target="/ppt/slides/slide20.xml" Id="R255434a00eab4b99" /><Relationship Type="http://schemas.openxmlformats.org/officeDocument/2006/relationships/slide" Target="/ppt/slides/slide21.xml" Id="R75a69388adb34cdd" /><Relationship Type="http://schemas.openxmlformats.org/officeDocument/2006/relationships/slide" Target="/ppt/slides/slide22.xml" Id="R3f95a02680af495b" /><Relationship Type="http://schemas.openxmlformats.org/officeDocument/2006/relationships/slide" Target="/ppt/slides/slide23.xml" Id="R6496bc4c39304ce7" /><Relationship Type="http://schemas.openxmlformats.org/officeDocument/2006/relationships/slide" Target="/ppt/slides/slide24.xml" Id="Rb0f69f985f2548b4" /><Relationship Type="http://schemas.openxmlformats.org/officeDocument/2006/relationships/slide" Target="/ppt/slides/slide25.xml" Id="R6099229d9b2d42e4" /><Relationship Type="http://schemas.openxmlformats.org/officeDocument/2006/relationships/slide" Target="/ppt/slides/slide26.xml" Id="R481254c8a3b44eba" /><Relationship Type="http://schemas.openxmlformats.org/officeDocument/2006/relationships/slide" Target="/ppt/slides/slide27.xml" Id="R2138f88ffbcd48c5" /><Relationship Type="http://schemas.openxmlformats.org/officeDocument/2006/relationships/slide" Target="/ppt/slides/slide28.xml" Id="R63bf8b01d1f04b3d" /><Relationship Type="http://schemas.openxmlformats.org/officeDocument/2006/relationships/slide" Target="/ppt/slides/slide29.xml" Id="R551d31162e784c1d" /><Relationship Type="http://schemas.openxmlformats.org/officeDocument/2006/relationships/slide" Target="/ppt/slides/slide30.xml" Id="Rbbb3b5d6ba4746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0433d1e85047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e0fa7369ac415e" /><Relationship Type="http://schemas.openxmlformats.org/officeDocument/2006/relationships/notesMaster" Target="/ppt/notesMasters/notesMaster1.xml" Id="R945dca18ed2947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12df861e5b482b" /><Relationship Type="http://schemas.openxmlformats.org/officeDocument/2006/relationships/notesMaster" Target="/ppt/notesMasters/notesMaster1.xml" Id="Rc99ff05c12f643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2212a776804e60" /><Relationship Type="http://schemas.openxmlformats.org/officeDocument/2006/relationships/notesMaster" Target="/ppt/notesMasters/notesMaster1.xml" Id="Ra50db66d908748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fbc1f0049e4422" /><Relationship Type="http://schemas.openxmlformats.org/officeDocument/2006/relationships/notesMaster" Target="/ppt/notesMasters/notesMaster1.xml" Id="Rb7fbb1e65a7745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7f9e8eba1f4e95" /><Relationship Type="http://schemas.openxmlformats.org/officeDocument/2006/relationships/notesMaster" Target="/ppt/notesMasters/notesMaster1.xml" Id="R1e1444cf0f9a40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13308270e2484d" /><Relationship Type="http://schemas.openxmlformats.org/officeDocument/2006/relationships/notesMaster" Target="/ppt/notesMasters/notesMaster1.xml" Id="Rce77e0a4ec6246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a94a7d9fe74ab2" /><Relationship Type="http://schemas.openxmlformats.org/officeDocument/2006/relationships/notesMaster" Target="/ppt/notesMasters/notesMaster1.xml" Id="R5a6b121bfc964d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f06dad03e4444f" /><Relationship Type="http://schemas.openxmlformats.org/officeDocument/2006/relationships/notesMaster" Target="/ppt/notesMasters/notesMaster1.xml" Id="R3206a97f91ab4a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76e026adc04a4e" /><Relationship Type="http://schemas.openxmlformats.org/officeDocument/2006/relationships/notesMaster" Target="/ppt/notesMasters/notesMaster1.xml" Id="R0e563663218645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65cb72742d4945" /><Relationship Type="http://schemas.openxmlformats.org/officeDocument/2006/relationships/notesMaster" Target="/ppt/notesMasters/notesMaster1.xml" Id="R5f36ccdfcf504e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bdfaac79694301" /><Relationship Type="http://schemas.openxmlformats.org/officeDocument/2006/relationships/notesMaster" Target="/ppt/notesMasters/notesMaster1.xml" Id="R2100d37876dd407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5f5f6368cc4374" /><Relationship Type="http://schemas.openxmlformats.org/officeDocument/2006/relationships/notesMaster" Target="/ppt/notesMasters/notesMaster1.xml" Id="R37214b87c511499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4f8985189434fdc" /><Relationship Type="http://schemas.openxmlformats.org/officeDocument/2006/relationships/notesMaster" Target="/ppt/notesMasters/notesMaster1.xml" Id="Ra18168420c9e4de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3ca8f247d154237" /><Relationship Type="http://schemas.openxmlformats.org/officeDocument/2006/relationships/notesMaster" Target="/ppt/notesMasters/notesMaster1.xml" Id="R9943a4501dec43d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5d323c4ef2a4178" /><Relationship Type="http://schemas.openxmlformats.org/officeDocument/2006/relationships/notesMaster" Target="/ppt/notesMasters/notesMaster1.xml" Id="R6a810c8861a6469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9f2884ba2d64653" /><Relationship Type="http://schemas.openxmlformats.org/officeDocument/2006/relationships/notesMaster" Target="/ppt/notesMasters/notesMaster1.xml" Id="R0fe24014e8f540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90d0fa297154bd2" /><Relationship Type="http://schemas.openxmlformats.org/officeDocument/2006/relationships/notesMaster" Target="/ppt/notesMasters/notesMaster1.xml" Id="R31153cba79d343f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94792e8bce34f0c" /><Relationship Type="http://schemas.openxmlformats.org/officeDocument/2006/relationships/notesMaster" Target="/ppt/notesMasters/notesMaster1.xml" Id="Rbf017f2cc3c04be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e6de0f5c69a4a52" /><Relationship Type="http://schemas.openxmlformats.org/officeDocument/2006/relationships/notesMaster" Target="/ppt/notesMasters/notesMaster1.xml" Id="R6f6fa304c9c34b9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0bf1b8fe5f846ef" /><Relationship Type="http://schemas.openxmlformats.org/officeDocument/2006/relationships/notesMaster" Target="/ppt/notesMasters/notesMaster1.xml" Id="Re397a0b504e9491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b2e306284554102" /><Relationship Type="http://schemas.openxmlformats.org/officeDocument/2006/relationships/notesMaster" Target="/ppt/notesMasters/notesMaster1.xml" Id="R50e01cf664d94c5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02d20815be54223" /><Relationship Type="http://schemas.openxmlformats.org/officeDocument/2006/relationships/notesMaster" Target="/ppt/notesMasters/notesMaster1.xml" Id="Rff9470b657c642b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05b0b4b9b164343" /><Relationship Type="http://schemas.openxmlformats.org/officeDocument/2006/relationships/notesMaster" Target="/ppt/notesMasters/notesMaster1.xml" Id="R0c0b0b79178f40e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e123942467048f6" /><Relationship Type="http://schemas.openxmlformats.org/officeDocument/2006/relationships/notesMaster" Target="/ppt/notesMasters/notesMaster1.xml" Id="Rf6835d1a82824d2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cedea19c1dc406b" /><Relationship Type="http://schemas.openxmlformats.org/officeDocument/2006/relationships/notesMaster" Target="/ppt/notesMasters/notesMaster1.xml" Id="R4acf9b2263ed4c9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a4de76a0f264c08" /><Relationship Type="http://schemas.openxmlformats.org/officeDocument/2006/relationships/notesMaster" Target="/ppt/notesMasters/notesMaster1.xml" Id="Raffc2b9c2eaa4bb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f1ae6502048470a" /><Relationship Type="http://schemas.openxmlformats.org/officeDocument/2006/relationships/notesMaster" Target="/ppt/notesMasters/notesMaster1.xml" Id="R0200d522f9c8473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58205f694334bf7" /><Relationship Type="http://schemas.openxmlformats.org/officeDocument/2006/relationships/notesMaster" Target="/ppt/notesMasters/notesMaster1.xml" Id="Rff006216139e4a8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351323ee9d649dd" /><Relationship Type="http://schemas.openxmlformats.org/officeDocument/2006/relationships/notesMaster" Target="/ppt/notesMasters/notesMaster1.xml" Id="Re535ca85d345489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e484d1b9bb04df6" /><Relationship Type="http://schemas.openxmlformats.org/officeDocument/2006/relationships/notesMaster" Target="/ppt/notesMasters/notesMaster1.xml" Id="Rc0251ca28e1b43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 30 seconds</a:t>
            </a:r>
          </a:p>
          <a:p xmlns:a="http://schemas.openxmlformats.org/drawingml/2006/main">
            <a:r>
              <a:t/>
            </a:r>
          </a:p>
          <a:p xmlns:a="http://schemas.openxmlformats.org/drawingml/2006/main">
            <a:r>
              <a:t>This talk follows the Atlas’s central question: what do separately trained models share, and can that shared information be useful? I test a limited part of the Platonic Representation Hypothesis, then build two systems from the result. I will distinguish three things throughout: a resemblance between spaces, the quality of a fitted prediction, and the success of an actual retrieval task. The practical motivation is limited compute and device memory. Frozen smaller encoders and compact maps make the experiments and the deployment approach feasible.</a:t>
            </a:r>
          </a:p>
          <a:p xmlns:a="http://schemas.openxmlformats.org/drawingml/2006/main">
            <a:r>
              <a:t/>
            </a:r>
          </a:p>
          <a:p xmlns:a="http://schemas.openxmlformats.org/drawingml/2006/main">
            <a:r>
              <a:t>Sources: Liad Kashanovsky | Project Atlas | September 2026</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0:30–1:30 | 60 seconds</a:t>
            </a:r>
          </a:p>
          <a:p xmlns:a="http://schemas.openxmlformats.org/drawingml/2006/main">
            <a:r>
              <a:t/>
            </a:r>
          </a:p>
          <a:p xmlns:a="http://schemas.openxmlformats.org/drawingml/2006/main">
            <a:r>
              <a:t>Imagine a cat on a chair, a cat on a sofa, a dog, and an airplane. An image encoder sees pixels; a text encoder receives captions. Pixels and text are different modalities. Their objectives are also different: DINOv2 learns from visual views, while a retrieval encoder learns which texts belong together. An embedding is a vector of coordinates. Shared structure asks whether related items stay close in both spaces, even if their coordinates differ. Cosine between a 768-dimensional image vector and a 1024-dimensional text vector is undefined until a compatible representation is supplied. We therefore compare within-space relations or learn a map. The bounded scientific question is whether some of that structure can be recovered and reused.</a:t>
            </a:r>
          </a:p>
          <a:p xmlns:a="http://schemas.openxmlformats.org/drawingml/2006/main">
            <a:r>
              <a:t/>
            </a:r>
          </a:p>
          <a:p xmlns:a="http://schemas.openxmlformats.org/drawingml/2006/main">
            <a:r>
              <a:t>Sources: Atlas pp. 1, 7 | Supplied cat–dog illustration</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1:30–2:30 | 60 seconds</a:t>
            </a:r>
          </a:p>
          <a:p xmlns:a="http://schemas.openxmlformats.org/drawingml/2006/main">
            <a:r>
              <a:t/>
            </a:r>
          </a:p>
          <a:p xmlns:a="http://schemas.openxmlformats.org/drawingml/2006/main">
            <a:r>
              <a:t>These are separate instruments rather than a strict mathematical ladder. Cosine asks whether two compatible vectors point in the same direction. R squared asks whether predicted coordinates recover target variance. Recall asks whether the correct item reaches the top of the list. Spearman asks whether two spaces order distances similarly. Neighborhood measures ask whether the same nearby items appear around an item. AUC asks whether a positive example receives a higher score than a negative example. None of these alone proves that two models use the same representation. In the following slides I will name both the metric and its comparison whenever I give a number.</a:t>
            </a:r>
          </a:p>
          <a:p xmlns:a="http://schemas.openxmlformats.org/drawingml/2006/main">
            <a:r>
              <a:t/>
            </a:r>
          </a:p>
          <a:p xmlns:a="http://schemas.openxmlformats.org/drawingml/2006/main">
            <a:r>
              <a:t>Sources: Atlas pp. 2–3</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2:30–3:40 | 70 seconds</a:t>
            </a:r>
          </a:p>
          <a:p xmlns:a="http://schemas.openxmlformats.org/drawingml/2006/main">
            <a:r>
              <a:t/>
            </a:r>
          </a:p>
          <a:p xmlns:a="http://schemas.openxmlformats.org/drawingml/2006/main">
            <a:r>
              <a:t>Before the engineering systems, Experiment A compares independently developed language models: GPT-2 with about 124 million parameters and Pythia with 160 million. Both predict the next token. The project extracts representations from ten thousand WikiText-103 passages, fits on 7500 and evaluates on 2500. The models remain frozen. A ridge map predicts Pythia coordinates from GPT-2 coordinates. The chart uses matched means: held-out R squared is 0.737 for trained Pythia and 0.173 for the random-weight control. R squared means target variance explained. Full-matrix mean CKA is 0.359 versus 0.067. CKA stands for centered kernel alignment and compares similarity patterns over the same items. The random-weight result shows why a nonzero score alone is insufficient.</a:t>
            </a:r>
          </a:p>
          <a:p xmlns:a="http://schemas.openxmlformats.org/drawingml/2006/main">
            <a:r>
              <a:t/>
            </a:r>
          </a:p>
          <a:p xmlns:a="http://schemas.openxmlformats.org/drawingml/2006/main">
            <a:r>
              <a:t>Sources: Companion report §3 | Atlas pp. 2–3, measurement context</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3:40–4:40 | 60 seconds</a:t>
            </a:r>
          </a:p>
          <a:p xmlns:a="http://schemas.openxmlformats.org/drawingml/2006/main">
            <a:r>
              <a:t/>
            </a:r>
          </a:p>
          <a:p xmlns:a="http://schemas.openxmlformats.org/drawingml/2006/main">
            <a:r>
              <a:t>The first system solves a compatibility problem. MobileCLIP-S1 produces 512 numbers for a phone image. SigLIP 2 produces 768 numbers for the server index. The phone vision tower has about 21.5 million parameters. I keep both pretrained encoders frozen and fit one translation matrix on three thousand paired COCO val2017 images. A separate one thousand images test generalization. The matrix maps an image representation to another image representation; SigLIP’s text encoder supplies search queries. Closed-form ridge is supervised fitting because each input has a known target, even though there is no gradient loop. The 0.79 megabyte fp16 matrix is the adapter, not the entire phone model.</a:t>
            </a:r>
          </a:p>
          <a:p xmlns:a="http://schemas.openxmlformats.org/drawingml/2006/main">
            <a:r>
              <a:t/>
            </a:r>
          </a:p>
          <a:p xmlns:a="http://schemas.openxmlformats.org/drawingml/2006/main">
            <a:r>
              <a:t>Sources: Atlas pp. 1, 4 | Companion report §4</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4:40–5:50 | 70 seconds</a:t>
            </a:r>
          </a:p>
          <a:p xmlns:a="http://schemas.openxmlformats.org/drawingml/2006/main">
            <a:r>
              <a:t/>
            </a:r>
          </a:p>
          <a:p xmlns:a="http://schemas.openxmlformats.org/drawingml/2006/main">
            <a:r>
              <a:t>Cosine is the normalized dot product. It compares direction and ignores vector length. A value of 0.900 means the prediction points close to the target, not that ninety percent of searches succeed. R squared is one minus squared prediction error divided by target variation. The ridge map explains 59.2 percent of that variation on the evaluation rows. The orthogonal Procrustes comparison explains only 3.8 percent. This suggests that a rotation-only constraint is too restrictive for this experiment; directional scaling matters. The singular values span about 69-fold in the reported follow-up. These finite tests support a fuller linear adapter but do not establish a unique exact transformation between all possible inputs.</a:t>
            </a:r>
          </a:p>
          <a:p xmlns:a="http://schemas.openxmlformats.org/drawingml/2006/main">
            <a:r>
              <a:t/>
            </a:r>
          </a:p>
          <a:p xmlns:a="http://schemas.openxmlformats.org/drawingml/2006/main">
            <a:r>
              <a:t>Sources: Atlas pp. 3–4, 8</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5:50–7:20 | 90 seconds</a:t>
            </a:r>
          </a:p>
          <a:p xmlns:a="http://schemas.openxmlformats.org/drawingml/2006/main">
            <a:r>
              <a:t/>
            </a:r>
          </a:p>
          <a:p xmlns:a="http://schemas.openxmlformats.org/drawingml/2006/main">
            <a:r>
              <a:t>Now ask the product question. A user types a caption about a cat and the system ranks one thousand images. A top-five success means that the correct image appears anywhere in the first five results. The adapted system succeeds for 843 of one thousand queries, so R at five is 0.843 or 84.3 percent. The native SigLIP system succeeds for 885. Random ranking would succeed on about five, because chance is K divided by the number of candidates when one item is correct. Dividing 0.843 by 0.885 gives 95.3 percent retention. That is a percentage of reference performance, not a second accuracy. At top one the adapter scores 0.557 versus 0.630, retaining 88.4 percent and missing the project’s 90 percent retention target. Different K values describe different user experiences.</a:t>
            </a:r>
          </a:p>
          <a:p xmlns:a="http://schemas.openxmlformats.org/drawingml/2006/main">
            <a:r>
              <a:t/>
            </a:r>
          </a:p>
          <a:p xmlns:a="http://schemas.openxmlformats.org/drawingml/2006/main">
            <a:r>
              <a:t>Sources: Atlas pp. 3–4 | Companion report §4, one-caption protocol</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7:20–8:20 | 60 seconds</a:t>
            </a:r>
          </a:p>
          <a:p xmlns:a="http://schemas.openxmlformats.org/drawingml/2006/main">
            <a:r>
              <a:t/>
            </a:r>
          </a:p>
          <a:p xmlns:a="http://schemas.openxmlformats.org/drawingml/2006/main">
            <a:r>
              <a:t>Verification compares one positive pair with a negative pair. AUC is the probability that a randomly drawn positive receives a higher score than a randomly drawn negative, with the usual convention for ties. It is not the proportion of one thousand queries returning the right item. With a random impostor, the Atlas reports AUC 0.999. Selecting the hardest impostor among one thousand candidates lowers AUC to 0.848. Removing the adapter gives 0.477 in the reported verification control, around the 0.5 chance level. This is the same broad capability under different decision difficulty. High AUC with easy negatives does not establish perfect retrieval or perfect membership detection. The definition of the negative is part of the metric.</a:t>
            </a:r>
          </a:p>
          <a:p xmlns:a="http://schemas.openxmlformats.org/drawingml/2006/main">
            <a:r>
              <a:t/>
            </a:r>
          </a:p>
          <a:p xmlns:a="http://schemas.openxmlformats.org/drawingml/2006/main">
            <a:r>
              <a:t>Sources: Atlas p. 4, embedded ROC figure</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8:20–9:05 | 45 seconds</a:t>
            </a:r>
          </a:p>
          <a:p xmlns:a="http://schemas.openxmlformats.org/drawingml/2006/main">
            <a:r>
              <a:t/>
            </a:r>
          </a:p>
          <a:p xmlns:a="http://schemas.openxmlformats.org/drawingml/2006/main">
            <a:r>
              <a:t>The Atlas highlights this as a key control. On the larger teacher-target corpus, a multilayer perceptron, or MLP, has nonlinear capacity beyond a single matrix. Both reported runs reach mean cosine 0.9183, matching ridge to four decimal places. These are the larger-data follow-up conditions and should not be compared as if they were the earlier 0.900 run. The practical conclusion is that the tested MLP did not justify extra complexity. The scientific conclusion is narrower than proving exact linearity: a finite selection of architectures, training procedures and held-out data cannot rule out every possible nonlinear improvement.</a:t>
            </a:r>
          </a:p>
          <a:p xmlns:a="http://schemas.openxmlformats.org/drawingml/2006/main">
            <a:r>
              <a:t/>
            </a:r>
          </a:p>
          <a:p xmlns:a="http://schemas.openxmlformats.org/drawingml/2006/main">
            <a:r>
              <a:t>Sources: Atlas pp. 5, 8 | Companion report F1–F2</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9:05–9:50 | 45 seconds</a:t>
            </a:r>
          </a:p>
          <a:p xmlns:a="http://schemas.openxmlformats.org/drawingml/2006/main">
            <a:r>
              <a:t/>
            </a:r>
          </a:p>
          <a:p xmlns:a="http://schemas.openxmlformats.org/drawingml/2006/main">
            <a:r>
              <a:t>The next step bridges a vision-only representation and a text retrieval representation. DINOv2 learns from image views without a caption loss. bge is a text encoder. Paired COCO examples supervise the bridge. In the matched small, base and large sweep, parameter counts rise from about 22 to 87 to 304 million and relative Recall at one rises from 40.9 to 53.5 to 58.3 percent of the matched native reference. Each point uses its own matched evaluation and enough rows per dimension. This is evidence for a trend inside this tested range and family. The caption-head hub experiment comes next and has a different reference and different percentages.</a:t>
            </a:r>
          </a:p>
          <a:p xmlns:a="http://schemas.openxmlformats.org/drawingml/2006/main">
            <a:r>
              <a:t/>
            </a:r>
          </a:p>
          <a:p xmlns:a="http://schemas.openxmlformats.org/drawingml/2006/main">
            <a:r>
              <a:t>Sources: Atlas p. 8, finding 4–5 | Companion report Table C8</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9:50–11:00 | 70 seconds</a:t>
            </a:r>
          </a:p>
          <a:p xmlns:a="http://schemas.openxmlformats.org/drawingml/2006/main">
            <a:r>
              <a:t/>
            </a:r>
          </a:p>
          <a:p xmlns:a="http://schemas.openxmlformats.org/drawingml/2006/main">
            <a:r>
              <a:t>The hub removes the need to fit every ordered pair separately. Seven encoders would require forty-two directed pair maps. A frozen hub uses one entry map per encoder, plus the output heads needed for the intended tasks. The seven members are three DINO sizes, bge, GPT-2, BERT and SBERT. For the same training rows, balance each space by its scalar scale, concatenate the vectors, retain 512 principal components and whiten them. This defines a reference matrix H: one 512-dimensional location per training item. The seven-space concatenation has 7680 coordinates; 5376 belongs to the reproduced four-member construction. Each entry map learns to predict H from one encoder’s own representation. Fitting PCA and ridge still means learning parameters from data, although the encoders stay frozen.</a:t>
            </a:r>
          </a:p>
          <a:p xmlns:a="http://schemas.openxmlformats.org/drawingml/2006/main">
            <a:r>
              <a:t/>
            </a:r>
          </a:p>
          <a:p xmlns:a="http://schemas.openxmlformats.org/drawingml/2006/main">
            <a:r>
              <a:t>Sources: Atlas pp. 6, 10 | Companion report E.14 protocol audit</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11:00–12:05 | 65 seconds</a:t>
            </a:r>
          </a:p>
          <a:p xmlns:a="http://schemas.openxmlformats.org/drawingml/2006/main">
            <a:r>
              <a:t/>
            </a:r>
          </a:p>
          <a:p xmlns:a="http://schemas.openxmlformats.org/drawingml/2006/main">
            <a:r>
              <a:t>The head-training input is DINO-small’s predicted hub coordinates, not its raw image features and not the exact PCA reference H. First fit W small to H, then compute H small from X small times W small. Fit an output head from those predicted coordinates to bge caption vectors. During deployment, another encoder supplies its own predicted location through its own entry map. ConvNeXt never participated in building H or training the caption head. Its entry map still needs fitting pairs; zero-shot refers to reusing the caption head. On a new cat image the complete route is encoder, entry map, fixed output head, then cosine ranking of actual captions. This tests whether the shared frame makes the unchanged downstream component useful through a different route.</a:t>
            </a:r>
          </a:p>
          <a:p xmlns:a="http://schemas.openxmlformats.org/drawingml/2006/main">
            <a:r>
              <a:t/>
            </a:r>
          </a:p>
          <a:p xmlns:a="http://schemas.openxmlformats.org/drawingml/2006/main">
            <a:r>
              <a:t>Sources: Atlas p. 6 | Frozen Hub Caption Transfer Corrected | Report G4</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12:05–13:15 | 70 seconds</a:t>
            </a:r>
          </a:p>
          <a:p xmlns:a="http://schemas.openxmlformats.org/drawingml/2006/main">
            <a:r>
              <a:t/>
            </a:r>
          </a:p>
          <a:p xmlns:a="http://schemas.openxmlformats.org/drawingml/2006/main">
            <a:r>
              <a:t>This is the most important ratio to read correctly. The teal bars are the transferred head’s absolute Recall at one. They rise from 0.398 to 0.442 to 0.468 as the encoder grows. The light bars are native references inferred from the Atlas’s rounded percentages. They rise faster, from about 0.357 to 0.461 to 0.504. DINO-large therefore gets the correct caption first for 46.8 percent of queries and retains 92.9 percent of its own reference performance. A falling retention percentage does not imply falling retrieval accuracy. The native comparison uses the same bge target; native means that the reference head is fitted for that encoder’s route. It is an empirical comparison, not a mathematical maximum, so ratios may exceed one hundred percent.</a:t>
            </a:r>
          </a:p>
          <a:p xmlns:a="http://schemas.openxmlformats.org/drawingml/2006/main">
            <a:r>
              <a:t/>
            </a:r>
          </a:p>
          <a:p xmlns:a="http://schemas.openxmlformats.org/drawingml/2006/main">
            <a:r>
              <a:t>Sources: Atlas p. 3, expanded Table C12</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13:15–14:15 | 60 seconds</a:t>
            </a:r>
          </a:p>
          <a:p xmlns:a="http://schemas.openxmlformats.org/drawingml/2006/main">
            <a:r>
              <a:t/>
            </a:r>
          </a:p>
          <a:p xmlns:a="http://schemas.openxmlformats.org/drawingml/2006/main">
            <a:r>
              <a:t>Readability is the source role. Can an entry map extract useful information from this encoder and place an item in the hub? Writability is the target role. After predicting into that space, can its cosine ranking separate the correct item from alternatives? GPT-2 illustrates why the roles differ: the reported normalized source diagnostic is 95.1 percent, while the target diagnostic is 24.8 percent. The latter is plotted beside bge at 98.1 and SBERT at 101.0. These normalized diagnostic scores use their own direct-map references and are not retrieval accuracy. GPT-2’s strongly concentrated directions can preserve recoverable information while making target ranking fragile. Full-space whitening is a separate tested intervention, not the same operation as whitening the retained joint PCA directions.</a:t>
            </a:r>
          </a:p>
          <a:p xmlns:a="http://schemas.openxmlformats.org/drawingml/2006/main">
            <a:r>
              <a:t/>
            </a:r>
          </a:p>
          <a:p xmlns:a="http://schemas.openxmlformats.org/drawingml/2006/main">
            <a:r>
              <a:t>Sources: Atlas p. 9 | Report C.13.3–C.13.4</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14:15–15:45 | 90 seconds</a:t>
            </a:r>
          </a:p>
          <a:p xmlns:a="http://schemas.openxmlformats.org/drawingml/2006/main">
            <a:r>
              <a:t/>
            </a:r>
          </a:p>
          <a:p xmlns:a="http://schemas.openxmlformats.org/drawingml/2006/main">
            <a:r>
              <a:t>Local means the nearby neighborhood of each item. A cat on a chair might share its nearest cats and furniture scenes across encoders even when the ordering of faraway items changes. The left plot shows centered kernel nearest-neighbor alignment, CKNNA, as the neighborhood expands. All twenty-one encoder pairs in the seven-model study score higher locally than at the global limit. The right plot compares two diagnostic rankings of encoder pairs and has Spearman correlation 0.81. That number means the diagnostics agree about which pairs align best, not that every encoder pair has alignment 0.81. Raw Spearman pair-distance agreement averages around 0.29 across modalities and reaches about 0.76 for bge and SBERT in the Atlas. These are additional relational measurements, with no fitted map. No single number proves globally identical geometry.</a:t>
            </a:r>
          </a:p>
          <a:p xmlns:a="http://schemas.openxmlformats.org/drawingml/2006/main">
            <a:r>
              <a:t/>
            </a:r>
          </a:p>
          <a:p xmlns:a="http://schemas.openxmlformats.org/drawingml/2006/main">
            <a:r>
              <a:t>Sources: Atlas pp. 2, 7–8 | Report C.13.8–C.13.10 | Supplied CKNNA figure</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15:45–16:35 | 50 seconds</a:t>
            </a:r>
          </a:p>
          <a:p xmlns:a="http://schemas.openxmlformats.org/drawingml/2006/main">
            <a:r>
              <a:t/>
            </a:r>
          </a:p>
          <a:p xmlns:a="http://schemas.openxmlformats.org/drawingml/2006/main">
            <a:r>
              <a:t>The Atlas insists that a failed map may simply have too few fitting examples. Here the same 8533 rows provide 11.1 examples per input dimension for DINO-small, 5.6 for base, 4.2 for large and 8.3 for ConvNeXt. The project uses five as a screening heuristic. It is not a universal statistical law, and being above it does not guarantee sufficient power. DINO-large falls below that floor, so its result needs a larger-data repeat. We should not automatically call a normalized ratio conservative: poor estimation can change both its numerator and denominator. The H1 checks also look for invalid arrays, geometry collapse, normalization problems and hub estimation risk. On an embedding-tuned causal model, incorrect pooling can look like collapse, so pooling must be checked first.</a:t>
            </a:r>
          </a:p>
          <a:p xmlns:a="http://schemas.openxmlformats.org/drawingml/2006/main">
            <a:r>
              <a:t/>
            </a:r>
          </a:p>
          <a:p xmlns:a="http://schemas.openxmlformats.org/drawingml/2006/main">
            <a:r>
              <a:t>Sources: Atlas pp. 3, 9–11</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16:35–17:35 | 60 seconds</a:t>
            </a:r>
          </a:p>
          <a:p xmlns:a="http://schemas.openxmlformats.org/drawingml/2006/main">
            <a:r>
              <a:t/>
            </a:r>
          </a:p>
          <a:p xmlns:a="http://schemas.openxmlformats.org/drawingml/2006/main">
            <a:r>
              <a:t>Controls make the interpretation testable. The no-adapter verification result is 0.477 AUC versus 0.999 with the fitted map. The random-entry-map G4 result is Recall at one 0.003 versus 0.557 with the fitted entry map. Chance retrieval is 0.001 for one thousand candidates. Random model weights use matched statistics: mean CKA 0.359 versus 0.067 and mean R squared 0.737 versus 0.173. At the peak layer alone, R squared is 0.797 versus 0.090. Shuffling E1 pairs lowers R squared from 0.511 to minus 0.130. A matched native reference controls evaluation difficulty. ConvNeXt tests a convolutional, supervised encoder outside hub membership; SigLIP tests an unrelated lineage. The tiny excess of ConvNeXt over one ViT band is not itself proof of architectural superiority.</a:t>
            </a:r>
          </a:p>
          <a:p xmlns:a="http://schemas.openxmlformats.org/drawingml/2006/main">
            <a:r>
              <a:t/>
            </a:r>
          </a:p>
          <a:p xmlns:a="http://schemas.openxmlformats.org/drawingml/2006/main">
            <a:r>
              <a:t>Sources: Atlas pp. 3–4, 8–11 | Companion report §3, C.9, C.13.2, D.2</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17:35–18:25 | 50 seconds</a:t>
            </a:r>
          </a:p>
          <a:p xmlns:a="http://schemas.openxmlformats.org/drawingml/2006/main">
            <a:r>
              <a:t/>
            </a:r>
          </a:p>
          <a:p xmlns:a="http://schemas.openxmlformats.org/drawingml/2006/main">
            <a:r>
              <a:t>The Atlas reports two further results that make the geometry explanation useful. First, Gromov-Wasserstein matching recovers 39.7 percent of hidden pairings from two sets of 1500 items. Chance exact matching is one divided by 1500, about 0.0667 percent, giving roughly 595 times chance. This is pair-free correspondence recovery in that experiment, not an entirely pair-free deployed system. Second, whitening the collapsed GPT-2 target improves Recall at one from 0.130 to 0.478 in the reported protocol. Whitening rescales directions. The same kind of transformation can help use a known correspondence while harming unsupervised discovery of an unknown one. Geometry has task-specific effects, rather than one universal good shape.</a:t>
            </a:r>
          </a:p>
          <a:p xmlns:a="http://schemas.openxmlformats.org/drawingml/2006/main">
            <a:r>
              <a:t/>
            </a:r>
          </a:p>
          <a:p xmlns:a="http://schemas.openxmlformats.org/drawingml/2006/main">
            <a:r>
              <a:t>Sources: Atlas pp. 8, 10 | Report C.11–C.12</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18:25–19:05 | 40 seconds</a:t>
            </a:r>
          </a:p>
          <a:p xmlns:a="http://schemas.openxmlformats.org/drawingml/2006/main">
            <a:r>
              <a:t/>
            </a:r>
          </a:p>
          <a:p xmlns:a="http://schemas.openxmlformats.org/drawingml/2006/main">
            <a:r>
              <a:t>There are two engineering achievements: the compact phone-to-server adapter and the common hub with reusable heads. They make interoperability practical without modifying the pretrained encoders. Scientific evidence supports recoverable structure and local agreement on the tested data. The limitations matter. The top-one deployment gate was missed. The MLP control showed no gain but cannot prove exact linearity for all inputs. The hub-width cliff was traced to an unstable head-fit direction and improved with regularization or truncation, so it is not a fundamental limit on a shared space. And seven experts have not been shown to beat one large generalist at matched resource budgets. That comparison remains a valuable next experiment.</a:t>
            </a:r>
          </a:p>
          <a:p xmlns:a="http://schemas.openxmlformats.org/drawingml/2006/main">
            <a:r>
              <a:t/>
            </a:r>
          </a:p>
          <a:p xmlns:a="http://schemas.openxmlformats.org/drawingml/2006/main">
            <a:r>
              <a:t>Sources: Atlas pp. 5–6, 8–11 | Report E.8, E.16</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19:05–20:00 | 55 seconds</a:t>
            </a:r>
          </a:p>
          <a:p xmlns:a="http://schemas.openxmlformats.org/drawingml/2006/main">
            <a:r>
              <a:t/>
            </a:r>
          </a:p>
          <a:p xmlns:a="http://schemas.openxmlformats.org/drawingml/2006/main">
            <a:r>
              <a:t>The first priority is more paired data for the larger feature spaces, with proper splits and stable references. Then repeat larger-model transfer separately from raw geometric agreement. The later report already contains giant and Qwen raw-geometry tests, so the Atlas’s older scale TODO must not be read as if no larger models have been tried. The engineering comparison to earn is small experts versus one large model at matched task quality, memory, latency and energy. Actual device benchmarks are still needed. Broader languages and domains would test generality, while image-target heads would test the reverse target direction. The project’s current value is a measured, compact way to reuse representations and downstream components under a clear scope.</a:t>
            </a:r>
          </a:p>
          <a:p xmlns:a="http://schemas.openxmlformats.org/drawingml/2006/main">
            <a:r>
              <a:t/>
            </a:r>
          </a:p>
          <a:p xmlns:a="http://schemas.openxmlformats.org/drawingml/2006/main">
            <a:r>
              <a:t>Sources: Atlas pp. 9–11 | Later scale-test status: report E.16</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For unit vectors, squared Euclidean distance is two minus two times cosine, so the two produce equivalent rankings within that convention. Across spaces, calculate pair distances separately and correlate their ranks. The toy example illustrates rank ordering only and does not report the experiment’s measured coordinates. Spearman ranges from minus one to one, whereas cosine is an angle-based comparison in a compatible vector space. The Atlas’s approximate 0.29 cross-modal mean and 0.76 bge-SBERT score use different aggregation levels and are labeled accordingly.</a:t>
            </a:r>
          </a:p>
          <a:p xmlns:a="http://schemas.openxmlformats.org/drawingml/2006/main">
            <a:r>
              <a:t/>
            </a:r>
          </a:p>
          <a:p xmlns:a="http://schemas.openxmlformats.org/drawingml/2006/main">
            <a:r>
              <a:t>Sources: Atlas pp. 2–3</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k-NN means k nearest neighbors. Here there are 101 items including the query, so each list selects four of the other one hundred items. Two shared neighbors gives overlap one half. Under independent uniformly selected neighbor sets, expected overlap fraction is four divided by one hundred, or 0.04. The ratio is 12.5. This is a teaching example. Chance normalization itself has a k-dependent upper bound, so a falling ratio as k increases cannot alone establish that local agreement is special. The main local claim also uses CKNNA.</a:t>
            </a:r>
          </a:p>
          <a:p xmlns:a="http://schemas.openxmlformats.org/drawingml/2006/main">
            <a:r>
              <a:t/>
            </a:r>
          </a:p>
          <a:p xmlns:a="http://schemas.openxmlformats.org/drawingml/2006/main">
            <a:r>
              <a:t>Sources: Atlas pp. 2–3 | Toy example, not a reported result</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AUC has chance one half for balanced random score ordering, whereas Recall chance depends on gallery size and K. CKA and CKNNA are structural comparisons with their own invariances and biases. Effective rank summarizes the concentration of a singular or eigenvalue spectrum; it does not literally count semantic concepts. Intrinsic dimension and ambient width are also different. A row-count heuristic is only one part of checking statistical power, which should be tied to a test, effect size and uncertainty.</a:t>
            </a:r>
          </a:p>
          <a:p xmlns:a="http://schemas.openxmlformats.org/drawingml/2006/main">
            <a:r>
              <a:t/>
            </a:r>
          </a:p>
          <a:p xmlns:a="http://schemas.openxmlformats.org/drawingml/2006/main">
            <a:r>
              <a:t>Sources: Atlas pp. 3, 11 | Companion report D.2</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Parameter counts are approximate. All main pretrained encoders remain frozen. GPT-2 and Pythia predict the next token through self-supervision. BERT’s original recipe uses masked-token and next-sentence objectives. The SBERT checkpoint is all-mpnet-base-v2, which uses mixed contrastive sentence-pair fine-tuning, rather than NLI-only BERT. bge-m3 is a multilingual retrieval model with a 1024-dimensional dense representation. Pooling is part of the feature definition and must match each checkpoint.</a:t>
            </a:r>
          </a:p>
          <a:p xmlns:a="http://schemas.openxmlformats.org/drawingml/2006/main">
            <a:r>
              <a:t/>
            </a:r>
          </a:p>
          <a:p xmlns:a="http://schemas.openxmlformats.org/drawingml/2006/main">
            <a:r>
              <a:t>Sources: Atlas pp. 1, 6, 9 | Report E.10 | Official model cards cited in prior source deck</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A parameter is a learned coefficient inside the pretrained model. Vector width is the number of coordinates output for one item. They are different counts. The DINO hub features concatenate a CLS token with the mean of patch tokens, doubling native token width. CLS summarizes an image and patch tokens describe its parts. Self-supervision uses targets constructed from views of the data, rather than human class labels. ConvNeXt uses ImageNet-22k class supervision. MobileCLIP and SigLIP use image-text pairs. These training types describe stages; the later ridge fit itself uses known pair correspondences.</a:t>
            </a:r>
          </a:p>
          <a:p xmlns:a="http://schemas.openxmlformats.org/drawingml/2006/main">
            <a:r>
              <a:t/>
            </a:r>
          </a:p>
          <a:p xmlns:a="http://schemas.openxmlformats.org/drawingml/2006/main">
            <a:r>
              <a:t>Sources: Atlas pp. 1, 4, 6, 9 | Report E.10 | Official model cards</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The model creators’ pretraining corpora differ from the project’s fitting data. WikiText-103 contains Wikipedia passages. COCO provides photographs with human captions. The project extracts frozen vectors and fits transformations on its training rows. B tests one real caption per query. Hub text anchors average five caption embeddings for the same image. This is different from averaging patch tokens within one image, and no image vectors from different images are averaged together. Fit preprocessing using training rows only. The larger teacher-target experiments contain 39999 rows with a 37999/2000 split.</a:t>
            </a:r>
          </a:p>
          <a:p xmlns:a="http://schemas.openxmlformats.org/drawingml/2006/main">
            <a:r>
              <a:t/>
            </a:r>
          </a:p>
          <a:p xmlns:a="http://schemas.openxmlformats.org/drawingml/2006/main">
            <a:r>
              <a:t>Sources: Atlas pp. 3–6, 10–11 | Report §§3–4 and E.10–E.15</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W is a learned matrix, separate from the frozen encoder’s parameters. With row vectors, a 512-coordinate input multiplied by a 512-by-768 matrix produces 768 coordinates. Ridge adds a penalty controlled by alpha, discouraging excessively large coefficients. The closed-form expression assumes the intended centering or intercept treatment. PCA finds directions of variance and retains a reduced set. Whitening rescales retained directions. Anisotropy means direction-dependent statistics, and whitening is not guaranteed to improve every downstream task. In the hub, one scalar balance per source precedes joint PCA whitening.</a:t>
            </a:r>
          </a:p>
          <a:p xmlns:a="http://schemas.openxmlformats.org/drawingml/2006/main">
            <a:r>
              <a:t/>
            </a:r>
          </a:p>
          <a:p xmlns:a="http://schemas.openxmlformats.org/drawingml/2006/main">
            <a:r>
              <a:t>Sources: Atlas pp. 1, 4, 6, 10 | Report E.14</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The Atlas groups findings rather than enumerating every notebook. This inventory provides the main families. A covers extraction, CKA and layer stitching. B covers adapter fitting, retrieval, export and demonstrations. C removes pair correspondence labels. E bridges vision and text and tests scaling and geometry interventions. F compares neural and linear adapters using teacher targets. G constructs the hub and diagnoses transfer. K reproduces structural measurements, H checks artifacts and fitting adequacy, and V supplies independent verification. Detailed subtests appear on the following slide.</a:t>
            </a:r>
          </a:p>
          <a:p xmlns:a="http://schemas.openxmlformats.org/drawingml/2006/main">
            <a:r>
              <a:t/>
            </a:r>
          </a:p>
          <a:p xmlns:a="http://schemas.openxmlformats.org/drawingml/2006/main">
            <a:r>
              <a:t>Sources: Atlas pp. 4–6, 8–11 | Companion report / results inventory</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Hub subtests use different references, so retain each protocol’s meaning. G1 compares composition to direct maps, whereas G3 compares shared and bespoke pair-specific hubs. G4 tests held-out encoders. G5 and G6 describe local and global structure. G7 and the later K-series test whether the hub changes local agreement. G8’s candidate cliff explanations fail; G9 through G16 localize the numerical issue and test repairs, with G10 separately studying source composition. Large-model raw geometry was tested in later work. A giant entry fit at 2.8 rows per dimension remains inconclusive. F3/F4 unfreezing remained gated rather than silently mixed into the frozen-encoder results.</a:t>
            </a:r>
          </a:p>
          <a:p xmlns:a="http://schemas.openxmlformats.org/drawingml/2006/main">
            <a:r>
              <a:t/>
            </a:r>
          </a:p>
          <a:p xmlns:a="http://schemas.openxmlformats.org/drawingml/2006/main">
            <a:r>
              <a:t>Sources: Atlas pp. 6, 9–11 | Report G-series and E.16</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This deck uses the Atlas as the narrative source and the companion report for experimental definitions and corrections. Important corrections: different-dimensional raw vectors cannot have a direct cosine; ridge is supervised fitting even without gradient descent; matching MLP and ridge does not prove universal exact linearity; a low sample ratio does not make normalized performance automatically conservative; chance-normalized neighborhood ratios have k-dependent ceilings; and N hub entry maps do not remove the need for output heads. Source links: PRH https://proceedings.mlr.press/v235/huh24a.html ; CKA https://proceedings.mlr.press/v97/kornblith19a.html ; COCO https://cocodataset.org/ ; WikiText https://huggingface.co/datasets/Salesforce/wikitext ; DINOv2 https://github.com/facebookresearch/dinov2 ; MobileCLIP https://github.com/apple-aiml-research/ml-mobileclip ; SigLIP 2 https://huggingface.co/google/siglip2-base-patch16-224 ; bge https://huggingface.co/BAAI/bge-m3 ; SBERT https://huggingface.co/sentence-transformers/all-mpnet-base-v2 .</a:t>
            </a:r>
          </a:p>
          <a:p xmlns:a="http://schemas.openxmlformats.org/drawingml/2006/main">
            <a:r>
              <a:t/>
            </a:r>
          </a:p>
          <a:p xmlns:a="http://schemas.openxmlformats.org/drawingml/2006/main">
            <a:r>
              <a:t>Sources: Primary: Project_Atlas(5).pdf | Companion: Final_Project_Report(7).pdf and Results_Summary(3).pdf</a:t>
            </a:r>
          </a:p>
          <a:p xmlns:a="http://schemas.openxmlformats.org/drawingml/2006/main">
            <a:r>
              <a:t>Primary document: Project_Atlas(5).pdf. Companion report references identify supporting details or protocol corrections.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25bd7fe09c40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04a0b1f50d422e" /><Relationship Type="http://schemas.openxmlformats.org/officeDocument/2006/relationships/slideLayout" Target="/ppt/slideLayouts/slideLayout1.xml" Id="Ra24cd39816794e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4cd39816794e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d3237826f84f07" /><Relationship Type="http://schemas.openxmlformats.org/officeDocument/2006/relationships/notesSlide" Target="/ppt/notesSlides/notesSlide1.xml" Id="Rd2b51ed0bee744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582876d5f974064" /><Relationship Type="http://schemas.openxmlformats.org/officeDocument/2006/relationships/image" Target="/ppt/media/image.png" Id="R733e770444714743" /><Relationship Type="http://schemas.openxmlformats.org/officeDocument/2006/relationships/notesSlide" Target="/ppt/notesSlides/notesSlide2.xml" Id="R3121ca6a2d6e43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03f681d558749ac" /><Relationship Type="http://schemas.openxmlformats.org/officeDocument/2006/relationships/notesSlide" Target="/ppt/notesSlides/notesSlide3.xml" Id="R26afe80e093041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3bed18d2414419a" /><Relationship Type="http://schemas.openxmlformats.org/officeDocument/2006/relationships/chart" Target="/ppt/slides/charts/chart1.xml" Id="Rc5c254fa0e0a413d" /><Relationship Type="http://schemas.openxmlformats.org/officeDocument/2006/relationships/notesSlide" Target="/ppt/notesSlides/notesSlide4.xml" Id="R690d692473b042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93afc31bc8477e" /><Relationship Type="http://schemas.openxmlformats.org/officeDocument/2006/relationships/notesSlide" Target="/ppt/notesSlides/notesSlide5.xml" Id="Rb83b3f8fbd7f45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a3a7d9a192478b" /><Relationship Type="http://schemas.openxmlformats.org/officeDocument/2006/relationships/chart" Target="/ppt/slides/charts/chart2.xml" Id="R8b81df064f5840ac" /><Relationship Type="http://schemas.openxmlformats.org/officeDocument/2006/relationships/notesSlide" Target="/ppt/notesSlides/notesSlide6.xml" Id="Re38b49a202724f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9f7d7a41d64764" /><Relationship Type="http://schemas.openxmlformats.org/officeDocument/2006/relationships/chart" Target="/ppt/slides/charts/chart3.xml" Id="R00d16d1b0ad549ed" /><Relationship Type="http://schemas.openxmlformats.org/officeDocument/2006/relationships/notesSlide" Target="/ppt/notesSlides/notesSlide7.xml" Id="R30d3be2e50ce4f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80be6cf2d72411c" /><Relationship Type="http://schemas.openxmlformats.org/officeDocument/2006/relationships/chart" Target="/ppt/slides/charts/chart4.xml" Id="R8306c637f9304acf" /><Relationship Type="http://schemas.openxmlformats.org/officeDocument/2006/relationships/notesSlide" Target="/ppt/notesSlides/notesSlide8.xml" Id="Rd8d0a32a74bd4f0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338a8f311094b54" /><Relationship Type="http://schemas.openxmlformats.org/officeDocument/2006/relationships/chart" Target="/ppt/slides/charts/chart5.xml" Id="R02a28a2ed1da4afa" /><Relationship Type="http://schemas.openxmlformats.org/officeDocument/2006/relationships/notesSlide" Target="/ppt/notesSlides/notesSlide9.xml" Id="R170bdf251f1c40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d982cb10364239" /><Relationship Type="http://schemas.openxmlformats.org/officeDocument/2006/relationships/chart" Target="/ppt/slides/charts/chart6.xml" Id="R87e861a682b8407e" /><Relationship Type="http://schemas.openxmlformats.org/officeDocument/2006/relationships/notesSlide" Target="/ppt/notesSlides/notesSlide10.xml" Id="Re875d54fe10b484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5925f4587d343de" /><Relationship Type="http://schemas.openxmlformats.org/officeDocument/2006/relationships/notesSlide" Target="/ppt/notesSlides/notesSlide11.xml" Id="Rdd8daf60fddb4a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a520ed999ba48b7" /><Relationship Type="http://schemas.openxmlformats.org/officeDocument/2006/relationships/notesSlide" Target="/ppt/notesSlides/notesSlide12.xml" Id="Rbcd47596eeb045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acd4791dd2f43b4" /><Relationship Type="http://schemas.openxmlformats.org/officeDocument/2006/relationships/chart" Target="/ppt/slides/charts/chart7.xml" Id="R31ebcf70c967408b" /><Relationship Type="http://schemas.openxmlformats.org/officeDocument/2006/relationships/notesSlide" Target="/ppt/notesSlides/notesSlide13.xml" Id="R87130ba5de1c434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ea4bb085ff9426e" /><Relationship Type="http://schemas.openxmlformats.org/officeDocument/2006/relationships/chart" Target="/ppt/slides/charts/chart8.xml" Id="R5480b9f4e5ad48f3" /><Relationship Type="http://schemas.openxmlformats.org/officeDocument/2006/relationships/notesSlide" Target="/ppt/notesSlides/notesSlide14.xml" Id="R3cb9edcc7e444b1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f99337cb272446a" /><Relationship Type="http://schemas.openxmlformats.org/officeDocument/2006/relationships/image" Target="/ppt/media/image2.png" Id="Rec728073824642a3" /><Relationship Type="http://schemas.openxmlformats.org/officeDocument/2006/relationships/notesSlide" Target="/ppt/notesSlides/notesSlide15.xml" Id="R79726742fd2c4f2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d715334cdad47d2" /><Relationship Type="http://schemas.openxmlformats.org/officeDocument/2006/relationships/chart" Target="/ppt/slides/charts/chart9.xml" Id="Rf87e6323c9c54c37" /><Relationship Type="http://schemas.openxmlformats.org/officeDocument/2006/relationships/notesSlide" Target="/ppt/notesSlides/notesSlide16.xml" Id="R0969f1f17ead4ef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a7d3d2227874b17" /><Relationship Type="http://schemas.openxmlformats.org/officeDocument/2006/relationships/notesSlide" Target="/ppt/notesSlides/notesSlide17.xml" Id="R54d7052de13c436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f540e63e3324e57" /><Relationship Type="http://schemas.openxmlformats.org/officeDocument/2006/relationships/chart" Target="/ppt/slides/charts/chart10.xml" Id="R7dcbfe77fbdd4057" /><Relationship Type="http://schemas.openxmlformats.org/officeDocument/2006/relationships/chart" Target="/ppt/slides/charts/chart11.xml" Id="R34dfa3f749fa4730" /><Relationship Type="http://schemas.openxmlformats.org/officeDocument/2006/relationships/notesSlide" Target="/ppt/notesSlides/notesSlide18.xml" Id="R8dd6f8c8b0b745d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762f7040ab14252" /><Relationship Type="http://schemas.openxmlformats.org/officeDocument/2006/relationships/notesSlide" Target="/ppt/notesSlides/notesSlide19.xml" Id="Rb1d2640e360040c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1a6ad1ef54f4790" /><Relationship Type="http://schemas.openxmlformats.org/officeDocument/2006/relationships/notesSlide" Target="/ppt/notesSlides/notesSlide20.xml" Id="R12699be132314f7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9b0fb2b044d4351" /><Relationship Type="http://schemas.openxmlformats.org/officeDocument/2006/relationships/notesSlide" Target="/ppt/notesSlides/notesSlide21.xml" Id="R716b244ecb9f4b1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1be5e6fbaf44786" /><Relationship Type="http://schemas.openxmlformats.org/officeDocument/2006/relationships/notesSlide" Target="/ppt/notesSlides/notesSlide22.xml" Id="Ra747492c043841c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75c01a0a3e346c9" /><Relationship Type="http://schemas.openxmlformats.org/officeDocument/2006/relationships/notesSlide" Target="/ppt/notesSlides/notesSlide23.xml" Id="R63a81a2f0baf438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5ad30e5e57e4bd2" /><Relationship Type="http://schemas.openxmlformats.org/officeDocument/2006/relationships/notesSlide" Target="/ppt/notesSlides/notesSlide24.xml" Id="R64841232a250456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6548db1ef82472b" /><Relationship Type="http://schemas.openxmlformats.org/officeDocument/2006/relationships/notesSlide" Target="/ppt/notesSlides/notesSlide25.xml" Id="Rfe594061a5cc497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631f9a187054bb8" /><Relationship Type="http://schemas.openxmlformats.org/officeDocument/2006/relationships/notesSlide" Target="/ppt/notesSlides/notesSlide26.xml" Id="R1fbdb02db7364d5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74d5118c6234feb" /><Relationship Type="http://schemas.openxmlformats.org/officeDocument/2006/relationships/notesSlide" Target="/ppt/notesSlides/notesSlide27.xml" Id="R92ccff4e7c4c44c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90dd1488f6e4d65" /><Relationship Type="http://schemas.openxmlformats.org/officeDocument/2006/relationships/notesSlide" Target="/ppt/notesSlides/notesSlide28.xml" Id="R0b265ce184dc40f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aa6ce8567b74752" /><Relationship Type="http://schemas.openxmlformats.org/officeDocument/2006/relationships/notesSlide" Target="/ppt/notesSlides/notesSlide29.xml" Id="R5f1fdbb0066a461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2118df445954d2d" /><Relationship Type="http://schemas.openxmlformats.org/officeDocument/2006/relationships/notesSlide" Target="/ppt/notesSlides/notesSlide30.xml" Id="R85d7df280acd40a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held-out R²</c:v>
          </c:tx>
          <c:spPr>
            <a:solidFill xmlns:a="http://schemas.openxmlformats.org/drawingml/2006/main">
              <a:srgbClr val="2965C0"/>
            </a:solidFill>
          </c:spPr>
          <c:cat>
            <c:strRef>
              <c:f>'Chart Data'!$A$2:$A$3</c:f>
              <c:strCache>
                <c:ptCount val="2"/>
                <c:pt idx="0">
                  <c:v>Trained Pythia</c:v>
                </c:pt>
                <c:pt idx="1">
                  <c:v>Random weights</c:v>
                </c:pt>
              </c:strCache>
            </c:strRef>
          </c:cat>
          <c:val>
            <c:numRef>
              <c:f>'Chart Data'!$B$2:$B$3</c:f>
              <c:numCache>
                <c:formatCode>0.000</c:formatCode>
                <c:ptCount val="2"/>
                <c:pt idx="0">
                  <c:v>0.737</c:v>
                </c:pt>
                <c:pt idx="1">
                  <c:v>0.173</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42A4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42A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4763">
              <a:solidFill>
                <a:srgbClr val="E0E7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Target variance explained (R²)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478"/>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Held-out R²</c:v>
          </c:tx>
          <c:spPr>
            <a:solidFill xmlns:a="http://schemas.openxmlformats.org/drawingml/2006/main">
              <a:srgbClr val="2965C0"/>
            </a:solidFill>
          </c:spPr>
          <c:cat>
            <c:strRef>
              <c:f>'Chart Data'!$A$2:$A$3</c:f>
              <c:strCache>
                <c:ptCount val="2"/>
                <c:pt idx="0">
                  <c:v>Procrustes</c:v>
                </c:pt>
                <c:pt idx="1">
                  <c:v>Ridge</c:v>
                </c:pt>
              </c:strCache>
            </c:strRef>
          </c:cat>
          <c:val>
            <c:numRef>
              <c:f>'Chart Data'!$B$2:$B$3</c:f>
              <c:numCache>
                <c:formatCode>0.000</c:formatCode>
                <c:ptCount val="2"/>
                <c:pt idx="0">
                  <c:v>0.038</c:v>
                </c:pt>
                <c:pt idx="1">
                  <c:v>0.592</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42A4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42A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4763">
              <a:solidFill>
                <a:srgbClr val="E0E7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Target variance explained (R²)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478"/>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R@5</c:v>
          </c:tx>
          <c:spPr>
            <a:solidFill xmlns:a="http://schemas.openxmlformats.org/drawingml/2006/main">
              <a:srgbClr val="087F83"/>
            </a:solidFill>
          </c:spPr>
          <c:cat>
            <c:strRef>
              <c:f>'Chart Data'!$A$2:$A$4</c:f>
              <c:strCache>
                <c:ptCount val="3"/>
                <c:pt idx="0">
                  <c:v>Chance</c:v>
                </c:pt>
                <c:pt idx="1">
                  <c:v>Adapted phone</c:v>
                </c:pt>
                <c:pt idx="2">
                  <c:v>Native server</c:v>
                </c:pt>
              </c:strCache>
            </c:strRef>
          </c:cat>
          <c:val>
            <c:numRef>
              <c:f>'Chart Data'!$B$2:$B$4</c:f>
              <c:numCache>
                <c:formatCode>0.000</c:formatCode>
                <c:ptCount val="3"/>
                <c:pt idx="0">
                  <c:v>0.005</c:v>
                </c:pt>
                <c:pt idx="1">
                  <c:v>0.843</c:v>
                </c:pt>
                <c:pt idx="2">
                  <c:v>0.885</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42A4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42A45"/>
                </a:solidFill>
                <a:latin typeface="Arial"/>
                <a:ea typeface="Arial"/>
                <a:cs typeface="Arial"/>
              </a:defRPr>
            </a:pPr>
          </a:p>
        </c:txPr>
        <c:crossAx val="48672768"/>
      </c:catAx>
      <c:valAx>
        <c:axId val="48672768"/>
        <c:scaling>
          <c:orientation val="minMax"/>
          <c:max val="1.05"/>
          <c:min val="0"/>
        </c:scaling>
        <c:delete val="0"/>
        <c:axPos val="l"/>
        <c:majorGridlines>
          <c:spPr>
            <a:ln xmlns:a="http://schemas.openxmlformats.org/drawingml/2006/main" w="4763">
              <a:solidFill>
                <a:srgbClr val="E0E7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R@5: fraction of successful queries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478"/>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Verification AUC</c:v>
          </c:tx>
          <c:spPr>
            <a:solidFill xmlns:a="http://schemas.openxmlformats.org/drawingml/2006/main">
              <a:srgbClr val="2965C0"/>
            </a:solidFill>
          </c:spPr>
          <c:cat>
            <c:strRef>
              <c:f>'Chart Data'!$A$2:$A$4</c:f>
              <c:strCache>
                <c:ptCount val="3"/>
                <c:pt idx="0">
                  <c:v>Random impostor</c:v>
                </c:pt>
                <c:pt idx="1">
                  <c:v>Hardest of 1,000</c:v>
                </c:pt>
                <c:pt idx="2">
                  <c:v>No adapter</c:v>
                </c:pt>
              </c:strCache>
            </c:strRef>
          </c:cat>
          <c:val>
            <c:numRef>
              <c:f>'Chart Data'!$B$2:$B$4</c:f>
              <c:numCache>
                <c:formatCode>0.000</c:formatCode>
                <c:ptCount val="3"/>
                <c:pt idx="0">
                  <c:v>0.999</c:v>
                </c:pt>
                <c:pt idx="1">
                  <c:v>0.848</c:v>
                </c:pt>
                <c:pt idx="2">
                  <c:v>0.477</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42A4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42A45"/>
                </a:solidFill>
                <a:latin typeface="Arial"/>
                <a:ea typeface="Arial"/>
                <a:cs typeface="Arial"/>
              </a:defRPr>
            </a:pPr>
          </a:p>
        </c:txPr>
        <c:crossAx val="48672768"/>
      </c:catAx>
      <c:valAx>
        <c:axId val="48672768"/>
        <c:scaling>
          <c:orientation val="minMax"/>
          <c:max val="1.1"/>
          <c:min val="0"/>
        </c:scaling>
        <c:delete val="0"/>
        <c:axPos val="l"/>
        <c:majorGridlines>
          <c:spPr>
            <a:ln xmlns:a="http://schemas.openxmlformats.org/drawingml/2006/main" w="4763">
              <a:solidFill>
                <a:srgbClr val="E0E7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AUC: positive outranks negative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478"/>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cosine</c:v>
          </c:tx>
          <c:spPr>
            <a:solidFill xmlns:a="http://schemas.openxmlformats.org/drawingml/2006/main">
              <a:srgbClr val="087F83"/>
            </a:solidFill>
          </c:spPr>
          <c:cat>
            <c:strRef>
              <c:f>'Chart Data'!$A$2:$A$4</c:f>
              <c:strCache>
                <c:ptCount val="3"/>
                <c:pt idx="0">
                  <c:v>Ridge matrix</c:v>
                </c:pt>
                <c:pt idx="1">
                  <c:v>MLP run 1</c:v>
                </c:pt>
                <c:pt idx="2">
                  <c:v>MLP run 2</c:v>
                </c:pt>
              </c:strCache>
            </c:strRef>
          </c:cat>
          <c:val>
            <c:numRef>
              <c:f>'Chart Data'!$B$2:$B$4</c:f>
              <c:numCache>
                <c:formatCode>0.0000</c:formatCode>
                <c:ptCount val="3"/>
                <c:pt idx="0">
                  <c:v>0.9183</c:v>
                </c:pt>
                <c:pt idx="1">
                  <c:v>0.9183</c:v>
                </c:pt>
                <c:pt idx="2">
                  <c:v>0.9183</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42A4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42A45"/>
                </a:solidFill>
                <a:latin typeface="Arial"/>
                <a:ea typeface="Arial"/>
                <a:cs typeface="Arial"/>
              </a:defRPr>
            </a:pPr>
          </a:p>
        </c:txPr>
        <c:crossAx val="48672768"/>
      </c:catAx>
      <c:valAx>
        <c:axId val="48672768"/>
        <c:scaling>
          <c:orientation val="minMax"/>
          <c:max val="1.05"/>
          <c:min val="0"/>
        </c:scaling>
        <c:delete val="0"/>
        <c:axPos val="l"/>
        <c:majorGridlines>
          <c:spPr>
            <a:ln xmlns:a="http://schemas.openxmlformats.org/drawingml/2006/main" w="4763">
              <a:solidFill>
                <a:srgbClr val="E0E7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cosine to teacher target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478"/>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R@1 retention</c:v>
          </c:tx>
          <c:spPr>
            <a:solidFill xmlns:a="http://schemas.openxmlformats.org/drawingml/2006/main">
              <a:srgbClr val="2965C0"/>
            </a:solidFill>
          </c:spPr>
          <c:cat>
            <c:strRef>
              <c:f>'Chart Data'!$A$2:$A$4</c:f>
              <c:strCache>
                <c:ptCount val="3"/>
                <c:pt idx="0">
                  <c:v>Small
22M</c:v>
                </c:pt>
                <c:pt idx="1">
                  <c:v>Base
87M</c:v>
                </c:pt>
                <c:pt idx="2">
                  <c:v>Large
304M</c:v>
                </c:pt>
              </c:strCache>
            </c:strRef>
          </c:cat>
          <c:val>
            <c:numRef>
              <c:f>'Chart Data'!$B$2:$B$4</c:f>
              <c:numCache>
                <c:formatCode>0.0%</c:formatCode>
                <c:ptCount val="3"/>
                <c:pt idx="0">
                  <c:v>0.409</c:v>
                </c:pt>
                <c:pt idx="1">
                  <c:v>0.535</c:v>
                </c:pt>
                <c:pt idx="2">
                  <c:v>0.583</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42A4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42A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4763">
              <a:solidFill>
                <a:srgbClr val="E0E7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R@1 / matched native R@1</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478"/>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Transferred head</c:v>
          </c:tx>
          <c:spPr>
            <a:solidFill xmlns:a="http://schemas.openxmlformats.org/drawingml/2006/main">
              <a:srgbClr val="087F83"/>
            </a:solidFill>
          </c:spPr>
          <c:cat>
            <c:strRef>
              <c:f>'Chart Data'!$A$2:$A$4</c:f>
              <c:strCache>
                <c:ptCount val="3"/>
                <c:pt idx="0">
                  <c:v>DINO-small</c:v>
                </c:pt>
                <c:pt idx="1">
                  <c:v>DINO-base</c:v>
                </c:pt>
                <c:pt idx="2">
                  <c:v>DINO-large</c:v>
                </c:pt>
              </c:strCache>
            </c:strRef>
          </c:cat>
          <c:val>
            <c:numRef>
              <c:f>'Chart Data'!$B$2:$B$4</c:f>
              <c:numCache>
                <c:formatCode>0.000</c:formatCode>
                <c:ptCount val="3"/>
                <c:pt idx="0">
                  <c:v>0.398</c:v>
                </c:pt>
                <c:pt idx="1">
                  <c:v>0.442</c:v>
                </c:pt>
                <c:pt idx="2">
                  <c:v>0.468</c:v>
                </c:pt>
              </c:numCache>
            </c:numRef>
          </c:val>
        </c:ser>
        <c:ser>
          <c:idx val="1"/>
          <c:order val="1"/>
          <c:tx>
            <c:v>Native reference ≈</c:v>
          </c:tx>
          <c:spPr>
            <a:solidFill xmlns:a="http://schemas.openxmlformats.org/drawingml/2006/main">
              <a:srgbClr val="A8BED2"/>
            </a:solidFill>
          </c:spPr>
          <c:cat>
            <c:strRef>
              <c:f>'Chart Data'!$C$2:$C$4</c:f>
              <c:strCache>
                <c:ptCount val="3"/>
                <c:pt idx="0">
                  <c:v>DINO-small</c:v>
                </c:pt>
                <c:pt idx="1">
                  <c:v>DINO-base</c:v>
                </c:pt>
                <c:pt idx="2">
                  <c:v>DINO-large</c:v>
                </c:pt>
              </c:strCache>
            </c:strRef>
          </c:cat>
          <c:val>
            <c:numRef>
              <c:f>'Chart Data'!$D$2:$D$4</c:f>
              <c:numCache>
                <c:formatCode>0.000</c:formatCode>
                <c:ptCount val="3"/>
                <c:pt idx="0">
                  <c:v>0.357</c:v>
                </c:pt>
                <c:pt idx="1">
                  <c:v>0.461</c:v>
                </c:pt>
                <c:pt idx="2">
                  <c:v>0.504</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42A4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42A45"/>
                </a:solidFill>
                <a:latin typeface="Arial"/>
                <a:ea typeface="Arial"/>
                <a:cs typeface="Arial"/>
              </a:defRPr>
            </a:pPr>
          </a:p>
        </c:txPr>
        <c:crossAx val="48672768"/>
      </c:catAx>
      <c:valAx>
        <c:axId val="48672768"/>
        <c:scaling>
          <c:orientation val="minMax"/>
          <c:max val="0.65"/>
          <c:min val="0"/>
        </c:scaling>
        <c:delete val="0"/>
        <c:axPos val="l"/>
        <c:majorGridlines>
          <c:spPr>
            <a:ln xmlns:a="http://schemas.openxmlformats.org/drawingml/2006/main" w="4763">
              <a:solidFill>
                <a:srgbClr val="E0E7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Absolute R@1</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478"/>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A45"/>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Writability diagnostic</c:v>
          </c:tx>
          <c:spPr>
            <a:solidFill xmlns:a="http://schemas.openxmlformats.org/drawingml/2006/main">
              <a:srgbClr val="087F83"/>
            </a:solidFill>
          </c:spPr>
          <c:cat>
            <c:strRef>
              <c:f>'Chart Data'!$A$2:$A$4</c:f>
              <c:strCache>
                <c:ptCount val="3"/>
                <c:pt idx="0">
                  <c:v>GPT-2</c:v>
                </c:pt>
                <c:pt idx="1">
                  <c:v>bge-m3</c:v>
                </c:pt>
                <c:pt idx="2">
                  <c:v>SBERT</c:v>
                </c:pt>
              </c:strCache>
            </c:strRef>
          </c:cat>
          <c:val>
            <c:numRef>
              <c:f>'Chart Data'!$B$2:$B$4</c:f>
              <c:numCache>
                <c:formatCode>0.0%</c:formatCode>
                <c:ptCount val="3"/>
                <c:pt idx="0">
                  <c:v>0.248</c:v>
                </c:pt>
                <c:pt idx="1">
                  <c:v>0.981</c:v>
                </c:pt>
                <c:pt idx="2">
                  <c:v>1.01</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42A4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42A45"/>
                </a:solidFill>
                <a:latin typeface="Arial"/>
                <a:ea typeface="Arial"/>
                <a:cs typeface="Arial"/>
              </a:defRPr>
            </a:pPr>
          </a:p>
        </c:txPr>
        <c:crossAx val="48672768"/>
      </c:catAx>
      <c:valAx>
        <c:axId val="48672768"/>
        <c:scaling>
          <c:orientation val="minMax"/>
          <c:max val="1.15"/>
          <c:min val="0"/>
        </c:scaling>
        <c:delete val="0"/>
        <c:axPos val="l"/>
        <c:majorGridlines>
          <c:spPr>
            <a:ln xmlns:a="http://schemas.openxmlformats.org/drawingml/2006/main" w="4763">
              <a:solidFill>
                <a:srgbClr val="E0E7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Target performance / direct-map reference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478"/>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Rows per input dimension</c:v>
          </c:tx>
          <c:spPr>
            <a:solidFill xmlns:a="http://schemas.openxmlformats.org/drawingml/2006/main">
              <a:srgbClr val="2965C0"/>
            </a:solidFill>
          </c:spPr>
          <c:cat>
            <c:strRef>
              <c:f>'Chart Data'!$A$2:$A$5</c:f>
              <c:strCache>
                <c:ptCount val="4"/>
                <c:pt idx="0">
                  <c:v>DINO-S</c:v>
                </c:pt>
                <c:pt idx="1">
                  <c:v>DINO-B</c:v>
                </c:pt>
                <c:pt idx="2">
                  <c:v>DINO-L</c:v>
                </c:pt>
                <c:pt idx="3">
                  <c:v>ConvNeXt</c:v>
                </c:pt>
              </c:strCache>
            </c:strRef>
          </c:cat>
          <c:val>
            <c:numRef>
              <c:f>'Chart Data'!$B$2:$B$5</c:f>
              <c:numCache>
                <c:formatCode>0.0</c:formatCode>
                <c:ptCount val="4"/>
                <c:pt idx="0">
                  <c:v>11.1</c:v>
                </c:pt>
                <c:pt idx="1">
                  <c:v>5.6</c:v>
                </c:pt>
                <c:pt idx="2">
                  <c:v>4.2</c:v>
                </c:pt>
                <c:pt idx="3">
                  <c:v>8.3</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42A4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42A45"/>
                </a:solidFill>
                <a:latin typeface="Arial"/>
                <a:ea typeface="Arial"/>
                <a:cs typeface="Arial"/>
              </a:defRPr>
            </a:pPr>
          </a:p>
        </c:txPr>
        <c:crossAx val="48672768"/>
      </c:catAx>
      <c:valAx>
        <c:axId val="48672768"/>
        <c:scaling>
          <c:orientation val="minMax"/>
          <c:max val="14"/>
          <c:min val="0"/>
        </c:scaling>
        <c:delete val="0"/>
        <c:axPos val="l"/>
        <c:majorGridlines>
          <c:spPr>
            <a:ln xmlns:a="http://schemas.openxmlformats.org/drawingml/2006/main" w="4763">
              <a:solidFill>
                <a:srgbClr val="E0E7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Fitting rows / input width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478"/>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Exact pairing accuracy</c:v>
          </c:tx>
          <c:spPr>
            <a:solidFill xmlns:a="http://schemas.openxmlformats.org/drawingml/2006/main">
              <a:srgbClr val="2965C0"/>
            </a:solidFill>
          </c:spPr>
          <c:cat>
            <c:strRef>
              <c:f>'Chart Data'!$A$2:$A$3</c:f>
              <c:strCache>
                <c:ptCount val="2"/>
                <c:pt idx="0">
                  <c:v>Chance</c:v>
                </c:pt>
                <c:pt idx="1">
                  <c:v>Recovered</c:v>
                </c:pt>
              </c:strCache>
            </c:strRef>
          </c:cat>
          <c:val>
            <c:numRef>
              <c:f>'Chart Data'!$B$2:$B$3</c:f>
              <c:numCache>
                <c:formatCode>0.00%</c:formatCode>
                <c:ptCount val="2"/>
                <c:pt idx="0">
                  <c:v>0.000666667</c:v>
                </c:pt>
                <c:pt idx="1">
                  <c:v>0.397</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42A4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42A45"/>
                </a:solidFill>
                <a:latin typeface="Arial"/>
                <a:ea typeface="Arial"/>
                <a:cs typeface="Arial"/>
              </a:defRPr>
            </a:pPr>
          </a:p>
        </c:txPr>
        <c:crossAx val="48672768"/>
      </c:catAx>
      <c:valAx>
        <c:axId val="48672768"/>
        <c:scaling>
          <c:orientation val="minMax"/>
          <c:max val="0.5"/>
          <c:min val="0"/>
        </c:scaling>
        <c:delete val="0"/>
        <c:axPos val="l"/>
        <c:majorGridlines>
          <c:spPr>
            <a:ln xmlns:a="http://schemas.openxmlformats.org/drawingml/2006/main" w="4763">
              <a:solidFill>
                <a:srgbClr val="E0E7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Exact pairing fraction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478"/>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R@1</c:v>
          </c:tx>
          <c:spPr>
            <a:solidFill xmlns:a="http://schemas.openxmlformats.org/drawingml/2006/main">
              <a:srgbClr val="087F83"/>
            </a:solidFill>
          </c:spPr>
          <c:cat>
            <c:strRef>
              <c:f>'Chart Data'!$A$2:$A$3</c:f>
              <c:strCache>
                <c:ptCount val="2"/>
                <c:pt idx="0">
                  <c:v>Raw GPT-2</c:v>
                </c:pt>
                <c:pt idx="1">
                  <c:v>Whitened</c:v>
                </c:pt>
              </c:strCache>
            </c:strRef>
          </c:cat>
          <c:val>
            <c:numRef>
              <c:f>'Chart Data'!$B$2:$B$3</c:f>
              <c:numCache>
                <c:formatCode>0.000</c:formatCode>
                <c:ptCount val="2"/>
                <c:pt idx="0">
                  <c:v>0.13</c:v>
                </c:pt>
                <c:pt idx="1">
                  <c:v>0.478</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42A4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42A45"/>
                </a:solidFill>
                <a:latin typeface="Arial"/>
                <a:ea typeface="Arial"/>
                <a:cs typeface="Arial"/>
              </a:defRPr>
            </a:pPr>
          </a:p>
        </c:txPr>
        <c:crossAx val="48672768"/>
      </c:catAx>
      <c:valAx>
        <c:axId val="48672768"/>
        <c:scaling>
          <c:orientation val="minMax"/>
          <c:max val="0.6"/>
          <c:min val="0"/>
        </c:scaling>
        <c:delete val="0"/>
        <c:axPos val="l"/>
        <c:majorGridlines>
          <c:spPr>
            <a:ln xmlns:a="http://schemas.openxmlformats.org/drawingml/2006/main" w="4763">
              <a:solidFill>
                <a:srgbClr val="E0E7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R@1 into the target space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478"/>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F2D1B8-9773-4717-87F1-B0D3CB68EF84}"/>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Shared representations, useful small models</a:t>
            </a:r>
          </a:p>
        </p:txBody>
      </p:sp>
      <p:sp>
        <p:nvSpPr>
          <p:cNvPr id="2" name="">
            <a:extLst xmlns:a="http://schemas.openxmlformats.org/drawingml/2006/main">
              <a:ext uri="{FF2B5EF4-FFF2-40B4-BE49-F238E27FC236}">
                <a16:creationId xmlns:a16="http://schemas.microsoft.com/office/drawing/2014/main" id="{7142AEA8-0345-44B6-A8AE-D7926E1941CB}"/>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Liad Kashanovsky | Project Atlas | September 2026</a:t>
            </a:r>
          </a:p>
        </p:txBody>
      </p:sp>
      <p:sp>
        <p:nvSpPr>
          <p:cNvPr id="3" name="">
            <a:extLst xmlns:a="http://schemas.openxmlformats.org/drawingml/2006/main">
              <a:ext uri="{FF2B5EF4-FFF2-40B4-BE49-F238E27FC236}">
                <a16:creationId xmlns:a16="http://schemas.microsoft.com/office/drawing/2014/main" id="{C2B877F4-8238-4B09-9DB2-2E17696C173D}"/>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EA052828-DF68-4CB8-9289-B2758A97260B}"/>
              </a:ext>
            </a:extLst>
          </p:cNvPr>
          <p:cNvSpPr>
            <a:spLocks xmlns:a="http://schemas.openxmlformats.org/drawingml/2006/main" noGrp="1"/>
          </p:cNvSpPr>
          <p:nvPr/>
        </p:nvSpPr>
        <p:spPr>
          <a:xfrm xmlns:a="http://schemas.openxmlformats.org/drawingml/2006/main">
            <a:off x="571500" y="1952625"/>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142A45"/>
                </a:solidFill>
                <a:latin typeface="Arial"/>
                <a:ea typeface="Arial"/>
                <a:cs typeface="Arial"/>
              </a:defRPr>
            </a:pPr>
            <a:r>
              <a:rPr sz="4575" b="1">
                <a:solidFill>
                  <a:srgbClr val="142A45"/>
                </a:solidFill>
                <a:latin typeface="Arial"/>
                <a:ea typeface="Arial"/>
                <a:cs typeface="Arial"/>
              </a:rPr>
              <a:t>What is shared?</a:t>
            </a:r>
          </a:p>
          <a:p xmlns:a="http://schemas.openxmlformats.org/drawingml/2006/main">
            <a:pPr>
              <a:defRPr sz="4575" b="1">
                <a:solidFill>
                  <a:srgbClr val="142A45"/>
                </a:solidFill>
                <a:latin typeface="Arial"/>
                <a:ea typeface="Arial"/>
                <a:cs typeface="Arial"/>
              </a:defRPr>
            </a:pPr>
            <a:r>
              <a:rPr sz="4575" b="1">
                <a:solidFill>
                  <a:srgbClr val="142A45"/>
                </a:solidFill>
                <a:latin typeface="Arial"/>
                <a:ea typeface="Arial"/>
                <a:cs typeface="Arial"/>
              </a:rPr>
              <a:t>How do we measure it?</a:t>
            </a:r>
          </a:p>
        </p:txBody>
      </p:sp>
      <p:sp>
        <p:nvSpPr>
          <p:cNvPr id="5" name="">
            <a:extLst xmlns:a="http://schemas.openxmlformats.org/drawingml/2006/main">
              <a:ext uri="{FF2B5EF4-FFF2-40B4-BE49-F238E27FC236}">
                <a16:creationId xmlns:a16="http://schemas.microsoft.com/office/drawing/2014/main" id="{66DF89B1-21BF-4A0B-A46F-131ACE02E8AA}"/>
              </a:ext>
            </a:extLst>
          </p:cNvPr>
          <p:cNvSpPr>
            <a:spLocks xmlns:a="http://schemas.openxmlformats.org/drawingml/2006/main" noGrp="1"/>
          </p:cNvSpPr>
          <p:nvPr/>
        </p:nvSpPr>
        <p:spPr>
          <a:xfrm xmlns:a="http://schemas.openxmlformats.org/drawingml/2006/main">
            <a:off x="571500" y="43338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087F83"/>
                </a:solidFill>
                <a:latin typeface="Arial"/>
                <a:ea typeface="Arial"/>
                <a:cs typeface="Arial"/>
              </a:defRPr>
            </a:pPr>
            <a:r>
              <a:rPr sz="2325" b="0">
                <a:solidFill>
                  <a:srgbClr val="087F83"/>
                </a:solidFill>
                <a:latin typeface="Arial"/>
                <a:ea typeface="Arial"/>
                <a:cs typeface="Arial"/>
              </a:rPr>
              <a:t>Experiment A    Experiment B    The shared hub</a:t>
            </a:r>
          </a:p>
        </p:txBody>
      </p:sp>
      <p:sp>
        <p:nvSpPr>
          <p:cNvPr id="6" name="">
            <a:extLst xmlns:a="http://schemas.openxmlformats.org/drawingml/2006/main">
              <a:ext uri="{FF2B5EF4-FFF2-40B4-BE49-F238E27FC236}">
                <a16:creationId xmlns:a16="http://schemas.microsoft.com/office/drawing/2014/main" id="{CEADF25F-8F39-4BA9-9498-A2AA4D6457BB}"/>
              </a:ext>
            </a:extLst>
          </p:cNvPr>
          <p:cNvSpPr>
            <a:spLocks xmlns:a="http://schemas.openxmlformats.org/drawingml/2006/main" noGrp="1"/>
          </p:cNvSpPr>
          <p:nvPr/>
        </p:nvSpPr>
        <p:spPr>
          <a:xfrm xmlns:a="http://schemas.openxmlformats.org/drawingml/2006/main">
            <a:off x="571500" y="53340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478"/>
                </a:solidFill>
                <a:latin typeface="Arial"/>
                <a:ea typeface="Arial"/>
                <a:cs typeface="Arial"/>
              </a:defRPr>
            </a:pPr>
            <a:r>
              <a:rPr sz="1875" b="0">
                <a:solidFill>
                  <a:srgbClr val="536478"/>
                </a:solidFill>
                <a:latin typeface="Arial"/>
                <a:ea typeface="Arial"/>
                <a:cs typeface="Arial"/>
              </a:rPr>
              <a:t>Testing a limited part of the Platonic Representation Hypothesis</a:t>
            </a:r>
          </a:p>
        </p:txBody>
      </p:sp>
    </p:spTree>
    <p:extLst>
      <p:ext uri="{BB962C8B-B14F-4D97-AF65-F5344CB8AC3E}">
        <p14:creationId xmlns:p14="http://schemas.microsoft.com/office/powerpoint/2010/main" val="16288452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BAAA2C2-B33F-40B5-8647-A19D6C0C7AA9}"/>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The cat and dog keep their relationships</a:t>
            </a:r>
          </a:p>
        </p:txBody>
      </p:sp>
      <p:sp>
        <p:nvSpPr>
          <p:cNvPr id="2" name="">
            <a:extLst xmlns:a="http://schemas.openxmlformats.org/drawingml/2006/main">
              <a:ext uri="{FF2B5EF4-FFF2-40B4-BE49-F238E27FC236}">
                <a16:creationId xmlns:a16="http://schemas.microsoft.com/office/drawing/2014/main" id="{9265B3D2-D402-4255-AC62-3CC3DD41E11A}"/>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1, 7 | Supplied cat–dog illustration</a:t>
            </a:r>
          </a:p>
        </p:txBody>
      </p:sp>
      <p:sp>
        <p:nvSpPr>
          <p:cNvPr id="3" name="">
            <a:extLst xmlns:a="http://schemas.openxmlformats.org/drawingml/2006/main">
              <a:ext uri="{FF2B5EF4-FFF2-40B4-BE49-F238E27FC236}">
                <a16:creationId xmlns:a16="http://schemas.microsoft.com/office/drawing/2014/main" id="{103A9B2A-EA90-451C-9416-B42FD99B5CBD}"/>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33e770444714743"/>
          <a:stretch xmlns:a="http://schemas.openxmlformats.org/drawingml/2006/main"/>
        </p:blipFill>
        <p:spPr>
          <a:xfrm xmlns:a="http://schemas.openxmlformats.org/drawingml/2006/main">
            <a:off x="1651165" y="2000250"/>
            <a:ext cx="4603419" cy="2590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7991E92-6C79-4B8F-92F8-908F2989CB1F}"/>
              </a:ext>
            </a:extLst>
          </p:cNvPr>
          <p:cNvSpPr>
            <a:spLocks xmlns:a="http://schemas.openxmlformats.org/drawingml/2006/main" noGrp="1"/>
          </p:cNvSpPr>
          <p:nvPr/>
        </p:nvSpPr>
        <p:spPr>
          <a:xfrm xmlns:a="http://schemas.openxmlformats.org/drawingml/2006/main">
            <a:off x="7667625" y="1714500"/>
            <a:ext cx="3857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A45"/>
                </a:solidFill>
                <a:latin typeface="Arial"/>
                <a:ea typeface="Arial"/>
                <a:cs typeface="Arial"/>
              </a:defRPr>
            </a:pPr>
            <a:r>
              <a:rPr sz="1950" b="0">
                <a:solidFill>
                  <a:srgbClr val="142A45"/>
                </a:solidFill>
                <a:latin typeface="Arial"/>
                <a:ea typeface="Arial"/>
                <a:cs typeface="Arial"/>
              </a:rPr>
              <a:t>Modality: pixels or words</a:t>
            </a:r>
          </a:p>
        </p:txBody>
      </p:sp>
      <p:sp>
        <p:nvSpPr>
          <p:cNvPr id="6" name="">
            <a:extLst xmlns:a="http://schemas.openxmlformats.org/drawingml/2006/main">
              <a:ext uri="{FF2B5EF4-FFF2-40B4-BE49-F238E27FC236}">
                <a16:creationId xmlns:a16="http://schemas.microsoft.com/office/drawing/2014/main" id="{AE07B55D-CA30-4D0A-B5E7-929420592222}"/>
              </a:ext>
            </a:extLst>
          </p:cNvPr>
          <p:cNvSpPr>
            <a:spLocks xmlns:a="http://schemas.openxmlformats.org/drawingml/2006/main" noGrp="1"/>
          </p:cNvSpPr>
          <p:nvPr/>
        </p:nvSpPr>
        <p:spPr>
          <a:xfrm xmlns:a="http://schemas.openxmlformats.org/drawingml/2006/main">
            <a:off x="7667625" y="2619375"/>
            <a:ext cx="3857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A45"/>
                </a:solidFill>
                <a:latin typeface="Arial"/>
                <a:ea typeface="Arial"/>
                <a:cs typeface="Arial"/>
              </a:defRPr>
            </a:pPr>
            <a:r>
              <a:rPr sz="1950" b="0">
                <a:solidFill>
                  <a:srgbClr val="142A45"/>
                </a:solidFill>
                <a:latin typeface="Arial"/>
                <a:ea typeface="Arial"/>
                <a:cs typeface="Arial"/>
              </a:rPr>
              <a:t>Objective: the learning task</a:t>
            </a:r>
          </a:p>
        </p:txBody>
      </p:sp>
      <p:sp>
        <p:nvSpPr>
          <p:cNvPr id="7" name="">
            <a:extLst xmlns:a="http://schemas.openxmlformats.org/drawingml/2006/main">
              <a:ext uri="{FF2B5EF4-FFF2-40B4-BE49-F238E27FC236}">
                <a16:creationId xmlns:a16="http://schemas.microsoft.com/office/drawing/2014/main" id="{F3DB37AB-7191-442A-9B24-5E333858D779}"/>
              </a:ext>
            </a:extLst>
          </p:cNvPr>
          <p:cNvSpPr>
            <a:spLocks xmlns:a="http://schemas.openxmlformats.org/drawingml/2006/main" noGrp="1"/>
          </p:cNvSpPr>
          <p:nvPr/>
        </p:nvSpPr>
        <p:spPr>
          <a:xfrm xmlns:a="http://schemas.openxmlformats.org/drawingml/2006/main">
            <a:off x="7667625" y="3524250"/>
            <a:ext cx="3857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A45"/>
                </a:solidFill>
                <a:latin typeface="Arial"/>
                <a:ea typeface="Arial"/>
                <a:cs typeface="Arial"/>
              </a:defRPr>
            </a:pPr>
            <a:r>
              <a:rPr sz="1950" b="0">
                <a:solidFill>
                  <a:srgbClr val="142A45"/>
                </a:solidFill>
                <a:latin typeface="Arial"/>
                <a:ea typeface="Arial"/>
                <a:cs typeface="Arial"/>
              </a:rPr>
              <a:t>Embedding: vector coordinates</a:t>
            </a:r>
          </a:p>
        </p:txBody>
      </p:sp>
      <p:sp>
        <p:nvSpPr>
          <p:cNvPr id="8" name="">
            <a:extLst xmlns:a="http://schemas.openxmlformats.org/drawingml/2006/main">
              <a:ext uri="{FF2B5EF4-FFF2-40B4-BE49-F238E27FC236}">
                <a16:creationId xmlns:a16="http://schemas.microsoft.com/office/drawing/2014/main" id="{77F3719B-8572-470D-82D3-813939327B9D}"/>
              </a:ext>
            </a:extLst>
          </p:cNvPr>
          <p:cNvSpPr>
            <a:spLocks xmlns:a="http://schemas.openxmlformats.org/drawingml/2006/main" noGrp="1"/>
          </p:cNvSpPr>
          <p:nvPr/>
        </p:nvSpPr>
        <p:spPr>
          <a:xfrm xmlns:a="http://schemas.openxmlformats.org/drawingml/2006/main">
            <a:off x="7667625" y="4429125"/>
            <a:ext cx="3857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A45"/>
                </a:solidFill>
                <a:latin typeface="Arial"/>
                <a:ea typeface="Arial"/>
                <a:cs typeface="Arial"/>
              </a:defRPr>
            </a:pPr>
            <a:r>
              <a:rPr sz="1950" b="0">
                <a:solidFill>
                  <a:srgbClr val="142A45"/>
                </a:solidFill>
                <a:latin typeface="Arial"/>
                <a:ea typeface="Arial"/>
                <a:cs typeface="Arial"/>
              </a:rPr>
              <a:t>Structure: relations among items</a:t>
            </a:r>
          </a:p>
        </p:txBody>
      </p:sp>
      <p:sp>
        <p:nvSpPr>
          <p:cNvPr id="9" name="">
            <a:extLst xmlns:a="http://schemas.openxmlformats.org/drawingml/2006/main">
              <a:ext uri="{FF2B5EF4-FFF2-40B4-BE49-F238E27FC236}">
                <a16:creationId xmlns:a16="http://schemas.microsoft.com/office/drawing/2014/main" id="{3707EA82-67A7-45E1-A77A-362D856E4C6E}"/>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Cat–dog locations are schematic; ρ scores summarize measured distance-rank agreement.</a:t>
            </a:r>
          </a:p>
        </p:txBody>
      </p:sp>
    </p:spTree>
    <p:extLst>
      <p:ext uri="{BB962C8B-B14F-4D97-AF65-F5344CB8AC3E}">
        <p14:creationId xmlns:p14="http://schemas.microsoft.com/office/powerpoint/2010/main" val="17639237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46942D-3C80-47C5-83BD-455F83B02EF0}"/>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Each measurement answers a different question</a:t>
            </a:r>
          </a:p>
        </p:txBody>
      </p:sp>
      <p:sp>
        <p:nvSpPr>
          <p:cNvPr id="2" name="">
            <a:extLst xmlns:a="http://schemas.openxmlformats.org/drawingml/2006/main">
              <a:ext uri="{FF2B5EF4-FFF2-40B4-BE49-F238E27FC236}">
                <a16:creationId xmlns:a16="http://schemas.microsoft.com/office/drawing/2014/main" id="{28EE456A-F3BC-4493-A5DA-B408B8AF02A8}"/>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2–3</a:t>
            </a:r>
          </a:p>
        </p:txBody>
      </p:sp>
      <p:sp>
        <p:nvSpPr>
          <p:cNvPr id="3" name="">
            <a:extLst xmlns:a="http://schemas.openxmlformats.org/drawingml/2006/main">
              <a:ext uri="{FF2B5EF4-FFF2-40B4-BE49-F238E27FC236}">
                <a16:creationId xmlns:a16="http://schemas.microsoft.com/office/drawing/2014/main" id="{7D1BF347-ACF4-4BBB-AA6E-71166098F29A}"/>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3</a:t>
            </a:r>
          </a:p>
        </p:txBody>
      </p:sp>
      <p:graphicFrame>
        <p:nvGraphicFramePr>
          <p:cNvPr id="9" name=""/>
          <p:cNvGraphicFramePr/>
          <p:nvPr/>
        </p:nvGraphicFramePr>
        <p:xfrm>
          <a:off xmlns:a="http://schemas.openxmlformats.org/drawingml/2006/main" x="571500" y="1504950"/>
          <a:ext xmlns:a="http://schemas.openxmlformats.org/drawingml/2006/main" cx="11049000" cy="4048125"/>
        </p:xfrm>
        <a:graphic xmlns:a="http://schemas.openxmlformats.org/drawingml/2006/main">
          <a:graphicData uri="http://schemas.openxmlformats.org/drawingml/2006/table">
            <a:tbl>
              <a:tblPr/>
              <a:tblGrid>
                <a:gridCol w="3143250"/>
                <a:gridCol w="7905750"/>
              </a:tblGrid>
              <a:tr h="674688">
                <a:tc>
                  <a:txBody>
                    <a:bodyPr/>
                    <a:lstStyle/>
                    <a:p>
                      <a:r>
                        <a:rPr sz="1950" b="1">
                          <a:solidFill>
                            <a:srgbClr val="FFFFFF"/>
                          </a:solidFill>
                          <a:latin typeface="Arial"/>
                          <a:ea typeface="Arial"/>
                          <a:cs typeface="Arial"/>
                        </a:rPr>
                        <a:t>Measurement</a:t>
                      </a:r>
                    </a:p>
                  </a:txBody>
                  <a:tcPr marL="95250" marR="95250" marT="76200" marB="76200" anchor="ctr">
                    <a:solidFill>
                      <a:srgbClr val="142A45"/>
                    </a:solidFill>
                  </a:tcPr>
                </a:tc>
                <a:tc>
                  <a:txBody>
                    <a:bodyPr/>
                    <a:lstStyle/>
                    <a:p>
                      <a:r>
                        <a:rPr sz="1950" b="1">
                          <a:solidFill>
                            <a:srgbClr val="FFFFFF"/>
                          </a:solidFill>
                          <a:latin typeface="Arial"/>
                          <a:ea typeface="Arial"/>
                          <a:cs typeface="Arial"/>
                        </a:rPr>
                        <a:t>Question in the cat example</a:t>
                      </a:r>
                    </a:p>
                  </a:txBody>
                  <a:tcPr marL="95250" marR="95250" marT="76200" marB="76200" anchor="ctr">
                    <a:solidFill>
                      <a:srgbClr val="142A45"/>
                    </a:solidFill>
                  </a:tcPr>
                </a:tc>
              </a:tr>
              <a:tr h="674688">
                <a:tc>
                  <a:txBody>
                    <a:bodyPr/>
                    <a:lstStyle/>
                    <a:p>
                      <a:r>
                        <a:rPr sz="1950" b="0">
                          <a:solidFill>
                            <a:srgbClr val="142A45"/>
                          </a:solidFill>
                          <a:latin typeface="Arial"/>
                          <a:ea typeface="Arial"/>
                          <a:cs typeface="Arial"/>
                        </a:rPr>
                        <a:t>Cosine and R²</a:t>
                      </a:r>
                    </a:p>
                  </a:txBody>
                  <a:tcPr marL="95250" marR="95250" marT="76200" marB="76200" anchor="ctr">
                    <a:solidFill>
                      <a:srgbClr val="F0F5F8"/>
                    </a:solidFill>
                  </a:tcPr>
                </a:tc>
                <a:tc>
                  <a:txBody>
                    <a:bodyPr/>
                    <a:lstStyle/>
                    <a:p>
                      <a:r>
                        <a:rPr sz="1950" b="0">
                          <a:solidFill>
                            <a:srgbClr val="142A45"/>
                          </a:solidFill>
                          <a:latin typeface="Arial"/>
                          <a:ea typeface="Arial"/>
                          <a:cs typeface="Arial"/>
                        </a:rPr>
                        <a:t>Does the predicted cat vector match its target?</a:t>
                      </a:r>
                    </a:p>
                  </a:txBody>
                  <a:tcPr marL="95250" marR="95250" marT="76200" marB="76200" anchor="ctr">
                    <a:solidFill>
                      <a:srgbClr val="F0F5F8"/>
                    </a:solidFill>
                  </a:tcPr>
                </a:tc>
              </a:tr>
              <a:tr h="674688">
                <a:tc>
                  <a:txBody>
                    <a:bodyPr/>
                    <a:lstStyle/>
                    <a:p>
                      <a:r>
                        <a:rPr sz="1950" b="0">
                          <a:solidFill>
                            <a:srgbClr val="142A45"/>
                          </a:solidFill>
                          <a:latin typeface="Arial"/>
                          <a:ea typeface="Arial"/>
                          <a:cs typeface="Arial"/>
                        </a:rPr>
                        <a:t>Recall at K (R@K)</a:t>
                      </a:r>
                    </a:p>
                  </a:txBody>
                  <a:tcPr marL="95250" marR="95250" marT="76200" marB="76200" anchor="ctr">
                    <a:solidFill>
                      <a:srgbClr val="FFFFFF"/>
                    </a:solidFill>
                  </a:tcPr>
                </a:tc>
                <a:tc>
                  <a:txBody>
                    <a:bodyPr/>
                    <a:lstStyle/>
                    <a:p>
                      <a:r>
                        <a:rPr sz="1950" b="0">
                          <a:solidFill>
                            <a:srgbClr val="142A45"/>
                          </a:solidFill>
                          <a:latin typeface="Arial"/>
                          <a:ea typeface="Arial"/>
                          <a:cs typeface="Arial"/>
                        </a:rPr>
                        <a:t>Does the matching cat caption enter the first K results?</a:t>
                      </a:r>
                    </a:p>
                  </a:txBody>
                  <a:tcPr marL="95250" marR="95250" marT="76200" marB="76200" anchor="ctr">
                    <a:solidFill>
                      <a:srgbClr val="FFFFFF"/>
                    </a:solidFill>
                  </a:tcPr>
                </a:tc>
              </a:tr>
              <a:tr h="674688">
                <a:tc>
                  <a:txBody>
                    <a:bodyPr/>
                    <a:lstStyle/>
                    <a:p>
                      <a:r>
                        <a:rPr sz="1950" b="0">
                          <a:solidFill>
                            <a:srgbClr val="142A45"/>
                          </a:solidFill>
                          <a:latin typeface="Arial"/>
                          <a:ea typeface="Arial"/>
                          <a:cs typeface="Arial"/>
                        </a:rPr>
                        <a:t>Spearman ρ</a:t>
                      </a:r>
                    </a:p>
                  </a:txBody>
                  <a:tcPr marL="95250" marR="95250" marT="76200" marB="76200" anchor="ctr">
                    <a:solidFill>
                      <a:srgbClr val="F0F5F8"/>
                    </a:solidFill>
                  </a:tcPr>
                </a:tc>
                <a:tc>
                  <a:txBody>
                    <a:bodyPr/>
                    <a:lstStyle/>
                    <a:p>
                      <a:r>
                        <a:rPr sz="1950" b="0">
                          <a:solidFill>
                            <a:srgbClr val="142A45"/>
                          </a:solidFill>
                          <a:latin typeface="Arial"/>
                          <a:ea typeface="Arial"/>
                          <a:cs typeface="Arial"/>
                        </a:rPr>
                        <a:t>Is cat-on-sofa nearer than airplane in both spaces?</a:t>
                      </a:r>
                    </a:p>
                  </a:txBody>
                  <a:tcPr marL="95250" marR="95250" marT="76200" marB="76200" anchor="ctr">
                    <a:solidFill>
                      <a:srgbClr val="F0F5F8"/>
                    </a:solidFill>
                  </a:tcPr>
                </a:tc>
              </a:tr>
              <a:tr h="674688">
                <a:tc>
                  <a:txBody>
                    <a:bodyPr/>
                    <a:lstStyle/>
                    <a:p>
                      <a:r>
                        <a:rPr sz="1950" b="0">
                          <a:solidFill>
                            <a:srgbClr val="142A45"/>
                          </a:solidFill>
                          <a:latin typeface="Arial"/>
                          <a:ea typeface="Arial"/>
                          <a:cs typeface="Arial"/>
                        </a:rPr>
                        <a:t>k-NN and CKNNA</a:t>
                      </a:r>
                    </a:p>
                  </a:txBody>
                  <a:tcPr marL="95250" marR="95250" marT="76200" marB="76200" anchor="ctr">
                    <a:solidFill>
                      <a:srgbClr val="FFFFFF"/>
                    </a:solidFill>
                  </a:tcPr>
                </a:tc>
                <a:tc>
                  <a:txBody>
                    <a:bodyPr/>
                    <a:lstStyle/>
                    <a:p>
                      <a:r>
                        <a:rPr sz="1950" b="0">
                          <a:solidFill>
                            <a:srgbClr val="142A45"/>
                          </a:solidFill>
                          <a:latin typeface="Arial"/>
                          <a:ea typeface="Arial"/>
                          <a:cs typeface="Arial"/>
                        </a:rPr>
                        <a:t>Does this cat keep similar neighbors?</a:t>
                      </a:r>
                    </a:p>
                  </a:txBody>
                  <a:tcPr marL="95250" marR="95250" marT="76200" marB="76200" anchor="ctr">
                    <a:solidFill>
                      <a:srgbClr val="FFFFFF"/>
                    </a:solidFill>
                  </a:tcPr>
                </a:tc>
              </a:tr>
              <a:tr h="674688">
                <a:tc>
                  <a:txBody>
                    <a:bodyPr/>
                    <a:lstStyle/>
                    <a:p>
                      <a:r>
                        <a:rPr sz="1950" b="0">
                          <a:solidFill>
                            <a:srgbClr val="142A45"/>
                          </a:solidFill>
                          <a:latin typeface="Arial"/>
                          <a:ea typeface="Arial"/>
                          <a:cs typeface="Arial"/>
                        </a:rPr>
                        <a:t>AUC</a:t>
                      </a:r>
                    </a:p>
                  </a:txBody>
                  <a:tcPr marL="95250" marR="95250" marT="76200" marB="76200" anchor="ctr">
                    <a:solidFill>
                      <a:srgbClr val="F0F5F8"/>
                    </a:solidFill>
                  </a:tcPr>
                </a:tc>
                <a:tc>
                  <a:txBody>
                    <a:bodyPr/>
                    <a:lstStyle/>
                    <a:p>
                      <a:r>
                        <a:rPr sz="1950" b="0">
                          <a:solidFill>
                            <a:srgbClr val="142A45"/>
                          </a:solidFill>
                          <a:latin typeface="Arial"/>
                          <a:ea typeface="Arial"/>
                          <a:cs typeface="Arial"/>
                        </a:rPr>
                        <a:t>Does the matching photo score above an impostor?</a:t>
                      </a:r>
                    </a:p>
                  </a:txBody>
                  <a:tcPr marL="95250" marR="95250" marT="76200" marB="76200" anchor="ctr">
                    <a:solidFill>
                      <a:srgbClr val="F0F5F8"/>
                    </a:solidFill>
                  </a:tcPr>
                </a:tc>
              </a:tr>
            </a:tbl>
          </a:graphicData>
        </a:graphic>
      </p:graphicFrame>
      <p:sp>
        <p:nvSpPr>
          <p:cNvPr id="5" name="">
            <a:extLst xmlns:a="http://schemas.openxmlformats.org/drawingml/2006/main">
              <a:ext uri="{FF2B5EF4-FFF2-40B4-BE49-F238E27FC236}">
                <a16:creationId xmlns:a16="http://schemas.microsoft.com/office/drawing/2014/main" id="{5A8D7535-F883-4B4F-8917-5BD08D03C44E}"/>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High scores mean different things. Every comparison needs its own reference.</a:t>
            </a:r>
          </a:p>
        </p:txBody>
      </p:sp>
    </p:spTree>
    <p:extLst>
      <p:ext uri="{BB962C8B-B14F-4D97-AF65-F5344CB8AC3E}">
        <p14:creationId xmlns:p14="http://schemas.microsoft.com/office/powerpoint/2010/main" val="14713356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2E5B95D-A307-43EF-8638-4BFD7B2E3C54}"/>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Experiment A: learned structure exceeds control</a:t>
            </a:r>
          </a:p>
        </p:txBody>
      </p:sp>
      <p:sp>
        <p:nvSpPr>
          <p:cNvPr id="2" name="">
            <a:extLst xmlns:a="http://schemas.openxmlformats.org/drawingml/2006/main">
              <a:ext uri="{FF2B5EF4-FFF2-40B4-BE49-F238E27FC236}">
                <a16:creationId xmlns:a16="http://schemas.microsoft.com/office/drawing/2014/main" id="{863A3A05-6428-4F49-9AF1-8F12CF3EF0DA}"/>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Companion report §3 | Atlas pp. 2–3, measurement context</a:t>
            </a:r>
          </a:p>
        </p:txBody>
      </p:sp>
      <p:sp>
        <p:nvSpPr>
          <p:cNvPr id="3" name="">
            <a:extLst xmlns:a="http://schemas.openxmlformats.org/drawingml/2006/main">
              <a:ext uri="{FF2B5EF4-FFF2-40B4-BE49-F238E27FC236}">
                <a16:creationId xmlns:a16="http://schemas.microsoft.com/office/drawing/2014/main" id="{9DC96A53-C287-4A1F-BCD4-0CB3D340C225}"/>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4</a:t>
            </a:r>
          </a:p>
        </p:txBody>
      </p:sp>
      <p:graphicFrame>
        <p:nvGraphicFramePr>
          <p:cNvPr id="12" name="Chart"/>
          <p:cNvGraphicFramePr/>
          <p:nvPr/>
        </p:nvGraphicFramePr>
        <p:xfrm>
          <a:off xmlns:a="http://schemas.openxmlformats.org/drawingml/2006/main" x="571500" y="1571625"/>
          <a:ext xmlns:a="http://schemas.openxmlformats.org/drawingml/2006/main" cx="6953250" cy="3714750"/>
        </p:xfrm>
        <a:graphic xmlns:a="http://schemas.openxmlformats.org/drawingml/2006/main">
          <a:graphicData uri="http://schemas.openxmlformats.org/drawingml/2006/chart">
            <c:chart xmlns:r="http://schemas.openxmlformats.org/officeDocument/2006/relationships" xmlns:c="http://schemas.openxmlformats.org/drawingml/2006/chart" r:id="Rc5c254fa0e0a413d"/>
          </a:graphicData>
        </a:graphic>
      </p:graphicFrame>
      <p:sp>
        <p:nvSpPr>
          <p:cNvPr id="5" name="">
            <a:extLst xmlns:a="http://schemas.openxmlformats.org/drawingml/2006/main">
              <a:ext uri="{FF2B5EF4-FFF2-40B4-BE49-F238E27FC236}">
                <a16:creationId xmlns:a16="http://schemas.microsoft.com/office/drawing/2014/main" id="{B9729726-B438-425B-BF85-DA8AC6C1AF04}"/>
              </a:ext>
            </a:extLst>
          </p:cNvPr>
          <p:cNvSpPr>
            <a:spLocks xmlns:a="http://schemas.openxmlformats.org/drawingml/2006/main" noGrp="1"/>
          </p:cNvSpPr>
          <p:nvPr/>
        </p:nvSpPr>
        <p:spPr>
          <a:xfrm xmlns:a="http://schemas.openxmlformats.org/drawingml/2006/main">
            <a:off x="8096250" y="1666875"/>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83"/>
                </a:solidFill>
                <a:latin typeface="Arial"/>
                <a:ea typeface="Arial"/>
                <a:cs typeface="Arial"/>
              </a:defRPr>
            </a:pPr>
            <a:r>
              <a:rPr sz="3225" b="1">
                <a:solidFill>
                  <a:srgbClr val="087F83"/>
                </a:solidFill>
                <a:latin typeface="Arial"/>
                <a:ea typeface="Arial"/>
                <a:cs typeface="Arial"/>
              </a:rPr>
              <a:t>R² = 0.737</a:t>
            </a:r>
          </a:p>
        </p:txBody>
      </p:sp>
      <p:sp>
        <p:nvSpPr>
          <p:cNvPr id="6" name="">
            <a:extLst xmlns:a="http://schemas.openxmlformats.org/drawingml/2006/main">
              <a:ext uri="{FF2B5EF4-FFF2-40B4-BE49-F238E27FC236}">
                <a16:creationId xmlns:a16="http://schemas.microsoft.com/office/drawing/2014/main" id="{300FD1BB-8951-4306-8ED2-B157BB4E06ED}"/>
              </a:ext>
            </a:extLst>
          </p:cNvPr>
          <p:cNvSpPr>
            <a:spLocks xmlns:a="http://schemas.openxmlformats.org/drawingml/2006/main" noGrp="1"/>
          </p:cNvSpPr>
          <p:nvPr/>
        </p:nvSpPr>
        <p:spPr>
          <a:xfrm xmlns:a="http://schemas.openxmlformats.org/drawingml/2006/main">
            <a:off x="8096250" y="2571750"/>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A45"/>
                </a:solidFill>
                <a:latin typeface="Arial"/>
                <a:ea typeface="Arial"/>
                <a:cs typeface="Arial"/>
              </a:defRPr>
            </a:pPr>
            <a:r>
              <a:rPr sz="2175" b="0">
                <a:solidFill>
                  <a:srgbClr val="142A45"/>
                </a:solidFill>
                <a:latin typeface="Arial"/>
                <a:ea typeface="Arial"/>
                <a:cs typeface="Arial"/>
              </a:rPr>
              <a:t>A linear map explains 73.7% of target variance on unseen passages.</a:t>
            </a:r>
          </a:p>
        </p:txBody>
      </p:sp>
      <p:sp>
        <p:nvSpPr>
          <p:cNvPr id="7" name="">
            <a:extLst xmlns:a="http://schemas.openxmlformats.org/drawingml/2006/main">
              <a:ext uri="{FF2B5EF4-FFF2-40B4-BE49-F238E27FC236}">
                <a16:creationId xmlns:a16="http://schemas.microsoft.com/office/drawing/2014/main" id="{B30F17CF-A6A5-411A-8F2C-3787DA684093}"/>
              </a:ext>
            </a:extLst>
          </p:cNvPr>
          <p:cNvSpPr>
            <a:spLocks xmlns:a="http://schemas.openxmlformats.org/drawingml/2006/main" noGrp="1"/>
          </p:cNvSpPr>
          <p:nvPr/>
        </p:nvSpPr>
        <p:spPr>
          <a:xfrm xmlns:a="http://schemas.openxmlformats.org/drawingml/2006/main">
            <a:off x="8096250" y="41910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A45"/>
                </a:solidFill>
                <a:latin typeface="Arial"/>
                <a:ea typeface="Arial"/>
                <a:cs typeface="Arial"/>
              </a:defRPr>
            </a:pPr>
            <a:r>
              <a:rPr sz="1875" b="0">
                <a:solidFill>
                  <a:srgbClr val="142A45"/>
                </a:solidFill>
                <a:latin typeface="Arial"/>
                <a:ea typeface="Arial"/>
                <a:cs typeface="Arial"/>
              </a:rPr>
              <a:t>Mean CKA</a:t>
            </a:r>
          </a:p>
          <a:p xmlns:a="http://schemas.openxmlformats.org/drawingml/2006/main">
            <a:pPr>
              <a:defRPr sz="1875" b="0">
                <a:solidFill>
                  <a:srgbClr val="142A45"/>
                </a:solidFill>
                <a:latin typeface="Arial"/>
                <a:ea typeface="Arial"/>
                <a:cs typeface="Arial"/>
              </a:defRPr>
            </a:pPr>
            <a:r>
              <a:rPr sz="1875" b="0">
                <a:solidFill>
                  <a:srgbClr val="142A45"/>
                </a:solidFill>
                <a:latin typeface="Arial"/>
                <a:ea typeface="Arial"/>
                <a:cs typeface="Arial"/>
              </a:rPr>
              <a:t>0.359 vs 0.067</a:t>
            </a:r>
          </a:p>
          <a:p xmlns:a="http://schemas.openxmlformats.org/drawingml/2006/main">
            <a:pPr>
              <a:defRPr sz="1875" b="0">
                <a:solidFill>
                  <a:srgbClr val="142A45"/>
                </a:solidFill>
                <a:latin typeface="Arial"/>
                <a:ea typeface="Arial"/>
                <a:cs typeface="Arial"/>
              </a:defRPr>
            </a:pPr>
            <a:r>
              <a:rPr sz="1875" b="0">
                <a:solidFill>
                  <a:srgbClr val="142A45"/>
                </a:solidFill>
                <a:latin typeface="Arial"/>
                <a:ea typeface="Arial"/>
                <a:cs typeface="Arial"/>
              </a:rPr>
              <a:t>Similarity patterns agree more after learning.</a:t>
            </a:r>
          </a:p>
        </p:txBody>
      </p:sp>
      <p:sp>
        <p:nvSpPr>
          <p:cNvPr id="8" name="">
            <a:extLst xmlns:a="http://schemas.openxmlformats.org/drawingml/2006/main">
              <a:ext uri="{FF2B5EF4-FFF2-40B4-BE49-F238E27FC236}">
                <a16:creationId xmlns:a16="http://schemas.microsoft.com/office/drawing/2014/main" id="{66FD3DFA-C1D3-4D97-8A3F-4408810A33F0}"/>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Same statistic, same aggregation: trained mean versus random-control mean.</a:t>
            </a:r>
          </a:p>
        </p:txBody>
      </p:sp>
    </p:spTree>
    <p:extLst>
      <p:ext uri="{BB962C8B-B14F-4D97-AF65-F5344CB8AC3E}">
        <p14:creationId xmlns:p14="http://schemas.microsoft.com/office/powerpoint/2010/main" val="564276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DB78F25-D8B9-4257-87D4-FE4EC7E51F48}"/>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Experiment B: a phone joins a server index</a:t>
            </a:r>
          </a:p>
        </p:txBody>
      </p:sp>
      <p:sp>
        <p:nvSpPr>
          <p:cNvPr id="2" name="">
            <a:extLst xmlns:a="http://schemas.openxmlformats.org/drawingml/2006/main">
              <a:ext uri="{FF2B5EF4-FFF2-40B4-BE49-F238E27FC236}">
                <a16:creationId xmlns:a16="http://schemas.microsoft.com/office/drawing/2014/main" id="{EC98A086-C804-4A54-822F-EDA335CEF2BC}"/>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1, 4 | Companion report §4</a:t>
            </a:r>
          </a:p>
        </p:txBody>
      </p:sp>
      <p:sp>
        <p:nvSpPr>
          <p:cNvPr id="3" name="">
            <a:extLst xmlns:a="http://schemas.openxmlformats.org/drawingml/2006/main">
              <a:ext uri="{FF2B5EF4-FFF2-40B4-BE49-F238E27FC236}">
                <a16:creationId xmlns:a16="http://schemas.microsoft.com/office/drawing/2014/main" id="{2DECFA12-0E7A-4310-AAA3-6E99B0D69405}"/>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5</a:t>
            </a:r>
          </a:p>
        </p:txBody>
      </p:sp>
      <p:sp>
        <p:nvSpPr>
          <p:cNvPr id="4" name="">
            <a:extLst xmlns:a="http://schemas.openxmlformats.org/drawingml/2006/main">
              <a:ext uri="{FF2B5EF4-FFF2-40B4-BE49-F238E27FC236}">
                <a16:creationId xmlns:a16="http://schemas.microsoft.com/office/drawing/2014/main" id="{490EA644-FC05-4BF4-812F-EF9F43841020}"/>
              </a:ext>
            </a:extLst>
          </p:cNvPr>
          <p:cNvSpPr>
            <a:spLocks xmlns:a="http://schemas.openxmlformats.org/drawingml/2006/main" noGrp="1"/>
          </p:cNvSpPr>
          <p:nvPr/>
        </p:nvSpPr>
        <p:spPr>
          <a:xfrm xmlns:a="http://schemas.openxmlformats.org/drawingml/2006/main">
            <a:off x="571500" y="1666875"/>
            <a:ext cx="2619375"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1A8BC"/>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Cat photo</a:t>
            </a:r>
          </a:p>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MobileCLIP-S1</a:t>
            </a:r>
          </a:p>
        </p:txBody>
      </p:sp>
      <p:sp>
        <p:nvSpPr>
          <p:cNvPr id="5" name="">
            <a:extLst xmlns:a="http://schemas.openxmlformats.org/drawingml/2006/main">
              <a:ext uri="{FF2B5EF4-FFF2-40B4-BE49-F238E27FC236}">
                <a16:creationId xmlns:a16="http://schemas.microsoft.com/office/drawing/2014/main" id="{15FA429B-86C0-4ECA-ADB3-C73E5AB6A9BD}"/>
              </a:ext>
            </a:extLst>
          </p:cNvPr>
          <p:cNvSpPr>
            <a:spLocks xmlns:a="http://schemas.openxmlformats.org/drawingml/2006/main" noGrp="1"/>
          </p:cNvSpPr>
          <p:nvPr/>
        </p:nvSpPr>
        <p:spPr>
          <a:xfrm xmlns:a="http://schemas.openxmlformats.org/drawingml/2006/main">
            <a:off x="4286250" y="1666875"/>
            <a:ext cx="285750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1A8BC"/>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512-vector × W</a:t>
            </a:r>
          </a:p>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W is 512 × 768</a:t>
            </a:r>
          </a:p>
        </p:txBody>
      </p:sp>
      <p:sp>
        <p:nvSpPr>
          <p:cNvPr id="6" name="">
            <a:extLst xmlns:a="http://schemas.openxmlformats.org/drawingml/2006/main">
              <a:ext uri="{FF2B5EF4-FFF2-40B4-BE49-F238E27FC236}">
                <a16:creationId xmlns:a16="http://schemas.microsoft.com/office/drawing/2014/main" id="{F77B3F2B-F163-48ED-9145-FC6E902E3974}"/>
              </a:ext>
            </a:extLst>
          </p:cNvPr>
          <p:cNvSpPr>
            <a:spLocks xmlns:a="http://schemas.openxmlformats.org/drawingml/2006/main" noGrp="1"/>
          </p:cNvSpPr>
          <p:nvPr/>
        </p:nvSpPr>
        <p:spPr>
          <a:xfrm xmlns:a="http://schemas.openxmlformats.org/drawingml/2006/main">
            <a:off x="8382000" y="1666875"/>
            <a:ext cx="295275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1A8BC"/>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Normalize</a:t>
            </a:r>
          </a:p>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768-vector</a:t>
            </a:r>
          </a:p>
        </p:txBody>
      </p: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3190875" y="2071688"/>
            <a:ext cx="1095375" cy="0"/>
          </a:xfrm>
          <a:prstGeom xmlns:a="http://schemas.openxmlformats.org/drawingml/2006/main" prst="straightConnector1">
            <a:avLst/>
          </a:prstGeom>
          <a:ln xmlns:a="http://schemas.openxmlformats.org/drawingml/2006/main" w="19050">
            <a:solidFill>
              <a:srgbClr val="087F83"/>
            </a:solidFill>
            <a:tailEnd type="triangle" w="sm" len="sm"/>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7143750" y="2071688"/>
            <a:ext cx="1238250" cy="0"/>
          </a:xfrm>
          <a:prstGeom xmlns:a="http://schemas.openxmlformats.org/drawingml/2006/main" prst="straightConnector1">
            <a:avLst/>
          </a:prstGeom>
          <a:ln xmlns:a="http://schemas.openxmlformats.org/drawingml/2006/main" w="19050">
            <a:solidFill>
              <a:srgbClr val="087F83"/>
            </a:solidFill>
            <a:tailEnd type="triangle" w="sm" len="sm"/>
          </a:ln>
        </p:spPr>
      </p:cxnSp>
      <p:sp>
        <p:nvSpPr>
          <p:cNvPr id="9" name="">
            <a:extLst xmlns:a="http://schemas.openxmlformats.org/drawingml/2006/main">
              <a:ext uri="{FF2B5EF4-FFF2-40B4-BE49-F238E27FC236}">
                <a16:creationId xmlns:a16="http://schemas.microsoft.com/office/drawing/2014/main" id="{D652713E-8F82-4992-8AEE-78A1887BA3D8}"/>
              </a:ext>
            </a:extLst>
          </p:cNvPr>
          <p:cNvSpPr>
            <a:spLocks xmlns:a="http://schemas.openxmlformats.org/drawingml/2006/main" noGrp="1"/>
          </p:cNvSpPr>
          <p:nvPr/>
        </p:nvSpPr>
        <p:spPr>
          <a:xfrm xmlns:a="http://schemas.openxmlformats.org/drawingml/2006/main">
            <a:off x="571500" y="3619500"/>
            <a:ext cx="276225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1A8BC"/>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Native SigLIP</a:t>
            </a:r>
          </a:p>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image vectors</a:t>
            </a:r>
          </a:p>
        </p:txBody>
      </p:sp>
      <p:sp>
        <p:nvSpPr>
          <p:cNvPr id="10" name="">
            <a:extLst xmlns:a="http://schemas.openxmlformats.org/drawingml/2006/main">
              <a:ext uri="{FF2B5EF4-FFF2-40B4-BE49-F238E27FC236}">
                <a16:creationId xmlns:a16="http://schemas.microsoft.com/office/drawing/2014/main" id="{5D2EF2A0-CD44-422E-A59E-ED621F48D6D2}"/>
              </a:ext>
            </a:extLst>
          </p:cNvPr>
          <p:cNvSpPr>
            <a:spLocks xmlns:a="http://schemas.openxmlformats.org/drawingml/2006/main" noGrp="1"/>
          </p:cNvSpPr>
          <p:nvPr/>
        </p:nvSpPr>
        <p:spPr>
          <a:xfrm xmlns:a="http://schemas.openxmlformats.org/drawingml/2006/main">
            <a:off x="4762500" y="3619500"/>
            <a:ext cx="323850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1A8BC"/>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Shared search index</a:t>
            </a:r>
          </a:p>
        </p:txBody>
      </p:sp>
      <p:cxnSp>
        <p:nvCxnSpPr>
          <p:cNvPr id="25" name=""/>
          <p:cNvCxnSpPr>
            <a:stCxn xmlns:a="http://schemas.openxmlformats.org/drawingml/2006/main" id="9" idx="3"/>
            <a:endCxn xmlns:a="http://schemas.openxmlformats.org/drawingml/2006/main" id="10" idx="1"/>
          </p:cNvCxnSpPr>
          <p:nvPr/>
        </p:nvCxnSpPr>
        <p:spPr>
          <a:xfrm xmlns:a="http://schemas.openxmlformats.org/drawingml/2006/main">
            <a:off x="3333750" y="4024313"/>
            <a:ext cx="1428750" cy="0"/>
          </a:xfrm>
          <a:prstGeom xmlns:a="http://schemas.openxmlformats.org/drawingml/2006/main" prst="straightConnector1">
            <a:avLst/>
          </a:prstGeom>
          <a:ln xmlns:a="http://schemas.openxmlformats.org/drawingml/2006/main" w="19050">
            <a:solidFill>
              <a:srgbClr val="087F83"/>
            </a:solidFill>
            <a:tailEnd type="triangle" w="sm" len="sm"/>
          </a:ln>
        </p:spPr>
      </p:cxnSp>
      <p:cxnSp>
        <p:nvCxnSpPr>
          <p:cNvPr id="26" name=""/>
          <p:cNvCxnSpPr>
            <a:stCxn xmlns:a="http://schemas.openxmlformats.org/drawingml/2006/main" id="6" idx="2"/>
            <a:endCxn xmlns:a="http://schemas.openxmlformats.org/drawingml/2006/main" id="10" idx="3"/>
          </p:cNvCxnSpPr>
          <p:nvPr/>
        </p:nvCxnSpPr>
        <p:spPr>
          <a:xfrm xmlns:a="http://schemas.openxmlformats.org/drawingml/2006/main" flipH="1">
            <a:off x="8001000" y="2476500"/>
            <a:ext cx="1857375" cy="1547813"/>
          </a:xfrm>
          <a:prstGeom xmlns:a="http://schemas.openxmlformats.org/drawingml/2006/main" prst="bentConnector5">
            <a:avLst>
              <a:gd name="adj1" fmla="val 0"/>
              <a:gd name="adj2" fmla="val 14769"/>
              <a:gd name="adj3" fmla="val 87692"/>
            </a:avLst>
          </a:prstGeom>
          <a:ln xmlns:a="http://schemas.openxmlformats.org/drawingml/2006/main" w="19050">
            <a:solidFill>
              <a:srgbClr val="087F83"/>
            </a:solidFill>
            <a:tailEnd type="triangle" w="sm" len="sm"/>
          </a:ln>
        </p:spPr>
      </p:cxnSp>
      <p:sp>
        <p:nvSpPr>
          <p:cNvPr id="13" name="">
            <a:extLst xmlns:a="http://schemas.openxmlformats.org/drawingml/2006/main">
              <a:ext uri="{FF2B5EF4-FFF2-40B4-BE49-F238E27FC236}">
                <a16:creationId xmlns:a16="http://schemas.microsoft.com/office/drawing/2014/main" id="{BBFEA59B-2C99-44F9-B652-86AE7AC79D2E}"/>
              </a:ext>
            </a:extLst>
          </p:cNvPr>
          <p:cNvSpPr>
            <a:spLocks xmlns:a="http://schemas.openxmlformats.org/drawingml/2006/main" noGrp="1"/>
          </p:cNvSpPr>
          <p:nvPr/>
        </p:nvSpPr>
        <p:spPr>
          <a:xfrm xmlns:a="http://schemas.openxmlformats.org/drawingml/2006/main">
            <a:off x="571500" y="4905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A45"/>
                </a:solidFill>
                <a:latin typeface="Arial"/>
                <a:ea typeface="Arial"/>
                <a:cs typeface="Arial"/>
              </a:defRPr>
            </a:pPr>
            <a:r>
              <a:rPr sz="2175" b="0">
                <a:solidFill>
                  <a:srgbClr val="142A45"/>
                </a:solidFill>
                <a:latin typeface="Arial"/>
                <a:ea typeface="Arial"/>
                <a:cs typeface="Arial"/>
              </a:rPr>
              <a:t>Query “a cat on a chair”: encode with SigLIP text and rank the index.</a:t>
            </a:r>
          </a:p>
        </p:txBody>
      </p:sp>
      <p:sp>
        <p:nvSpPr>
          <p:cNvPr id="14" name="">
            <a:extLst xmlns:a="http://schemas.openxmlformats.org/drawingml/2006/main">
              <a:ext uri="{FF2B5EF4-FFF2-40B4-BE49-F238E27FC236}">
                <a16:creationId xmlns:a16="http://schemas.microsoft.com/office/drawing/2014/main" id="{A99D9AC3-41AE-4465-AB29-6AB1B791AD5E}"/>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Fit on 3,000 COCO images. Test on 1,000 held-out images. Encoders stay frozen.</a:t>
            </a:r>
          </a:p>
        </p:txBody>
      </p:sp>
    </p:spTree>
    <p:extLst>
      <p:ext uri="{BB962C8B-B14F-4D97-AF65-F5344CB8AC3E}">
        <p14:creationId xmlns:p14="http://schemas.microsoft.com/office/powerpoint/2010/main" val="12104594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D618B15-87DA-4128-8520-6FEDEDEA8774}"/>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Vector fit: direction and reconstruction</a:t>
            </a:r>
          </a:p>
        </p:txBody>
      </p:sp>
      <p:sp>
        <p:nvSpPr>
          <p:cNvPr id="2" name="">
            <a:extLst xmlns:a="http://schemas.openxmlformats.org/drawingml/2006/main">
              <a:ext uri="{FF2B5EF4-FFF2-40B4-BE49-F238E27FC236}">
                <a16:creationId xmlns:a16="http://schemas.microsoft.com/office/drawing/2014/main" id="{A9041F76-9E66-472E-A504-BD4D510C1595}"/>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3–4, 8</a:t>
            </a:r>
          </a:p>
        </p:txBody>
      </p:sp>
      <p:sp>
        <p:nvSpPr>
          <p:cNvPr id="3" name="">
            <a:extLst xmlns:a="http://schemas.openxmlformats.org/drawingml/2006/main">
              <a:ext uri="{FF2B5EF4-FFF2-40B4-BE49-F238E27FC236}">
                <a16:creationId xmlns:a16="http://schemas.microsoft.com/office/drawing/2014/main" id="{AC8C811A-080B-4EDD-8092-D258B4CD12D0}"/>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6</a:t>
            </a:r>
          </a:p>
        </p:txBody>
      </p:sp>
      <p:graphicFrame>
        <p:nvGraphicFramePr>
          <p:cNvPr id="13" name="Chart"/>
          <p:cNvGraphicFramePr/>
          <p:nvPr/>
        </p:nvGraphicFramePr>
        <p:xfrm>
          <a:off xmlns:a="http://schemas.openxmlformats.org/drawingml/2006/main" x="571500" y="1571625"/>
          <a:ext xmlns:a="http://schemas.openxmlformats.org/drawingml/2006/main" cx="6953250" cy="3714750"/>
        </p:xfrm>
        <a:graphic xmlns:a="http://schemas.openxmlformats.org/drawingml/2006/main">
          <a:graphicData uri="http://schemas.openxmlformats.org/drawingml/2006/chart">
            <c:chart xmlns:r="http://schemas.openxmlformats.org/officeDocument/2006/relationships" xmlns:c="http://schemas.openxmlformats.org/drawingml/2006/chart" r:id="R8b81df064f5840ac"/>
          </a:graphicData>
        </a:graphic>
      </p:graphicFrame>
      <p:sp>
        <p:nvSpPr>
          <p:cNvPr id="5" name="">
            <a:extLst xmlns:a="http://schemas.openxmlformats.org/drawingml/2006/main">
              <a:ext uri="{FF2B5EF4-FFF2-40B4-BE49-F238E27FC236}">
                <a16:creationId xmlns:a16="http://schemas.microsoft.com/office/drawing/2014/main" id="{5D345E38-F46F-411F-8340-9F0E8E2CC47B}"/>
              </a:ext>
            </a:extLst>
          </p:cNvPr>
          <p:cNvSpPr>
            <a:spLocks xmlns:a="http://schemas.openxmlformats.org/drawingml/2006/main" noGrp="1"/>
          </p:cNvSpPr>
          <p:nvPr/>
        </p:nvSpPr>
        <p:spPr>
          <a:xfrm xmlns:a="http://schemas.openxmlformats.org/drawingml/2006/main">
            <a:off x="7905750" y="1619250"/>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3"/>
                </a:solidFill>
                <a:latin typeface="Arial"/>
                <a:ea typeface="Arial"/>
                <a:cs typeface="Arial"/>
              </a:defRPr>
            </a:pPr>
            <a:r>
              <a:rPr sz="3000" b="1">
                <a:solidFill>
                  <a:srgbClr val="087F83"/>
                </a:solidFill>
                <a:latin typeface="Arial"/>
                <a:ea typeface="Arial"/>
                <a:cs typeface="Arial"/>
              </a:rPr>
              <a:t>Cosine = 0.900</a:t>
            </a:r>
          </a:p>
        </p:txBody>
      </p:sp>
      <p:sp>
        <p:nvSpPr>
          <p:cNvPr id="6" name="">
            <a:extLst xmlns:a="http://schemas.openxmlformats.org/drawingml/2006/main">
              <a:ext uri="{FF2B5EF4-FFF2-40B4-BE49-F238E27FC236}">
                <a16:creationId xmlns:a16="http://schemas.microsoft.com/office/drawing/2014/main" id="{88537688-60A1-4031-8DFD-D8933BFB7CE9}"/>
              </a:ext>
            </a:extLst>
          </p:cNvPr>
          <p:cNvSpPr>
            <a:spLocks xmlns:a="http://schemas.openxmlformats.org/drawingml/2006/main" noGrp="1"/>
          </p:cNvSpPr>
          <p:nvPr/>
        </p:nvSpPr>
        <p:spPr>
          <a:xfrm xmlns:a="http://schemas.openxmlformats.org/drawingml/2006/main">
            <a:off x="7905750" y="2381250"/>
            <a:ext cx="371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A45"/>
                </a:solidFill>
                <a:latin typeface="Arial"/>
                <a:ea typeface="Arial"/>
                <a:cs typeface="Arial"/>
              </a:defRPr>
            </a:pPr>
            <a:r>
              <a:rPr sz="2250" b="0">
                <a:solidFill>
                  <a:srgbClr val="142A45"/>
                </a:solidFill>
                <a:latin typeface="Arial"/>
                <a:ea typeface="Arial"/>
                <a:cs typeface="Arial"/>
              </a:rPr>
              <a:t>The mapped vector points close to its true target.</a:t>
            </a:r>
          </a:p>
        </p:txBody>
      </p:sp>
      <p:sp>
        <p:nvSpPr>
          <p:cNvPr id="7" name="">
            <a:extLst xmlns:a="http://schemas.openxmlformats.org/drawingml/2006/main">
              <a:ext uri="{FF2B5EF4-FFF2-40B4-BE49-F238E27FC236}">
                <a16:creationId xmlns:a16="http://schemas.microsoft.com/office/drawing/2014/main" id="{F17FB7B2-9D0C-4735-9426-D58C5C29C93B}"/>
              </a:ext>
            </a:extLst>
          </p:cNvPr>
          <p:cNvSpPr>
            <a:spLocks xmlns:a="http://schemas.openxmlformats.org/drawingml/2006/main" noGrp="1"/>
          </p:cNvSpPr>
          <p:nvPr/>
        </p:nvSpPr>
        <p:spPr>
          <a:xfrm xmlns:a="http://schemas.openxmlformats.org/drawingml/2006/main">
            <a:off x="7905750" y="3781425"/>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65C0"/>
                </a:solidFill>
                <a:latin typeface="Arial"/>
                <a:ea typeface="Arial"/>
                <a:cs typeface="Arial"/>
              </a:defRPr>
            </a:pPr>
            <a:r>
              <a:rPr sz="3000" b="1">
                <a:solidFill>
                  <a:srgbClr val="2965C0"/>
                </a:solidFill>
                <a:latin typeface="Arial"/>
                <a:ea typeface="Arial"/>
                <a:cs typeface="Arial"/>
              </a:rPr>
              <a:t>R² = 0.592</a:t>
            </a:r>
          </a:p>
        </p:txBody>
      </p:sp>
      <p:sp>
        <p:nvSpPr>
          <p:cNvPr id="8" name="">
            <a:extLst xmlns:a="http://schemas.openxmlformats.org/drawingml/2006/main">
              <a:ext uri="{FF2B5EF4-FFF2-40B4-BE49-F238E27FC236}">
                <a16:creationId xmlns:a16="http://schemas.microsoft.com/office/drawing/2014/main" id="{C25945A6-03DF-477E-B29D-77E3F9CB4805}"/>
              </a:ext>
            </a:extLst>
          </p:cNvPr>
          <p:cNvSpPr>
            <a:spLocks xmlns:a="http://schemas.openxmlformats.org/drawingml/2006/main" noGrp="1"/>
          </p:cNvSpPr>
          <p:nvPr/>
        </p:nvSpPr>
        <p:spPr>
          <a:xfrm xmlns:a="http://schemas.openxmlformats.org/drawingml/2006/main">
            <a:off x="7905750" y="4476750"/>
            <a:ext cx="361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A45"/>
                </a:solidFill>
                <a:latin typeface="Arial"/>
                <a:ea typeface="Arial"/>
                <a:cs typeface="Arial"/>
              </a:defRPr>
            </a:pPr>
            <a:r>
              <a:rPr sz="2100" b="0">
                <a:solidFill>
                  <a:srgbClr val="142A45"/>
                </a:solidFill>
                <a:latin typeface="Arial"/>
                <a:ea typeface="Arial"/>
                <a:cs typeface="Arial"/>
              </a:rPr>
              <a:t>59.2% of target variance is explained.</a:t>
            </a:r>
          </a:p>
        </p:txBody>
      </p:sp>
      <p:sp>
        <p:nvSpPr>
          <p:cNvPr id="9" name="">
            <a:extLst xmlns:a="http://schemas.openxmlformats.org/drawingml/2006/main">
              <a:ext uri="{FF2B5EF4-FFF2-40B4-BE49-F238E27FC236}">
                <a16:creationId xmlns:a16="http://schemas.microsoft.com/office/drawing/2014/main" id="{D2F83E65-0011-4564-8BE4-81F9D198FEC4}"/>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Cosine measures direction. R² also penalizes errors in the predicted coordinates.</a:t>
            </a:r>
          </a:p>
        </p:txBody>
      </p:sp>
    </p:spTree>
    <p:extLst>
      <p:ext uri="{BB962C8B-B14F-4D97-AF65-F5344CB8AC3E}">
        <p14:creationId xmlns:p14="http://schemas.microsoft.com/office/powerpoint/2010/main" val="13911480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4C348B4-60F3-4C7A-813D-7ACEC39F99BF}"/>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Retrieval: 843 successful queries out of 1,000</a:t>
            </a:r>
          </a:p>
        </p:txBody>
      </p:sp>
      <p:sp>
        <p:nvSpPr>
          <p:cNvPr id="2" name="">
            <a:extLst xmlns:a="http://schemas.openxmlformats.org/drawingml/2006/main">
              <a:ext uri="{FF2B5EF4-FFF2-40B4-BE49-F238E27FC236}">
                <a16:creationId xmlns:a16="http://schemas.microsoft.com/office/drawing/2014/main" id="{B22C6163-F78D-4055-BADD-A296FB8A3581}"/>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3–4 | Companion report §4, one-caption protocol</a:t>
            </a:r>
          </a:p>
        </p:txBody>
      </p:sp>
      <p:sp>
        <p:nvSpPr>
          <p:cNvPr id="3" name="">
            <a:extLst xmlns:a="http://schemas.openxmlformats.org/drawingml/2006/main">
              <a:ext uri="{FF2B5EF4-FFF2-40B4-BE49-F238E27FC236}">
                <a16:creationId xmlns:a16="http://schemas.microsoft.com/office/drawing/2014/main" id="{8840A4AF-A18D-41E8-A175-D21214CEDA5A}"/>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7</a:t>
            </a:r>
          </a:p>
        </p:txBody>
      </p:sp>
      <p:graphicFrame>
        <p:nvGraphicFramePr>
          <p:cNvPr id="13" name="Chart"/>
          <p:cNvGraphicFramePr/>
          <p:nvPr/>
        </p:nvGraphicFramePr>
        <p:xfrm>
          <a:off xmlns:a="http://schemas.openxmlformats.org/drawingml/2006/main" x="571500" y="1571625"/>
          <a:ext xmlns:a="http://schemas.openxmlformats.org/drawingml/2006/main" cx="6953250" cy="3714750"/>
        </p:xfrm>
        <a:graphic xmlns:a="http://schemas.openxmlformats.org/drawingml/2006/main">
          <a:graphicData uri="http://schemas.openxmlformats.org/drawingml/2006/chart">
            <c:chart xmlns:r="http://schemas.openxmlformats.org/officeDocument/2006/relationships" xmlns:c="http://schemas.openxmlformats.org/drawingml/2006/chart" r:id="R00d16d1b0ad549ed"/>
          </a:graphicData>
        </a:graphic>
      </p:graphicFrame>
      <p:sp>
        <p:nvSpPr>
          <p:cNvPr id="5" name="">
            <a:extLst xmlns:a="http://schemas.openxmlformats.org/drawingml/2006/main">
              <a:ext uri="{FF2B5EF4-FFF2-40B4-BE49-F238E27FC236}">
                <a16:creationId xmlns:a16="http://schemas.microsoft.com/office/drawing/2014/main" id="{481DC6DA-5979-4E95-99E6-F1F04681278D}"/>
              </a:ext>
            </a:extLst>
          </p:cNvPr>
          <p:cNvSpPr>
            <a:spLocks xmlns:a="http://schemas.openxmlformats.org/drawingml/2006/main" noGrp="1"/>
          </p:cNvSpPr>
          <p:nvPr/>
        </p:nvSpPr>
        <p:spPr>
          <a:xfrm xmlns:a="http://schemas.openxmlformats.org/drawingml/2006/main">
            <a:off x="8096250" y="1666875"/>
            <a:ext cx="338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83"/>
                </a:solidFill>
                <a:latin typeface="Arial"/>
                <a:ea typeface="Arial"/>
                <a:cs typeface="Arial"/>
              </a:defRPr>
            </a:pPr>
            <a:r>
              <a:rPr sz="2925" b="1">
                <a:solidFill>
                  <a:srgbClr val="087F83"/>
                </a:solidFill>
                <a:latin typeface="Arial"/>
                <a:ea typeface="Arial"/>
                <a:cs typeface="Arial"/>
              </a:rPr>
              <a:t>R@5 = 84.3%</a:t>
            </a:r>
          </a:p>
        </p:txBody>
      </p:sp>
      <p:sp>
        <p:nvSpPr>
          <p:cNvPr id="6" name="">
            <a:extLst xmlns:a="http://schemas.openxmlformats.org/drawingml/2006/main">
              <a:ext uri="{FF2B5EF4-FFF2-40B4-BE49-F238E27FC236}">
                <a16:creationId xmlns:a16="http://schemas.microsoft.com/office/drawing/2014/main" id="{9EDAE0FF-7C4E-449D-81B8-49F93337C42F}"/>
              </a:ext>
            </a:extLst>
          </p:cNvPr>
          <p:cNvSpPr>
            <a:spLocks xmlns:a="http://schemas.openxmlformats.org/drawingml/2006/main" noGrp="1"/>
          </p:cNvSpPr>
          <p:nvPr/>
        </p:nvSpPr>
        <p:spPr>
          <a:xfrm xmlns:a="http://schemas.openxmlformats.org/drawingml/2006/main">
            <a:off x="8096250" y="2524125"/>
            <a:ext cx="3381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A45"/>
                </a:solidFill>
                <a:latin typeface="Arial"/>
                <a:ea typeface="Arial"/>
                <a:cs typeface="Arial"/>
              </a:defRPr>
            </a:pPr>
            <a:r>
              <a:rPr sz="2100" b="0">
                <a:solidFill>
                  <a:srgbClr val="142A45"/>
                </a:solidFill>
                <a:latin typeface="Arial"/>
                <a:ea typeface="Arial"/>
                <a:cs typeface="Arial"/>
              </a:rPr>
              <a:t>843 / 1,000 queries</a:t>
            </a:r>
          </a:p>
          <a:p xmlns:a="http://schemas.openxmlformats.org/drawingml/2006/main">
            <a:pPr>
              <a:defRPr sz="2100" b="0">
                <a:solidFill>
                  <a:srgbClr val="142A45"/>
                </a:solidFill>
                <a:latin typeface="Arial"/>
                <a:ea typeface="Arial"/>
                <a:cs typeface="Arial"/>
              </a:defRPr>
            </a:pPr>
            <a:r>
              <a:rPr sz="2100" b="0">
                <a:solidFill>
                  <a:srgbClr val="142A45"/>
                </a:solidFill>
                <a:latin typeface="Arial"/>
                <a:ea typeface="Arial"/>
                <a:cs typeface="Arial"/>
              </a:rPr>
              <a:t>find the correct image</a:t>
            </a:r>
          </a:p>
          <a:p xmlns:a="http://schemas.openxmlformats.org/drawingml/2006/main">
            <a:pPr>
              <a:defRPr sz="2100" b="0">
                <a:solidFill>
                  <a:srgbClr val="142A45"/>
                </a:solidFill>
                <a:latin typeface="Arial"/>
                <a:ea typeface="Arial"/>
                <a:cs typeface="Arial"/>
              </a:defRPr>
            </a:pPr>
            <a:r>
              <a:rPr sz="2100" b="0">
                <a:solidFill>
                  <a:srgbClr val="142A45"/>
                </a:solidFill>
                <a:latin typeface="Arial"/>
                <a:ea typeface="Arial"/>
                <a:cs typeface="Arial"/>
              </a:rPr>
              <a:t>in the first five.</a:t>
            </a:r>
          </a:p>
        </p:txBody>
      </p:sp>
      <p:sp>
        <p:nvSpPr>
          <p:cNvPr id="7" name="">
            <a:extLst xmlns:a="http://schemas.openxmlformats.org/drawingml/2006/main">
              <a:ext uri="{FF2B5EF4-FFF2-40B4-BE49-F238E27FC236}">
                <a16:creationId xmlns:a16="http://schemas.microsoft.com/office/drawing/2014/main" id="{ADD70CAE-E58F-4A90-917A-74B106E78D42}"/>
              </a:ext>
            </a:extLst>
          </p:cNvPr>
          <p:cNvSpPr>
            <a:spLocks xmlns:a="http://schemas.openxmlformats.org/drawingml/2006/main" noGrp="1"/>
          </p:cNvSpPr>
          <p:nvPr/>
        </p:nvSpPr>
        <p:spPr>
          <a:xfrm xmlns:a="http://schemas.openxmlformats.org/drawingml/2006/main">
            <a:off x="7858125" y="4210050"/>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965C0"/>
                </a:solidFill>
                <a:latin typeface="Arial"/>
                <a:ea typeface="Arial"/>
                <a:cs typeface="Arial"/>
              </a:defRPr>
            </a:pPr>
            <a:r>
              <a:rPr sz="2625" b="1">
                <a:solidFill>
                  <a:srgbClr val="2965C0"/>
                </a:solidFill>
                <a:latin typeface="Arial"/>
                <a:ea typeface="Arial"/>
                <a:cs typeface="Arial"/>
              </a:rPr>
              <a:t>Retention = 95.3%</a:t>
            </a:r>
          </a:p>
        </p:txBody>
      </p:sp>
      <p:sp>
        <p:nvSpPr>
          <p:cNvPr id="8" name="">
            <a:extLst xmlns:a="http://schemas.openxmlformats.org/drawingml/2006/main">
              <a:ext uri="{FF2B5EF4-FFF2-40B4-BE49-F238E27FC236}">
                <a16:creationId xmlns:a16="http://schemas.microsoft.com/office/drawing/2014/main" id="{7312589D-EE9E-4457-94DC-C418887F8714}"/>
              </a:ext>
            </a:extLst>
          </p:cNvPr>
          <p:cNvSpPr>
            <a:spLocks xmlns:a="http://schemas.openxmlformats.org/drawingml/2006/main" noGrp="1"/>
          </p:cNvSpPr>
          <p:nvPr/>
        </p:nvSpPr>
        <p:spPr>
          <a:xfrm xmlns:a="http://schemas.openxmlformats.org/drawingml/2006/main">
            <a:off x="8096250" y="49053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A45"/>
                </a:solidFill>
                <a:latin typeface="Arial"/>
                <a:ea typeface="Arial"/>
                <a:cs typeface="Arial"/>
              </a:defRPr>
            </a:pPr>
            <a:r>
              <a:rPr sz="2250" b="0">
                <a:solidFill>
                  <a:srgbClr val="142A45"/>
                </a:solidFill>
                <a:latin typeface="Arial"/>
                <a:ea typeface="Arial"/>
                <a:cs typeface="Arial"/>
              </a:rPr>
              <a:t>0.843 ÷ 0.885</a:t>
            </a:r>
          </a:p>
        </p:txBody>
      </p:sp>
      <p:sp>
        <p:nvSpPr>
          <p:cNvPr id="9" name="">
            <a:extLst xmlns:a="http://schemas.openxmlformats.org/drawingml/2006/main">
              <a:ext uri="{FF2B5EF4-FFF2-40B4-BE49-F238E27FC236}">
                <a16:creationId xmlns:a16="http://schemas.microsoft.com/office/drawing/2014/main" id="{BF1A07E2-42CF-4AAA-9FE5-82FA8BCE81B3}"/>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R@5 answers “Did we find it?” Retention answers “How much of native quality remains?”</a:t>
            </a:r>
          </a:p>
        </p:txBody>
      </p:sp>
    </p:spTree>
    <p:extLst>
      <p:ext uri="{BB962C8B-B14F-4D97-AF65-F5344CB8AC3E}">
        <p14:creationId xmlns:p14="http://schemas.microsoft.com/office/powerpoint/2010/main" val="16042113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CE9AE7-0BF1-443D-98DD-ED2ABBB448EE}"/>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AUC changes when the impostor becomes harder</a:t>
            </a:r>
          </a:p>
        </p:txBody>
      </p:sp>
      <p:sp>
        <p:nvSpPr>
          <p:cNvPr id="2" name="">
            <a:extLst xmlns:a="http://schemas.openxmlformats.org/drawingml/2006/main">
              <a:ext uri="{FF2B5EF4-FFF2-40B4-BE49-F238E27FC236}">
                <a16:creationId xmlns:a16="http://schemas.microsoft.com/office/drawing/2014/main" id="{8BFCCC9C-99E0-4334-AAC9-139FBF18F087}"/>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 4, embedded ROC figure</a:t>
            </a:r>
          </a:p>
        </p:txBody>
      </p:sp>
      <p:sp>
        <p:nvSpPr>
          <p:cNvPr id="3" name="">
            <a:extLst xmlns:a="http://schemas.openxmlformats.org/drawingml/2006/main">
              <a:ext uri="{FF2B5EF4-FFF2-40B4-BE49-F238E27FC236}">
                <a16:creationId xmlns:a16="http://schemas.microsoft.com/office/drawing/2014/main" id="{FCC4E4DC-74AB-4A0E-9998-5606F398B24D}"/>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8</a:t>
            </a:r>
          </a:p>
        </p:txBody>
      </p:sp>
      <p:graphicFrame>
        <p:nvGraphicFramePr>
          <p:cNvPr id="12" name="Chart"/>
          <p:cNvGraphicFramePr/>
          <p:nvPr/>
        </p:nvGraphicFramePr>
        <p:xfrm>
          <a:off xmlns:a="http://schemas.openxmlformats.org/drawingml/2006/main" x="571500" y="1571625"/>
          <a:ext xmlns:a="http://schemas.openxmlformats.org/drawingml/2006/main" cx="7239000" cy="3714750"/>
        </p:xfrm>
        <a:graphic xmlns:a="http://schemas.openxmlformats.org/drawingml/2006/main">
          <a:graphicData uri="http://schemas.openxmlformats.org/drawingml/2006/chart">
            <c:chart xmlns:r="http://schemas.openxmlformats.org/officeDocument/2006/relationships" xmlns:c="http://schemas.openxmlformats.org/drawingml/2006/chart" r:id="R8306c637f9304acf"/>
          </a:graphicData>
        </a:graphic>
      </p:graphicFrame>
      <p:sp>
        <p:nvSpPr>
          <p:cNvPr id="5" name="">
            <a:extLst xmlns:a="http://schemas.openxmlformats.org/drawingml/2006/main">
              <a:ext uri="{FF2B5EF4-FFF2-40B4-BE49-F238E27FC236}">
                <a16:creationId xmlns:a16="http://schemas.microsoft.com/office/drawing/2014/main" id="{5B373B38-B698-41DC-AA48-408821248300}"/>
              </a:ext>
            </a:extLst>
          </p:cNvPr>
          <p:cNvSpPr>
            <a:spLocks xmlns:a="http://schemas.openxmlformats.org/drawingml/2006/main" noGrp="1"/>
          </p:cNvSpPr>
          <p:nvPr/>
        </p:nvSpPr>
        <p:spPr>
          <a:xfrm xmlns:a="http://schemas.openxmlformats.org/drawingml/2006/main">
            <a:off x="8286750" y="166687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83"/>
                </a:solidFill>
                <a:latin typeface="Arial"/>
                <a:ea typeface="Arial"/>
                <a:cs typeface="Arial"/>
              </a:defRPr>
            </a:pPr>
            <a:r>
              <a:rPr sz="2925" b="1">
                <a:solidFill>
                  <a:srgbClr val="087F83"/>
                </a:solidFill>
                <a:latin typeface="Arial"/>
                <a:ea typeface="Arial"/>
                <a:cs typeface="Arial"/>
              </a:rPr>
              <a:t>AUC = 0.999</a:t>
            </a:r>
          </a:p>
        </p:txBody>
      </p:sp>
      <p:sp>
        <p:nvSpPr>
          <p:cNvPr id="6" name="">
            <a:extLst xmlns:a="http://schemas.openxmlformats.org/drawingml/2006/main">
              <a:ext uri="{FF2B5EF4-FFF2-40B4-BE49-F238E27FC236}">
                <a16:creationId xmlns:a16="http://schemas.microsoft.com/office/drawing/2014/main" id="{C1ECB1C5-8806-4361-BE79-F2E46055C54D}"/>
              </a:ext>
            </a:extLst>
          </p:cNvPr>
          <p:cNvSpPr>
            <a:spLocks xmlns:a="http://schemas.openxmlformats.org/drawingml/2006/main" noGrp="1"/>
          </p:cNvSpPr>
          <p:nvPr/>
        </p:nvSpPr>
        <p:spPr>
          <a:xfrm xmlns:a="http://schemas.openxmlformats.org/drawingml/2006/main">
            <a:off x="8286750" y="2476500"/>
            <a:ext cx="3190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A45"/>
                </a:solidFill>
                <a:latin typeface="Arial"/>
                <a:ea typeface="Arial"/>
                <a:cs typeface="Arial"/>
              </a:defRPr>
            </a:pPr>
            <a:r>
              <a:rPr sz="2175" b="0">
                <a:solidFill>
                  <a:srgbClr val="142A45"/>
                </a:solidFill>
                <a:latin typeface="Arial"/>
                <a:ea typeface="Arial"/>
                <a:cs typeface="Arial"/>
              </a:rPr>
              <a:t>The matching pair almost always beats a random impostor.</a:t>
            </a:r>
          </a:p>
        </p:txBody>
      </p:sp>
      <p:sp>
        <p:nvSpPr>
          <p:cNvPr id="7" name="">
            <a:extLst xmlns:a="http://schemas.openxmlformats.org/drawingml/2006/main">
              <a:ext uri="{FF2B5EF4-FFF2-40B4-BE49-F238E27FC236}">
                <a16:creationId xmlns:a16="http://schemas.microsoft.com/office/drawing/2014/main" id="{F93E1569-141D-45FB-988D-51BF145816EB}"/>
              </a:ext>
            </a:extLst>
          </p:cNvPr>
          <p:cNvSpPr>
            <a:spLocks xmlns:a="http://schemas.openxmlformats.org/drawingml/2006/main" noGrp="1"/>
          </p:cNvSpPr>
          <p:nvPr/>
        </p:nvSpPr>
        <p:spPr>
          <a:xfrm xmlns:a="http://schemas.openxmlformats.org/drawingml/2006/main">
            <a:off x="8286750" y="4305300"/>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75E23"/>
                </a:solidFill>
                <a:latin typeface="Arial"/>
                <a:ea typeface="Arial"/>
                <a:cs typeface="Arial"/>
              </a:defRPr>
            </a:pPr>
            <a:r>
              <a:rPr sz="1950" b="0">
                <a:solidFill>
                  <a:srgbClr val="B75E23"/>
                </a:solidFill>
                <a:latin typeface="Arial"/>
                <a:ea typeface="Arial"/>
                <a:cs typeface="Arial"/>
              </a:rPr>
              <a:t>Chance AUC = 0.5</a:t>
            </a:r>
          </a:p>
          <a:p xmlns:a="http://schemas.openxmlformats.org/drawingml/2006/main">
            <a:pPr>
              <a:defRPr sz="1950" b="0">
                <a:solidFill>
                  <a:srgbClr val="B75E23"/>
                </a:solidFill>
                <a:latin typeface="Arial"/>
                <a:ea typeface="Arial"/>
                <a:cs typeface="Arial"/>
              </a:defRPr>
            </a:pPr>
            <a:r>
              <a:rPr sz="1950" b="0">
                <a:solidFill>
                  <a:srgbClr val="B75E23"/>
                </a:solidFill>
                <a:latin typeface="Arial"/>
                <a:ea typeface="Arial"/>
                <a:cs typeface="Arial"/>
              </a:rPr>
              <a:t>Chance R@1 = 0.001</a:t>
            </a:r>
          </a:p>
          <a:p xmlns:a="http://schemas.openxmlformats.org/drawingml/2006/main">
            <a:pPr>
              <a:defRPr sz="1950" b="0">
                <a:solidFill>
                  <a:srgbClr val="B75E23"/>
                </a:solidFill>
                <a:latin typeface="Arial"/>
                <a:ea typeface="Arial"/>
                <a:cs typeface="Arial"/>
              </a:defRPr>
            </a:pPr>
            <a:r>
              <a:rPr sz="1950" b="0">
                <a:solidFill>
                  <a:srgbClr val="B75E23"/>
                </a:solidFill>
                <a:latin typeface="Arial"/>
                <a:ea typeface="Arial"/>
                <a:cs typeface="Arial"/>
              </a:rPr>
              <a:t>when N = 1,000.</a:t>
            </a:r>
          </a:p>
        </p:txBody>
      </p:sp>
      <p:sp>
        <p:nvSpPr>
          <p:cNvPr id="8" name="">
            <a:extLst xmlns:a="http://schemas.openxmlformats.org/drawingml/2006/main">
              <a:ext uri="{FF2B5EF4-FFF2-40B4-BE49-F238E27FC236}">
                <a16:creationId xmlns:a16="http://schemas.microsoft.com/office/drawing/2014/main" id="{C677E4DD-3233-4621-9B01-22A4F61ED930}"/>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A cat versus a random airplane is easier than a cat versus its most similar impostor.</a:t>
            </a:r>
          </a:p>
        </p:txBody>
      </p:sp>
    </p:spTree>
    <p:extLst>
      <p:ext uri="{BB962C8B-B14F-4D97-AF65-F5344CB8AC3E}">
        <p14:creationId xmlns:p14="http://schemas.microsoft.com/office/powerpoint/2010/main" val="59321378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CFD9E61-354E-49CC-A36F-1D0E9145E3DF}"/>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The nonlinear control found no extra gain</a:t>
            </a:r>
          </a:p>
        </p:txBody>
      </p:sp>
      <p:sp>
        <p:nvSpPr>
          <p:cNvPr id="2" name="">
            <a:extLst xmlns:a="http://schemas.openxmlformats.org/drawingml/2006/main">
              <a:ext uri="{FF2B5EF4-FFF2-40B4-BE49-F238E27FC236}">
                <a16:creationId xmlns:a16="http://schemas.microsoft.com/office/drawing/2014/main" id="{010F5A48-BB88-4414-9893-39F395F54D48}"/>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5, 8 | Companion report F1–F2</a:t>
            </a:r>
          </a:p>
        </p:txBody>
      </p:sp>
      <p:sp>
        <p:nvSpPr>
          <p:cNvPr id="3" name="">
            <a:extLst xmlns:a="http://schemas.openxmlformats.org/drawingml/2006/main">
              <a:ext uri="{FF2B5EF4-FFF2-40B4-BE49-F238E27FC236}">
                <a16:creationId xmlns:a16="http://schemas.microsoft.com/office/drawing/2014/main" id="{435C62C2-0272-4F85-B60D-3B8610981543}"/>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9</a:t>
            </a:r>
          </a:p>
        </p:txBody>
      </p:sp>
      <p:graphicFrame>
        <p:nvGraphicFramePr>
          <p:cNvPr id="12" name="Chart"/>
          <p:cNvGraphicFramePr/>
          <p:nvPr/>
        </p:nvGraphicFramePr>
        <p:xfrm>
          <a:off xmlns:a="http://schemas.openxmlformats.org/drawingml/2006/main" x="571500" y="1571625"/>
          <a:ext xmlns:a="http://schemas.openxmlformats.org/drawingml/2006/main" cx="6953250" cy="3714750"/>
        </p:xfrm>
        <a:graphic xmlns:a="http://schemas.openxmlformats.org/drawingml/2006/main">
          <a:graphicData uri="http://schemas.openxmlformats.org/drawingml/2006/chart">
            <c:chart xmlns:r="http://schemas.openxmlformats.org/officeDocument/2006/relationships" xmlns:c="http://schemas.openxmlformats.org/drawingml/2006/chart" r:id="R02a28a2ed1da4afa"/>
          </a:graphicData>
        </a:graphic>
      </p:graphicFrame>
      <p:sp>
        <p:nvSpPr>
          <p:cNvPr id="5" name="">
            <a:extLst xmlns:a="http://schemas.openxmlformats.org/drawingml/2006/main">
              <a:ext uri="{FF2B5EF4-FFF2-40B4-BE49-F238E27FC236}">
                <a16:creationId xmlns:a16="http://schemas.microsoft.com/office/drawing/2014/main" id="{50ECD94C-50D9-4B3F-8971-A957BFC57735}"/>
              </a:ext>
            </a:extLst>
          </p:cNvPr>
          <p:cNvSpPr>
            <a:spLocks xmlns:a="http://schemas.openxmlformats.org/drawingml/2006/main" noGrp="1"/>
          </p:cNvSpPr>
          <p:nvPr/>
        </p:nvSpPr>
        <p:spPr>
          <a:xfrm xmlns:a="http://schemas.openxmlformats.org/drawingml/2006/main">
            <a:off x="7953375" y="1952625"/>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087F83"/>
                </a:solidFill>
                <a:latin typeface="Arial"/>
                <a:ea typeface="Arial"/>
                <a:cs typeface="Arial"/>
              </a:defRPr>
            </a:pPr>
            <a:r>
              <a:rPr sz="3075" b="1">
                <a:solidFill>
                  <a:srgbClr val="087F83"/>
                </a:solidFill>
                <a:latin typeface="Arial"/>
                <a:ea typeface="Arial"/>
                <a:cs typeface="Arial"/>
              </a:rPr>
              <a:t>Gain: +0.0000</a:t>
            </a:r>
          </a:p>
        </p:txBody>
      </p:sp>
      <p:sp>
        <p:nvSpPr>
          <p:cNvPr id="6" name="">
            <a:extLst xmlns:a="http://schemas.openxmlformats.org/drawingml/2006/main">
              <a:ext uri="{FF2B5EF4-FFF2-40B4-BE49-F238E27FC236}">
                <a16:creationId xmlns:a16="http://schemas.microsoft.com/office/drawing/2014/main" id="{F04CD81E-5C94-4863-8385-2BC7E771BABF}"/>
              </a:ext>
            </a:extLst>
          </p:cNvPr>
          <p:cNvSpPr>
            <a:spLocks xmlns:a="http://schemas.openxmlformats.org/drawingml/2006/main" noGrp="1"/>
          </p:cNvSpPr>
          <p:nvPr/>
        </p:nvSpPr>
        <p:spPr>
          <a:xfrm xmlns:a="http://schemas.openxmlformats.org/drawingml/2006/main">
            <a:off x="7953375" y="2857500"/>
            <a:ext cx="3524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A45"/>
                </a:solidFill>
                <a:latin typeface="Arial"/>
                <a:ea typeface="Arial"/>
                <a:cs typeface="Arial"/>
              </a:defRPr>
            </a:pPr>
            <a:r>
              <a:rPr sz="2250" b="0">
                <a:solidFill>
                  <a:srgbClr val="142A45"/>
                </a:solidFill>
                <a:latin typeface="Arial"/>
                <a:ea typeface="Arial"/>
                <a:cs typeface="Arial"/>
              </a:rPr>
              <a:t>A more complex network did not improve this measured fit.</a:t>
            </a:r>
          </a:p>
        </p:txBody>
      </p:sp>
      <p:sp>
        <p:nvSpPr>
          <p:cNvPr id="7" name="">
            <a:extLst xmlns:a="http://schemas.openxmlformats.org/drawingml/2006/main">
              <a:ext uri="{FF2B5EF4-FFF2-40B4-BE49-F238E27FC236}">
                <a16:creationId xmlns:a16="http://schemas.microsoft.com/office/drawing/2014/main" id="{B696AC37-879E-451F-8777-CDA2B8E43C20}"/>
              </a:ext>
            </a:extLst>
          </p:cNvPr>
          <p:cNvSpPr>
            <a:spLocks xmlns:a="http://schemas.openxmlformats.org/drawingml/2006/main" noGrp="1"/>
          </p:cNvSpPr>
          <p:nvPr/>
        </p:nvSpPr>
        <p:spPr>
          <a:xfrm xmlns:a="http://schemas.openxmlformats.org/drawingml/2006/main">
            <a:off x="7953375" y="4648200"/>
            <a:ext cx="3571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A45"/>
                </a:solidFill>
                <a:latin typeface="Arial"/>
                <a:ea typeface="Arial"/>
                <a:cs typeface="Arial"/>
              </a:defRPr>
            </a:pPr>
            <a:r>
              <a:rPr sz="1875" b="0">
                <a:solidFill>
                  <a:srgbClr val="142A45"/>
                </a:solidFill>
                <a:latin typeface="Arial"/>
                <a:ea typeface="Arial"/>
                <a:cs typeface="Arial"/>
              </a:rPr>
              <a:t>38k fitting rows, approximately</a:t>
            </a:r>
          </a:p>
          <a:p xmlns:a="http://schemas.openxmlformats.org/drawingml/2006/main">
            <a:pPr>
              <a:defRPr sz="1875" b="0">
                <a:solidFill>
                  <a:srgbClr val="142A45"/>
                </a:solidFill>
                <a:latin typeface="Arial"/>
                <a:ea typeface="Arial"/>
                <a:cs typeface="Arial"/>
              </a:defRPr>
            </a:pPr>
            <a:r>
              <a:rPr sz="1875" b="0">
                <a:solidFill>
                  <a:srgbClr val="142A45"/>
                </a:solidFill>
                <a:latin typeface="Arial"/>
                <a:ea typeface="Arial"/>
                <a:cs typeface="Arial"/>
              </a:rPr>
              <a:t>Two reported runs</a:t>
            </a:r>
          </a:p>
        </p:txBody>
      </p:sp>
      <p:sp>
        <p:nvSpPr>
          <p:cNvPr id="8" name="">
            <a:extLst xmlns:a="http://schemas.openxmlformats.org/drawingml/2006/main">
              <a:ext uri="{FF2B5EF4-FFF2-40B4-BE49-F238E27FC236}">
                <a16:creationId xmlns:a16="http://schemas.microsoft.com/office/drawing/2014/main" id="{BD965982-C4FB-4971-A7A8-01FE0934A8EF}"/>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Result: linear sufficiency in the tested setting. Exact universal linearity remains unproven.</a:t>
            </a:r>
          </a:p>
        </p:txBody>
      </p:sp>
    </p:spTree>
    <p:extLst>
      <p:ext uri="{BB962C8B-B14F-4D97-AF65-F5344CB8AC3E}">
        <p14:creationId xmlns:p14="http://schemas.microsoft.com/office/powerpoint/2010/main" val="19266831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191166-BEE8-493E-A3BA-7B47ACCBE481}"/>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Cross-modal transfer improves in the tested ladder</a:t>
            </a:r>
          </a:p>
        </p:txBody>
      </p:sp>
      <p:sp>
        <p:nvSpPr>
          <p:cNvPr id="2" name="">
            <a:extLst xmlns:a="http://schemas.openxmlformats.org/drawingml/2006/main">
              <a:ext uri="{FF2B5EF4-FFF2-40B4-BE49-F238E27FC236}">
                <a16:creationId xmlns:a16="http://schemas.microsoft.com/office/drawing/2014/main" id="{2D960F78-BEDF-4ADE-88DE-498009643AA0}"/>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 8, finding 4–5 | Companion report Table C8</a:t>
            </a:r>
          </a:p>
        </p:txBody>
      </p:sp>
      <p:sp>
        <p:nvSpPr>
          <p:cNvPr id="3" name="">
            <a:extLst xmlns:a="http://schemas.openxmlformats.org/drawingml/2006/main">
              <a:ext uri="{FF2B5EF4-FFF2-40B4-BE49-F238E27FC236}">
                <a16:creationId xmlns:a16="http://schemas.microsoft.com/office/drawing/2014/main" id="{9B27DF40-6628-4718-B018-11D445EDE5AB}"/>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10</a:t>
            </a:r>
          </a:p>
        </p:txBody>
      </p:sp>
      <p:graphicFrame>
        <p:nvGraphicFramePr>
          <p:cNvPr id="12" name="Chart"/>
          <p:cNvGraphicFramePr/>
          <p:nvPr/>
        </p:nvGraphicFramePr>
        <p:xfrm>
          <a:off xmlns:a="http://schemas.openxmlformats.org/drawingml/2006/main" x="571500" y="1571625"/>
          <a:ext xmlns:a="http://schemas.openxmlformats.org/drawingml/2006/main" cx="6953250" cy="3714750"/>
        </p:xfrm>
        <a:graphic xmlns:a="http://schemas.openxmlformats.org/drawingml/2006/main">
          <a:graphicData uri="http://schemas.openxmlformats.org/drawingml/2006/chart">
            <c:chart xmlns:r="http://schemas.openxmlformats.org/officeDocument/2006/relationships" xmlns:c="http://schemas.openxmlformats.org/drawingml/2006/chart" r:id="R87e861a682b8407e"/>
          </a:graphicData>
        </a:graphic>
      </p:graphicFrame>
      <p:sp>
        <p:nvSpPr>
          <p:cNvPr id="5" name="">
            <a:extLst xmlns:a="http://schemas.openxmlformats.org/drawingml/2006/main">
              <a:ext uri="{FF2B5EF4-FFF2-40B4-BE49-F238E27FC236}">
                <a16:creationId xmlns:a16="http://schemas.microsoft.com/office/drawing/2014/main" id="{A4A5E307-24E8-4341-BB86-31038FE095E6}"/>
              </a:ext>
            </a:extLst>
          </p:cNvPr>
          <p:cNvSpPr>
            <a:spLocks xmlns:a="http://schemas.openxmlformats.org/drawingml/2006/main" noGrp="1"/>
          </p:cNvSpPr>
          <p:nvPr/>
        </p:nvSpPr>
        <p:spPr>
          <a:xfrm xmlns:a="http://schemas.openxmlformats.org/drawingml/2006/main">
            <a:off x="7953375" y="1857375"/>
            <a:ext cx="3667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3"/>
                </a:solidFill>
                <a:latin typeface="Arial"/>
                <a:ea typeface="Arial"/>
                <a:cs typeface="Arial"/>
              </a:defRPr>
            </a:pPr>
            <a:r>
              <a:rPr sz="3000" b="1">
                <a:solidFill>
                  <a:srgbClr val="087F83"/>
                </a:solidFill>
                <a:latin typeface="Arial"/>
                <a:ea typeface="Arial"/>
                <a:cs typeface="Arial"/>
              </a:rPr>
              <a:t>40.9% → 58.3%</a:t>
            </a:r>
          </a:p>
        </p:txBody>
      </p:sp>
      <p:sp>
        <p:nvSpPr>
          <p:cNvPr id="6" name="">
            <a:extLst xmlns:a="http://schemas.openxmlformats.org/drawingml/2006/main">
              <a:ext uri="{FF2B5EF4-FFF2-40B4-BE49-F238E27FC236}">
                <a16:creationId xmlns:a16="http://schemas.microsoft.com/office/drawing/2014/main" id="{8A54DF7D-0415-4978-9E8A-19F6ECD63DE9}"/>
              </a:ext>
            </a:extLst>
          </p:cNvPr>
          <p:cNvSpPr>
            <a:spLocks xmlns:a="http://schemas.openxmlformats.org/drawingml/2006/main" noGrp="1"/>
          </p:cNvSpPr>
          <p:nvPr/>
        </p:nvSpPr>
        <p:spPr>
          <a:xfrm xmlns:a="http://schemas.openxmlformats.org/drawingml/2006/main">
            <a:off x="7953375" y="2781300"/>
            <a:ext cx="352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A45"/>
                </a:solidFill>
                <a:latin typeface="Arial"/>
                <a:ea typeface="Arial"/>
                <a:cs typeface="Arial"/>
              </a:defRPr>
            </a:pPr>
            <a:r>
              <a:rPr sz="2250" b="0">
                <a:solidFill>
                  <a:srgbClr val="142A45"/>
                </a:solidFill>
                <a:latin typeface="Arial"/>
                <a:ea typeface="Arial"/>
                <a:cs typeface="Arial"/>
              </a:rPr>
              <a:t>More of the matched image–text reference survives in this size range.</a:t>
            </a:r>
          </a:p>
        </p:txBody>
      </p:sp>
      <p:sp>
        <p:nvSpPr>
          <p:cNvPr id="7" name="">
            <a:extLst xmlns:a="http://schemas.openxmlformats.org/drawingml/2006/main">
              <a:ext uri="{FF2B5EF4-FFF2-40B4-BE49-F238E27FC236}">
                <a16:creationId xmlns:a16="http://schemas.microsoft.com/office/drawing/2014/main" id="{2B970A18-CE60-406E-82E7-F8D05CC869C7}"/>
              </a:ext>
            </a:extLst>
          </p:cNvPr>
          <p:cNvSpPr>
            <a:spLocks xmlns:a="http://schemas.openxmlformats.org/drawingml/2006/main" noGrp="1"/>
          </p:cNvSpPr>
          <p:nvPr/>
        </p:nvSpPr>
        <p:spPr>
          <a:xfrm xmlns:a="http://schemas.openxmlformats.org/drawingml/2006/main">
            <a:off x="7953375" y="4457700"/>
            <a:ext cx="3667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A45"/>
                </a:solidFill>
                <a:latin typeface="Arial"/>
                <a:ea typeface="Arial"/>
                <a:cs typeface="Arial"/>
              </a:defRPr>
            </a:pPr>
            <a:r>
              <a:rPr sz="1875" b="0">
                <a:solidFill>
                  <a:srgbClr val="142A45"/>
                </a:solidFill>
                <a:latin typeface="Arial"/>
                <a:ea typeface="Arial"/>
                <a:cs typeface="Arial"/>
              </a:rPr>
              <a:t>Frozen DINOv2 image encoder</a:t>
            </a:r>
          </a:p>
          <a:p xmlns:a="http://schemas.openxmlformats.org/drawingml/2006/main">
            <a:pPr>
              <a:defRPr sz="1875" b="0">
                <a:solidFill>
                  <a:srgbClr val="142A45"/>
                </a:solidFill>
                <a:latin typeface="Arial"/>
                <a:ea typeface="Arial"/>
                <a:cs typeface="Arial"/>
              </a:defRPr>
            </a:pPr>
            <a:r>
              <a:rPr sz="1875" b="0">
                <a:solidFill>
                  <a:srgbClr val="142A45"/>
                </a:solidFill>
                <a:latin typeface="Arial"/>
                <a:ea typeface="Arial"/>
                <a:cs typeface="Arial"/>
              </a:rPr>
              <a:t>Fitted map</a:t>
            </a:r>
          </a:p>
          <a:p xmlns:a="http://schemas.openxmlformats.org/drawingml/2006/main">
            <a:pPr>
              <a:defRPr sz="1875" b="0">
                <a:solidFill>
                  <a:srgbClr val="142A45"/>
                </a:solidFill>
                <a:latin typeface="Arial"/>
                <a:ea typeface="Arial"/>
                <a:cs typeface="Arial"/>
              </a:defRPr>
            </a:pPr>
            <a:r>
              <a:rPr sz="1875" b="0">
                <a:solidFill>
                  <a:srgbClr val="142A45"/>
                </a:solidFill>
                <a:latin typeface="Arial"/>
                <a:ea typeface="Arial"/>
                <a:cs typeface="Arial"/>
              </a:rPr>
              <a:t>bge caption target</a:t>
            </a:r>
          </a:p>
        </p:txBody>
      </p:sp>
      <p:sp>
        <p:nvSpPr>
          <p:cNvPr id="8" name="">
            <a:extLst xmlns:a="http://schemas.openxmlformats.org/drawingml/2006/main">
              <a:ext uri="{FF2B5EF4-FFF2-40B4-BE49-F238E27FC236}">
                <a16:creationId xmlns:a16="http://schemas.microsoft.com/office/drawing/2014/main" id="{1B1A93B5-60FC-4C6D-ACD1-53A208640426}"/>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Capacity trend within 22M–304M. Later giant-model geometry results need separate interpretation.</a:t>
            </a:r>
          </a:p>
        </p:txBody>
      </p:sp>
    </p:spTree>
    <p:extLst>
      <p:ext uri="{BB962C8B-B14F-4D97-AF65-F5344CB8AC3E}">
        <p14:creationId xmlns:p14="http://schemas.microsoft.com/office/powerpoint/2010/main" val="707073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BA31D48-16AB-457B-9BF6-086C517B37E9}"/>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Building the hub creates reference coordinates</a:t>
            </a:r>
          </a:p>
        </p:txBody>
      </p:sp>
      <p:sp>
        <p:nvSpPr>
          <p:cNvPr id="2" name="">
            <a:extLst xmlns:a="http://schemas.openxmlformats.org/drawingml/2006/main">
              <a:ext uri="{FF2B5EF4-FFF2-40B4-BE49-F238E27FC236}">
                <a16:creationId xmlns:a16="http://schemas.microsoft.com/office/drawing/2014/main" id="{F64547A6-674B-4A7F-AB54-4F68BB70070C}"/>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6, 10 | Companion report E.14 protocol audit</a:t>
            </a:r>
          </a:p>
        </p:txBody>
      </p:sp>
      <p:sp>
        <p:nvSpPr>
          <p:cNvPr id="3" name="">
            <a:extLst xmlns:a="http://schemas.openxmlformats.org/drawingml/2006/main">
              <a:ext uri="{FF2B5EF4-FFF2-40B4-BE49-F238E27FC236}">
                <a16:creationId xmlns:a16="http://schemas.microsoft.com/office/drawing/2014/main" id="{D1D8A41E-0980-42F9-B224-EB5AF1BA8822}"/>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D1301DAC-C1BC-49DC-B0F0-0F2B72A97668}"/>
              </a:ext>
            </a:extLst>
          </p:cNvPr>
          <p:cNvSpPr>
            <a:spLocks xmlns:a="http://schemas.openxmlformats.org/drawingml/2006/main" noGrp="1"/>
          </p:cNvSpPr>
          <p:nvPr/>
        </p:nvSpPr>
        <p:spPr>
          <a:xfrm xmlns:a="http://schemas.openxmlformats.org/drawingml/2006/main">
            <a:off x="571500" y="1524000"/>
            <a:ext cx="295275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1A8BC"/>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Same paired items</a:t>
            </a:r>
          </a:p>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8,533 training rows</a:t>
            </a:r>
          </a:p>
        </p:txBody>
      </p:sp>
      <p:sp>
        <p:nvSpPr>
          <p:cNvPr id="5" name="">
            <a:extLst xmlns:a="http://schemas.openxmlformats.org/drawingml/2006/main">
              <a:ext uri="{FF2B5EF4-FFF2-40B4-BE49-F238E27FC236}">
                <a16:creationId xmlns:a16="http://schemas.microsoft.com/office/drawing/2014/main" id="{CF402A11-36F1-4B32-B5EF-A77BA79D462B}"/>
              </a:ext>
            </a:extLst>
          </p:cNvPr>
          <p:cNvSpPr>
            <a:spLocks xmlns:a="http://schemas.openxmlformats.org/drawingml/2006/main" noGrp="1"/>
          </p:cNvSpPr>
          <p:nvPr/>
        </p:nvSpPr>
        <p:spPr>
          <a:xfrm xmlns:a="http://schemas.openxmlformats.org/drawingml/2006/main">
            <a:off x="4524375" y="1524000"/>
            <a:ext cx="3000375"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1A8BC"/>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7 member spaces</a:t>
            </a:r>
          </a:p>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7,680 coordinates</a:t>
            </a:r>
          </a:p>
        </p:txBody>
      </p:sp>
      <p:sp>
        <p:nvSpPr>
          <p:cNvPr id="6" name="">
            <a:extLst xmlns:a="http://schemas.openxmlformats.org/drawingml/2006/main">
              <a:ext uri="{FF2B5EF4-FFF2-40B4-BE49-F238E27FC236}">
                <a16:creationId xmlns:a16="http://schemas.microsoft.com/office/drawing/2014/main" id="{362A4EB5-7330-4377-B96F-215B37D45861}"/>
              </a:ext>
            </a:extLst>
          </p:cNvPr>
          <p:cNvSpPr>
            <a:spLocks xmlns:a="http://schemas.openxmlformats.org/drawingml/2006/main" noGrp="1"/>
          </p:cNvSpPr>
          <p:nvPr/>
        </p:nvSpPr>
        <p:spPr>
          <a:xfrm xmlns:a="http://schemas.openxmlformats.org/drawingml/2006/main">
            <a:off x="8572500" y="1524000"/>
            <a:ext cx="3000375"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1A8BC"/>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Scale, PCA, whiten</a:t>
            </a:r>
          </a:p>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H: 512 coordinates</a:t>
            </a:r>
          </a:p>
        </p:txBody>
      </p: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3524250" y="1928813"/>
            <a:ext cx="1000125" cy="0"/>
          </a:xfrm>
          <a:prstGeom xmlns:a="http://schemas.openxmlformats.org/drawingml/2006/main" prst="straightConnector1">
            <a:avLst/>
          </a:prstGeom>
          <a:ln xmlns:a="http://schemas.openxmlformats.org/drawingml/2006/main" w="19050">
            <a:solidFill>
              <a:srgbClr val="087F83"/>
            </a:solidFill>
            <a:tailEnd type="triangle" w="sm" len="sm"/>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7524750" y="1928813"/>
            <a:ext cx="1047750" cy="0"/>
          </a:xfrm>
          <a:prstGeom xmlns:a="http://schemas.openxmlformats.org/drawingml/2006/main" prst="straightConnector1">
            <a:avLst/>
          </a:prstGeom>
          <a:ln xmlns:a="http://schemas.openxmlformats.org/drawingml/2006/main" w="19050">
            <a:solidFill>
              <a:srgbClr val="087F83"/>
            </a:solidFill>
            <a:tailEnd type="triangle" w="sm" len="sm"/>
          </a:ln>
        </p:spPr>
      </p:cxnSp>
      <p:sp>
        <p:nvSpPr>
          <p:cNvPr id="9" name="">
            <a:extLst xmlns:a="http://schemas.openxmlformats.org/drawingml/2006/main">
              <a:ext uri="{FF2B5EF4-FFF2-40B4-BE49-F238E27FC236}">
                <a16:creationId xmlns:a16="http://schemas.microsoft.com/office/drawing/2014/main" id="{09565296-8C02-460F-B003-48F2AB84CCE3}"/>
              </a:ext>
            </a:extLst>
          </p:cNvPr>
          <p:cNvSpPr>
            <a:spLocks xmlns:a="http://schemas.openxmlformats.org/drawingml/2006/main" noGrp="1"/>
          </p:cNvSpPr>
          <p:nvPr/>
        </p:nvSpPr>
        <p:spPr>
          <a:xfrm xmlns:a="http://schemas.openxmlformats.org/drawingml/2006/main">
            <a:off x="571500" y="2857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3"/>
                </a:solidFill>
                <a:latin typeface="Arial"/>
                <a:ea typeface="Arial"/>
                <a:cs typeface="Arial"/>
              </a:defRPr>
            </a:pPr>
            <a:r>
              <a:rPr sz="2250" b="1">
                <a:solidFill>
                  <a:srgbClr val="087F83"/>
                </a:solidFill>
                <a:latin typeface="Arial"/>
                <a:ea typeface="Arial"/>
                <a:cs typeface="Arial"/>
              </a:rPr>
              <a:t>H is the training reference: each cat and dog receives a hub location.</a:t>
            </a:r>
          </a:p>
        </p:txBody>
      </p:sp>
      <p:sp>
        <p:nvSpPr>
          <p:cNvPr id="10" name="">
            <a:extLst xmlns:a="http://schemas.openxmlformats.org/drawingml/2006/main">
              <a:ext uri="{FF2B5EF4-FFF2-40B4-BE49-F238E27FC236}">
                <a16:creationId xmlns:a16="http://schemas.microsoft.com/office/drawing/2014/main" id="{9B2D9467-495F-4230-B6ED-31E21DD2DFB6}"/>
              </a:ext>
            </a:extLst>
          </p:cNvPr>
          <p:cNvSpPr>
            <a:spLocks xmlns:a="http://schemas.openxmlformats.org/drawingml/2006/main" noGrp="1"/>
          </p:cNvSpPr>
          <p:nvPr/>
        </p:nvSpPr>
        <p:spPr>
          <a:xfrm xmlns:a="http://schemas.openxmlformats.org/drawingml/2006/main">
            <a:off x="571500" y="4191000"/>
            <a:ext cx="295275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1A8BC"/>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One encoder’s</a:t>
            </a:r>
          </a:p>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features Xₖ</a:t>
            </a:r>
          </a:p>
        </p:txBody>
      </p:sp>
      <p:sp>
        <p:nvSpPr>
          <p:cNvPr id="11" name="">
            <a:extLst xmlns:a="http://schemas.openxmlformats.org/drawingml/2006/main">
              <a:ext uri="{FF2B5EF4-FFF2-40B4-BE49-F238E27FC236}">
                <a16:creationId xmlns:a16="http://schemas.microsoft.com/office/drawing/2014/main" id="{0B145C39-BC61-48F0-9BBC-2FE7390DE237}"/>
              </a:ext>
            </a:extLst>
          </p:cNvPr>
          <p:cNvSpPr>
            <a:spLocks xmlns:a="http://schemas.openxmlformats.org/drawingml/2006/main" noGrp="1"/>
          </p:cNvSpPr>
          <p:nvPr/>
        </p:nvSpPr>
        <p:spPr>
          <a:xfrm xmlns:a="http://schemas.openxmlformats.org/drawingml/2006/main">
            <a:off x="4524375" y="4191000"/>
            <a:ext cx="3000375"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1A8BC"/>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Fit entry map Wₖ</a:t>
            </a:r>
          </a:p>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XₖWₖ ≈ H</a:t>
            </a:r>
          </a:p>
        </p:txBody>
      </p:sp>
      <p:sp>
        <p:nvSpPr>
          <p:cNvPr id="12" name="">
            <a:extLst xmlns:a="http://schemas.openxmlformats.org/drawingml/2006/main">
              <a:ext uri="{FF2B5EF4-FFF2-40B4-BE49-F238E27FC236}">
                <a16:creationId xmlns:a16="http://schemas.microsoft.com/office/drawing/2014/main" id="{7B77B807-F2B8-4179-B2BE-240DCB89C876}"/>
              </a:ext>
            </a:extLst>
          </p:cNvPr>
          <p:cNvSpPr>
            <a:spLocks xmlns:a="http://schemas.openxmlformats.org/drawingml/2006/main" noGrp="1"/>
          </p:cNvSpPr>
          <p:nvPr/>
        </p:nvSpPr>
        <p:spPr>
          <a:xfrm xmlns:a="http://schemas.openxmlformats.org/drawingml/2006/main">
            <a:off x="8572500" y="4191000"/>
            <a:ext cx="3000375"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1A8BC"/>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Predict its items’</a:t>
            </a:r>
          </a:p>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hub coordinates</a:t>
            </a:r>
          </a:p>
        </p:txBody>
      </p:sp>
      <p:cxnSp>
        <p:nvCxnSpPr>
          <p:cNvPr id="28" name=""/>
          <p:cNvCxnSpPr>
            <a:stCxn xmlns:a="http://schemas.openxmlformats.org/drawingml/2006/main" id="10" idx="3"/>
            <a:endCxn xmlns:a="http://schemas.openxmlformats.org/drawingml/2006/main" id="11" idx="1"/>
          </p:cNvCxnSpPr>
          <p:nvPr/>
        </p:nvCxnSpPr>
        <p:spPr>
          <a:xfrm xmlns:a="http://schemas.openxmlformats.org/drawingml/2006/main">
            <a:off x="3524250" y="4595813"/>
            <a:ext cx="1000125" cy="0"/>
          </a:xfrm>
          <a:prstGeom xmlns:a="http://schemas.openxmlformats.org/drawingml/2006/main" prst="straightConnector1">
            <a:avLst/>
          </a:prstGeom>
          <a:ln xmlns:a="http://schemas.openxmlformats.org/drawingml/2006/main" w="19050">
            <a:solidFill>
              <a:srgbClr val="087F83"/>
            </a:solidFill>
            <a:tailEnd type="triangle" w="sm" len="sm"/>
          </a:ln>
        </p:spPr>
      </p:cxnSp>
      <p:cxnSp>
        <p:nvCxnSpPr>
          <p:cNvPr id="29" name=""/>
          <p:cNvCxnSpPr>
            <a:stCxn xmlns:a="http://schemas.openxmlformats.org/drawingml/2006/main" id="11" idx="3"/>
            <a:endCxn xmlns:a="http://schemas.openxmlformats.org/drawingml/2006/main" id="12" idx="1"/>
          </p:cNvCxnSpPr>
          <p:nvPr/>
        </p:nvCxnSpPr>
        <p:spPr>
          <a:xfrm xmlns:a="http://schemas.openxmlformats.org/drawingml/2006/main">
            <a:off x="7524750" y="4595813"/>
            <a:ext cx="1047750" cy="0"/>
          </a:xfrm>
          <a:prstGeom xmlns:a="http://schemas.openxmlformats.org/drawingml/2006/main" prst="straightConnector1">
            <a:avLst/>
          </a:prstGeom>
          <a:ln xmlns:a="http://schemas.openxmlformats.org/drawingml/2006/main" w="19050">
            <a:solidFill>
              <a:srgbClr val="087F83"/>
            </a:solidFill>
            <a:tailEnd type="triangle" w="sm" len="sm"/>
          </a:ln>
        </p:spPr>
      </p:cxnSp>
      <p:sp>
        <p:nvSpPr>
          <p:cNvPr id="15" name="">
            <a:extLst xmlns:a="http://schemas.openxmlformats.org/drawingml/2006/main">
              <a:ext uri="{FF2B5EF4-FFF2-40B4-BE49-F238E27FC236}">
                <a16:creationId xmlns:a16="http://schemas.microsoft.com/office/drawing/2014/main" id="{B2066CE1-B085-4792-9DA1-7D03C6D2F87B}"/>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1,000 other items remain held out. Each entry map uses the same reference frame H.</a:t>
            </a:r>
          </a:p>
        </p:txBody>
      </p:sp>
    </p:spTree>
    <p:extLst>
      <p:ext uri="{BB962C8B-B14F-4D97-AF65-F5344CB8AC3E}">
        <p14:creationId xmlns:p14="http://schemas.microsoft.com/office/powerpoint/2010/main" val="4785218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18559E2-C5B6-48F7-B21A-FC1B529B728B}"/>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Train one head, then supply a different encoder</a:t>
            </a:r>
          </a:p>
        </p:txBody>
      </p:sp>
      <p:sp>
        <p:nvSpPr>
          <p:cNvPr id="2" name="">
            <a:extLst xmlns:a="http://schemas.openxmlformats.org/drawingml/2006/main">
              <a:ext uri="{FF2B5EF4-FFF2-40B4-BE49-F238E27FC236}">
                <a16:creationId xmlns:a16="http://schemas.microsoft.com/office/drawing/2014/main" id="{25B27B94-C61D-4553-BD76-B4C1B2B91236}"/>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 6 | Frozen Hub Caption Transfer Corrected | Report G4</a:t>
            </a:r>
          </a:p>
        </p:txBody>
      </p:sp>
      <p:sp>
        <p:nvSpPr>
          <p:cNvPr id="3" name="">
            <a:extLst xmlns:a="http://schemas.openxmlformats.org/drawingml/2006/main">
              <a:ext uri="{FF2B5EF4-FFF2-40B4-BE49-F238E27FC236}">
                <a16:creationId xmlns:a16="http://schemas.microsoft.com/office/drawing/2014/main" id="{284FEA7F-138C-4B93-8313-E28F5B93E1FF}"/>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ED97C7BC-208F-4BBB-AEB2-E9F48A3356CE}"/>
              </a:ext>
            </a:extLst>
          </p:cNvPr>
          <p:cNvSpPr>
            <a:spLocks xmlns:a="http://schemas.openxmlformats.org/drawingml/2006/main" noGrp="1"/>
          </p:cNvSpPr>
          <p:nvPr/>
        </p:nvSpPr>
        <p:spPr>
          <a:xfrm xmlns:a="http://schemas.openxmlformats.org/drawingml/2006/main">
            <a:off x="571500" y="13620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965C0"/>
                </a:solidFill>
                <a:latin typeface="Arial"/>
                <a:ea typeface="Arial"/>
                <a:cs typeface="Arial"/>
              </a:defRPr>
            </a:pPr>
            <a:r>
              <a:rPr sz="2100" b="1">
                <a:solidFill>
                  <a:srgbClr val="2965C0"/>
                </a:solidFill>
                <a:latin typeface="Arial"/>
                <a:ea typeface="Arial"/>
                <a:cs typeface="Arial"/>
              </a:rPr>
              <a:t>TRAINING: DINO-small supplies the head’s input</a:t>
            </a:r>
          </a:p>
        </p:txBody>
      </p:sp>
      <p:sp>
        <p:nvSpPr>
          <p:cNvPr id="5" name="">
            <a:extLst xmlns:a="http://schemas.openxmlformats.org/drawingml/2006/main">
              <a:ext uri="{FF2B5EF4-FFF2-40B4-BE49-F238E27FC236}">
                <a16:creationId xmlns:a16="http://schemas.microsoft.com/office/drawing/2014/main" id="{C33F889C-D17D-4D7A-A14F-E0FDD1D078F0}"/>
              </a:ext>
            </a:extLst>
          </p:cNvPr>
          <p:cNvSpPr>
            <a:spLocks xmlns:a="http://schemas.openxmlformats.org/drawingml/2006/main" noGrp="1"/>
          </p:cNvSpPr>
          <p:nvPr/>
        </p:nvSpPr>
        <p:spPr>
          <a:xfrm xmlns:a="http://schemas.openxmlformats.org/drawingml/2006/main">
            <a:off x="571500" y="2038350"/>
            <a:ext cx="228600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1A8BC"/>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DINO-small</a:t>
            </a:r>
          </a:p>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image vector</a:t>
            </a:r>
          </a:p>
        </p:txBody>
      </p:sp>
      <p:sp>
        <p:nvSpPr>
          <p:cNvPr id="6" name="">
            <a:extLst xmlns:a="http://schemas.openxmlformats.org/drawingml/2006/main">
              <a:ext uri="{FF2B5EF4-FFF2-40B4-BE49-F238E27FC236}">
                <a16:creationId xmlns:a16="http://schemas.microsoft.com/office/drawing/2014/main" id="{670C68F0-2C7C-423B-A481-FCF1E9D2AB6C}"/>
              </a:ext>
            </a:extLst>
          </p:cNvPr>
          <p:cNvSpPr>
            <a:spLocks xmlns:a="http://schemas.openxmlformats.org/drawingml/2006/main" noGrp="1"/>
          </p:cNvSpPr>
          <p:nvPr/>
        </p:nvSpPr>
        <p:spPr>
          <a:xfrm xmlns:a="http://schemas.openxmlformats.org/drawingml/2006/main">
            <a:off x="3476625" y="2038350"/>
            <a:ext cx="238125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1A8BC"/>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W_small</a:t>
            </a:r>
          </a:p>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Predicted H_small</a:t>
            </a:r>
          </a:p>
        </p:txBody>
      </p:sp>
      <p:sp>
        <p:nvSpPr>
          <p:cNvPr id="7" name="">
            <a:extLst xmlns:a="http://schemas.openxmlformats.org/drawingml/2006/main">
              <a:ext uri="{FF2B5EF4-FFF2-40B4-BE49-F238E27FC236}">
                <a16:creationId xmlns:a16="http://schemas.microsoft.com/office/drawing/2014/main" id="{3DED36ED-3786-44BB-82BC-138D8B61A476}"/>
              </a:ext>
            </a:extLst>
          </p:cNvPr>
          <p:cNvSpPr>
            <a:spLocks xmlns:a="http://schemas.openxmlformats.org/drawingml/2006/main" noGrp="1"/>
          </p:cNvSpPr>
          <p:nvPr/>
        </p:nvSpPr>
        <p:spPr>
          <a:xfrm xmlns:a="http://schemas.openxmlformats.org/drawingml/2006/main">
            <a:off x="6477000" y="2038350"/>
            <a:ext cx="209550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1A8BC"/>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Fit W_head</a:t>
            </a:r>
          </a:p>
        </p:txBody>
      </p:sp>
      <p:sp>
        <p:nvSpPr>
          <p:cNvPr id="8" name="">
            <a:extLst xmlns:a="http://schemas.openxmlformats.org/drawingml/2006/main">
              <a:ext uri="{FF2B5EF4-FFF2-40B4-BE49-F238E27FC236}">
                <a16:creationId xmlns:a16="http://schemas.microsoft.com/office/drawing/2014/main" id="{F8F5A308-4664-45B2-B0AA-B9EC08C5A039}"/>
              </a:ext>
            </a:extLst>
          </p:cNvPr>
          <p:cNvSpPr>
            <a:spLocks xmlns:a="http://schemas.openxmlformats.org/drawingml/2006/main" noGrp="1"/>
          </p:cNvSpPr>
          <p:nvPr/>
        </p:nvSpPr>
        <p:spPr>
          <a:xfrm xmlns:a="http://schemas.openxmlformats.org/drawingml/2006/main">
            <a:off x="9286875" y="2038350"/>
            <a:ext cx="228600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1A8BC"/>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Actual bge</a:t>
            </a:r>
          </a:p>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caption targets</a:t>
            </a:r>
          </a:p>
        </p:txBody>
      </p:sp>
      <p:cxnSp>
        <p:nvCxnSpPr>
          <p:cNvPr id="29" name=""/>
          <p:cNvCxnSpPr>
            <a:stCxn xmlns:a="http://schemas.openxmlformats.org/drawingml/2006/main" id="5" idx="3"/>
            <a:endCxn xmlns:a="http://schemas.openxmlformats.org/drawingml/2006/main" id="6" idx="1"/>
          </p:cNvCxnSpPr>
          <p:nvPr/>
        </p:nvCxnSpPr>
        <p:spPr>
          <a:xfrm xmlns:a="http://schemas.openxmlformats.org/drawingml/2006/main">
            <a:off x="2857500" y="2443163"/>
            <a:ext cx="619125" cy="0"/>
          </a:xfrm>
          <a:prstGeom xmlns:a="http://schemas.openxmlformats.org/drawingml/2006/main" prst="straightConnector1">
            <a:avLst/>
          </a:prstGeom>
          <a:ln xmlns:a="http://schemas.openxmlformats.org/drawingml/2006/main" w="19050">
            <a:solidFill>
              <a:srgbClr val="087F83"/>
            </a:solidFill>
            <a:tailEnd type="triangle" w="sm" len="sm"/>
          </a:ln>
        </p:spPr>
      </p:cxn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5857875" y="2443163"/>
            <a:ext cx="619125" cy="0"/>
          </a:xfrm>
          <a:prstGeom xmlns:a="http://schemas.openxmlformats.org/drawingml/2006/main" prst="straightConnector1">
            <a:avLst/>
          </a:prstGeom>
          <a:ln xmlns:a="http://schemas.openxmlformats.org/drawingml/2006/main" w="19050">
            <a:solidFill>
              <a:srgbClr val="087F83"/>
            </a:solidFill>
            <a:tailEnd type="triangle" w="sm" len="sm"/>
          </a:ln>
        </p:spPr>
      </p:cxnSp>
      <p:cxnSp>
        <p:nvCxnSpPr>
          <p:cNvPr id="31" name=""/>
          <p:cNvCxnSpPr>
            <a:stCxn xmlns:a="http://schemas.openxmlformats.org/drawingml/2006/main" id="8" idx="1"/>
            <a:endCxn xmlns:a="http://schemas.openxmlformats.org/drawingml/2006/main" id="7" idx="3"/>
          </p:cNvCxnSpPr>
          <p:nvPr/>
        </p:nvCxnSpPr>
        <p:spPr>
          <a:xfrm xmlns:a="http://schemas.openxmlformats.org/drawingml/2006/main" flipH="1">
            <a:off x="8572500" y="2443163"/>
            <a:ext cx="714375" cy="0"/>
          </a:xfrm>
          <a:prstGeom xmlns:a="http://schemas.openxmlformats.org/drawingml/2006/main" prst="straightConnector1">
            <a:avLst/>
          </a:prstGeom>
          <a:ln xmlns:a="http://schemas.openxmlformats.org/drawingml/2006/main" w="19050">
            <a:solidFill>
              <a:srgbClr val="087F83"/>
            </a:solidFill>
            <a:tailEnd type="triangle" w="sm" len="sm"/>
          </a:ln>
        </p:spPr>
      </p:cxnSp>
      <p:sp>
        <p:nvSpPr>
          <p:cNvPr id="12" name="">
            <a:extLst xmlns:a="http://schemas.openxmlformats.org/drawingml/2006/main">
              <a:ext uri="{FF2B5EF4-FFF2-40B4-BE49-F238E27FC236}">
                <a16:creationId xmlns:a16="http://schemas.microsoft.com/office/drawing/2014/main" id="{853C5C74-7A9D-493D-A647-2861D0DD9778}"/>
              </a:ext>
            </a:extLst>
          </p:cNvPr>
          <p:cNvSpPr>
            <a:spLocks xmlns:a="http://schemas.openxmlformats.org/drawingml/2006/main" noGrp="1"/>
          </p:cNvSpPr>
          <p:nvPr/>
        </p:nvSpPr>
        <p:spPr>
          <a:xfrm xmlns:a="http://schemas.openxmlformats.org/drawingml/2006/main">
            <a:off x="571500" y="3571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3"/>
                </a:solidFill>
                <a:latin typeface="Arial"/>
                <a:ea typeface="Arial"/>
                <a:cs typeface="Arial"/>
              </a:defRPr>
            </a:pPr>
            <a:r>
              <a:rPr sz="2100" b="1">
                <a:solidFill>
                  <a:srgbClr val="087F83"/>
                </a:solidFill>
                <a:latin typeface="Arial"/>
                <a:ea typeface="Arial"/>
                <a:cs typeface="Arial"/>
              </a:rPr>
              <a:t>USE: a new cat or dog travels through ConvNeXt</a:t>
            </a:r>
          </a:p>
        </p:txBody>
      </p:sp>
      <p:sp>
        <p:nvSpPr>
          <p:cNvPr id="13" name="">
            <a:extLst xmlns:a="http://schemas.openxmlformats.org/drawingml/2006/main">
              <a:ext uri="{FF2B5EF4-FFF2-40B4-BE49-F238E27FC236}">
                <a16:creationId xmlns:a16="http://schemas.microsoft.com/office/drawing/2014/main" id="{C3AF6576-BE25-4B8E-A20B-76A58AF26E75}"/>
              </a:ext>
            </a:extLst>
          </p:cNvPr>
          <p:cNvSpPr>
            <a:spLocks xmlns:a="http://schemas.openxmlformats.org/drawingml/2006/main" noGrp="1"/>
          </p:cNvSpPr>
          <p:nvPr/>
        </p:nvSpPr>
        <p:spPr>
          <a:xfrm xmlns:a="http://schemas.openxmlformats.org/drawingml/2006/main">
            <a:off x="571500" y="4305300"/>
            <a:ext cx="228600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1A8BC"/>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ConvNeXt</a:t>
            </a:r>
          </a:p>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image vector</a:t>
            </a:r>
          </a:p>
        </p:txBody>
      </p:sp>
      <p:sp>
        <p:nvSpPr>
          <p:cNvPr id="14" name="">
            <a:extLst xmlns:a="http://schemas.openxmlformats.org/drawingml/2006/main">
              <a:ext uri="{FF2B5EF4-FFF2-40B4-BE49-F238E27FC236}">
                <a16:creationId xmlns:a16="http://schemas.microsoft.com/office/drawing/2014/main" id="{B4BDDC40-BF5A-4445-B9DB-CFFDC9C83D93}"/>
              </a:ext>
            </a:extLst>
          </p:cNvPr>
          <p:cNvSpPr>
            <a:spLocks xmlns:a="http://schemas.openxmlformats.org/drawingml/2006/main" noGrp="1"/>
          </p:cNvSpPr>
          <p:nvPr/>
        </p:nvSpPr>
        <p:spPr>
          <a:xfrm xmlns:a="http://schemas.openxmlformats.org/drawingml/2006/main">
            <a:off x="3476625" y="4305300"/>
            <a:ext cx="238125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1A8BC"/>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W_conv</a:t>
            </a:r>
          </a:p>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Predicted hub</a:t>
            </a:r>
          </a:p>
        </p:txBody>
      </p:sp>
      <p:sp>
        <p:nvSpPr>
          <p:cNvPr id="15" name="">
            <a:extLst xmlns:a="http://schemas.openxmlformats.org/drawingml/2006/main">
              <a:ext uri="{FF2B5EF4-FFF2-40B4-BE49-F238E27FC236}">
                <a16:creationId xmlns:a16="http://schemas.microsoft.com/office/drawing/2014/main" id="{B274F582-CF98-464E-99A5-E54FBBE5E939}"/>
              </a:ext>
            </a:extLst>
          </p:cNvPr>
          <p:cNvSpPr>
            <a:spLocks xmlns:a="http://schemas.openxmlformats.org/drawingml/2006/main" noGrp="1"/>
          </p:cNvSpPr>
          <p:nvPr/>
        </p:nvSpPr>
        <p:spPr>
          <a:xfrm xmlns:a="http://schemas.openxmlformats.org/drawingml/2006/main">
            <a:off x="6477000" y="4305300"/>
            <a:ext cx="209550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1A8BC"/>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Same frozen</a:t>
            </a:r>
          </a:p>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W_head</a:t>
            </a:r>
          </a:p>
        </p:txBody>
      </p:sp>
      <p:sp>
        <p:nvSpPr>
          <p:cNvPr id="16" name="">
            <a:extLst xmlns:a="http://schemas.openxmlformats.org/drawingml/2006/main">
              <a:ext uri="{FF2B5EF4-FFF2-40B4-BE49-F238E27FC236}">
                <a16:creationId xmlns:a16="http://schemas.microsoft.com/office/drawing/2014/main" id="{BEB5CB77-3B0A-4354-BF77-671C19F0C1AB}"/>
              </a:ext>
            </a:extLst>
          </p:cNvPr>
          <p:cNvSpPr>
            <a:spLocks xmlns:a="http://schemas.openxmlformats.org/drawingml/2006/main" noGrp="1"/>
          </p:cNvSpPr>
          <p:nvPr/>
        </p:nvSpPr>
        <p:spPr>
          <a:xfrm xmlns:a="http://schemas.openxmlformats.org/drawingml/2006/main">
            <a:off x="9286875" y="4305300"/>
            <a:ext cx="2286000" cy="809625"/>
          </a:xfrm>
          <a:prstGeom xmlns:a="http://schemas.openxmlformats.org/drawingml/2006/main" prst="rect">
            <a:avLst/>
          </a:prstGeom>
          <a:solidFill xmlns:a="http://schemas.openxmlformats.org/drawingml/2006/main">
            <a:srgbClr val="EAF1F6"/>
          </a:solidFill>
          <a:ln xmlns:a="http://schemas.openxmlformats.org/drawingml/2006/main" w="9525">
            <a:solidFill>
              <a:srgbClr val="91A8BC"/>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Predicted bge</a:t>
            </a:r>
          </a:p>
          <a:p xmlns:a="http://schemas.openxmlformats.org/drawingml/2006/main">
            <a:pPr algn="ctr">
              <a:defRPr sz="1875">
                <a:solidFill>
                  <a:srgbClr val="142A45"/>
                </a:solidFill>
                <a:latin typeface="Arial"/>
                <a:ea typeface="Arial"/>
                <a:cs typeface="Arial"/>
              </a:defRPr>
            </a:pPr>
            <a:r>
              <a:rPr sz="1875">
                <a:solidFill>
                  <a:srgbClr val="142A45"/>
                </a:solidFill>
                <a:latin typeface="Arial"/>
                <a:ea typeface="Arial"/>
                <a:cs typeface="Arial"/>
              </a:rPr>
              <a:t>Rank captions</a:t>
            </a:r>
          </a:p>
        </p:txBody>
      </p:sp>
      <p:cxnSp>
        <p:nvCxnSpPr>
          <p:cNvPr id="37" name=""/>
          <p:cNvCxnSpPr>
            <a:stCxn xmlns:a="http://schemas.openxmlformats.org/drawingml/2006/main" id="13" idx="3"/>
            <a:endCxn xmlns:a="http://schemas.openxmlformats.org/drawingml/2006/main" id="14" idx="1"/>
          </p:cNvCxnSpPr>
          <p:nvPr/>
        </p:nvCxnSpPr>
        <p:spPr>
          <a:xfrm xmlns:a="http://schemas.openxmlformats.org/drawingml/2006/main">
            <a:off x="2857500" y="4710113"/>
            <a:ext cx="619125" cy="0"/>
          </a:xfrm>
          <a:prstGeom xmlns:a="http://schemas.openxmlformats.org/drawingml/2006/main" prst="straightConnector1">
            <a:avLst/>
          </a:prstGeom>
          <a:ln xmlns:a="http://schemas.openxmlformats.org/drawingml/2006/main" w="19050">
            <a:solidFill>
              <a:srgbClr val="087F83"/>
            </a:solidFill>
            <a:tailEnd type="triangle" w="sm" len="sm"/>
          </a:ln>
        </p:spPr>
      </p:cxnSp>
      <p:cxnSp>
        <p:nvCxnSpPr>
          <p:cNvPr id="38" name=""/>
          <p:cNvCxnSpPr>
            <a:stCxn xmlns:a="http://schemas.openxmlformats.org/drawingml/2006/main" id="14" idx="3"/>
            <a:endCxn xmlns:a="http://schemas.openxmlformats.org/drawingml/2006/main" id="15" idx="1"/>
          </p:cNvCxnSpPr>
          <p:nvPr/>
        </p:nvCxnSpPr>
        <p:spPr>
          <a:xfrm xmlns:a="http://schemas.openxmlformats.org/drawingml/2006/main">
            <a:off x="5857875" y="4710113"/>
            <a:ext cx="619125" cy="0"/>
          </a:xfrm>
          <a:prstGeom xmlns:a="http://schemas.openxmlformats.org/drawingml/2006/main" prst="straightConnector1">
            <a:avLst/>
          </a:prstGeom>
          <a:ln xmlns:a="http://schemas.openxmlformats.org/drawingml/2006/main" w="19050">
            <a:solidFill>
              <a:srgbClr val="087F83"/>
            </a:solidFill>
            <a:tailEnd type="triangle" w="sm" len="sm"/>
          </a:ln>
        </p:spPr>
      </p:cxnSp>
      <p:cxnSp>
        <p:nvCxnSpPr>
          <p:cNvPr id="39" name=""/>
          <p:cNvCxnSpPr>
            <a:stCxn xmlns:a="http://schemas.openxmlformats.org/drawingml/2006/main" id="15" idx="3"/>
            <a:endCxn xmlns:a="http://schemas.openxmlformats.org/drawingml/2006/main" id="16" idx="1"/>
          </p:cNvCxnSpPr>
          <p:nvPr/>
        </p:nvCxnSpPr>
        <p:spPr>
          <a:xfrm xmlns:a="http://schemas.openxmlformats.org/drawingml/2006/main">
            <a:off x="8572500" y="4710113"/>
            <a:ext cx="714375" cy="0"/>
          </a:xfrm>
          <a:prstGeom xmlns:a="http://schemas.openxmlformats.org/drawingml/2006/main" prst="straightConnector1">
            <a:avLst/>
          </a:prstGeom>
          <a:ln xmlns:a="http://schemas.openxmlformats.org/drawingml/2006/main" w="19050">
            <a:solidFill>
              <a:srgbClr val="087F83"/>
            </a:solidFill>
            <a:tailEnd type="triangle" w="sm" len="sm"/>
          </a:ln>
        </p:spPr>
      </p:cxnSp>
      <p:sp>
        <p:nvSpPr>
          <p:cNvPr id="20" name="">
            <a:extLst xmlns:a="http://schemas.openxmlformats.org/drawingml/2006/main">
              <a:ext uri="{FF2B5EF4-FFF2-40B4-BE49-F238E27FC236}">
                <a16:creationId xmlns:a16="http://schemas.microsoft.com/office/drawing/2014/main" id="{C56F3FC2-F3D1-4C9B-B669-6C9575F2B1FE}"/>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The hub is one coordinate frame. Each encoder has its own entry map.</a:t>
            </a:r>
          </a:p>
        </p:txBody>
      </p:sp>
    </p:spTree>
    <p:extLst>
      <p:ext uri="{BB962C8B-B14F-4D97-AF65-F5344CB8AC3E}">
        <p14:creationId xmlns:p14="http://schemas.microsoft.com/office/powerpoint/2010/main" val="60151896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FB3293-2676-4DB0-8D4D-2A1481E37B21}"/>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Absolute retrieval and percent of native can diverge</a:t>
            </a:r>
          </a:p>
        </p:txBody>
      </p:sp>
      <p:sp>
        <p:nvSpPr>
          <p:cNvPr id="2" name="">
            <a:extLst xmlns:a="http://schemas.openxmlformats.org/drawingml/2006/main">
              <a:ext uri="{FF2B5EF4-FFF2-40B4-BE49-F238E27FC236}">
                <a16:creationId xmlns:a16="http://schemas.microsoft.com/office/drawing/2014/main" id="{83DE2F09-15FE-4FF0-840C-1C64DE5FC170}"/>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 3, expanded Table C12</a:t>
            </a:r>
          </a:p>
        </p:txBody>
      </p:sp>
      <p:sp>
        <p:nvSpPr>
          <p:cNvPr id="3" name="">
            <a:extLst xmlns:a="http://schemas.openxmlformats.org/drawingml/2006/main">
              <a:ext uri="{FF2B5EF4-FFF2-40B4-BE49-F238E27FC236}">
                <a16:creationId xmlns:a16="http://schemas.microsoft.com/office/drawing/2014/main" id="{D70F3E32-6CF0-4622-8F46-9006862B3A9A}"/>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13</a:t>
            </a:r>
          </a:p>
        </p:txBody>
      </p:sp>
      <p:graphicFrame>
        <p:nvGraphicFramePr>
          <p:cNvPr id="14" name="Chart"/>
          <p:cNvGraphicFramePr/>
          <p:nvPr/>
        </p:nvGraphicFramePr>
        <p:xfrm>
          <a:off xmlns:a="http://schemas.openxmlformats.org/drawingml/2006/main" x="571500" y="1571625"/>
          <a:ext xmlns:a="http://schemas.openxmlformats.org/drawingml/2006/main" cx="7286625" cy="3714750"/>
        </p:xfrm>
        <a:graphic xmlns:a="http://schemas.openxmlformats.org/drawingml/2006/main">
          <a:graphicData uri="http://schemas.openxmlformats.org/drawingml/2006/chart">
            <c:chart xmlns:r="http://schemas.openxmlformats.org/officeDocument/2006/relationships" xmlns:c="http://schemas.openxmlformats.org/drawingml/2006/chart" r:id="R31ebcf70c967408b"/>
          </a:graphicData>
        </a:graphic>
      </p:graphicFrame>
      <p:sp>
        <p:nvSpPr>
          <p:cNvPr id="5" name="">
            <a:extLst xmlns:a="http://schemas.openxmlformats.org/drawingml/2006/main">
              <a:ext uri="{FF2B5EF4-FFF2-40B4-BE49-F238E27FC236}">
                <a16:creationId xmlns:a16="http://schemas.microsoft.com/office/drawing/2014/main" id="{4E4751B9-5C37-4948-90EE-29BC4B1F86E3}"/>
              </a:ext>
            </a:extLst>
          </p:cNvPr>
          <p:cNvSpPr>
            <a:spLocks xmlns:a="http://schemas.openxmlformats.org/drawingml/2006/main" noGrp="1"/>
          </p:cNvSpPr>
          <p:nvPr/>
        </p:nvSpPr>
        <p:spPr>
          <a:xfrm xmlns:a="http://schemas.openxmlformats.org/drawingml/2006/main">
            <a:off x="8286750" y="15240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42A45"/>
                </a:solidFill>
                <a:latin typeface="Arial"/>
                <a:ea typeface="Arial"/>
                <a:cs typeface="Arial"/>
              </a:defRPr>
            </a:pPr>
            <a:r>
              <a:rPr sz="2475" b="1">
                <a:solidFill>
                  <a:srgbClr val="142A45"/>
                </a:solidFill>
                <a:latin typeface="Arial"/>
                <a:ea typeface="Arial"/>
                <a:cs typeface="Arial"/>
              </a:rPr>
              <a:t>DINO-large</a:t>
            </a:r>
          </a:p>
        </p:txBody>
      </p:sp>
      <p:sp>
        <p:nvSpPr>
          <p:cNvPr id="6" name="">
            <a:extLst xmlns:a="http://schemas.openxmlformats.org/drawingml/2006/main">
              <a:ext uri="{FF2B5EF4-FFF2-40B4-BE49-F238E27FC236}">
                <a16:creationId xmlns:a16="http://schemas.microsoft.com/office/drawing/2014/main" id="{30061485-D9C0-47AD-A404-1A2063C29811}"/>
              </a:ext>
            </a:extLst>
          </p:cNvPr>
          <p:cNvSpPr>
            <a:spLocks xmlns:a="http://schemas.openxmlformats.org/drawingml/2006/main" noGrp="1"/>
          </p:cNvSpPr>
          <p:nvPr/>
        </p:nvSpPr>
        <p:spPr>
          <a:xfrm xmlns:a="http://schemas.openxmlformats.org/drawingml/2006/main">
            <a:off x="8286750" y="221932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087F83"/>
                </a:solidFill>
                <a:latin typeface="Arial"/>
                <a:ea typeface="Arial"/>
                <a:cs typeface="Arial"/>
              </a:defRPr>
            </a:pPr>
            <a:r>
              <a:rPr sz="4125" b="1">
                <a:solidFill>
                  <a:srgbClr val="087F83"/>
                </a:solidFill>
                <a:latin typeface="Arial"/>
                <a:ea typeface="Arial"/>
                <a:cs typeface="Arial"/>
              </a:rPr>
              <a:t>46.8%</a:t>
            </a:r>
          </a:p>
        </p:txBody>
      </p:sp>
      <p:sp>
        <p:nvSpPr>
          <p:cNvPr id="7" name="">
            <a:extLst xmlns:a="http://schemas.openxmlformats.org/drawingml/2006/main">
              <a:ext uri="{FF2B5EF4-FFF2-40B4-BE49-F238E27FC236}">
                <a16:creationId xmlns:a16="http://schemas.microsoft.com/office/drawing/2014/main" id="{8C721E6A-C9EA-4DD2-BD82-AA40F6543C47}"/>
              </a:ext>
            </a:extLst>
          </p:cNvPr>
          <p:cNvSpPr>
            <a:spLocks xmlns:a="http://schemas.openxmlformats.org/drawingml/2006/main" noGrp="1"/>
          </p:cNvSpPr>
          <p:nvPr/>
        </p:nvSpPr>
        <p:spPr>
          <a:xfrm xmlns:a="http://schemas.openxmlformats.org/drawingml/2006/main">
            <a:off x="8286750" y="2981325"/>
            <a:ext cx="319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A45"/>
                </a:solidFill>
                <a:latin typeface="Arial"/>
                <a:ea typeface="Arial"/>
                <a:cs typeface="Arial"/>
              </a:defRPr>
            </a:pPr>
            <a:r>
              <a:rPr sz="2175" b="0">
                <a:solidFill>
                  <a:srgbClr val="142A45"/>
                </a:solidFill>
                <a:latin typeface="Arial"/>
                <a:ea typeface="Arial"/>
                <a:cs typeface="Arial"/>
              </a:rPr>
              <a:t>Correct caption ranks first.</a:t>
            </a:r>
          </a:p>
        </p:txBody>
      </p:sp>
      <p:sp>
        <p:nvSpPr>
          <p:cNvPr id="8" name="">
            <a:extLst xmlns:a="http://schemas.openxmlformats.org/drawingml/2006/main">
              <a:ext uri="{FF2B5EF4-FFF2-40B4-BE49-F238E27FC236}">
                <a16:creationId xmlns:a16="http://schemas.microsoft.com/office/drawing/2014/main" id="{0EBA72D0-9B32-4E9E-B268-533E62ADF5C4}"/>
              </a:ext>
            </a:extLst>
          </p:cNvPr>
          <p:cNvSpPr>
            <a:spLocks xmlns:a="http://schemas.openxmlformats.org/drawingml/2006/main" noGrp="1"/>
          </p:cNvSpPr>
          <p:nvPr/>
        </p:nvSpPr>
        <p:spPr>
          <a:xfrm xmlns:a="http://schemas.openxmlformats.org/drawingml/2006/main">
            <a:off x="8143875" y="4105275"/>
            <a:ext cx="3476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965C0"/>
                </a:solidFill>
                <a:latin typeface="Arial"/>
                <a:ea typeface="Arial"/>
                <a:cs typeface="Arial"/>
              </a:defRPr>
            </a:pPr>
            <a:r>
              <a:rPr sz="2475" b="1">
                <a:solidFill>
                  <a:srgbClr val="2965C0"/>
                </a:solidFill>
                <a:latin typeface="Arial"/>
                <a:ea typeface="Arial"/>
                <a:cs typeface="Arial"/>
              </a:rPr>
              <a:t>92.9% of native</a:t>
            </a:r>
          </a:p>
        </p:txBody>
      </p:sp>
      <p:sp>
        <p:nvSpPr>
          <p:cNvPr id="9" name="">
            <a:extLst xmlns:a="http://schemas.openxmlformats.org/drawingml/2006/main">
              <a:ext uri="{FF2B5EF4-FFF2-40B4-BE49-F238E27FC236}">
                <a16:creationId xmlns:a16="http://schemas.microsoft.com/office/drawing/2014/main" id="{772EDEEC-F4D7-412C-92EF-CE4BA89C77E6}"/>
              </a:ext>
            </a:extLst>
          </p:cNvPr>
          <p:cNvSpPr>
            <a:spLocks xmlns:a="http://schemas.openxmlformats.org/drawingml/2006/main" noGrp="1"/>
          </p:cNvSpPr>
          <p:nvPr/>
        </p:nvSpPr>
        <p:spPr>
          <a:xfrm xmlns:a="http://schemas.openxmlformats.org/drawingml/2006/main">
            <a:off x="8286750" y="47815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A45"/>
                </a:solidFill>
                <a:latin typeface="Arial"/>
                <a:ea typeface="Arial"/>
                <a:cs typeface="Arial"/>
              </a:defRPr>
            </a:pPr>
            <a:r>
              <a:rPr sz="2175" b="0">
                <a:solidFill>
                  <a:srgbClr val="142A45"/>
                </a:solidFill>
                <a:latin typeface="Arial"/>
                <a:ea typeface="Arial"/>
                <a:cs typeface="Arial"/>
              </a:rPr>
              <a:t>0.468 ÷ ≈0.504</a:t>
            </a:r>
          </a:p>
        </p:txBody>
      </p:sp>
      <p:sp>
        <p:nvSpPr>
          <p:cNvPr id="10" name="">
            <a:extLst xmlns:a="http://schemas.openxmlformats.org/drawingml/2006/main">
              <a:ext uri="{FF2B5EF4-FFF2-40B4-BE49-F238E27FC236}">
                <a16:creationId xmlns:a16="http://schemas.microsoft.com/office/drawing/2014/main" id="{BA027B18-3B83-41BB-A564-B8DB519D9F14}"/>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Native values are approximate, recovered from rounded ratios. Same target, different fitted head.</a:t>
            </a:r>
          </a:p>
        </p:txBody>
      </p:sp>
    </p:spTree>
    <p:extLst>
      <p:ext uri="{BB962C8B-B14F-4D97-AF65-F5344CB8AC3E}">
        <p14:creationId xmlns:p14="http://schemas.microsoft.com/office/powerpoint/2010/main" val="16235428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AA7A541-E72D-4051-9DCD-B0A854D37581}"/>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Reading a space and writing into it</a:t>
            </a:r>
          </a:p>
        </p:txBody>
      </p:sp>
      <p:sp>
        <p:nvSpPr>
          <p:cNvPr id="2" name="">
            <a:extLst xmlns:a="http://schemas.openxmlformats.org/drawingml/2006/main">
              <a:ext uri="{FF2B5EF4-FFF2-40B4-BE49-F238E27FC236}">
                <a16:creationId xmlns:a16="http://schemas.microsoft.com/office/drawing/2014/main" id="{7136469C-5F99-4CE2-A33D-B664A2CF00D9}"/>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 9 | Report C.13.3–C.13.4</a:t>
            </a:r>
          </a:p>
        </p:txBody>
      </p:sp>
      <p:sp>
        <p:nvSpPr>
          <p:cNvPr id="3" name="">
            <a:extLst xmlns:a="http://schemas.openxmlformats.org/drawingml/2006/main">
              <a:ext uri="{FF2B5EF4-FFF2-40B4-BE49-F238E27FC236}">
                <a16:creationId xmlns:a16="http://schemas.microsoft.com/office/drawing/2014/main" id="{5A58B11D-AAE9-44CE-A674-35F8C2B362F8}"/>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14</a:t>
            </a:r>
          </a:p>
        </p:txBody>
      </p:sp>
      <p:graphicFrame>
        <p:nvGraphicFramePr>
          <p:cNvPr id="13" name="Chart"/>
          <p:cNvGraphicFramePr/>
          <p:nvPr/>
        </p:nvGraphicFramePr>
        <p:xfrm>
          <a:off xmlns:a="http://schemas.openxmlformats.org/drawingml/2006/main" x="571500" y="1571625"/>
          <a:ext xmlns:a="http://schemas.openxmlformats.org/drawingml/2006/main" cx="7096125" cy="3714750"/>
        </p:xfrm>
        <a:graphic xmlns:a="http://schemas.openxmlformats.org/drawingml/2006/main">
          <a:graphicData uri="http://schemas.openxmlformats.org/drawingml/2006/chart">
            <c:chart xmlns:r="http://schemas.openxmlformats.org/officeDocument/2006/relationships" xmlns:c="http://schemas.openxmlformats.org/drawingml/2006/chart" r:id="R5480b9f4e5ad48f3"/>
          </a:graphicData>
        </a:graphic>
      </p:graphicFrame>
      <p:sp>
        <p:nvSpPr>
          <p:cNvPr id="5" name="">
            <a:extLst xmlns:a="http://schemas.openxmlformats.org/drawingml/2006/main">
              <a:ext uri="{FF2B5EF4-FFF2-40B4-BE49-F238E27FC236}">
                <a16:creationId xmlns:a16="http://schemas.microsoft.com/office/drawing/2014/main" id="{1F6CC2C8-6CBC-42F6-8A34-721EA567BD6D}"/>
              </a:ext>
            </a:extLst>
          </p:cNvPr>
          <p:cNvSpPr>
            <a:spLocks xmlns:a="http://schemas.openxmlformats.org/drawingml/2006/main" noGrp="1"/>
          </p:cNvSpPr>
          <p:nvPr/>
        </p:nvSpPr>
        <p:spPr>
          <a:xfrm xmlns:a="http://schemas.openxmlformats.org/drawingml/2006/main">
            <a:off x="7953375" y="1571625"/>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965C0"/>
                </a:solidFill>
                <a:latin typeface="Arial"/>
                <a:ea typeface="Arial"/>
                <a:cs typeface="Arial"/>
              </a:defRPr>
            </a:pPr>
            <a:r>
              <a:rPr sz="2250" b="1">
                <a:solidFill>
                  <a:srgbClr val="2965C0"/>
                </a:solidFill>
                <a:latin typeface="Arial"/>
                <a:ea typeface="Arial"/>
                <a:cs typeface="Arial"/>
              </a:rPr>
              <a:t>READ OUT</a:t>
            </a:r>
          </a:p>
        </p:txBody>
      </p:sp>
      <p:sp>
        <p:nvSpPr>
          <p:cNvPr id="6" name="">
            <a:extLst xmlns:a="http://schemas.openxmlformats.org/drawingml/2006/main">
              <a:ext uri="{FF2B5EF4-FFF2-40B4-BE49-F238E27FC236}">
                <a16:creationId xmlns:a16="http://schemas.microsoft.com/office/drawing/2014/main" id="{EF08C3EA-835A-45B9-9AE2-9DE6BE6AE52E}"/>
              </a:ext>
            </a:extLst>
          </p:cNvPr>
          <p:cNvSpPr>
            <a:spLocks xmlns:a="http://schemas.openxmlformats.org/drawingml/2006/main" noGrp="1"/>
          </p:cNvSpPr>
          <p:nvPr/>
        </p:nvSpPr>
        <p:spPr>
          <a:xfrm xmlns:a="http://schemas.openxmlformats.org/drawingml/2006/main">
            <a:off x="7953375" y="2114550"/>
            <a:ext cx="3619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A45"/>
                </a:solidFill>
                <a:latin typeface="Arial"/>
                <a:ea typeface="Arial"/>
                <a:cs typeface="Arial"/>
              </a:defRPr>
            </a:pPr>
            <a:r>
              <a:rPr sz="2100" b="0">
                <a:solidFill>
                  <a:srgbClr val="142A45"/>
                </a:solidFill>
                <a:latin typeface="Arial"/>
                <a:ea typeface="Arial"/>
                <a:cs typeface="Arial"/>
              </a:rPr>
              <a:t>Can W extract the cat’s content?</a:t>
            </a:r>
          </a:p>
          <a:p xmlns:a="http://schemas.openxmlformats.org/drawingml/2006/main">
            <a:pPr>
              <a:defRPr sz="2100" b="0">
                <a:solidFill>
                  <a:srgbClr val="142A45"/>
                </a:solidFill>
                <a:latin typeface="Arial"/>
                <a:ea typeface="Arial"/>
                <a:cs typeface="Arial"/>
              </a:defRPr>
            </a:pPr>
            <a:r>
              <a:rPr sz="2100" b="0">
                <a:solidFill>
                  <a:srgbClr val="142A45"/>
                </a:solidFill>
                <a:latin typeface="Arial"/>
                <a:ea typeface="Arial"/>
                <a:cs typeface="Arial"/>
              </a:rPr>
              <a:t>GPT-2: 95.1% in the source diagnostic.</a:t>
            </a:r>
          </a:p>
        </p:txBody>
      </p:sp>
      <p:sp>
        <p:nvSpPr>
          <p:cNvPr id="7" name="">
            <a:extLst xmlns:a="http://schemas.openxmlformats.org/drawingml/2006/main">
              <a:ext uri="{FF2B5EF4-FFF2-40B4-BE49-F238E27FC236}">
                <a16:creationId xmlns:a16="http://schemas.microsoft.com/office/drawing/2014/main" id="{85D979CF-CC92-4A75-870E-633E1E66DE40}"/>
              </a:ext>
            </a:extLst>
          </p:cNvPr>
          <p:cNvSpPr>
            <a:spLocks xmlns:a="http://schemas.openxmlformats.org/drawingml/2006/main" noGrp="1"/>
          </p:cNvSpPr>
          <p:nvPr/>
        </p:nvSpPr>
        <p:spPr>
          <a:xfrm xmlns:a="http://schemas.openxmlformats.org/drawingml/2006/main">
            <a:off x="7953375" y="3762375"/>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3"/>
                </a:solidFill>
                <a:latin typeface="Arial"/>
                <a:ea typeface="Arial"/>
                <a:cs typeface="Arial"/>
              </a:defRPr>
            </a:pPr>
            <a:r>
              <a:rPr sz="2250" b="1">
                <a:solidFill>
                  <a:srgbClr val="087F83"/>
                </a:solidFill>
                <a:latin typeface="Arial"/>
                <a:ea typeface="Arial"/>
                <a:cs typeface="Arial"/>
              </a:rPr>
              <a:t>WRITE INTO</a:t>
            </a:r>
          </a:p>
        </p:txBody>
      </p:sp>
      <p:sp>
        <p:nvSpPr>
          <p:cNvPr id="8" name="">
            <a:extLst xmlns:a="http://schemas.openxmlformats.org/drawingml/2006/main">
              <a:ext uri="{FF2B5EF4-FFF2-40B4-BE49-F238E27FC236}">
                <a16:creationId xmlns:a16="http://schemas.microsoft.com/office/drawing/2014/main" id="{98F105C5-A1E1-4734-BBFD-70C05023CE80}"/>
              </a:ext>
            </a:extLst>
          </p:cNvPr>
          <p:cNvSpPr>
            <a:spLocks xmlns:a="http://schemas.openxmlformats.org/drawingml/2006/main" noGrp="1"/>
          </p:cNvSpPr>
          <p:nvPr/>
        </p:nvSpPr>
        <p:spPr>
          <a:xfrm xmlns:a="http://schemas.openxmlformats.org/drawingml/2006/main">
            <a:off x="7953375" y="4305300"/>
            <a:ext cx="3619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A45"/>
                </a:solidFill>
                <a:latin typeface="Arial"/>
                <a:ea typeface="Arial"/>
                <a:cs typeface="Arial"/>
              </a:defRPr>
            </a:pPr>
            <a:r>
              <a:rPr sz="2100" b="0">
                <a:solidFill>
                  <a:srgbClr val="142A45"/>
                </a:solidFill>
                <a:latin typeface="Arial"/>
                <a:ea typeface="Arial"/>
                <a:cs typeface="Arial"/>
              </a:rPr>
              <a:t>Can cosine rank the cat above the dog after prediction?</a:t>
            </a:r>
          </a:p>
        </p:txBody>
      </p:sp>
      <p:sp>
        <p:nvSpPr>
          <p:cNvPr id="9" name="">
            <a:extLst xmlns:a="http://schemas.openxmlformats.org/drawingml/2006/main">
              <a:ext uri="{FF2B5EF4-FFF2-40B4-BE49-F238E27FC236}">
                <a16:creationId xmlns:a16="http://schemas.microsoft.com/office/drawing/2014/main" id="{25D8EBEF-E23A-41F4-A031-00189E7B0F6E}"/>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Readable information can survive even when target-space ranking is fragile.</a:t>
            </a:r>
          </a:p>
        </p:txBody>
      </p:sp>
    </p:spTree>
    <p:extLst>
      <p:ext uri="{BB962C8B-B14F-4D97-AF65-F5344CB8AC3E}">
        <p14:creationId xmlns:p14="http://schemas.microsoft.com/office/powerpoint/2010/main" val="98831542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39C4EC-E83A-47DD-AAEE-53E4A9645762}"/>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The clearest agreement is local</a:t>
            </a:r>
          </a:p>
        </p:txBody>
      </p:sp>
      <p:sp>
        <p:nvSpPr>
          <p:cNvPr id="2" name="">
            <a:extLst xmlns:a="http://schemas.openxmlformats.org/drawingml/2006/main">
              <a:ext uri="{FF2B5EF4-FFF2-40B4-BE49-F238E27FC236}">
                <a16:creationId xmlns:a16="http://schemas.microsoft.com/office/drawing/2014/main" id="{35003C51-B32D-4F47-B188-3878C4439FD5}"/>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2, 7–8 | Report C.13.8–C.13.10 | Supplied CKNNA figure</a:t>
            </a:r>
          </a:p>
        </p:txBody>
      </p:sp>
      <p:sp>
        <p:nvSpPr>
          <p:cNvPr id="3" name="">
            <a:extLst xmlns:a="http://schemas.openxmlformats.org/drawingml/2006/main">
              <a:ext uri="{FF2B5EF4-FFF2-40B4-BE49-F238E27FC236}">
                <a16:creationId xmlns:a16="http://schemas.microsoft.com/office/drawing/2014/main" id="{BF029481-583F-4715-A0D2-70861EA87454}"/>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c728073824642a3"/>
          <a:stretch xmlns:a="http://schemas.openxmlformats.org/drawingml/2006/main"/>
        </p:blipFill>
        <p:spPr>
          <a:xfrm xmlns:a="http://schemas.openxmlformats.org/drawingml/2006/main">
            <a:off x="1406148" y="1438275"/>
            <a:ext cx="9379703" cy="3333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39FC1FB-3103-4B60-B11B-E0A2012D0991}"/>
              </a:ext>
            </a:extLst>
          </p:cNvPr>
          <p:cNvSpPr>
            <a:spLocks xmlns:a="http://schemas.openxmlformats.org/drawingml/2006/main" noGrp="1"/>
          </p:cNvSpPr>
          <p:nvPr/>
        </p:nvSpPr>
        <p:spPr>
          <a:xfrm xmlns:a="http://schemas.openxmlformats.org/drawingml/2006/main">
            <a:off x="571500" y="506730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F83"/>
                </a:solidFill>
                <a:latin typeface="Arial"/>
                <a:ea typeface="Arial"/>
                <a:cs typeface="Arial"/>
              </a:defRPr>
            </a:pPr>
            <a:r>
              <a:rPr sz="2550" b="1">
                <a:solidFill>
                  <a:srgbClr val="087F83"/>
                </a:solidFill>
                <a:latin typeface="Arial"/>
                <a:ea typeface="Arial"/>
                <a:cs typeface="Arial"/>
              </a:rPr>
              <a:t>21 / 21 pairs: local CKNNA is higher than global CKNNA</a:t>
            </a:r>
          </a:p>
        </p:txBody>
      </p:sp>
      <p:sp>
        <p:nvSpPr>
          <p:cNvPr id="6" name="">
            <a:extLst xmlns:a="http://schemas.openxmlformats.org/drawingml/2006/main">
              <a:ext uri="{FF2B5EF4-FFF2-40B4-BE49-F238E27FC236}">
                <a16:creationId xmlns:a16="http://schemas.microsoft.com/office/drawing/2014/main" id="{185EC562-B817-4B88-B7B0-72579BAA1A5E}"/>
              </a:ext>
            </a:extLst>
          </p:cNvPr>
          <p:cNvSpPr>
            <a:spLocks xmlns:a="http://schemas.openxmlformats.org/drawingml/2006/main" noGrp="1"/>
          </p:cNvSpPr>
          <p:nvPr/>
        </p:nvSpPr>
        <p:spPr>
          <a:xfrm xmlns:a="http://schemas.openxmlformats.org/drawingml/2006/main">
            <a:off x="571500" y="5743575"/>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k counts neighbors. CKNNA measures agreement in their local similarity structure.</a:t>
            </a:r>
          </a:p>
        </p:txBody>
      </p:sp>
    </p:spTree>
    <p:extLst>
      <p:ext uri="{BB962C8B-B14F-4D97-AF65-F5344CB8AC3E}">
        <p14:creationId xmlns:p14="http://schemas.microsoft.com/office/powerpoint/2010/main" val="46514824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C87247E-2D87-4CBA-9A27-494428DEAC61}"/>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Enough fitting data is part of the measurement</a:t>
            </a:r>
          </a:p>
        </p:txBody>
      </p:sp>
      <p:sp>
        <p:nvSpPr>
          <p:cNvPr id="2" name="">
            <a:extLst xmlns:a="http://schemas.openxmlformats.org/drawingml/2006/main">
              <a:ext uri="{FF2B5EF4-FFF2-40B4-BE49-F238E27FC236}">
                <a16:creationId xmlns:a16="http://schemas.microsoft.com/office/drawing/2014/main" id="{DD3E6E04-72B1-42A6-8B2D-F17124053DFA}"/>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3, 9–11</a:t>
            </a:r>
          </a:p>
        </p:txBody>
      </p:sp>
      <p:sp>
        <p:nvSpPr>
          <p:cNvPr id="3" name="">
            <a:extLst xmlns:a="http://schemas.openxmlformats.org/drawingml/2006/main">
              <a:ext uri="{FF2B5EF4-FFF2-40B4-BE49-F238E27FC236}">
                <a16:creationId xmlns:a16="http://schemas.microsoft.com/office/drawing/2014/main" id="{0056C41F-6FF7-4866-AE21-C19C40F00F08}"/>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16</a:t>
            </a:r>
          </a:p>
        </p:txBody>
      </p:sp>
      <p:graphicFrame>
        <p:nvGraphicFramePr>
          <p:cNvPr id="12" name="Chart"/>
          <p:cNvGraphicFramePr/>
          <p:nvPr/>
        </p:nvGraphicFramePr>
        <p:xfrm>
          <a:off xmlns:a="http://schemas.openxmlformats.org/drawingml/2006/main" x="571500" y="1571625"/>
          <a:ext xmlns:a="http://schemas.openxmlformats.org/drawingml/2006/main" cx="7286625" cy="3714750"/>
        </p:xfrm>
        <a:graphic xmlns:a="http://schemas.openxmlformats.org/drawingml/2006/main">
          <a:graphicData uri="http://schemas.openxmlformats.org/drawingml/2006/chart">
            <c:chart xmlns:r="http://schemas.openxmlformats.org/officeDocument/2006/relationships" xmlns:c="http://schemas.openxmlformats.org/drawingml/2006/chart" r:id="Rf87e6323c9c54c37"/>
          </a:graphicData>
        </a:graphic>
      </p:graphicFrame>
      <p:sp>
        <p:nvSpPr>
          <p:cNvPr id="5" name="">
            <a:extLst xmlns:a="http://schemas.openxmlformats.org/drawingml/2006/main">
              <a:ext uri="{FF2B5EF4-FFF2-40B4-BE49-F238E27FC236}">
                <a16:creationId xmlns:a16="http://schemas.microsoft.com/office/drawing/2014/main" id="{1C7D8D11-D406-4452-B029-3244C552AD97}"/>
              </a:ext>
            </a:extLst>
          </p:cNvPr>
          <p:cNvSpPr>
            <a:spLocks xmlns:a="http://schemas.openxmlformats.org/drawingml/2006/main" noGrp="1"/>
          </p:cNvSpPr>
          <p:nvPr/>
        </p:nvSpPr>
        <p:spPr>
          <a:xfrm xmlns:a="http://schemas.openxmlformats.org/drawingml/2006/main">
            <a:off x="8143875" y="1695450"/>
            <a:ext cx="3476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75E23"/>
                </a:solidFill>
                <a:latin typeface="Arial"/>
                <a:ea typeface="Arial"/>
                <a:cs typeface="Arial"/>
              </a:defRPr>
            </a:pPr>
            <a:r>
              <a:rPr sz="2925" b="1">
                <a:solidFill>
                  <a:srgbClr val="B75E23"/>
                </a:solidFill>
                <a:latin typeface="Arial"/>
                <a:ea typeface="Arial"/>
                <a:cs typeface="Arial"/>
              </a:rPr>
              <a:t>8,533 ÷ 2,048</a:t>
            </a:r>
          </a:p>
          <a:p xmlns:a="http://schemas.openxmlformats.org/drawingml/2006/main">
            <a:pPr>
              <a:defRPr sz="2925" b="1">
                <a:solidFill>
                  <a:srgbClr val="B75E23"/>
                </a:solidFill>
                <a:latin typeface="Arial"/>
                <a:ea typeface="Arial"/>
                <a:cs typeface="Arial"/>
              </a:defRPr>
            </a:pPr>
            <a:r>
              <a:rPr sz="2925" b="1">
                <a:solidFill>
                  <a:srgbClr val="B75E23"/>
                </a:solidFill>
                <a:latin typeface="Arial"/>
                <a:ea typeface="Arial"/>
                <a:cs typeface="Arial"/>
              </a:rPr>
              <a:t>= 4.2</a:t>
            </a:r>
          </a:p>
        </p:txBody>
      </p:sp>
      <p:sp>
        <p:nvSpPr>
          <p:cNvPr id="6" name="">
            <a:extLst xmlns:a="http://schemas.openxmlformats.org/drawingml/2006/main">
              <a:ext uri="{FF2B5EF4-FFF2-40B4-BE49-F238E27FC236}">
                <a16:creationId xmlns:a16="http://schemas.microsoft.com/office/drawing/2014/main" id="{8B412575-9F0A-4853-901B-2754A18C144C}"/>
              </a:ext>
            </a:extLst>
          </p:cNvPr>
          <p:cNvSpPr>
            <a:spLocks xmlns:a="http://schemas.openxmlformats.org/drawingml/2006/main" noGrp="1"/>
          </p:cNvSpPr>
          <p:nvPr/>
        </p:nvSpPr>
        <p:spPr>
          <a:xfrm xmlns:a="http://schemas.openxmlformats.org/drawingml/2006/main">
            <a:off x="8143875" y="3324225"/>
            <a:ext cx="3476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A45"/>
                </a:solidFill>
                <a:latin typeface="Arial"/>
                <a:ea typeface="Arial"/>
                <a:cs typeface="Arial"/>
              </a:defRPr>
            </a:pPr>
            <a:r>
              <a:rPr sz="2250" b="0">
                <a:solidFill>
                  <a:srgbClr val="142A45"/>
                </a:solidFill>
                <a:latin typeface="Arial"/>
                <a:ea typeface="Arial"/>
                <a:cs typeface="Arial"/>
              </a:rPr>
              <a:t>DINO-large is below the project’s floor of 5.</a:t>
            </a:r>
          </a:p>
        </p:txBody>
      </p:sp>
      <p:sp>
        <p:nvSpPr>
          <p:cNvPr id="7" name="">
            <a:extLst xmlns:a="http://schemas.openxmlformats.org/drawingml/2006/main">
              <a:ext uri="{FF2B5EF4-FFF2-40B4-BE49-F238E27FC236}">
                <a16:creationId xmlns:a16="http://schemas.microsoft.com/office/drawing/2014/main" id="{2B4C563E-BFA8-4DB2-9456-5DFB1F9A1781}"/>
              </a:ext>
            </a:extLst>
          </p:cNvPr>
          <p:cNvSpPr>
            <a:spLocks xmlns:a="http://schemas.openxmlformats.org/drawingml/2006/main" noGrp="1"/>
          </p:cNvSpPr>
          <p:nvPr/>
        </p:nvSpPr>
        <p:spPr>
          <a:xfrm xmlns:a="http://schemas.openxmlformats.org/drawingml/2006/main">
            <a:off x="8143875" y="4733925"/>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A45"/>
                </a:solidFill>
                <a:latin typeface="Arial"/>
                <a:ea typeface="Arial"/>
                <a:cs typeface="Arial"/>
              </a:defRPr>
            </a:pPr>
            <a:r>
              <a:rPr sz="1875" b="0">
                <a:solidFill>
                  <a:srgbClr val="142A45"/>
                </a:solidFill>
                <a:latin typeface="Arial"/>
                <a:ea typeface="Arial"/>
                <a:cs typeface="Arial"/>
              </a:rPr>
              <a:t>Heuristic, not a guarantee of statistical power.</a:t>
            </a:r>
          </a:p>
        </p:txBody>
      </p:sp>
      <p:sp>
        <p:nvSpPr>
          <p:cNvPr id="8" name="">
            <a:extLst xmlns:a="http://schemas.openxmlformats.org/drawingml/2006/main">
              <a:ext uri="{FF2B5EF4-FFF2-40B4-BE49-F238E27FC236}">
                <a16:creationId xmlns:a16="http://schemas.microsoft.com/office/drawing/2014/main" id="{5F860864-E4EB-47CE-B091-50BCD5B28B3F}"/>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Check fit quality and uncertainty before interpreting a negative result.</a:t>
            </a:r>
          </a:p>
        </p:txBody>
      </p:sp>
    </p:spTree>
    <p:extLst>
      <p:ext uri="{BB962C8B-B14F-4D97-AF65-F5344CB8AC3E}">
        <p14:creationId xmlns:p14="http://schemas.microsoft.com/office/powerpoint/2010/main" val="90490253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99C5886-C6C9-41A3-B040-4ED4EB186575}"/>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Six controls and the result each one guards</a:t>
            </a:r>
          </a:p>
        </p:txBody>
      </p:sp>
      <p:sp>
        <p:nvSpPr>
          <p:cNvPr id="2" name="">
            <a:extLst xmlns:a="http://schemas.openxmlformats.org/drawingml/2006/main">
              <a:ext uri="{FF2B5EF4-FFF2-40B4-BE49-F238E27FC236}">
                <a16:creationId xmlns:a16="http://schemas.microsoft.com/office/drawing/2014/main" id="{C959E507-3992-493D-89D7-73F68B8A571A}"/>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3–4, 8–11 | Companion report §3, C.9, C.13.2, D.2</a:t>
            </a:r>
          </a:p>
        </p:txBody>
      </p:sp>
      <p:sp>
        <p:nvSpPr>
          <p:cNvPr id="3" name="">
            <a:extLst xmlns:a="http://schemas.openxmlformats.org/drawingml/2006/main">
              <a:ext uri="{FF2B5EF4-FFF2-40B4-BE49-F238E27FC236}">
                <a16:creationId xmlns:a16="http://schemas.microsoft.com/office/drawing/2014/main" id="{55A3C471-2437-42C0-9736-C9D55C067FE8}"/>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17</a:t>
            </a:r>
          </a:p>
        </p:txBody>
      </p:sp>
      <p:graphicFrame>
        <p:nvGraphicFramePr>
          <p:cNvPr id="8" name=""/>
          <p:cNvGraphicFramePr/>
          <p:nvPr/>
        </p:nvGraphicFramePr>
        <p:xfrm>
          <a:off xmlns:a="http://schemas.openxmlformats.org/drawingml/2006/main" x="571500" y="1476375"/>
          <a:ext xmlns:a="http://schemas.openxmlformats.org/drawingml/2006/main" cx="11049000" cy="4572000"/>
        </p:xfrm>
        <a:graphic xmlns:a="http://schemas.openxmlformats.org/drawingml/2006/main">
          <a:graphicData uri="http://schemas.openxmlformats.org/drawingml/2006/table">
            <a:tbl>
              <a:tblPr/>
              <a:tblGrid>
                <a:gridCol w="2524125"/>
                <a:gridCol w="4953000"/>
                <a:gridCol w="3571875"/>
              </a:tblGrid>
              <a:tr h="653143">
                <a:tc>
                  <a:txBody>
                    <a:bodyPr/>
                    <a:lstStyle/>
                    <a:p>
                      <a:r>
                        <a:rPr sz="1650" b="1">
                          <a:solidFill>
                            <a:srgbClr val="FFFFFF"/>
                          </a:solidFill>
                          <a:latin typeface="Arial"/>
                          <a:ea typeface="Arial"/>
                          <a:cs typeface="Arial"/>
                        </a:rPr>
                        <a:t>Control</a:t>
                      </a:r>
                    </a:p>
                  </a:txBody>
                  <a:tcPr marL="95250" marR="95250" marT="76200" marB="76200" anchor="ctr">
                    <a:solidFill>
                      <a:srgbClr val="142A45"/>
                    </a:solidFill>
                  </a:tcPr>
                </a:tc>
                <a:tc>
                  <a:txBody>
                    <a:bodyPr/>
                    <a:lstStyle/>
                    <a:p>
                      <a:r>
                        <a:rPr sz="1650" b="1">
                          <a:solidFill>
                            <a:srgbClr val="FFFFFF"/>
                          </a:solidFill>
                          <a:latin typeface="Arial"/>
                          <a:ea typeface="Arial"/>
                          <a:cs typeface="Arial"/>
                        </a:rPr>
                        <a:t>Result and comparison</a:t>
                      </a:r>
                    </a:p>
                  </a:txBody>
                  <a:tcPr marL="95250" marR="95250" marT="76200" marB="76200" anchor="ctr">
                    <a:solidFill>
                      <a:srgbClr val="142A45"/>
                    </a:solidFill>
                  </a:tcPr>
                </a:tc>
                <a:tc>
                  <a:txBody>
                    <a:bodyPr/>
                    <a:lstStyle/>
                    <a:p>
                      <a:r>
                        <a:rPr sz="1650" b="1">
                          <a:solidFill>
                            <a:srgbClr val="FFFFFF"/>
                          </a:solidFill>
                          <a:latin typeface="Arial"/>
                          <a:ea typeface="Arial"/>
                          <a:cs typeface="Arial"/>
                        </a:rPr>
                        <a:t>What it checks</a:t>
                      </a:r>
                    </a:p>
                  </a:txBody>
                  <a:tcPr marL="95250" marR="95250" marT="76200" marB="76200" anchor="ctr">
                    <a:solidFill>
                      <a:srgbClr val="142A45"/>
                    </a:solidFill>
                  </a:tcPr>
                </a:tc>
              </a:tr>
              <a:tr h="653143">
                <a:tc>
                  <a:txBody>
                    <a:bodyPr/>
                    <a:lstStyle/>
                    <a:p>
                      <a:r>
                        <a:rPr sz="1650" b="0">
                          <a:solidFill>
                            <a:srgbClr val="142A45"/>
                          </a:solidFill>
                          <a:latin typeface="Arial"/>
                          <a:ea typeface="Arial"/>
                          <a:cs typeface="Arial"/>
                        </a:rPr>
                        <a:t>No adapter / random map</a:t>
                      </a:r>
                    </a:p>
                  </a:txBody>
                  <a:tcPr marL="95250" marR="95250" marT="76200" marB="76200" anchor="ctr">
                    <a:solidFill>
                      <a:srgbClr val="F0F5F8"/>
                    </a:solidFill>
                  </a:tcPr>
                </a:tc>
                <a:tc>
                  <a:txBody>
                    <a:bodyPr/>
                    <a:lstStyle/>
                    <a:p>
                      <a:r>
                        <a:rPr sz="1650" b="0">
                          <a:solidFill>
                            <a:srgbClr val="142A45"/>
                          </a:solidFill>
                          <a:latin typeface="Arial"/>
                          <a:ea typeface="Arial"/>
                          <a:cs typeface="Arial"/>
                        </a:rPr>
                        <a:t>AUC .999 vs .477; G4 R@1 .557 vs .003</a:t>
                      </a:r>
                    </a:p>
                  </a:txBody>
                  <a:tcPr marL="95250" marR="95250" marT="76200" marB="76200" anchor="ctr">
                    <a:solidFill>
                      <a:srgbClr val="F0F5F8"/>
                    </a:solidFill>
                  </a:tcPr>
                </a:tc>
                <a:tc>
                  <a:txBody>
                    <a:bodyPr/>
                    <a:lstStyle/>
                    <a:p>
                      <a:r>
                        <a:rPr sz="1650" b="0">
                          <a:solidFill>
                            <a:srgbClr val="142A45"/>
                          </a:solidFill>
                          <a:latin typeface="Arial"/>
                          <a:ea typeface="Arial"/>
                          <a:cs typeface="Arial"/>
                        </a:rPr>
                        <a:t>The fitted bridge supplies the useful signal.</a:t>
                      </a:r>
                    </a:p>
                  </a:txBody>
                  <a:tcPr marL="95250" marR="95250" marT="76200" marB="76200" anchor="ctr">
                    <a:solidFill>
                      <a:srgbClr val="F0F5F8"/>
                    </a:solidFill>
                  </a:tcPr>
                </a:tc>
              </a:tr>
              <a:tr h="653143">
                <a:tc>
                  <a:txBody>
                    <a:bodyPr/>
                    <a:lstStyle/>
                    <a:p>
                      <a:r>
                        <a:rPr sz="1650" b="0">
                          <a:solidFill>
                            <a:srgbClr val="142A45"/>
                          </a:solidFill>
                          <a:latin typeface="Arial"/>
                          <a:ea typeface="Arial"/>
                          <a:cs typeface="Arial"/>
                        </a:rPr>
                        <a:t>Random model weights</a:t>
                      </a:r>
                    </a:p>
                  </a:txBody>
                  <a:tcPr marL="95250" marR="95250" marT="76200" marB="76200" anchor="ctr">
                    <a:solidFill>
                      <a:srgbClr val="FFFFFF"/>
                    </a:solidFill>
                  </a:tcPr>
                </a:tc>
                <a:tc>
                  <a:txBody>
                    <a:bodyPr/>
                    <a:lstStyle/>
                    <a:p>
                      <a:r>
                        <a:rPr sz="1650" b="0">
                          <a:solidFill>
                            <a:srgbClr val="142A45"/>
                          </a:solidFill>
                          <a:latin typeface="Arial"/>
                          <a:ea typeface="Arial"/>
                          <a:cs typeface="Arial"/>
                        </a:rPr>
                        <a:t>Mean CKA .359 vs .067; mean R² .737 vs .173</a:t>
                      </a:r>
                    </a:p>
                  </a:txBody>
                  <a:tcPr marL="95250" marR="95250" marT="76200" marB="76200" anchor="ctr">
                    <a:solidFill>
                      <a:srgbClr val="FFFFFF"/>
                    </a:solidFill>
                  </a:tcPr>
                </a:tc>
                <a:tc>
                  <a:txBody>
                    <a:bodyPr/>
                    <a:lstStyle/>
                    <a:p>
                      <a:r>
                        <a:rPr sz="1650" b="0">
                          <a:solidFill>
                            <a:srgbClr val="142A45"/>
                          </a:solidFill>
                          <a:latin typeface="Arial"/>
                          <a:ea typeface="Arial"/>
                          <a:cs typeface="Arial"/>
                        </a:rPr>
                        <a:t>Learned representations exceed random controls.</a:t>
                      </a:r>
                    </a:p>
                  </a:txBody>
                  <a:tcPr marL="95250" marR="95250" marT="76200" marB="76200" anchor="ctr">
                    <a:solidFill>
                      <a:srgbClr val="FFFFFF"/>
                    </a:solidFill>
                  </a:tcPr>
                </a:tc>
              </a:tr>
              <a:tr h="653143">
                <a:tc>
                  <a:txBody>
                    <a:bodyPr/>
                    <a:lstStyle/>
                    <a:p>
                      <a:r>
                        <a:rPr sz="1650" b="0">
                          <a:solidFill>
                            <a:srgbClr val="142A45"/>
                          </a:solidFill>
                          <a:latin typeface="Arial"/>
                          <a:ea typeface="Arial"/>
                          <a:cs typeface="Arial"/>
                        </a:rPr>
                        <a:t>Shuffled item pairing</a:t>
                      </a:r>
                    </a:p>
                  </a:txBody>
                  <a:tcPr marL="95250" marR="95250" marT="76200" marB="76200" anchor="ctr">
                    <a:solidFill>
                      <a:srgbClr val="F0F5F8"/>
                    </a:solidFill>
                  </a:tcPr>
                </a:tc>
                <a:tc>
                  <a:txBody>
                    <a:bodyPr/>
                    <a:lstStyle/>
                    <a:p>
                      <a:r>
                        <a:rPr sz="1650" b="0">
                          <a:solidFill>
                            <a:srgbClr val="142A45"/>
                          </a:solidFill>
                          <a:latin typeface="Arial"/>
                          <a:ea typeface="Arial"/>
                          <a:cs typeface="Arial"/>
                        </a:rPr>
                        <a:t>E1 R² .511 vs −.130; gap .641</a:t>
                      </a:r>
                    </a:p>
                  </a:txBody>
                  <a:tcPr marL="95250" marR="95250" marT="76200" marB="76200" anchor="ctr">
                    <a:solidFill>
                      <a:srgbClr val="F0F5F8"/>
                    </a:solidFill>
                  </a:tcPr>
                </a:tc>
                <a:tc>
                  <a:txBody>
                    <a:bodyPr/>
                    <a:lstStyle/>
                    <a:p>
                      <a:r>
                        <a:rPr sz="1650" b="0">
                          <a:solidFill>
                            <a:srgbClr val="142A45"/>
                          </a:solidFill>
                          <a:latin typeface="Arial"/>
                          <a:ea typeface="Arial"/>
                          <a:cs typeface="Arial"/>
                        </a:rPr>
                        <a:t>Correct correspondence matters.</a:t>
                      </a:r>
                    </a:p>
                  </a:txBody>
                  <a:tcPr marL="95250" marR="95250" marT="76200" marB="76200" anchor="ctr">
                    <a:solidFill>
                      <a:srgbClr val="F0F5F8"/>
                    </a:solidFill>
                  </a:tcPr>
                </a:tc>
              </a:tr>
              <a:tr h="653143">
                <a:tc>
                  <a:txBody>
                    <a:bodyPr/>
                    <a:lstStyle/>
                    <a:p>
                      <a:r>
                        <a:rPr sz="1650" b="0">
                          <a:solidFill>
                            <a:srgbClr val="142A45"/>
                          </a:solidFill>
                          <a:latin typeface="Arial"/>
                          <a:ea typeface="Arial"/>
                          <a:cs typeface="Arial"/>
                        </a:rPr>
                        <a:t>Matched native reference</a:t>
                      </a:r>
                    </a:p>
                  </a:txBody>
                  <a:tcPr marL="95250" marR="95250" marT="76200" marB="76200" anchor="ctr">
                    <a:solidFill>
                      <a:srgbClr val="FFFFFF"/>
                    </a:solidFill>
                  </a:tcPr>
                </a:tc>
                <a:tc>
                  <a:txBody>
                    <a:bodyPr/>
                    <a:lstStyle/>
                    <a:p>
                      <a:r>
                        <a:rPr sz="1650" b="0">
                          <a:solidFill>
                            <a:srgbClr val="142A45"/>
                          </a:solidFill>
                          <a:latin typeface="Arial"/>
                          <a:ea typeface="Arial"/>
                          <a:cs typeface="Arial"/>
                        </a:rPr>
                        <a:t>B R@5 .843 vs .885 = 95.3% retention</a:t>
                      </a:r>
                    </a:p>
                  </a:txBody>
                  <a:tcPr marL="95250" marR="95250" marT="76200" marB="76200" anchor="ctr">
                    <a:solidFill>
                      <a:srgbClr val="FFFFFF"/>
                    </a:solidFill>
                  </a:tcPr>
                </a:tc>
                <a:tc>
                  <a:txBody>
                    <a:bodyPr/>
                    <a:lstStyle/>
                    <a:p>
                      <a:r>
                        <a:rPr sz="1650" b="0">
                          <a:solidFill>
                            <a:srgbClr val="142A45"/>
                          </a:solidFill>
                          <a:latin typeface="Arial"/>
                          <a:ea typeface="Arial"/>
                          <a:cs typeface="Arial"/>
                        </a:rPr>
                        <a:t>Same rows, task and caption treatment.</a:t>
                      </a:r>
                    </a:p>
                  </a:txBody>
                  <a:tcPr marL="95250" marR="95250" marT="76200" marB="76200" anchor="ctr">
                    <a:solidFill>
                      <a:srgbClr val="FFFFFF"/>
                    </a:solidFill>
                  </a:tcPr>
                </a:tc>
              </a:tr>
              <a:tr h="653143">
                <a:tc>
                  <a:txBody>
                    <a:bodyPr/>
                    <a:lstStyle/>
                    <a:p>
                      <a:r>
                        <a:rPr sz="1650" b="0">
                          <a:solidFill>
                            <a:srgbClr val="142A45"/>
                          </a:solidFill>
                          <a:latin typeface="Arial"/>
                          <a:ea typeface="Arial"/>
                          <a:cs typeface="Arial"/>
                        </a:rPr>
                        <a:t>Held-out ConvNeXt</a:t>
                      </a:r>
                    </a:p>
                  </a:txBody>
                  <a:tcPr marL="95250" marR="95250" marT="76200" marB="76200" anchor="ctr">
                    <a:solidFill>
                      <a:srgbClr val="F0F5F8"/>
                    </a:solidFill>
                  </a:tcPr>
                </a:tc>
                <a:tc>
                  <a:txBody>
                    <a:bodyPr/>
                    <a:lstStyle/>
                    <a:p>
                      <a:r>
                        <a:rPr sz="1650" b="0">
                          <a:solidFill>
                            <a:srgbClr val="142A45"/>
                          </a:solidFill>
                          <a:latin typeface="Arial"/>
                          <a:ea typeface="Arial"/>
                          <a:cs typeface="Arial"/>
                        </a:rPr>
                        <a:t>R@1 retention 96.7%</a:t>
                      </a:r>
                    </a:p>
                  </a:txBody>
                  <a:tcPr marL="95250" marR="95250" marT="76200" marB="76200" anchor="ctr">
                    <a:solidFill>
                      <a:srgbClr val="F0F5F8"/>
                    </a:solidFill>
                  </a:tcPr>
                </a:tc>
                <a:tc>
                  <a:txBody>
                    <a:bodyPr/>
                    <a:lstStyle/>
                    <a:p>
                      <a:r>
                        <a:rPr sz="1650" b="0">
                          <a:solidFill>
                            <a:srgbClr val="142A45"/>
                          </a:solidFill>
                          <a:latin typeface="Arial"/>
                          <a:ea typeface="Arial"/>
                          <a:cs typeface="Arial"/>
                        </a:rPr>
                        <a:t>Convolutional, supervised, outside hub membership.</a:t>
                      </a:r>
                    </a:p>
                  </a:txBody>
                  <a:tcPr marL="95250" marR="95250" marT="76200" marB="76200" anchor="ctr">
                    <a:solidFill>
                      <a:srgbClr val="F0F5F8"/>
                    </a:solidFill>
                  </a:tcPr>
                </a:tc>
              </a:tr>
              <a:tr h="653143">
                <a:tc>
                  <a:txBody>
                    <a:bodyPr/>
                    <a:lstStyle/>
                    <a:p>
                      <a:r>
                        <a:rPr sz="1650" b="0">
                          <a:solidFill>
                            <a:srgbClr val="142A45"/>
                          </a:solidFill>
                          <a:latin typeface="Arial"/>
                          <a:ea typeface="Arial"/>
                          <a:cs typeface="Arial"/>
                        </a:rPr>
                        <a:t>Held-out SigLIP 2</a:t>
                      </a:r>
                    </a:p>
                  </a:txBody>
                  <a:tcPr marL="95250" marR="95250" marT="76200" marB="76200" anchor="ctr">
                    <a:solidFill>
                      <a:srgbClr val="FFFFFF"/>
                    </a:solidFill>
                  </a:tcPr>
                </a:tc>
                <a:tc>
                  <a:txBody>
                    <a:bodyPr/>
                    <a:lstStyle/>
                    <a:p>
                      <a:r>
                        <a:rPr sz="1650" b="0">
                          <a:solidFill>
                            <a:srgbClr val="142A45"/>
                          </a:solidFill>
                          <a:latin typeface="Arial"/>
                          <a:ea typeface="Arial"/>
                          <a:cs typeface="Arial"/>
                        </a:rPr>
                        <a:t>R@1 retention 94.2%</a:t>
                      </a:r>
                    </a:p>
                  </a:txBody>
                  <a:tcPr marL="95250" marR="95250" marT="76200" marB="76200" anchor="ctr">
                    <a:solidFill>
                      <a:srgbClr val="FFFFFF"/>
                    </a:solidFill>
                  </a:tcPr>
                </a:tc>
                <a:tc>
                  <a:txBody>
                    <a:bodyPr/>
                    <a:lstStyle/>
                    <a:p>
                      <a:r>
                        <a:rPr sz="1650" b="0">
                          <a:solidFill>
                            <a:srgbClr val="142A45"/>
                          </a:solidFill>
                          <a:latin typeface="Arial"/>
                          <a:ea typeface="Arial"/>
                          <a:cs typeface="Arial"/>
                        </a:rPr>
                        <a:t>Reuse across an unrelated lineage.</a:t>
                      </a:r>
                    </a:p>
                  </a:txBody>
                  <a:tcPr marL="95250" marR="95250" marT="76200" marB="76200" anchor="ctr">
                    <a:solidFill>
                      <a:srgbClr val="FFFFFF"/>
                    </a:solidFill>
                  </a:tcPr>
                </a:tc>
              </a:tr>
            </a:tbl>
          </a:graphicData>
        </a:graphic>
      </p:graphicFrame>
    </p:spTree>
    <p:extLst>
      <p:ext uri="{BB962C8B-B14F-4D97-AF65-F5344CB8AC3E}">
        <p14:creationId xmlns:p14="http://schemas.microsoft.com/office/powerpoint/2010/main" val="92803911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A8C715-CB13-4E19-8C21-E14114A3A8A7}"/>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Two further findings about geometry</a:t>
            </a:r>
          </a:p>
        </p:txBody>
      </p:sp>
      <p:sp>
        <p:nvSpPr>
          <p:cNvPr id="2" name="">
            <a:extLst xmlns:a="http://schemas.openxmlformats.org/drawingml/2006/main">
              <a:ext uri="{FF2B5EF4-FFF2-40B4-BE49-F238E27FC236}">
                <a16:creationId xmlns:a16="http://schemas.microsoft.com/office/drawing/2014/main" id="{ABBBC9D9-A954-42AC-BB64-B85D20E5E686}"/>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8, 10 | Report C.11–C.12</a:t>
            </a:r>
          </a:p>
        </p:txBody>
      </p:sp>
      <p:sp>
        <p:nvSpPr>
          <p:cNvPr id="3" name="">
            <a:extLst xmlns:a="http://schemas.openxmlformats.org/drawingml/2006/main">
              <a:ext uri="{FF2B5EF4-FFF2-40B4-BE49-F238E27FC236}">
                <a16:creationId xmlns:a16="http://schemas.microsoft.com/office/drawing/2014/main" id="{1769305B-3BDA-4AC0-AAFC-A55B904BEA86}"/>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18</a:t>
            </a:r>
          </a:p>
        </p:txBody>
      </p:sp>
      <p:graphicFrame>
        <p:nvGraphicFramePr>
          <p:cNvPr id="11" name="Chart"/>
          <p:cNvGraphicFramePr/>
          <p:nvPr/>
        </p:nvGraphicFramePr>
        <p:xfrm>
          <a:off xmlns:a="http://schemas.openxmlformats.org/drawingml/2006/main" x="571500" y="1666875"/>
          <a:ext xmlns:a="http://schemas.openxmlformats.org/drawingml/2006/main" cx="5238750" cy="3238500"/>
        </p:xfrm>
        <a:graphic xmlns:a="http://schemas.openxmlformats.org/drawingml/2006/main">
          <a:graphicData uri="http://schemas.openxmlformats.org/drawingml/2006/chart">
            <c:chart xmlns:r="http://schemas.openxmlformats.org/officeDocument/2006/relationships" xmlns:c="http://schemas.openxmlformats.org/drawingml/2006/chart" r:id="R7dcbfe77fbdd4057"/>
          </a:graphicData>
        </a:graphic>
      </p:graphicFrame>
      <p:graphicFrame>
        <p:nvGraphicFramePr>
          <p:cNvPr id="12" name="Chart"/>
          <p:cNvGraphicFramePr/>
          <p:nvPr/>
        </p:nvGraphicFramePr>
        <p:xfrm>
          <a:off xmlns:a="http://schemas.openxmlformats.org/drawingml/2006/main" x="6334125" y="1666875"/>
          <a:ext xmlns:a="http://schemas.openxmlformats.org/drawingml/2006/main" cx="5238750" cy="3238500"/>
        </p:xfrm>
        <a:graphic xmlns:a="http://schemas.openxmlformats.org/drawingml/2006/main">
          <a:graphicData uri="http://schemas.openxmlformats.org/drawingml/2006/chart">
            <c:chart xmlns:r="http://schemas.openxmlformats.org/officeDocument/2006/relationships" xmlns:c="http://schemas.openxmlformats.org/drawingml/2006/chart" r:id="R34dfa3f749fa4730"/>
          </a:graphicData>
        </a:graphic>
      </p:graphicFrame>
      <p:sp>
        <p:nvSpPr>
          <p:cNvPr id="6" name="">
            <a:extLst xmlns:a="http://schemas.openxmlformats.org/drawingml/2006/main">
              <a:ext uri="{FF2B5EF4-FFF2-40B4-BE49-F238E27FC236}">
                <a16:creationId xmlns:a16="http://schemas.microsoft.com/office/drawing/2014/main" id="{3EBBF7F7-C3B3-4DFA-B978-20D8E505B423}"/>
              </a:ext>
            </a:extLst>
          </p:cNvPr>
          <p:cNvSpPr>
            <a:spLocks xmlns:a="http://schemas.openxmlformats.org/drawingml/2006/main" noGrp="1"/>
          </p:cNvSpPr>
          <p:nvPr/>
        </p:nvSpPr>
        <p:spPr>
          <a:xfrm xmlns:a="http://schemas.openxmlformats.org/drawingml/2006/main">
            <a:off x="571500" y="5105400"/>
            <a:ext cx="5334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965C0"/>
                </a:solidFill>
                <a:latin typeface="Arial"/>
                <a:ea typeface="Arial"/>
                <a:cs typeface="Arial"/>
              </a:defRPr>
            </a:pPr>
            <a:r>
              <a:rPr sz="1875" b="1">
                <a:solidFill>
                  <a:srgbClr val="2965C0"/>
                </a:solidFill>
                <a:latin typeface="Arial"/>
                <a:ea typeface="Arial"/>
                <a:cs typeface="Arial"/>
              </a:rPr>
              <a:t>39.7% exact matches ≈595× chance</a:t>
            </a:r>
          </a:p>
          <a:p xmlns:a="http://schemas.openxmlformats.org/drawingml/2006/main">
            <a:pPr>
              <a:defRPr sz="1875" b="1">
                <a:solidFill>
                  <a:srgbClr val="2965C0"/>
                </a:solidFill>
                <a:latin typeface="Arial"/>
                <a:ea typeface="Arial"/>
                <a:cs typeface="Arial"/>
              </a:defRPr>
            </a:pPr>
            <a:r>
              <a:rPr sz="1875" b="1">
                <a:solidFill>
                  <a:srgbClr val="2965C0"/>
                </a:solidFill>
                <a:latin typeface="Arial"/>
                <a:ea typeface="Arial"/>
                <a:cs typeface="Arial"/>
              </a:rPr>
              <a:t>Chance: 1/1,500 = 0.0667%</a:t>
            </a:r>
          </a:p>
        </p:txBody>
      </p:sp>
      <p:sp>
        <p:nvSpPr>
          <p:cNvPr id="7" name="">
            <a:extLst xmlns:a="http://schemas.openxmlformats.org/drawingml/2006/main">
              <a:ext uri="{FF2B5EF4-FFF2-40B4-BE49-F238E27FC236}">
                <a16:creationId xmlns:a16="http://schemas.microsoft.com/office/drawing/2014/main" id="{8113E809-8A8C-440C-AC48-F78677799C17}"/>
              </a:ext>
            </a:extLst>
          </p:cNvPr>
          <p:cNvSpPr>
            <a:spLocks xmlns:a="http://schemas.openxmlformats.org/drawingml/2006/main" noGrp="1"/>
          </p:cNvSpPr>
          <p:nvPr/>
        </p:nvSpPr>
        <p:spPr>
          <a:xfrm xmlns:a="http://schemas.openxmlformats.org/drawingml/2006/main">
            <a:off x="6334125" y="510540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R@1: 13.0% to 47.8%</a:t>
            </a:r>
          </a:p>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Same retrieval question, changed geometry</a:t>
            </a:r>
          </a:p>
        </p:txBody>
      </p:sp>
    </p:spTree>
    <p:extLst>
      <p:ext uri="{BB962C8B-B14F-4D97-AF65-F5344CB8AC3E}">
        <p14:creationId xmlns:p14="http://schemas.microsoft.com/office/powerpoint/2010/main" val="48384262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FC5891-A6CD-4B68-91CF-BDC262C58E16}"/>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Achievements and failures define the boundary</a:t>
            </a:r>
          </a:p>
        </p:txBody>
      </p:sp>
      <p:sp>
        <p:nvSpPr>
          <p:cNvPr id="2" name="">
            <a:extLst xmlns:a="http://schemas.openxmlformats.org/drawingml/2006/main">
              <a:ext uri="{FF2B5EF4-FFF2-40B4-BE49-F238E27FC236}">
                <a16:creationId xmlns:a16="http://schemas.microsoft.com/office/drawing/2014/main" id="{565E7AB0-762D-41DD-91E3-DA3E5257705C}"/>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5–6, 8–11 | Report E.8, E.16</a:t>
            </a:r>
          </a:p>
        </p:txBody>
      </p:sp>
      <p:sp>
        <p:nvSpPr>
          <p:cNvPr id="3" name="">
            <a:extLst xmlns:a="http://schemas.openxmlformats.org/drawingml/2006/main">
              <a:ext uri="{FF2B5EF4-FFF2-40B4-BE49-F238E27FC236}">
                <a16:creationId xmlns:a16="http://schemas.microsoft.com/office/drawing/2014/main" id="{FA177CAC-B4AF-4EDB-BA9C-A4D0D55ACDE8}"/>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F26A2E47-301E-42A8-9AA4-BA1B557A5590}"/>
              </a:ext>
            </a:extLst>
          </p:cNvPr>
          <p:cNvSpPr>
            <a:spLocks xmlns:a="http://schemas.openxmlformats.org/drawingml/2006/main" noGrp="1"/>
          </p:cNvSpPr>
          <p:nvPr/>
        </p:nvSpPr>
        <p:spPr>
          <a:xfrm xmlns:a="http://schemas.openxmlformats.org/drawingml/2006/main">
            <a:off x="571500" y="157162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A45"/>
                </a:solidFill>
                <a:latin typeface="Arial"/>
                <a:ea typeface="Arial"/>
                <a:cs typeface="Arial"/>
              </a:defRPr>
            </a:pPr>
            <a:r>
              <a:rPr sz="2175" b="0">
                <a:solidFill>
                  <a:srgbClr val="142A45"/>
                </a:solidFill>
                <a:latin typeface="Arial"/>
                <a:ea typeface="Arial"/>
                <a:cs typeface="Arial"/>
              </a:rPr>
              <a:t>Built: a 0.79 MB adapter and a working shared-hub prototype.</a:t>
            </a:r>
          </a:p>
        </p:txBody>
      </p:sp>
      <p:sp>
        <p:nvSpPr>
          <p:cNvPr id="5" name="">
            <a:extLst xmlns:a="http://schemas.openxmlformats.org/drawingml/2006/main">
              <a:ext uri="{FF2B5EF4-FFF2-40B4-BE49-F238E27FC236}">
                <a16:creationId xmlns:a16="http://schemas.microsoft.com/office/drawing/2014/main" id="{8DB7AA7D-EAA1-4FB7-B81F-043652AE452B}"/>
              </a:ext>
            </a:extLst>
          </p:cNvPr>
          <p:cNvSpPr>
            <a:spLocks xmlns:a="http://schemas.openxmlformats.org/drawingml/2006/main" noGrp="1"/>
          </p:cNvSpPr>
          <p:nvPr/>
        </p:nvSpPr>
        <p:spPr>
          <a:xfrm xmlns:a="http://schemas.openxmlformats.org/drawingml/2006/main">
            <a:off x="571500" y="25431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A45"/>
                </a:solidFill>
                <a:latin typeface="Arial"/>
                <a:ea typeface="Arial"/>
                <a:cs typeface="Arial"/>
              </a:defRPr>
            </a:pPr>
            <a:r>
              <a:rPr sz="2175" b="0">
                <a:solidFill>
                  <a:srgbClr val="142A45"/>
                </a:solidFill>
                <a:latin typeface="Arial"/>
                <a:ea typeface="Arial"/>
                <a:cs typeface="Arial"/>
              </a:rPr>
              <a:t>Measured: useful transfer and stronger agreement in local neighborhoods.</a:t>
            </a:r>
          </a:p>
        </p:txBody>
      </p:sp>
      <p:sp>
        <p:nvSpPr>
          <p:cNvPr id="6" name="">
            <a:extLst xmlns:a="http://schemas.openxmlformats.org/drawingml/2006/main">
              <a:ext uri="{FF2B5EF4-FFF2-40B4-BE49-F238E27FC236}">
                <a16:creationId xmlns:a16="http://schemas.microsoft.com/office/drawing/2014/main" id="{434A17E8-D244-499D-91D9-02ACED132F9B}"/>
              </a:ext>
            </a:extLst>
          </p:cNvPr>
          <p:cNvSpPr>
            <a:spLocks xmlns:a="http://schemas.openxmlformats.org/drawingml/2006/main" noGrp="1"/>
          </p:cNvSpPr>
          <p:nvPr/>
        </p:nvSpPr>
        <p:spPr>
          <a:xfrm xmlns:a="http://schemas.openxmlformats.org/drawingml/2006/main">
            <a:off x="571500" y="351472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A45"/>
                </a:solidFill>
                <a:latin typeface="Arial"/>
                <a:ea typeface="Arial"/>
                <a:cs typeface="Arial"/>
              </a:defRPr>
            </a:pPr>
            <a:r>
              <a:rPr sz="2175" b="0">
                <a:solidFill>
                  <a:srgbClr val="142A45"/>
                </a:solidFill>
                <a:latin typeface="Arial"/>
                <a:ea typeface="Arial"/>
                <a:cs typeface="Arial"/>
              </a:rPr>
              <a:t>Missed: B’s 90% native-retention gate at R@1; achieved 88.4%.</a:t>
            </a:r>
          </a:p>
        </p:txBody>
      </p:sp>
      <p:sp>
        <p:nvSpPr>
          <p:cNvPr id="7" name="">
            <a:extLst xmlns:a="http://schemas.openxmlformats.org/drawingml/2006/main">
              <a:ext uri="{FF2B5EF4-FFF2-40B4-BE49-F238E27FC236}">
                <a16:creationId xmlns:a16="http://schemas.microsoft.com/office/drawing/2014/main" id="{F8ABC873-C2AA-403D-9E35-E675FBBF64F6}"/>
              </a:ext>
            </a:extLst>
          </p:cNvPr>
          <p:cNvSpPr>
            <a:spLocks xmlns:a="http://schemas.openxmlformats.org/drawingml/2006/main" noGrp="1"/>
          </p:cNvSpPr>
          <p:nvPr/>
        </p:nvSpPr>
        <p:spPr>
          <a:xfrm xmlns:a="http://schemas.openxmlformats.org/drawingml/2006/main">
            <a:off x="571500" y="44862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A45"/>
                </a:solidFill>
                <a:latin typeface="Arial"/>
                <a:ea typeface="Arial"/>
                <a:cs typeface="Arial"/>
              </a:defRPr>
            </a:pPr>
            <a:r>
              <a:rPr sz="2175" b="0">
                <a:solidFill>
                  <a:srgbClr val="142A45"/>
                </a:solidFill>
                <a:latin typeface="Arial"/>
                <a:ea typeface="Arial"/>
                <a:cs typeface="Arial"/>
              </a:rPr>
              <a:t>Diagnosed: the width cliff was a fit instability, repairable by regularization.</a:t>
            </a:r>
          </a:p>
        </p:txBody>
      </p:sp>
      <p:sp>
        <p:nvSpPr>
          <p:cNvPr id="8" name="">
            <a:extLst xmlns:a="http://schemas.openxmlformats.org/drawingml/2006/main">
              <a:ext uri="{FF2B5EF4-FFF2-40B4-BE49-F238E27FC236}">
                <a16:creationId xmlns:a16="http://schemas.microsoft.com/office/drawing/2014/main" id="{FA404FE5-4046-4F8B-AE7E-7D13A2B7F2FA}"/>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Why small models: limited compute and device memory. Compact maps reuse stronger spaces.</a:t>
            </a:r>
          </a:p>
        </p:txBody>
      </p:sp>
    </p:spTree>
    <p:extLst>
      <p:ext uri="{BB962C8B-B14F-4D97-AF65-F5344CB8AC3E}">
        <p14:creationId xmlns:p14="http://schemas.microsoft.com/office/powerpoint/2010/main" val="10044092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2510880-5E4D-4CF1-AE5E-DF13EBBCF26D}"/>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Next: larger fits and a fair efficiency benchmark</a:t>
            </a:r>
          </a:p>
        </p:txBody>
      </p:sp>
      <p:sp>
        <p:nvSpPr>
          <p:cNvPr id="2" name="">
            <a:extLst xmlns:a="http://schemas.openxmlformats.org/drawingml/2006/main">
              <a:ext uri="{FF2B5EF4-FFF2-40B4-BE49-F238E27FC236}">
                <a16:creationId xmlns:a16="http://schemas.microsoft.com/office/drawing/2014/main" id="{E762CE87-B9E0-4AFC-842C-F28ACA2711FE}"/>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9–11 | Later scale-test status: report E.16</a:t>
            </a:r>
          </a:p>
        </p:txBody>
      </p:sp>
      <p:sp>
        <p:nvSpPr>
          <p:cNvPr id="3" name="">
            <a:extLst xmlns:a="http://schemas.openxmlformats.org/drawingml/2006/main">
              <a:ext uri="{FF2B5EF4-FFF2-40B4-BE49-F238E27FC236}">
                <a16:creationId xmlns:a16="http://schemas.microsoft.com/office/drawing/2014/main" id="{5048E2AD-6AD7-4246-B0CC-D971B3C83245}"/>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24879D1E-369C-4DB1-A69D-850E2583310C}"/>
              </a:ext>
            </a:extLst>
          </p:cNvPr>
          <p:cNvSpPr>
            <a:spLocks xmlns:a="http://schemas.openxmlformats.org/drawingml/2006/main" noGrp="1"/>
          </p:cNvSpPr>
          <p:nvPr/>
        </p:nvSpPr>
        <p:spPr>
          <a:xfrm xmlns:a="http://schemas.openxmlformats.org/drawingml/2006/main">
            <a:off x="571500" y="157162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A45"/>
                </a:solidFill>
                <a:latin typeface="Arial"/>
                <a:ea typeface="Arial"/>
                <a:cs typeface="Arial"/>
              </a:defRPr>
            </a:pPr>
            <a:r>
              <a:rPr sz="2175" b="0">
                <a:solidFill>
                  <a:srgbClr val="142A45"/>
                </a:solidFill>
                <a:latin typeface="Arial"/>
                <a:ea typeface="Arial"/>
                <a:cs typeface="Arial"/>
              </a:rPr>
              <a:t>1. More paired rows: stabilize large-model entry maps and hub estimation.</a:t>
            </a:r>
          </a:p>
        </p:txBody>
      </p:sp>
      <p:sp>
        <p:nvSpPr>
          <p:cNvPr id="5" name="">
            <a:extLst xmlns:a="http://schemas.openxmlformats.org/drawingml/2006/main">
              <a:ext uri="{FF2B5EF4-FFF2-40B4-BE49-F238E27FC236}">
                <a16:creationId xmlns:a16="http://schemas.microsoft.com/office/drawing/2014/main" id="{BEF0DB8C-4EF4-4F36-B723-F3FEA1AC81B8}"/>
              </a:ext>
            </a:extLst>
          </p:cNvPr>
          <p:cNvSpPr>
            <a:spLocks xmlns:a="http://schemas.openxmlformats.org/drawingml/2006/main" noGrp="1"/>
          </p:cNvSpPr>
          <p:nvPr/>
        </p:nvSpPr>
        <p:spPr>
          <a:xfrm xmlns:a="http://schemas.openxmlformats.org/drawingml/2006/main">
            <a:off x="571500" y="25431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A45"/>
                </a:solidFill>
                <a:latin typeface="Arial"/>
                <a:ea typeface="Arial"/>
                <a:cs typeface="Arial"/>
              </a:defRPr>
            </a:pPr>
            <a:r>
              <a:rPr sz="2175" b="0">
                <a:solidFill>
                  <a:srgbClr val="142A45"/>
                </a:solidFill>
                <a:latin typeface="Arial"/>
                <a:ea typeface="Arial"/>
                <a:cs typeface="Arial"/>
              </a:rPr>
              <a:t>2. Bigger models: measure raw geometry and fitted transfer separately.</a:t>
            </a:r>
          </a:p>
        </p:txBody>
      </p:sp>
      <p:sp>
        <p:nvSpPr>
          <p:cNvPr id="6" name="">
            <a:extLst xmlns:a="http://schemas.openxmlformats.org/drawingml/2006/main">
              <a:ext uri="{FF2B5EF4-FFF2-40B4-BE49-F238E27FC236}">
                <a16:creationId xmlns:a16="http://schemas.microsoft.com/office/drawing/2014/main" id="{F3780849-76F9-444A-8EA9-97C278A29BF5}"/>
              </a:ext>
            </a:extLst>
          </p:cNvPr>
          <p:cNvSpPr>
            <a:spLocks xmlns:a="http://schemas.openxmlformats.org/drawingml/2006/main" noGrp="1"/>
          </p:cNvSpPr>
          <p:nvPr/>
        </p:nvSpPr>
        <p:spPr>
          <a:xfrm xmlns:a="http://schemas.openxmlformats.org/drawingml/2006/main">
            <a:off x="571500" y="351472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A45"/>
                </a:solidFill>
                <a:latin typeface="Arial"/>
                <a:ea typeface="Arial"/>
                <a:cs typeface="Arial"/>
              </a:defRPr>
            </a:pPr>
            <a:r>
              <a:rPr sz="2175" b="0">
                <a:solidFill>
                  <a:srgbClr val="142A45"/>
                </a:solidFill>
                <a:latin typeface="Arial"/>
                <a:ea typeface="Arial"/>
                <a:cs typeface="Arial"/>
              </a:rPr>
              <a:t>3. Device benchmark: compare experts and a large model at matched quality.</a:t>
            </a:r>
          </a:p>
        </p:txBody>
      </p:sp>
      <p:sp>
        <p:nvSpPr>
          <p:cNvPr id="7" name="">
            <a:extLst xmlns:a="http://schemas.openxmlformats.org/drawingml/2006/main">
              <a:ext uri="{FF2B5EF4-FFF2-40B4-BE49-F238E27FC236}">
                <a16:creationId xmlns:a16="http://schemas.microsoft.com/office/drawing/2014/main" id="{7B4C1999-3A84-4930-85A6-96BD1D1B4243}"/>
              </a:ext>
            </a:extLst>
          </p:cNvPr>
          <p:cNvSpPr>
            <a:spLocks xmlns:a="http://schemas.openxmlformats.org/drawingml/2006/main" noGrp="1"/>
          </p:cNvSpPr>
          <p:nvPr/>
        </p:nvSpPr>
        <p:spPr>
          <a:xfrm xmlns:a="http://schemas.openxmlformats.org/drawingml/2006/main">
            <a:off x="571500" y="44862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A45"/>
                </a:solidFill>
                <a:latin typeface="Arial"/>
                <a:ea typeface="Arial"/>
                <a:cs typeface="Arial"/>
              </a:defRPr>
            </a:pPr>
            <a:r>
              <a:rPr sz="2175" b="0">
                <a:solidFill>
                  <a:srgbClr val="142A45"/>
                </a:solidFill>
                <a:latin typeface="Arial"/>
                <a:ea typeface="Arial"/>
                <a:cs typeface="Arial"/>
              </a:rPr>
              <a:t>4. Broader scope: new domains, languages and image-target heads.</a:t>
            </a:r>
          </a:p>
        </p:txBody>
      </p:sp>
      <p:sp>
        <p:nvSpPr>
          <p:cNvPr id="8" name="">
            <a:extLst xmlns:a="http://schemas.openxmlformats.org/drawingml/2006/main">
              <a:ext uri="{FF2B5EF4-FFF2-40B4-BE49-F238E27FC236}">
                <a16:creationId xmlns:a16="http://schemas.microsoft.com/office/drawing/2014/main" id="{760B142D-05B7-45DE-9B42-99C581D46AF2}"/>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Practical result: smaller encoders can reuse a stronger search space through compact fitted maps.</a:t>
            </a:r>
          </a:p>
        </p:txBody>
      </p:sp>
    </p:spTree>
    <p:extLst>
      <p:ext uri="{BB962C8B-B14F-4D97-AF65-F5344CB8AC3E}">
        <p14:creationId xmlns:p14="http://schemas.microsoft.com/office/powerpoint/2010/main" val="202197293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B6A0DF-49FE-481D-8F7F-DF6B4C6361A2}"/>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Backup: cosine, distance and Spearman ρ</a:t>
            </a:r>
          </a:p>
        </p:txBody>
      </p:sp>
      <p:sp>
        <p:nvSpPr>
          <p:cNvPr id="2" name="">
            <a:extLst xmlns:a="http://schemas.openxmlformats.org/drawingml/2006/main">
              <a:ext uri="{FF2B5EF4-FFF2-40B4-BE49-F238E27FC236}">
                <a16:creationId xmlns:a16="http://schemas.microsoft.com/office/drawing/2014/main" id="{AFB9A260-F45F-4D43-8F85-1A529C985C7C}"/>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2–3</a:t>
            </a:r>
          </a:p>
        </p:txBody>
      </p:sp>
      <p:sp>
        <p:nvSpPr>
          <p:cNvPr id="3" name="">
            <a:extLst xmlns:a="http://schemas.openxmlformats.org/drawingml/2006/main">
              <a:ext uri="{FF2B5EF4-FFF2-40B4-BE49-F238E27FC236}">
                <a16:creationId xmlns:a16="http://schemas.microsoft.com/office/drawing/2014/main" id="{D234E67A-B642-4E06-AE5C-1A56901A80A3}"/>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21</a:t>
            </a:r>
          </a:p>
        </p:txBody>
      </p:sp>
      <p:graphicFrame>
        <p:nvGraphicFramePr>
          <p:cNvPr id="9" name=""/>
          <p:cNvGraphicFramePr/>
          <p:nvPr/>
        </p:nvGraphicFramePr>
        <p:xfrm>
          <a:off xmlns:a="http://schemas.openxmlformats.org/drawingml/2006/main" x="571500" y="1571625"/>
          <a:ext xmlns:a="http://schemas.openxmlformats.org/drawingml/2006/main" cx="11049000" cy="3524250"/>
        </p:xfrm>
        <a:graphic xmlns:a="http://schemas.openxmlformats.org/drawingml/2006/main">
          <a:graphicData uri="http://schemas.openxmlformats.org/drawingml/2006/table">
            <a:tbl>
              <a:tblPr/>
              <a:tblGrid>
                <a:gridCol w="2238375"/>
                <a:gridCol w="4714875"/>
                <a:gridCol w="4095750"/>
              </a:tblGrid>
              <a:tr h="704850">
                <a:tc>
                  <a:txBody>
                    <a:bodyPr/>
                    <a:lstStyle/>
                    <a:p>
                      <a:r>
                        <a:rPr sz="1875" b="1">
                          <a:solidFill>
                            <a:srgbClr val="FFFFFF"/>
                          </a:solidFill>
                          <a:latin typeface="Arial"/>
                          <a:ea typeface="Arial"/>
                          <a:cs typeface="Arial"/>
                        </a:rPr>
                        <a:t>Metric</a:t>
                      </a:r>
                    </a:p>
                  </a:txBody>
                  <a:tcPr marL="95250" marR="95250" marT="76200" marB="76200" anchor="ctr">
                    <a:solidFill>
                      <a:srgbClr val="142A45"/>
                    </a:solidFill>
                  </a:tcPr>
                </a:tc>
                <a:tc>
                  <a:txBody>
                    <a:bodyPr/>
                    <a:lstStyle/>
                    <a:p>
                      <a:r>
                        <a:rPr sz="1875" b="1">
                          <a:solidFill>
                            <a:srgbClr val="FFFFFF"/>
                          </a:solidFill>
                          <a:latin typeface="Arial"/>
                          <a:ea typeface="Arial"/>
                          <a:cs typeface="Arial"/>
                        </a:rPr>
                        <a:t>Definition</a:t>
                      </a:r>
                    </a:p>
                  </a:txBody>
                  <a:tcPr marL="95250" marR="95250" marT="76200" marB="76200" anchor="ctr">
                    <a:solidFill>
                      <a:srgbClr val="142A45"/>
                    </a:solidFill>
                  </a:tcPr>
                </a:tc>
                <a:tc>
                  <a:txBody>
                    <a:bodyPr/>
                    <a:lstStyle/>
                    <a:p>
                      <a:r>
                        <a:rPr sz="1875" b="1">
                          <a:solidFill>
                            <a:srgbClr val="FFFFFF"/>
                          </a:solidFill>
                          <a:latin typeface="Arial"/>
                          <a:ea typeface="Arial"/>
                          <a:cs typeface="Arial"/>
                        </a:rPr>
                        <a:t>Cat example</a:t>
                      </a:r>
                    </a:p>
                  </a:txBody>
                  <a:tcPr marL="95250" marR="95250" marT="76200" marB="76200" anchor="ctr">
                    <a:solidFill>
                      <a:srgbClr val="142A45"/>
                    </a:solidFill>
                  </a:tcPr>
                </a:tc>
              </a:tr>
              <a:tr h="704850">
                <a:tc>
                  <a:txBody>
                    <a:bodyPr/>
                    <a:lstStyle/>
                    <a:p>
                      <a:r>
                        <a:rPr sz="1875" b="0">
                          <a:solidFill>
                            <a:srgbClr val="142A45"/>
                          </a:solidFill>
                          <a:latin typeface="Arial"/>
                          <a:ea typeface="Arial"/>
                          <a:cs typeface="Arial"/>
                        </a:rPr>
                        <a:t>Cosine</a:t>
                      </a:r>
                    </a:p>
                  </a:txBody>
                  <a:tcPr marL="95250" marR="95250" marT="76200" marB="76200" anchor="ctr">
                    <a:solidFill>
                      <a:srgbClr val="F0F5F8"/>
                    </a:solidFill>
                  </a:tcPr>
                </a:tc>
                <a:tc>
                  <a:txBody>
                    <a:bodyPr/>
                    <a:lstStyle/>
                    <a:p>
                      <a:r>
                        <a:rPr sz="1875" b="0">
                          <a:solidFill>
                            <a:srgbClr val="142A45"/>
                          </a:solidFill>
                          <a:latin typeface="Arial"/>
                          <a:ea typeface="Arial"/>
                          <a:cs typeface="Arial"/>
                        </a:rPr>
                        <a:t>x·y / (||x|| ||y||)</a:t>
                      </a:r>
                    </a:p>
                  </a:txBody>
                  <a:tcPr marL="95250" marR="95250" marT="76200" marB="76200" anchor="ctr">
                    <a:solidFill>
                      <a:srgbClr val="F0F5F8"/>
                    </a:solidFill>
                  </a:tcPr>
                </a:tc>
                <a:tc>
                  <a:txBody>
                    <a:bodyPr/>
                    <a:lstStyle/>
                    <a:p>
                      <a:r>
                        <a:rPr sz="1875" b="0">
                          <a:solidFill>
                            <a:srgbClr val="142A45"/>
                          </a:solidFill>
                          <a:latin typeface="Arial"/>
                          <a:ea typeface="Arial"/>
                          <a:cs typeface="Arial"/>
                        </a:rPr>
                        <a:t>Do two compatible vectors point alike?</a:t>
                      </a:r>
                    </a:p>
                  </a:txBody>
                  <a:tcPr marL="95250" marR="95250" marT="76200" marB="76200" anchor="ctr">
                    <a:solidFill>
                      <a:srgbClr val="F0F5F8"/>
                    </a:solidFill>
                  </a:tcPr>
                </a:tc>
              </a:tr>
              <a:tr h="704850">
                <a:tc>
                  <a:txBody>
                    <a:bodyPr/>
                    <a:lstStyle/>
                    <a:p>
                      <a:r>
                        <a:rPr sz="1875" b="0">
                          <a:solidFill>
                            <a:srgbClr val="142A45"/>
                          </a:solidFill>
                          <a:latin typeface="Arial"/>
                          <a:ea typeface="Arial"/>
                          <a:cs typeface="Arial"/>
                        </a:rPr>
                        <a:t>Euclidean distance</a:t>
                      </a:r>
                    </a:p>
                  </a:txBody>
                  <a:tcPr marL="95250" marR="95250" marT="76200" marB="76200" anchor="ctr">
                    <a:solidFill>
                      <a:srgbClr val="FFFFFF"/>
                    </a:solidFill>
                  </a:tcPr>
                </a:tc>
                <a:tc>
                  <a:txBody>
                    <a:bodyPr/>
                    <a:lstStyle/>
                    <a:p>
                      <a:r>
                        <a:rPr sz="1875" b="0">
                          <a:solidFill>
                            <a:srgbClr val="142A45"/>
                          </a:solidFill>
                          <a:latin typeface="Arial"/>
                          <a:ea typeface="Arial"/>
                          <a:cs typeface="Arial"/>
                        </a:rPr>
                        <a:t>||x − y||</a:t>
                      </a:r>
                    </a:p>
                  </a:txBody>
                  <a:tcPr marL="95250" marR="95250" marT="76200" marB="76200" anchor="ctr">
                    <a:solidFill>
                      <a:srgbClr val="FFFFFF"/>
                    </a:solidFill>
                  </a:tcPr>
                </a:tc>
                <a:tc>
                  <a:txBody>
                    <a:bodyPr/>
                    <a:lstStyle/>
                    <a:p>
                      <a:r>
                        <a:rPr sz="1875" b="0">
                          <a:solidFill>
                            <a:srgbClr val="142A45"/>
                          </a:solidFill>
                          <a:latin typeface="Arial"/>
                          <a:ea typeface="Arial"/>
                          <a:cs typeface="Arial"/>
                        </a:rPr>
                        <a:t>How far apart are two points within one space?</a:t>
                      </a:r>
                    </a:p>
                  </a:txBody>
                  <a:tcPr marL="95250" marR="95250" marT="76200" marB="76200" anchor="ctr">
                    <a:solidFill>
                      <a:srgbClr val="FFFFFF"/>
                    </a:solidFill>
                  </a:tcPr>
                </a:tc>
              </a:tr>
              <a:tr h="704850">
                <a:tc>
                  <a:txBody>
                    <a:bodyPr/>
                    <a:lstStyle/>
                    <a:p>
                      <a:r>
                        <a:rPr sz="1875" b="0">
                          <a:solidFill>
                            <a:srgbClr val="142A45"/>
                          </a:solidFill>
                          <a:latin typeface="Arial"/>
                          <a:ea typeface="Arial"/>
                          <a:cs typeface="Arial"/>
                        </a:rPr>
                        <a:t>Spearman ρ</a:t>
                      </a:r>
                    </a:p>
                  </a:txBody>
                  <a:tcPr marL="95250" marR="95250" marT="76200" marB="76200" anchor="ctr">
                    <a:solidFill>
                      <a:srgbClr val="F0F5F8"/>
                    </a:solidFill>
                  </a:tcPr>
                </a:tc>
                <a:tc>
                  <a:txBody>
                    <a:bodyPr/>
                    <a:lstStyle/>
                    <a:p>
                      <a:r>
                        <a:rPr sz="1875" b="0">
                          <a:solidFill>
                            <a:srgbClr val="142A45"/>
                          </a:solidFill>
                          <a:latin typeface="Arial"/>
                          <a:ea typeface="Arial"/>
                          <a:cs typeface="Arial"/>
                        </a:rPr>
                        <a:t>Correlation of ranked pair distances</a:t>
                      </a:r>
                    </a:p>
                  </a:txBody>
                  <a:tcPr marL="95250" marR="95250" marT="76200" marB="76200" anchor="ctr">
                    <a:solidFill>
                      <a:srgbClr val="F0F5F8"/>
                    </a:solidFill>
                  </a:tcPr>
                </a:tc>
                <a:tc>
                  <a:txBody>
                    <a:bodyPr/>
                    <a:lstStyle/>
                    <a:p>
                      <a:r>
                        <a:rPr sz="1875" b="0">
                          <a:solidFill>
                            <a:srgbClr val="142A45"/>
                          </a:solidFill>
                          <a:latin typeface="Arial"/>
                          <a:ea typeface="Arial"/>
                          <a:cs typeface="Arial"/>
                        </a:rPr>
                        <a:t>Is cat–cat nearer than cat–airplane in both?</a:t>
                      </a:r>
                    </a:p>
                  </a:txBody>
                  <a:tcPr marL="95250" marR="95250" marT="76200" marB="76200" anchor="ctr">
                    <a:solidFill>
                      <a:srgbClr val="F0F5F8"/>
                    </a:solidFill>
                  </a:tcPr>
                </a:tc>
              </a:tr>
              <a:tr h="704850">
                <a:tc>
                  <a:txBody>
                    <a:bodyPr/>
                    <a:lstStyle/>
                    <a:p>
                      <a:r>
                        <a:rPr sz="1875" b="0">
                          <a:solidFill>
                            <a:srgbClr val="142A45"/>
                          </a:solidFill>
                          <a:latin typeface="Arial"/>
                          <a:ea typeface="Arial"/>
                          <a:cs typeface="Arial"/>
                        </a:rPr>
                        <a:t>Reported raw geometry</a:t>
                      </a:r>
                    </a:p>
                  </a:txBody>
                  <a:tcPr marL="95250" marR="95250" marT="76200" marB="76200" anchor="ctr">
                    <a:solidFill>
                      <a:srgbClr val="FFFFFF"/>
                    </a:solidFill>
                  </a:tcPr>
                </a:tc>
                <a:tc>
                  <a:txBody>
                    <a:bodyPr/>
                    <a:lstStyle/>
                    <a:p>
                      <a:r>
                        <a:rPr sz="1875" b="0">
                          <a:solidFill>
                            <a:srgbClr val="142A45"/>
                          </a:solidFill>
                          <a:latin typeface="Arial"/>
                          <a:ea typeface="Arial"/>
                          <a:cs typeface="Arial"/>
                        </a:rPr>
                        <a:t>Cross-modal mean ≈.29; bge–SBERT ≈.76</a:t>
                      </a:r>
                    </a:p>
                  </a:txBody>
                  <a:tcPr marL="95250" marR="95250" marT="76200" marB="76200" anchor="ctr">
                    <a:solidFill>
                      <a:srgbClr val="FFFFFF"/>
                    </a:solidFill>
                  </a:tcPr>
                </a:tc>
                <a:tc>
                  <a:txBody>
                    <a:bodyPr/>
                    <a:lstStyle/>
                    <a:p>
                      <a:r>
                        <a:rPr sz="1875" b="0">
                          <a:solidFill>
                            <a:srgbClr val="142A45"/>
                          </a:solidFill>
                          <a:latin typeface="Arial"/>
                          <a:ea typeface="Arial"/>
                          <a:cs typeface="Arial"/>
                        </a:rPr>
                        <a:t>Moderate agreement in distance ordering.</a:t>
                      </a:r>
                    </a:p>
                  </a:txBody>
                  <a:tcPr marL="95250" marR="95250" marT="76200" marB="762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E313936-E5AB-44B4-9362-040A27EB1C4D}"/>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ρ = +1 preserves all distance ranks. ρ ≈ 0 indicates little rank association.</a:t>
            </a:r>
          </a:p>
        </p:txBody>
      </p:sp>
    </p:spTree>
    <p:extLst>
      <p:ext uri="{BB962C8B-B14F-4D97-AF65-F5344CB8AC3E}">
        <p14:creationId xmlns:p14="http://schemas.microsoft.com/office/powerpoint/2010/main" val="118272216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C394BA-882D-4E0F-87C4-DF9BA2215F8F}"/>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Backup: k-NN overlap, step by step</a:t>
            </a:r>
          </a:p>
        </p:txBody>
      </p:sp>
      <p:sp>
        <p:nvSpPr>
          <p:cNvPr id="2" name="">
            <a:extLst xmlns:a="http://schemas.openxmlformats.org/drawingml/2006/main">
              <a:ext uri="{FF2B5EF4-FFF2-40B4-BE49-F238E27FC236}">
                <a16:creationId xmlns:a16="http://schemas.microsoft.com/office/drawing/2014/main" id="{9E8A9FC6-C8AC-4D8E-A018-2BF0342D4890}"/>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2–3 | Toy example, not a reported result</a:t>
            </a:r>
          </a:p>
        </p:txBody>
      </p:sp>
      <p:sp>
        <p:nvSpPr>
          <p:cNvPr id="3" name="">
            <a:extLst xmlns:a="http://schemas.openxmlformats.org/drawingml/2006/main">
              <a:ext uri="{FF2B5EF4-FFF2-40B4-BE49-F238E27FC236}">
                <a16:creationId xmlns:a16="http://schemas.microsoft.com/office/drawing/2014/main" id="{1AE5E1D7-E847-44B0-BF70-606DEC7E292B}"/>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22</a:t>
            </a:r>
          </a:p>
        </p:txBody>
      </p:sp>
      <p:graphicFrame>
        <p:nvGraphicFramePr>
          <p:cNvPr id="11" name=""/>
          <p:cNvGraphicFramePr/>
          <p:nvPr/>
        </p:nvGraphicFramePr>
        <p:xfrm>
          <a:off xmlns:a="http://schemas.openxmlformats.org/drawingml/2006/main" x="571500" y="1524000"/>
          <a:ext xmlns:a="http://schemas.openxmlformats.org/drawingml/2006/main" cx="11049000" cy="2762250"/>
        </p:xfrm>
        <a:graphic xmlns:a="http://schemas.openxmlformats.org/drawingml/2006/main">
          <a:graphicData uri="http://schemas.openxmlformats.org/drawingml/2006/table">
            <a:tbl>
              <a:tblPr/>
              <a:tblGrid>
                <a:gridCol w="4000500"/>
                <a:gridCol w="4000500"/>
                <a:gridCol w="3048000"/>
              </a:tblGrid>
              <a:tr h="552450">
                <a:tc>
                  <a:txBody>
                    <a:bodyPr/>
                    <a:lstStyle/>
                    <a:p>
                      <a:r>
                        <a:rPr sz="1950" b="1">
                          <a:solidFill>
                            <a:srgbClr val="FFFFFF"/>
                          </a:solidFill>
                          <a:latin typeface="Arial"/>
                          <a:ea typeface="Arial"/>
                          <a:cs typeface="Arial"/>
                        </a:rPr>
                        <a:t>Space A: four nearest</a:t>
                      </a:r>
                    </a:p>
                  </a:txBody>
                  <a:tcPr marL="95250" marR="95250" marT="76200" marB="76200" anchor="ctr">
                    <a:solidFill>
                      <a:srgbClr val="142A45"/>
                    </a:solidFill>
                  </a:tcPr>
                </a:tc>
                <a:tc>
                  <a:txBody>
                    <a:bodyPr/>
                    <a:lstStyle/>
                    <a:p>
                      <a:r>
                        <a:rPr sz="1950" b="1">
                          <a:solidFill>
                            <a:srgbClr val="FFFFFF"/>
                          </a:solidFill>
                          <a:latin typeface="Arial"/>
                          <a:ea typeface="Arial"/>
                          <a:cs typeface="Arial"/>
                        </a:rPr>
                        <a:t>Space B: four nearest</a:t>
                      </a:r>
                    </a:p>
                  </a:txBody>
                  <a:tcPr marL="95250" marR="95250" marT="76200" marB="76200" anchor="ctr">
                    <a:solidFill>
                      <a:srgbClr val="142A45"/>
                    </a:solidFill>
                  </a:tcPr>
                </a:tc>
                <a:tc>
                  <a:txBody>
                    <a:bodyPr/>
                    <a:lstStyle/>
                    <a:p>
                      <a:r>
                        <a:rPr sz="1950" b="1">
                          <a:solidFill>
                            <a:srgbClr val="FFFFFF"/>
                          </a:solidFill>
                          <a:latin typeface="Arial"/>
                          <a:ea typeface="Arial"/>
                          <a:cs typeface="Arial"/>
                        </a:rPr>
                        <a:t>Shared</a:t>
                      </a:r>
                    </a:p>
                  </a:txBody>
                  <a:tcPr marL="95250" marR="95250" marT="76200" marB="76200" anchor="ctr">
                    <a:solidFill>
                      <a:srgbClr val="142A45"/>
                    </a:solidFill>
                  </a:tcPr>
                </a:tc>
              </a:tr>
              <a:tr h="552450">
                <a:tc>
                  <a:txBody>
                    <a:bodyPr/>
                    <a:lstStyle/>
                    <a:p>
                      <a:r>
                        <a:rPr sz="1950" b="0">
                          <a:solidFill>
                            <a:srgbClr val="142A45"/>
                          </a:solidFill>
                          <a:latin typeface="Arial"/>
                          <a:ea typeface="Arial"/>
                          <a:cs typeface="Arial"/>
                        </a:rPr>
                        <a:t>Cat on sofa</a:t>
                      </a:r>
                    </a:p>
                  </a:txBody>
                  <a:tcPr marL="95250" marR="95250" marT="76200" marB="76200" anchor="ctr">
                    <a:solidFill>
                      <a:srgbClr val="F0F5F8"/>
                    </a:solidFill>
                  </a:tcPr>
                </a:tc>
                <a:tc>
                  <a:txBody>
                    <a:bodyPr/>
                    <a:lstStyle/>
                    <a:p>
                      <a:r>
                        <a:rPr sz="1950" b="0">
                          <a:solidFill>
                            <a:srgbClr val="142A45"/>
                          </a:solidFill>
                          <a:latin typeface="Arial"/>
                          <a:ea typeface="Arial"/>
                          <a:cs typeface="Arial"/>
                        </a:rPr>
                        <a:t>Cat on sofa</a:t>
                      </a:r>
                    </a:p>
                  </a:txBody>
                  <a:tcPr marL="95250" marR="95250" marT="76200" marB="76200" anchor="ctr">
                    <a:solidFill>
                      <a:srgbClr val="F0F5F8"/>
                    </a:solidFill>
                  </a:tcPr>
                </a:tc>
                <a:tc>
                  <a:txBody>
                    <a:bodyPr/>
                    <a:lstStyle/>
                    <a:p>
                      <a:r>
                        <a:rPr sz="1950" b="0">
                          <a:solidFill>
                            <a:srgbClr val="142A45"/>
                          </a:solidFill>
                          <a:latin typeface="Arial"/>
                          <a:ea typeface="Arial"/>
                          <a:cs typeface="Arial"/>
                        </a:rPr>
                        <a:t>Yes</a:t>
                      </a:r>
                    </a:p>
                  </a:txBody>
                  <a:tcPr marL="95250" marR="95250" marT="76200" marB="76200" anchor="ctr">
                    <a:solidFill>
                      <a:srgbClr val="F0F5F8"/>
                    </a:solidFill>
                  </a:tcPr>
                </a:tc>
              </a:tr>
              <a:tr h="552450">
                <a:tc>
                  <a:txBody>
                    <a:bodyPr/>
                    <a:lstStyle/>
                    <a:p>
                      <a:r>
                        <a:rPr sz="1950" b="0">
                          <a:solidFill>
                            <a:srgbClr val="142A45"/>
                          </a:solidFill>
                          <a:latin typeface="Arial"/>
                          <a:ea typeface="Arial"/>
                          <a:cs typeface="Arial"/>
                        </a:rPr>
                        <a:t>Cat on bed</a:t>
                      </a:r>
                    </a:p>
                  </a:txBody>
                  <a:tcPr marL="95250" marR="95250" marT="76200" marB="76200" anchor="ctr">
                    <a:solidFill>
                      <a:srgbClr val="FFFFFF"/>
                    </a:solidFill>
                  </a:tcPr>
                </a:tc>
                <a:tc>
                  <a:txBody>
                    <a:bodyPr/>
                    <a:lstStyle/>
                    <a:p>
                      <a:r>
                        <a:rPr sz="1950" b="0">
                          <a:solidFill>
                            <a:srgbClr val="142A45"/>
                          </a:solidFill>
                          <a:latin typeface="Arial"/>
                          <a:ea typeface="Arial"/>
                          <a:cs typeface="Arial"/>
                        </a:rPr>
                        <a:t>Cat on bed</a:t>
                      </a:r>
                    </a:p>
                  </a:txBody>
                  <a:tcPr marL="95250" marR="95250" marT="76200" marB="76200" anchor="ctr">
                    <a:solidFill>
                      <a:srgbClr val="FFFFFF"/>
                    </a:solidFill>
                  </a:tcPr>
                </a:tc>
                <a:tc>
                  <a:txBody>
                    <a:bodyPr/>
                    <a:lstStyle/>
                    <a:p>
                      <a:r>
                        <a:rPr sz="1950" b="0">
                          <a:solidFill>
                            <a:srgbClr val="142A45"/>
                          </a:solidFill>
                          <a:latin typeface="Arial"/>
                          <a:ea typeface="Arial"/>
                          <a:cs typeface="Arial"/>
                        </a:rPr>
                        <a:t>Yes</a:t>
                      </a:r>
                    </a:p>
                  </a:txBody>
                  <a:tcPr marL="95250" marR="95250" marT="76200" marB="76200" anchor="ctr">
                    <a:solidFill>
                      <a:srgbClr val="FFFFFF"/>
                    </a:solidFill>
                  </a:tcPr>
                </a:tc>
              </a:tr>
              <a:tr h="552450">
                <a:tc>
                  <a:txBody>
                    <a:bodyPr/>
                    <a:lstStyle/>
                    <a:p>
                      <a:r>
                        <a:rPr sz="1950" b="0">
                          <a:solidFill>
                            <a:srgbClr val="142A45"/>
                          </a:solidFill>
                          <a:latin typeface="Arial"/>
                          <a:ea typeface="Arial"/>
                          <a:cs typeface="Arial"/>
                        </a:rPr>
                        <a:t>Dog on chair</a:t>
                      </a:r>
                    </a:p>
                  </a:txBody>
                  <a:tcPr marL="95250" marR="95250" marT="76200" marB="76200" anchor="ctr">
                    <a:solidFill>
                      <a:srgbClr val="F0F5F8"/>
                    </a:solidFill>
                  </a:tcPr>
                </a:tc>
                <a:tc>
                  <a:txBody>
                    <a:bodyPr/>
                    <a:lstStyle/>
                    <a:p>
                      <a:r>
                        <a:rPr sz="1950" b="0">
                          <a:solidFill>
                            <a:srgbClr val="142A45"/>
                          </a:solidFill>
                          <a:latin typeface="Arial"/>
                          <a:ea typeface="Arial"/>
                          <a:cs typeface="Arial"/>
                        </a:rPr>
                        <a:t>Kitten on grass</a:t>
                      </a:r>
                    </a:p>
                  </a:txBody>
                  <a:tcPr marL="95250" marR="95250" marT="76200" marB="76200" anchor="ctr">
                    <a:solidFill>
                      <a:srgbClr val="F0F5F8"/>
                    </a:solidFill>
                  </a:tcPr>
                </a:tc>
                <a:tc>
                  <a:txBody>
                    <a:bodyPr/>
                    <a:lstStyle/>
                    <a:p>
                      <a:r>
                        <a:rPr sz="1950" b="0">
                          <a:solidFill>
                            <a:srgbClr val="142A45"/>
                          </a:solidFill>
                          <a:latin typeface="Arial"/>
                          <a:ea typeface="Arial"/>
                          <a:cs typeface="Arial"/>
                        </a:rPr>
                        <a:t>No</a:t>
                      </a:r>
                    </a:p>
                  </a:txBody>
                  <a:tcPr marL="95250" marR="95250" marT="76200" marB="76200" anchor="ctr">
                    <a:solidFill>
                      <a:srgbClr val="F0F5F8"/>
                    </a:solidFill>
                  </a:tcPr>
                </a:tc>
              </a:tr>
              <a:tr h="552450">
                <a:tc>
                  <a:txBody>
                    <a:bodyPr/>
                    <a:lstStyle/>
                    <a:p>
                      <a:r>
                        <a:rPr sz="1950" b="0">
                          <a:solidFill>
                            <a:srgbClr val="142A45"/>
                          </a:solidFill>
                          <a:latin typeface="Arial"/>
                          <a:ea typeface="Arial"/>
                          <a:cs typeface="Arial"/>
                        </a:rPr>
                        <a:t>Chair without cat</a:t>
                      </a:r>
                    </a:p>
                  </a:txBody>
                  <a:tcPr marL="95250" marR="95250" marT="76200" marB="76200" anchor="ctr">
                    <a:solidFill>
                      <a:srgbClr val="FFFFFF"/>
                    </a:solidFill>
                  </a:tcPr>
                </a:tc>
                <a:tc>
                  <a:txBody>
                    <a:bodyPr/>
                    <a:lstStyle/>
                    <a:p>
                      <a:r>
                        <a:rPr sz="1950" b="0">
                          <a:solidFill>
                            <a:srgbClr val="142A45"/>
                          </a:solidFill>
                          <a:latin typeface="Arial"/>
                          <a:ea typeface="Arial"/>
                          <a:cs typeface="Arial"/>
                        </a:rPr>
                        <a:t>Dog on sofa</a:t>
                      </a:r>
                    </a:p>
                  </a:txBody>
                  <a:tcPr marL="95250" marR="95250" marT="76200" marB="76200" anchor="ctr">
                    <a:solidFill>
                      <a:srgbClr val="FFFFFF"/>
                    </a:solidFill>
                  </a:tcPr>
                </a:tc>
                <a:tc>
                  <a:txBody>
                    <a:bodyPr/>
                    <a:lstStyle/>
                    <a:p>
                      <a:r>
                        <a:rPr sz="1950" b="0">
                          <a:solidFill>
                            <a:srgbClr val="142A45"/>
                          </a:solidFill>
                          <a:latin typeface="Arial"/>
                          <a:ea typeface="Arial"/>
                          <a:cs typeface="Arial"/>
                        </a:rPr>
                        <a:t>No</a:t>
                      </a:r>
                    </a:p>
                  </a:txBody>
                  <a:tcPr marL="95250" marR="95250" marT="76200" marB="762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0BA0E0E-B608-4AF3-BE53-613AA81C5CE8}"/>
              </a:ext>
            </a:extLst>
          </p:cNvPr>
          <p:cNvSpPr>
            <a:spLocks xmlns:a="http://schemas.openxmlformats.org/drawingml/2006/main" noGrp="1"/>
          </p:cNvSpPr>
          <p:nvPr/>
        </p:nvSpPr>
        <p:spPr>
          <a:xfrm xmlns:a="http://schemas.openxmlformats.org/drawingml/2006/main">
            <a:off x="571500" y="476250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965C0"/>
                </a:solidFill>
                <a:latin typeface="Arial"/>
                <a:ea typeface="Arial"/>
                <a:cs typeface="Arial"/>
              </a:defRPr>
            </a:pPr>
            <a:r>
              <a:rPr sz="2400" b="1">
                <a:solidFill>
                  <a:srgbClr val="2965C0"/>
                </a:solidFill>
                <a:latin typeface="Arial"/>
                <a:ea typeface="Arial"/>
                <a:cs typeface="Arial"/>
              </a:rPr>
              <a:t>Overlap = 2 / 4 = 50%</a:t>
            </a:r>
          </a:p>
        </p:txBody>
      </p:sp>
      <p:sp>
        <p:nvSpPr>
          <p:cNvPr id="6" name="">
            <a:extLst xmlns:a="http://schemas.openxmlformats.org/drawingml/2006/main">
              <a:ext uri="{FF2B5EF4-FFF2-40B4-BE49-F238E27FC236}">
                <a16:creationId xmlns:a16="http://schemas.microsoft.com/office/drawing/2014/main" id="{3684A9AE-2D80-4124-BDB0-A023508CEB46}"/>
              </a:ext>
            </a:extLst>
          </p:cNvPr>
          <p:cNvSpPr>
            <a:spLocks xmlns:a="http://schemas.openxmlformats.org/drawingml/2006/main" noGrp="1"/>
          </p:cNvSpPr>
          <p:nvPr/>
        </p:nvSpPr>
        <p:spPr>
          <a:xfrm xmlns:a="http://schemas.openxmlformats.org/drawingml/2006/main">
            <a:off x="6334125" y="47625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F83"/>
                </a:solidFill>
                <a:latin typeface="Arial"/>
                <a:ea typeface="Arial"/>
                <a:cs typeface="Arial"/>
              </a:defRPr>
            </a:pPr>
            <a:r>
              <a:rPr sz="2400" b="1">
                <a:solidFill>
                  <a:srgbClr val="087F83"/>
                </a:solidFill>
                <a:latin typeface="Arial"/>
                <a:ea typeface="Arial"/>
                <a:cs typeface="Arial"/>
              </a:rPr>
              <a:t>Chance = 4 / 100 = 4%</a:t>
            </a:r>
          </a:p>
        </p:txBody>
      </p:sp>
      <p:sp>
        <p:nvSpPr>
          <p:cNvPr id="7" name="">
            <a:extLst xmlns:a="http://schemas.openxmlformats.org/drawingml/2006/main">
              <a:ext uri="{FF2B5EF4-FFF2-40B4-BE49-F238E27FC236}">
                <a16:creationId xmlns:a16="http://schemas.microsoft.com/office/drawing/2014/main" id="{3F58B65C-2B7D-4C46-B006-095E0EAC28AD}"/>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Toy example: 50% / 4% = 12.5× chance. Same neighbors, despite different coordinates.</a:t>
            </a:r>
          </a:p>
        </p:txBody>
      </p:sp>
    </p:spTree>
    <p:extLst>
      <p:ext uri="{BB962C8B-B14F-4D97-AF65-F5344CB8AC3E}">
        <p14:creationId xmlns:p14="http://schemas.microsoft.com/office/powerpoint/2010/main" val="134217929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4784730-913A-4132-B2FF-9F0479E8192E}"/>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Backup: how to read the remaining metrics</a:t>
            </a:r>
          </a:p>
        </p:txBody>
      </p:sp>
      <p:sp>
        <p:nvSpPr>
          <p:cNvPr id="2" name="">
            <a:extLst xmlns:a="http://schemas.openxmlformats.org/drawingml/2006/main">
              <a:ext uri="{FF2B5EF4-FFF2-40B4-BE49-F238E27FC236}">
                <a16:creationId xmlns:a16="http://schemas.microsoft.com/office/drawing/2014/main" id="{E5FC67B5-304D-43AB-BF0D-41300C73E40B}"/>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3, 11 | Companion report D.2</a:t>
            </a:r>
          </a:p>
        </p:txBody>
      </p:sp>
      <p:sp>
        <p:nvSpPr>
          <p:cNvPr id="3" name="">
            <a:extLst xmlns:a="http://schemas.openxmlformats.org/drawingml/2006/main">
              <a:ext uri="{FF2B5EF4-FFF2-40B4-BE49-F238E27FC236}">
                <a16:creationId xmlns:a16="http://schemas.microsoft.com/office/drawing/2014/main" id="{6FC3D7FB-4763-4FF2-89F7-AC8BBDE6C75F}"/>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23</a:t>
            </a:r>
          </a:p>
        </p:txBody>
      </p:sp>
      <p:graphicFrame>
        <p:nvGraphicFramePr>
          <p:cNvPr id="8" name=""/>
          <p:cNvGraphicFramePr/>
          <p:nvPr/>
        </p:nvGraphicFramePr>
        <p:xfrm>
          <a:off xmlns:a="http://schemas.openxmlformats.org/drawingml/2006/main" x="571500" y="1524000"/>
          <a:ext xmlns:a="http://schemas.openxmlformats.org/drawingml/2006/main" cx="11049000" cy="4191000"/>
        </p:xfrm>
        <a:graphic xmlns:a="http://schemas.openxmlformats.org/drawingml/2006/main">
          <a:graphicData uri="http://schemas.openxmlformats.org/drawingml/2006/table">
            <a:tbl>
              <a:tblPr/>
              <a:tblGrid>
                <a:gridCol w="2381250"/>
                <a:gridCol w="4619625"/>
                <a:gridCol w="4048125"/>
              </a:tblGrid>
              <a:tr h="698500">
                <a:tc>
                  <a:txBody>
                    <a:bodyPr/>
                    <a:lstStyle/>
                    <a:p>
                      <a:r>
                        <a:rPr sz="1725" b="1">
                          <a:solidFill>
                            <a:srgbClr val="FFFFFF"/>
                          </a:solidFill>
                          <a:latin typeface="Arial"/>
                          <a:ea typeface="Arial"/>
                          <a:cs typeface="Arial"/>
                        </a:rPr>
                        <a:t>Metric</a:t>
                      </a:r>
                    </a:p>
                  </a:txBody>
                  <a:tcPr marL="95250" marR="95250" marT="76200" marB="76200" anchor="ctr">
                    <a:solidFill>
                      <a:srgbClr val="142A45"/>
                    </a:solidFill>
                  </a:tcPr>
                </a:tc>
                <a:tc>
                  <a:txBody>
                    <a:bodyPr/>
                    <a:lstStyle/>
                    <a:p>
                      <a:r>
                        <a:rPr sz="1725" b="1">
                          <a:solidFill>
                            <a:srgbClr val="FFFFFF"/>
                          </a:solidFill>
                          <a:latin typeface="Arial"/>
                          <a:ea typeface="Arial"/>
                          <a:cs typeface="Arial"/>
                        </a:rPr>
                        <a:t>Plain interpretation</a:t>
                      </a:r>
                    </a:p>
                  </a:txBody>
                  <a:tcPr marL="95250" marR="95250" marT="76200" marB="76200" anchor="ctr">
                    <a:solidFill>
                      <a:srgbClr val="142A45"/>
                    </a:solidFill>
                  </a:tcPr>
                </a:tc>
                <a:tc>
                  <a:txBody>
                    <a:bodyPr/>
                    <a:lstStyle/>
                    <a:p>
                      <a:r>
                        <a:rPr sz="1725" b="1">
                          <a:solidFill>
                            <a:srgbClr val="FFFFFF"/>
                          </a:solidFill>
                          <a:latin typeface="Arial"/>
                          <a:ea typeface="Arial"/>
                          <a:cs typeface="Arial"/>
                        </a:rPr>
                        <a:t>Important limit</a:t>
                      </a:r>
                    </a:p>
                  </a:txBody>
                  <a:tcPr marL="95250" marR="95250" marT="76200" marB="76200" anchor="ctr">
                    <a:solidFill>
                      <a:srgbClr val="142A45"/>
                    </a:solidFill>
                  </a:tcPr>
                </a:tc>
              </a:tr>
              <a:tr h="698500">
                <a:tc>
                  <a:txBody>
                    <a:bodyPr/>
                    <a:lstStyle/>
                    <a:p>
                      <a:r>
                        <a:rPr sz="1725" b="0">
                          <a:solidFill>
                            <a:srgbClr val="142A45"/>
                          </a:solidFill>
                          <a:latin typeface="Arial"/>
                          <a:ea typeface="Arial"/>
                          <a:cs typeface="Arial"/>
                        </a:rPr>
                        <a:t>CKA</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Centered kernel alignment compares similarity structures.</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Use matched controls and sample/width checks.</a:t>
                      </a:r>
                    </a:p>
                  </a:txBody>
                  <a:tcPr marL="95250" marR="95250" marT="76200" marB="76200" anchor="ctr">
                    <a:solidFill>
                      <a:srgbClr val="F0F5F8"/>
                    </a:solidFill>
                  </a:tcPr>
                </a:tc>
              </a:tr>
              <a:tr h="698500">
                <a:tc>
                  <a:txBody>
                    <a:bodyPr/>
                    <a:lstStyle/>
                    <a:p>
                      <a:r>
                        <a:rPr sz="1725" b="0">
                          <a:solidFill>
                            <a:srgbClr val="142A45"/>
                          </a:solidFill>
                          <a:latin typeface="Arial"/>
                          <a:ea typeface="Arial"/>
                          <a:cs typeface="Arial"/>
                        </a:rPr>
                        <a:t>CKNNA</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Alignment restricted to mutual nearest neighbors.</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State k and compare against its own global limit.</a:t>
                      </a:r>
                    </a:p>
                  </a:txBody>
                  <a:tcPr marL="95250" marR="95250" marT="76200" marB="76200" anchor="ctr">
                    <a:solidFill>
                      <a:srgbClr val="FFFFFF"/>
                    </a:solidFill>
                  </a:tcPr>
                </a:tc>
              </a:tr>
              <a:tr h="698500">
                <a:tc>
                  <a:txBody>
                    <a:bodyPr/>
                    <a:lstStyle/>
                    <a:p>
                      <a:r>
                        <a:rPr sz="1725" b="0">
                          <a:solidFill>
                            <a:srgbClr val="142A45"/>
                          </a:solidFill>
                          <a:latin typeface="Arial"/>
                          <a:ea typeface="Arial"/>
                          <a:cs typeface="Arial"/>
                        </a:rPr>
                        <a:t>Effective rank</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How concentrated a spectrum is across directions.</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Depends on centering and the rank definition.</a:t>
                      </a:r>
                    </a:p>
                  </a:txBody>
                  <a:tcPr marL="95250" marR="95250" marT="76200" marB="76200" anchor="ctr">
                    <a:solidFill>
                      <a:srgbClr val="F0F5F8"/>
                    </a:solidFill>
                  </a:tcPr>
                </a:tc>
              </a:tr>
              <a:tr h="698500">
                <a:tc>
                  <a:txBody>
                    <a:bodyPr/>
                    <a:lstStyle/>
                    <a:p>
                      <a:r>
                        <a:rPr sz="1725" b="0">
                          <a:solidFill>
                            <a:srgbClr val="142A45"/>
                          </a:solidFill>
                          <a:latin typeface="Arial"/>
                          <a:ea typeface="Arial"/>
                          <a:cs typeface="Arial"/>
                        </a:rPr>
                        <a:t>Pair-cosine</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Average direction similarity between sampled items.</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High values can reflect a dominant shared direction.</a:t>
                      </a:r>
                    </a:p>
                  </a:txBody>
                  <a:tcPr marL="95250" marR="95250" marT="76200" marB="76200" anchor="ctr">
                    <a:solidFill>
                      <a:srgbClr val="FFFFFF"/>
                    </a:solidFill>
                  </a:tcPr>
                </a:tc>
              </a:tr>
              <a:tr h="698500">
                <a:tc>
                  <a:txBody>
                    <a:bodyPr/>
                    <a:lstStyle/>
                    <a:p>
                      <a:r>
                        <a:rPr sz="1725" b="0">
                          <a:solidFill>
                            <a:srgbClr val="142A45"/>
                          </a:solidFill>
                          <a:latin typeface="Arial"/>
                          <a:ea typeface="Arial"/>
                          <a:cs typeface="Arial"/>
                        </a:rPr>
                        <a:t>R@K / retention</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Absolute success rate / ratio to a native reference.</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The ratio can exceed 100%. It is not an accuracy.</a:t>
                      </a:r>
                    </a:p>
                  </a:txBody>
                  <a:tcPr marL="95250" marR="95250" marT="76200" marB="76200" anchor="ctr">
                    <a:solidFill>
                      <a:srgbClr val="F0F5F8"/>
                    </a:solidFill>
                  </a:tcPr>
                </a:tc>
              </a:tr>
            </a:tbl>
          </a:graphicData>
        </a:graphic>
      </p:graphicFrame>
    </p:spTree>
    <p:extLst>
      <p:ext uri="{BB962C8B-B14F-4D97-AF65-F5344CB8AC3E}">
        <p14:creationId xmlns:p14="http://schemas.microsoft.com/office/powerpoint/2010/main" val="49126427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A82E549-76B5-4E4A-8D39-53A37EED2D6F}"/>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Backup: language and text models</a:t>
            </a:r>
          </a:p>
        </p:txBody>
      </p:sp>
      <p:sp>
        <p:nvSpPr>
          <p:cNvPr id="2" name="">
            <a:extLst xmlns:a="http://schemas.openxmlformats.org/drawingml/2006/main">
              <a:ext uri="{FF2B5EF4-FFF2-40B4-BE49-F238E27FC236}">
                <a16:creationId xmlns:a16="http://schemas.microsoft.com/office/drawing/2014/main" id="{BEDA5F21-C1F4-4678-A0CC-9041EFCE73DB}"/>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1, 6, 9 | Report E.10 | Official model cards cited in prior source deck</a:t>
            </a:r>
          </a:p>
        </p:txBody>
      </p:sp>
      <p:sp>
        <p:nvSpPr>
          <p:cNvPr id="3" name="">
            <a:extLst xmlns:a="http://schemas.openxmlformats.org/drawingml/2006/main">
              <a:ext uri="{FF2B5EF4-FFF2-40B4-BE49-F238E27FC236}">
                <a16:creationId xmlns:a16="http://schemas.microsoft.com/office/drawing/2014/main" id="{70C081C3-9269-4F52-B5E3-D7208B39629B}"/>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24</a:t>
            </a:r>
          </a:p>
        </p:txBody>
      </p:sp>
      <p:graphicFrame>
        <p:nvGraphicFramePr>
          <p:cNvPr id="8" name=""/>
          <p:cNvGraphicFramePr/>
          <p:nvPr/>
        </p:nvGraphicFramePr>
        <p:xfrm>
          <a:off xmlns:a="http://schemas.openxmlformats.org/drawingml/2006/main" x="571500" y="1524000"/>
          <a:ext xmlns:a="http://schemas.openxmlformats.org/drawingml/2006/main" cx="11049000" cy="4143375"/>
        </p:xfrm>
        <a:graphic xmlns:a="http://schemas.openxmlformats.org/drawingml/2006/main">
          <a:graphicData uri="http://schemas.openxmlformats.org/drawingml/2006/table">
            <a:tbl>
              <a:tblPr/>
              <a:tblGrid>
                <a:gridCol w="2762250"/>
                <a:gridCol w="1857375"/>
                <a:gridCol w="1762125"/>
                <a:gridCol w="4667250"/>
              </a:tblGrid>
              <a:tr h="690563">
                <a:tc>
                  <a:txBody>
                    <a:bodyPr/>
                    <a:lstStyle/>
                    <a:p>
                      <a:r>
                        <a:rPr sz="1725" b="1">
                          <a:solidFill>
                            <a:srgbClr val="FFFFFF"/>
                          </a:solidFill>
                          <a:latin typeface="Arial"/>
                          <a:ea typeface="Arial"/>
                          <a:cs typeface="Arial"/>
                        </a:rPr>
                        <a:t>Model</a:t>
                      </a:r>
                    </a:p>
                  </a:txBody>
                  <a:tcPr marL="95250" marR="95250" marT="76200" marB="76200" anchor="ctr">
                    <a:solidFill>
                      <a:srgbClr val="142A45"/>
                    </a:solidFill>
                  </a:tcPr>
                </a:tc>
                <a:tc>
                  <a:txBody>
                    <a:bodyPr/>
                    <a:lstStyle/>
                    <a:p>
                      <a:r>
                        <a:rPr sz="1725" b="1">
                          <a:solidFill>
                            <a:srgbClr val="FFFFFF"/>
                          </a:solidFill>
                          <a:latin typeface="Arial"/>
                          <a:ea typeface="Arial"/>
                          <a:cs typeface="Arial"/>
                        </a:rPr>
                        <a:t>Parameters ≈</a:t>
                      </a:r>
                    </a:p>
                  </a:txBody>
                  <a:tcPr marL="95250" marR="95250" marT="76200" marB="76200" anchor="ctr">
                    <a:solidFill>
                      <a:srgbClr val="142A45"/>
                    </a:solidFill>
                  </a:tcPr>
                </a:tc>
                <a:tc>
                  <a:txBody>
                    <a:bodyPr/>
                    <a:lstStyle/>
                    <a:p>
                      <a:r>
                        <a:rPr sz="1725" b="1">
                          <a:solidFill>
                            <a:srgbClr val="FFFFFF"/>
                          </a:solidFill>
                          <a:latin typeface="Arial"/>
                          <a:ea typeface="Arial"/>
                          <a:cs typeface="Arial"/>
                        </a:rPr>
                        <a:t>Vector width</a:t>
                      </a:r>
                    </a:p>
                  </a:txBody>
                  <a:tcPr marL="95250" marR="95250" marT="76200" marB="76200" anchor="ctr">
                    <a:solidFill>
                      <a:srgbClr val="142A45"/>
                    </a:solidFill>
                  </a:tcPr>
                </a:tc>
                <a:tc>
                  <a:txBody>
                    <a:bodyPr/>
                    <a:lstStyle/>
                    <a:p>
                      <a:r>
                        <a:rPr sz="1725" b="1">
                          <a:solidFill>
                            <a:srgbClr val="FFFFFF"/>
                          </a:solidFill>
                          <a:latin typeface="Arial"/>
                          <a:ea typeface="Arial"/>
                          <a:cs typeface="Arial"/>
                        </a:rPr>
                        <a:t>Training / project role</a:t>
                      </a:r>
                    </a:p>
                  </a:txBody>
                  <a:tcPr marL="95250" marR="95250" marT="76200" marB="76200" anchor="ctr">
                    <a:solidFill>
                      <a:srgbClr val="142A45"/>
                    </a:solidFill>
                  </a:tcPr>
                </a:tc>
              </a:tr>
              <a:tr h="690563">
                <a:tc>
                  <a:txBody>
                    <a:bodyPr/>
                    <a:lstStyle/>
                    <a:p>
                      <a:r>
                        <a:rPr sz="1725" b="0">
                          <a:solidFill>
                            <a:srgbClr val="142A45"/>
                          </a:solidFill>
                          <a:latin typeface="Arial"/>
                          <a:ea typeface="Arial"/>
                          <a:cs typeface="Arial"/>
                        </a:rPr>
                        <a:t>GPT-2</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124M</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768</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Next-token / Experiment A and hub text space</a:t>
                      </a:r>
                    </a:p>
                  </a:txBody>
                  <a:tcPr marL="95250" marR="95250" marT="76200" marB="76200" anchor="ctr">
                    <a:solidFill>
                      <a:srgbClr val="F0F5F8"/>
                    </a:solidFill>
                  </a:tcPr>
                </a:tc>
              </a:tr>
              <a:tr h="690563">
                <a:tc>
                  <a:txBody>
                    <a:bodyPr/>
                    <a:lstStyle/>
                    <a:p>
                      <a:r>
                        <a:rPr sz="1725" b="0">
                          <a:solidFill>
                            <a:srgbClr val="142A45"/>
                          </a:solidFill>
                          <a:latin typeface="Arial"/>
                          <a:ea typeface="Arial"/>
                          <a:cs typeface="Arial"/>
                        </a:rPr>
                        <a:t>Pythia</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160M</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768 per layer</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Next-token / trained and random controls</a:t>
                      </a:r>
                    </a:p>
                  </a:txBody>
                  <a:tcPr marL="95250" marR="95250" marT="76200" marB="76200" anchor="ctr">
                    <a:solidFill>
                      <a:srgbClr val="FFFFFF"/>
                    </a:solidFill>
                  </a:tcPr>
                </a:tc>
              </a:tr>
              <a:tr h="690563">
                <a:tc>
                  <a:txBody>
                    <a:bodyPr/>
                    <a:lstStyle/>
                    <a:p>
                      <a:r>
                        <a:rPr sz="1725" b="0">
                          <a:solidFill>
                            <a:srgbClr val="142A45"/>
                          </a:solidFill>
                          <a:latin typeface="Arial"/>
                          <a:ea typeface="Arial"/>
                          <a:cs typeface="Arial"/>
                        </a:rPr>
                        <a:t>BERT-base</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110M</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768</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Masked tokens / hub text member</a:t>
                      </a:r>
                    </a:p>
                  </a:txBody>
                  <a:tcPr marL="95250" marR="95250" marT="76200" marB="76200" anchor="ctr">
                    <a:solidFill>
                      <a:srgbClr val="F0F5F8"/>
                    </a:solidFill>
                  </a:tcPr>
                </a:tc>
              </a:tr>
              <a:tr h="690563">
                <a:tc>
                  <a:txBody>
                    <a:bodyPr/>
                    <a:lstStyle/>
                    <a:p>
                      <a:r>
                        <a:rPr sz="1725" b="0">
                          <a:solidFill>
                            <a:srgbClr val="142A45"/>
                          </a:solidFill>
                          <a:latin typeface="Arial"/>
                          <a:ea typeface="Arial"/>
                          <a:cs typeface="Arial"/>
                        </a:rPr>
                        <a:t>SBERT all-mpnet</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110M</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768</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Sentence-pair contrastive tuning / hub member</a:t>
                      </a:r>
                    </a:p>
                  </a:txBody>
                  <a:tcPr marL="95250" marR="95250" marT="76200" marB="76200" anchor="ctr">
                    <a:solidFill>
                      <a:srgbClr val="FFFFFF"/>
                    </a:solidFill>
                  </a:tcPr>
                </a:tc>
              </a:tr>
              <a:tr h="690563">
                <a:tc>
                  <a:txBody>
                    <a:bodyPr/>
                    <a:lstStyle/>
                    <a:p>
                      <a:r>
                        <a:rPr sz="1725" b="0">
                          <a:solidFill>
                            <a:srgbClr val="142A45"/>
                          </a:solidFill>
                          <a:latin typeface="Arial"/>
                          <a:ea typeface="Arial"/>
                          <a:cs typeface="Arial"/>
                        </a:rPr>
                        <a:t>bge-m3</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568M</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1,024</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Multilingual retrieval / hub member and caption target</a:t>
                      </a:r>
                    </a:p>
                  </a:txBody>
                  <a:tcPr marL="95250" marR="95250" marT="76200" marB="76200" anchor="ctr">
                    <a:solidFill>
                      <a:srgbClr val="F0F5F8"/>
                    </a:solidFill>
                  </a:tcPr>
                </a:tc>
              </a:tr>
            </a:tbl>
          </a:graphicData>
        </a:graphic>
      </p:graphicFrame>
    </p:spTree>
    <p:extLst>
      <p:ext uri="{BB962C8B-B14F-4D97-AF65-F5344CB8AC3E}">
        <p14:creationId xmlns:p14="http://schemas.microsoft.com/office/powerpoint/2010/main" val="100371454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2F6EC75-3DDE-4078-B3F3-D39BDE92D37C}"/>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Backup: vision models and feature pooling</a:t>
            </a:r>
          </a:p>
        </p:txBody>
      </p:sp>
      <p:sp>
        <p:nvSpPr>
          <p:cNvPr id="2" name="">
            <a:extLst xmlns:a="http://schemas.openxmlformats.org/drawingml/2006/main">
              <a:ext uri="{FF2B5EF4-FFF2-40B4-BE49-F238E27FC236}">
                <a16:creationId xmlns:a16="http://schemas.microsoft.com/office/drawing/2014/main" id="{F0BF14CC-461A-45DD-9E4B-4BAA13AB13DE}"/>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1, 4, 6, 9 | Report E.10 | Official model cards</a:t>
            </a:r>
          </a:p>
        </p:txBody>
      </p:sp>
      <p:sp>
        <p:nvSpPr>
          <p:cNvPr id="3" name="">
            <a:extLst xmlns:a="http://schemas.openxmlformats.org/drawingml/2006/main">
              <a:ext uri="{FF2B5EF4-FFF2-40B4-BE49-F238E27FC236}">
                <a16:creationId xmlns:a16="http://schemas.microsoft.com/office/drawing/2014/main" id="{7B4442BB-1F81-4670-8D80-270E18B17F1E}"/>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25</a:t>
            </a:r>
          </a:p>
        </p:txBody>
      </p:sp>
      <p:graphicFrame>
        <p:nvGraphicFramePr>
          <p:cNvPr id="8" name=""/>
          <p:cNvGraphicFramePr/>
          <p:nvPr/>
        </p:nvGraphicFramePr>
        <p:xfrm>
          <a:off xmlns:a="http://schemas.openxmlformats.org/drawingml/2006/main" x="571500" y="1524000"/>
          <a:ext xmlns:a="http://schemas.openxmlformats.org/drawingml/2006/main" cx="11049000" cy="4143375"/>
        </p:xfrm>
        <a:graphic xmlns:a="http://schemas.openxmlformats.org/drawingml/2006/main">
          <a:graphicData uri="http://schemas.openxmlformats.org/drawingml/2006/table">
            <a:tbl>
              <a:tblPr/>
              <a:tblGrid>
                <a:gridCol w="2667000"/>
                <a:gridCol w="2047875"/>
                <a:gridCol w="2667000"/>
                <a:gridCol w="3667125"/>
              </a:tblGrid>
              <a:tr h="690563">
                <a:tc>
                  <a:txBody>
                    <a:bodyPr/>
                    <a:lstStyle/>
                    <a:p>
                      <a:r>
                        <a:rPr sz="1725" b="1">
                          <a:solidFill>
                            <a:srgbClr val="FFFFFF"/>
                          </a:solidFill>
                          <a:latin typeface="Arial"/>
                          <a:ea typeface="Arial"/>
                          <a:cs typeface="Arial"/>
                        </a:rPr>
                        <a:t>Model</a:t>
                      </a:r>
                    </a:p>
                  </a:txBody>
                  <a:tcPr marL="95250" marR="95250" marT="76200" marB="76200" anchor="ctr">
                    <a:solidFill>
                      <a:srgbClr val="142A45"/>
                    </a:solidFill>
                  </a:tcPr>
                </a:tc>
                <a:tc>
                  <a:txBody>
                    <a:bodyPr/>
                    <a:lstStyle/>
                    <a:p>
                      <a:r>
                        <a:rPr sz="1725" b="1">
                          <a:solidFill>
                            <a:srgbClr val="FFFFFF"/>
                          </a:solidFill>
                          <a:latin typeface="Arial"/>
                          <a:ea typeface="Arial"/>
                          <a:cs typeface="Arial"/>
                        </a:rPr>
                        <a:t>Parameters ≈</a:t>
                      </a:r>
                    </a:p>
                  </a:txBody>
                  <a:tcPr marL="95250" marR="95250" marT="76200" marB="76200" anchor="ctr">
                    <a:solidFill>
                      <a:srgbClr val="142A45"/>
                    </a:solidFill>
                  </a:tcPr>
                </a:tc>
                <a:tc>
                  <a:txBody>
                    <a:bodyPr/>
                    <a:lstStyle/>
                    <a:p>
                      <a:r>
                        <a:rPr sz="1725" b="1">
                          <a:solidFill>
                            <a:srgbClr val="FFFFFF"/>
                          </a:solidFill>
                          <a:latin typeface="Arial"/>
                          <a:ea typeface="Arial"/>
                          <a:cs typeface="Arial"/>
                        </a:rPr>
                        <a:t>Project feature width</a:t>
                      </a:r>
                    </a:p>
                  </a:txBody>
                  <a:tcPr marL="95250" marR="95250" marT="76200" marB="76200" anchor="ctr">
                    <a:solidFill>
                      <a:srgbClr val="142A45"/>
                    </a:solidFill>
                  </a:tcPr>
                </a:tc>
                <a:tc>
                  <a:txBody>
                    <a:bodyPr/>
                    <a:lstStyle/>
                    <a:p>
                      <a:r>
                        <a:rPr sz="1725" b="1">
                          <a:solidFill>
                            <a:srgbClr val="FFFFFF"/>
                          </a:solidFill>
                          <a:latin typeface="Arial"/>
                          <a:ea typeface="Arial"/>
                          <a:cs typeface="Arial"/>
                        </a:rPr>
                        <a:t>Training signal</a:t>
                      </a:r>
                    </a:p>
                  </a:txBody>
                  <a:tcPr marL="95250" marR="95250" marT="76200" marB="76200" anchor="ctr">
                    <a:solidFill>
                      <a:srgbClr val="142A45"/>
                    </a:solidFill>
                  </a:tcPr>
                </a:tc>
              </a:tr>
              <a:tr h="690563">
                <a:tc>
                  <a:txBody>
                    <a:bodyPr/>
                    <a:lstStyle/>
                    <a:p>
                      <a:r>
                        <a:rPr sz="1725" b="0">
                          <a:solidFill>
                            <a:srgbClr val="142A45"/>
                          </a:solidFill>
                          <a:latin typeface="Arial"/>
                          <a:ea typeface="Arial"/>
                          <a:cs typeface="Arial"/>
                        </a:rPr>
                        <a:t>MobileCLIP-S1</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21.5M vision</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512</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Image-text pairs and distillation</a:t>
                      </a:r>
                    </a:p>
                  </a:txBody>
                  <a:tcPr marL="95250" marR="95250" marT="76200" marB="76200" anchor="ctr">
                    <a:solidFill>
                      <a:srgbClr val="F0F5F8"/>
                    </a:solidFill>
                  </a:tcPr>
                </a:tc>
              </a:tr>
              <a:tr h="690563">
                <a:tc>
                  <a:txBody>
                    <a:bodyPr/>
                    <a:lstStyle/>
                    <a:p>
                      <a:r>
                        <a:rPr sz="1725" b="0">
                          <a:solidFill>
                            <a:srgbClr val="142A45"/>
                          </a:solidFill>
                          <a:latin typeface="Arial"/>
                          <a:ea typeface="Arial"/>
                          <a:cs typeface="Arial"/>
                        </a:rPr>
                        <a:t>SigLIP 2 base</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0.4B full model</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768</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Image-text sigmoid loss and auxiliary objectives</a:t>
                      </a:r>
                    </a:p>
                  </a:txBody>
                  <a:tcPr marL="95250" marR="95250" marT="76200" marB="76200" anchor="ctr">
                    <a:solidFill>
                      <a:srgbClr val="FFFFFF"/>
                    </a:solidFill>
                  </a:tcPr>
                </a:tc>
              </a:tr>
              <a:tr h="690563">
                <a:tc>
                  <a:txBody>
                    <a:bodyPr/>
                    <a:lstStyle/>
                    <a:p>
                      <a:r>
                        <a:rPr sz="1725" b="0">
                          <a:solidFill>
                            <a:srgbClr val="142A45"/>
                          </a:solidFill>
                          <a:latin typeface="Arial"/>
                          <a:ea typeface="Arial"/>
                          <a:cs typeface="Arial"/>
                        </a:rPr>
                        <a:t>DINOv2 S / B / L</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22 / 87 / 304M</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768 / 1536 / 2048</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Self-supervised visual views, no caption loss</a:t>
                      </a:r>
                    </a:p>
                  </a:txBody>
                  <a:tcPr marL="95250" marR="95250" marT="76200" marB="76200" anchor="ctr">
                    <a:solidFill>
                      <a:srgbClr val="F0F5F8"/>
                    </a:solidFill>
                  </a:tcPr>
                </a:tc>
              </a:tr>
              <a:tr h="690563">
                <a:tc>
                  <a:txBody>
                    <a:bodyPr/>
                    <a:lstStyle/>
                    <a:p>
                      <a:r>
                        <a:rPr sz="1725" b="0">
                          <a:solidFill>
                            <a:srgbClr val="142A45"/>
                          </a:solidFill>
                          <a:latin typeface="Arial"/>
                          <a:ea typeface="Arial"/>
                          <a:cs typeface="Arial"/>
                        </a:rPr>
                        <a:t>ConvNeXt-base</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89M</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1,024</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Supervised ImageNet-22k classes</a:t>
                      </a:r>
                    </a:p>
                  </a:txBody>
                  <a:tcPr marL="95250" marR="95250" marT="76200" marB="76200" anchor="ctr">
                    <a:solidFill>
                      <a:srgbClr val="FFFFFF"/>
                    </a:solidFill>
                  </a:tcPr>
                </a:tc>
              </a:tr>
              <a:tr h="690563">
                <a:tc>
                  <a:txBody>
                    <a:bodyPr/>
                    <a:lstStyle/>
                    <a:p>
                      <a:r>
                        <a:rPr sz="1725" b="0">
                          <a:solidFill>
                            <a:srgbClr val="142A45"/>
                          </a:solidFill>
                          <a:latin typeface="Arial"/>
                          <a:ea typeface="Arial"/>
                          <a:cs typeface="Arial"/>
                        </a:rPr>
                        <a:t>DINOv2 giant</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1.14B</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3,072 CLS + patch</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Visual self-supervision, larger-scale follow-up</a:t>
                      </a:r>
                    </a:p>
                  </a:txBody>
                  <a:tcPr marL="95250" marR="95250" marT="76200" marB="76200" anchor="ctr">
                    <a:solidFill>
                      <a:srgbClr val="F0F5F8"/>
                    </a:solidFill>
                  </a:tcPr>
                </a:tc>
              </a:tr>
            </a:tbl>
          </a:graphicData>
        </a:graphic>
      </p:graphicFrame>
    </p:spTree>
    <p:extLst>
      <p:ext uri="{BB962C8B-B14F-4D97-AF65-F5344CB8AC3E}">
        <p14:creationId xmlns:p14="http://schemas.microsoft.com/office/powerpoint/2010/main" val="26738261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0813D8-7232-4AE3-9C3F-A7EEFF3AAAFE}"/>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Backup: datasets and what was fitted</a:t>
            </a:r>
          </a:p>
        </p:txBody>
      </p:sp>
      <p:sp>
        <p:nvSpPr>
          <p:cNvPr id="2" name="">
            <a:extLst xmlns:a="http://schemas.openxmlformats.org/drawingml/2006/main">
              <a:ext uri="{FF2B5EF4-FFF2-40B4-BE49-F238E27FC236}">
                <a16:creationId xmlns:a16="http://schemas.microsoft.com/office/drawing/2014/main" id="{E4138738-E28F-43FC-93D2-ADC52B560034}"/>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3–6, 10–11 | Report §§3–4 and E.10–E.15</a:t>
            </a:r>
          </a:p>
        </p:txBody>
      </p:sp>
      <p:sp>
        <p:nvSpPr>
          <p:cNvPr id="3" name="">
            <a:extLst xmlns:a="http://schemas.openxmlformats.org/drawingml/2006/main">
              <a:ext uri="{FF2B5EF4-FFF2-40B4-BE49-F238E27FC236}">
                <a16:creationId xmlns:a16="http://schemas.microsoft.com/office/drawing/2014/main" id="{2F274586-DD0C-426A-B816-7757F14235F6}"/>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26</a:t>
            </a:r>
          </a:p>
        </p:txBody>
      </p:sp>
      <p:graphicFrame>
        <p:nvGraphicFramePr>
          <p:cNvPr id="8" name=""/>
          <p:cNvGraphicFramePr/>
          <p:nvPr/>
        </p:nvGraphicFramePr>
        <p:xfrm>
          <a:off xmlns:a="http://schemas.openxmlformats.org/drawingml/2006/main" x="571500" y="1524000"/>
          <a:ext xmlns:a="http://schemas.openxmlformats.org/drawingml/2006/main" cx="11049000" cy="4095750"/>
        </p:xfrm>
        <a:graphic xmlns:a="http://schemas.openxmlformats.org/drawingml/2006/main">
          <a:graphicData uri="http://schemas.openxmlformats.org/drawingml/2006/table">
            <a:tbl>
              <a:tblPr/>
              <a:tblGrid>
                <a:gridCol w="1666875"/>
                <a:gridCol w="3048000"/>
                <a:gridCol w="2762250"/>
                <a:gridCol w="3571875"/>
              </a:tblGrid>
              <a:tr h="682625">
                <a:tc>
                  <a:txBody>
                    <a:bodyPr/>
                    <a:lstStyle/>
                    <a:p>
                      <a:r>
                        <a:rPr sz="1725" b="1">
                          <a:solidFill>
                            <a:srgbClr val="FFFFFF"/>
                          </a:solidFill>
                          <a:latin typeface="Arial"/>
                          <a:ea typeface="Arial"/>
                          <a:cs typeface="Arial"/>
                        </a:rPr>
                        <a:t>Study</a:t>
                      </a:r>
                    </a:p>
                  </a:txBody>
                  <a:tcPr marL="95250" marR="95250" marT="76200" marB="76200" anchor="ctr">
                    <a:solidFill>
                      <a:srgbClr val="142A45"/>
                    </a:solidFill>
                  </a:tcPr>
                </a:tc>
                <a:tc>
                  <a:txBody>
                    <a:bodyPr/>
                    <a:lstStyle/>
                    <a:p>
                      <a:r>
                        <a:rPr sz="1725" b="1">
                          <a:solidFill>
                            <a:srgbClr val="FFFFFF"/>
                          </a:solidFill>
                          <a:latin typeface="Arial"/>
                          <a:ea typeface="Arial"/>
                          <a:cs typeface="Arial"/>
                        </a:rPr>
                        <a:t>Data</a:t>
                      </a:r>
                    </a:p>
                  </a:txBody>
                  <a:tcPr marL="95250" marR="95250" marT="76200" marB="76200" anchor="ctr">
                    <a:solidFill>
                      <a:srgbClr val="142A45"/>
                    </a:solidFill>
                  </a:tcPr>
                </a:tc>
                <a:tc>
                  <a:txBody>
                    <a:bodyPr/>
                    <a:lstStyle/>
                    <a:p>
                      <a:r>
                        <a:rPr sz="1725" b="1">
                          <a:solidFill>
                            <a:srgbClr val="FFFFFF"/>
                          </a:solidFill>
                          <a:latin typeface="Arial"/>
                          <a:ea typeface="Arial"/>
                          <a:cs typeface="Arial"/>
                        </a:rPr>
                        <a:t>Fit / evaluation</a:t>
                      </a:r>
                    </a:p>
                  </a:txBody>
                  <a:tcPr marL="95250" marR="95250" marT="76200" marB="76200" anchor="ctr">
                    <a:solidFill>
                      <a:srgbClr val="142A45"/>
                    </a:solidFill>
                  </a:tcPr>
                </a:tc>
                <a:tc>
                  <a:txBody>
                    <a:bodyPr/>
                    <a:lstStyle/>
                    <a:p>
                      <a:r>
                        <a:rPr sz="1725" b="1">
                          <a:solidFill>
                            <a:srgbClr val="FFFFFF"/>
                          </a:solidFill>
                          <a:latin typeface="Arial"/>
                          <a:ea typeface="Arial"/>
                          <a:cs typeface="Arial"/>
                        </a:rPr>
                        <a:t>Learned here</a:t>
                      </a:r>
                    </a:p>
                  </a:txBody>
                  <a:tcPr marL="95250" marR="95250" marT="76200" marB="76200" anchor="ctr">
                    <a:solidFill>
                      <a:srgbClr val="142A45"/>
                    </a:solidFill>
                  </a:tcPr>
                </a:tc>
              </a:tr>
              <a:tr h="682625">
                <a:tc>
                  <a:txBody>
                    <a:bodyPr/>
                    <a:lstStyle/>
                    <a:p>
                      <a:r>
                        <a:rPr sz="1725" b="0">
                          <a:solidFill>
                            <a:srgbClr val="142A45"/>
                          </a:solidFill>
                          <a:latin typeface="Arial"/>
                          <a:ea typeface="Arial"/>
                          <a:cs typeface="Arial"/>
                        </a:rPr>
                        <a:t>A</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WikiText-103 passages</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7,500 / 2,500</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Layer-wise ridge maps</a:t>
                      </a:r>
                    </a:p>
                  </a:txBody>
                  <a:tcPr marL="95250" marR="95250" marT="76200" marB="76200" anchor="ctr">
                    <a:solidFill>
                      <a:srgbClr val="F0F5F8"/>
                    </a:solidFill>
                  </a:tcPr>
                </a:tc>
              </a:tr>
              <a:tr h="682625">
                <a:tc>
                  <a:txBody>
                    <a:bodyPr/>
                    <a:lstStyle/>
                    <a:p>
                      <a:r>
                        <a:rPr sz="1725" b="0">
                          <a:solidFill>
                            <a:srgbClr val="142A45"/>
                          </a:solidFill>
                          <a:latin typeface="Arial"/>
                          <a:ea typeface="Arial"/>
                          <a:cs typeface="Arial"/>
                        </a:rPr>
                        <a:t>B</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COCO val2017</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3,000 / 1,000</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512 × 768 adapter</a:t>
                      </a:r>
                    </a:p>
                  </a:txBody>
                  <a:tcPr marL="95250" marR="95250" marT="76200" marB="76200" anchor="ctr">
                    <a:solidFill>
                      <a:srgbClr val="FFFFFF"/>
                    </a:solidFill>
                  </a:tcPr>
                </a:tc>
              </a:tr>
              <a:tr h="682625">
                <a:tc>
                  <a:txBody>
                    <a:bodyPr/>
                    <a:lstStyle/>
                    <a:p>
                      <a:r>
                        <a:rPr sz="1725" b="0">
                          <a:solidFill>
                            <a:srgbClr val="142A45"/>
                          </a:solidFill>
                          <a:latin typeface="Arial"/>
                          <a:ea typeface="Arial"/>
                          <a:cs typeface="Arial"/>
                        </a:rPr>
                        <a:t>Hub</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Aligned COCO train caches</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8,533 / 1,000</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PCA, entry maps, caption head</a:t>
                      </a:r>
                    </a:p>
                  </a:txBody>
                  <a:tcPr marL="95250" marR="95250" marT="76200" marB="76200" anchor="ctr">
                    <a:solidFill>
                      <a:srgbClr val="F0F5F8"/>
                    </a:solidFill>
                  </a:tcPr>
                </a:tc>
              </a:tr>
              <a:tr h="682625">
                <a:tc>
                  <a:txBody>
                    <a:bodyPr/>
                    <a:lstStyle/>
                    <a:p>
                      <a:r>
                        <a:rPr sz="1725" b="0">
                          <a:solidFill>
                            <a:srgbClr val="142A45"/>
                          </a:solidFill>
                          <a:latin typeface="Arial"/>
                          <a:ea typeface="Arial"/>
                          <a:cs typeface="Arial"/>
                        </a:rPr>
                        <a:t>F follow-up</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Teacher image vectors</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37,999 / 2,000</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Ridge and nonlinear MLP</a:t>
                      </a:r>
                    </a:p>
                  </a:txBody>
                  <a:tcPr marL="95250" marR="95250" marT="76200" marB="76200" anchor="ctr">
                    <a:solidFill>
                      <a:srgbClr val="FFFFFF"/>
                    </a:solidFill>
                  </a:tcPr>
                </a:tc>
              </a:tr>
              <a:tr h="682625">
                <a:tc>
                  <a:txBody>
                    <a:bodyPr/>
                    <a:lstStyle/>
                    <a:p>
                      <a:r>
                        <a:rPr sz="1725" b="0">
                          <a:solidFill>
                            <a:srgbClr val="142A45"/>
                          </a:solidFill>
                          <a:latin typeface="Arial"/>
                          <a:ea typeface="Arial"/>
                          <a:cs typeface="Arial"/>
                        </a:rPr>
                        <a:t>C, pair recovery</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1,500-item paired sets</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Pairing hidden during fitting</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Unsupervised GW correspondence</a:t>
                      </a:r>
                    </a:p>
                  </a:txBody>
                  <a:tcPr marL="95250" marR="95250" marT="76200" marB="76200" anchor="ctr">
                    <a:solidFill>
                      <a:srgbClr val="F0F5F8"/>
                    </a:solidFill>
                  </a:tcPr>
                </a:tc>
              </a:tr>
            </a:tbl>
          </a:graphicData>
        </a:graphic>
      </p:graphicFrame>
    </p:spTree>
    <p:extLst>
      <p:ext uri="{BB962C8B-B14F-4D97-AF65-F5344CB8AC3E}">
        <p14:creationId xmlns:p14="http://schemas.microsoft.com/office/powerpoint/2010/main" val="179609055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B0FC04F-FB49-47FE-B886-31E48E3D5B78}"/>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Backup: W, PCA, whitening and regularization</a:t>
            </a:r>
          </a:p>
        </p:txBody>
      </p:sp>
      <p:sp>
        <p:nvSpPr>
          <p:cNvPr id="2" name="">
            <a:extLst xmlns:a="http://schemas.openxmlformats.org/drawingml/2006/main">
              <a:ext uri="{FF2B5EF4-FFF2-40B4-BE49-F238E27FC236}">
                <a16:creationId xmlns:a16="http://schemas.microsoft.com/office/drawing/2014/main" id="{55538915-9916-4900-934E-AB64A2E2F870}"/>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1, 4, 6, 10 | Report E.14</a:t>
            </a:r>
          </a:p>
        </p:txBody>
      </p:sp>
      <p:sp>
        <p:nvSpPr>
          <p:cNvPr id="3" name="">
            <a:extLst xmlns:a="http://schemas.openxmlformats.org/drawingml/2006/main">
              <a:ext uri="{FF2B5EF4-FFF2-40B4-BE49-F238E27FC236}">
                <a16:creationId xmlns:a16="http://schemas.microsoft.com/office/drawing/2014/main" id="{3391E5D5-FBFF-4376-901D-162B99220B4E}"/>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27</a:t>
            </a:r>
          </a:p>
        </p:txBody>
      </p:sp>
      <p:sp>
        <p:nvSpPr>
          <p:cNvPr id="4" name="">
            <a:extLst xmlns:a="http://schemas.openxmlformats.org/drawingml/2006/main">
              <a:ext uri="{FF2B5EF4-FFF2-40B4-BE49-F238E27FC236}">
                <a16:creationId xmlns:a16="http://schemas.microsoft.com/office/drawing/2014/main" id="{CAE666AE-E834-4574-9BE4-7F6EF782BB01}"/>
              </a:ext>
            </a:extLst>
          </p:cNvPr>
          <p:cNvSpPr>
            <a:spLocks xmlns:a="http://schemas.openxmlformats.org/drawingml/2006/main" noGrp="1"/>
          </p:cNvSpPr>
          <p:nvPr/>
        </p:nvSpPr>
        <p:spPr>
          <a:xfrm xmlns:a="http://schemas.openxmlformats.org/drawingml/2006/main">
            <a:off x="571500" y="1571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A45"/>
                </a:solidFill>
                <a:latin typeface="Arial"/>
                <a:ea typeface="Arial"/>
                <a:cs typeface="Arial"/>
              </a:defRPr>
            </a:pPr>
            <a:r>
              <a:rPr sz="2250" b="0">
                <a:solidFill>
                  <a:srgbClr val="142A45"/>
                </a:solidFill>
                <a:latin typeface="Arial"/>
                <a:ea typeface="Arial"/>
                <a:cs typeface="Arial"/>
              </a:rPr>
              <a:t>Prediction: x [1 × d] · W [d × p] = ŷ [1 × p]</a:t>
            </a:r>
          </a:p>
        </p:txBody>
      </p:sp>
      <p:sp>
        <p:nvSpPr>
          <p:cNvPr id="5" name="">
            <a:extLst xmlns:a="http://schemas.openxmlformats.org/drawingml/2006/main">
              <a:ext uri="{FF2B5EF4-FFF2-40B4-BE49-F238E27FC236}">
                <a16:creationId xmlns:a16="http://schemas.microsoft.com/office/drawing/2014/main" id="{5723AD04-F350-488D-9FA8-6E2BBDCCE760}"/>
              </a:ext>
            </a:extLst>
          </p:cNvPr>
          <p:cNvSpPr>
            <a:spLocks xmlns:a="http://schemas.openxmlformats.org/drawingml/2006/main" noGrp="1"/>
          </p:cNvSpPr>
          <p:nvPr/>
        </p:nvSpPr>
        <p:spPr>
          <a:xfrm xmlns:a="http://schemas.openxmlformats.org/drawingml/2006/main">
            <a:off x="571500" y="2571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A45"/>
                </a:solidFill>
                <a:latin typeface="Arial"/>
                <a:ea typeface="Arial"/>
                <a:cs typeface="Arial"/>
              </a:defRPr>
            </a:pPr>
            <a:r>
              <a:rPr sz="2250" b="0">
                <a:solidFill>
                  <a:srgbClr val="142A45"/>
                </a:solidFill>
                <a:latin typeface="Arial"/>
                <a:ea typeface="Arial"/>
                <a:cs typeface="Arial"/>
              </a:rPr>
              <a:t>Ridge: W = (XᵀX + αI)⁻¹XᵀY. α controls regularization.</a:t>
            </a:r>
          </a:p>
        </p:txBody>
      </p:sp>
      <p:sp>
        <p:nvSpPr>
          <p:cNvPr id="6" name="">
            <a:extLst xmlns:a="http://schemas.openxmlformats.org/drawingml/2006/main">
              <a:ext uri="{FF2B5EF4-FFF2-40B4-BE49-F238E27FC236}">
                <a16:creationId xmlns:a16="http://schemas.microsoft.com/office/drawing/2014/main" id="{65FA2BC5-349A-47F2-9D20-79CF40E5A606}"/>
              </a:ext>
            </a:extLst>
          </p:cNvPr>
          <p:cNvSpPr>
            <a:spLocks xmlns:a="http://schemas.openxmlformats.org/drawingml/2006/main" noGrp="1"/>
          </p:cNvSpPr>
          <p:nvPr/>
        </p:nvSpPr>
        <p:spPr>
          <a:xfrm xmlns:a="http://schemas.openxmlformats.org/drawingml/2006/main">
            <a:off x="571500" y="35718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A45"/>
                </a:solidFill>
                <a:latin typeface="Arial"/>
                <a:ea typeface="Arial"/>
                <a:cs typeface="Arial"/>
              </a:defRPr>
            </a:pPr>
            <a:r>
              <a:rPr sz="2250" b="0">
                <a:solidFill>
                  <a:srgbClr val="142A45"/>
                </a:solidFill>
                <a:latin typeface="Arial"/>
                <a:ea typeface="Arial"/>
                <a:cs typeface="Arial"/>
              </a:rPr>
              <a:t>PCA: retain directions of variance to define a lower-dimensional frame.</a:t>
            </a:r>
          </a:p>
        </p:txBody>
      </p:sp>
      <p:sp>
        <p:nvSpPr>
          <p:cNvPr id="7" name="">
            <a:extLst xmlns:a="http://schemas.openxmlformats.org/drawingml/2006/main">
              <a:ext uri="{FF2B5EF4-FFF2-40B4-BE49-F238E27FC236}">
                <a16:creationId xmlns:a16="http://schemas.microsoft.com/office/drawing/2014/main" id="{7B0AE1DC-B96C-48C8-8157-194EA55324B0}"/>
              </a:ext>
            </a:extLst>
          </p:cNvPr>
          <p:cNvSpPr>
            <a:spLocks xmlns:a="http://schemas.openxmlformats.org/drawingml/2006/main" noGrp="1"/>
          </p:cNvSpPr>
          <p:nvPr/>
        </p:nvSpPr>
        <p:spPr>
          <a:xfrm xmlns:a="http://schemas.openxmlformats.org/drawingml/2006/main">
            <a:off x="571500" y="45720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A45"/>
                </a:solidFill>
                <a:latin typeface="Arial"/>
                <a:ea typeface="Arial"/>
                <a:cs typeface="Arial"/>
              </a:defRPr>
            </a:pPr>
            <a:r>
              <a:rPr sz="2250" b="0">
                <a:solidFill>
                  <a:srgbClr val="142A45"/>
                </a:solidFill>
                <a:latin typeface="Arial"/>
                <a:ea typeface="Arial"/>
                <a:cs typeface="Arial"/>
              </a:rPr>
              <a:t>Whitening: rescale retained directions. Fit statistics on training rows.</a:t>
            </a:r>
          </a:p>
        </p:txBody>
      </p:sp>
      <p:sp>
        <p:nvSpPr>
          <p:cNvPr id="8" name="">
            <a:extLst xmlns:a="http://schemas.openxmlformats.org/drawingml/2006/main">
              <a:ext uri="{FF2B5EF4-FFF2-40B4-BE49-F238E27FC236}">
                <a16:creationId xmlns:a16="http://schemas.microsoft.com/office/drawing/2014/main" id="{628C1B6E-E651-4711-AE2B-D2BF5BA39CF1}"/>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An encoder makes a representation. W translates it. The hub supplies a shared frame.</a:t>
            </a:r>
          </a:p>
        </p:txBody>
      </p:sp>
    </p:spTree>
    <p:extLst>
      <p:ext uri="{BB962C8B-B14F-4D97-AF65-F5344CB8AC3E}">
        <p14:creationId xmlns:p14="http://schemas.microsoft.com/office/powerpoint/2010/main" val="56453773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74CBC7E-D84C-4020-99D1-C2BBBA7DEA4C}"/>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Backup: the experiment inventory</a:t>
            </a:r>
          </a:p>
        </p:txBody>
      </p:sp>
      <p:sp>
        <p:nvSpPr>
          <p:cNvPr id="2" name="">
            <a:extLst xmlns:a="http://schemas.openxmlformats.org/drawingml/2006/main">
              <a:ext uri="{FF2B5EF4-FFF2-40B4-BE49-F238E27FC236}">
                <a16:creationId xmlns:a16="http://schemas.microsoft.com/office/drawing/2014/main" id="{9C460B4B-952C-4941-BE30-B4787F966087}"/>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4–6, 8–11 | Companion report / results inventory</a:t>
            </a:r>
          </a:p>
        </p:txBody>
      </p:sp>
      <p:sp>
        <p:nvSpPr>
          <p:cNvPr id="3" name="">
            <a:extLst xmlns:a="http://schemas.openxmlformats.org/drawingml/2006/main">
              <a:ext uri="{FF2B5EF4-FFF2-40B4-BE49-F238E27FC236}">
                <a16:creationId xmlns:a16="http://schemas.microsoft.com/office/drawing/2014/main" id="{97F22E82-3B7F-47D9-B80B-D687F033D23C}"/>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28</a:t>
            </a:r>
          </a:p>
        </p:txBody>
      </p:sp>
      <p:graphicFrame>
        <p:nvGraphicFramePr>
          <p:cNvPr id="8" name=""/>
          <p:cNvGraphicFramePr/>
          <p:nvPr/>
        </p:nvGraphicFramePr>
        <p:xfrm>
          <a:off xmlns:a="http://schemas.openxmlformats.org/drawingml/2006/main" x="571500" y="1524000"/>
          <a:ext xmlns:a="http://schemas.openxmlformats.org/drawingml/2006/main" cx="11049000" cy="4143375"/>
        </p:xfrm>
        <a:graphic xmlns:a="http://schemas.openxmlformats.org/drawingml/2006/main">
          <a:graphicData uri="http://schemas.openxmlformats.org/drawingml/2006/table">
            <a:tbl>
              <a:tblPr/>
              <a:tblGrid>
                <a:gridCol w="1619250"/>
                <a:gridCol w="5524500"/>
                <a:gridCol w="3905250"/>
              </a:tblGrid>
              <a:tr h="690563">
                <a:tc>
                  <a:txBody>
                    <a:bodyPr/>
                    <a:lstStyle/>
                    <a:p>
                      <a:r>
                        <a:rPr sz="1725" b="1">
                          <a:solidFill>
                            <a:srgbClr val="FFFFFF"/>
                          </a:solidFill>
                          <a:latin typeface="Arial"/>
                          <a:ea typeface="Arial"/>
                          <a:cs typeface="Arial"/>
                        </a:rPr>
                        <a:t>Series</a:t>
                      </a:r>
                    </a:p>
                  </a:txBody>
                  <a:tcPr marL="95250" marR="95250" marT="76200" marB="76200" anchor="ctr">
                    <a:solidFill>
                      <a:srgbClr val="142A45"/>
                    </a:solidFill>
                  </a:tcPr>
                </a:tc>
                <a:tc>
                  <a:txBody>
                    <a:bodyPr/>
                    <a:lstStyle/>
                    <a:p>
                      <a:r>
                        <a:rPr sz="1725" b="1">
                          <a:solidFill>
                            <a:srgbClr val="FFFFFF"/>
                          </a:solidFill>
                          <a:latin typeface="Arial"/>
                          <a:ea typeface="Arial"/>
                          <a:cs typeface="Arial"/>
                        </a:rPr>
                        <a:t>Main experiments</a:t>
                      </a:r>
                    </a:p>
                  </a:txBody>
                  <a:tcPr marL="95250" marR="95250" marT="76200" marB="76200" anchor="ctr">
                    <a:solidFill>
                      <a:srgbClr val="142A45"/>
                    </a:solidFill>
                  </a:tcPr>
                </a:tc>
                <a:tc>
                  <a:txBody>
                    <a:bodyPr/>
                    <a:lstStyle/>
                    <a:p>
                      <a:r>
                        <a:rPr sz="1725" b="1">
                          <a:solidFill>
                            <a:srgbClr val="FFFFFF"/>
                          </a:solidFill>
                          <a:latin typeface="Arial"/>
                          <a:ea typeface="Arial"/>
                          <a:cs typeface="Arial"/>
                        </a:rPr>
                        <a:t>Contribution</a:t>
                      </a:r>
                    </a:p>
                  </a:txBody>
                  <a:tcPr marL="95250" marR="95250" marT="76200" marB="76200" anchor="ctr">
                    <a:solidFill>
                      <a:srgbClr val="142A45"/>
                    </a:solidFill>
                  </a:tcPr>
                </a:tc>
              </a:tr>
              <a:tr h="690563">
                <a:tc>
                  <a:txBody>
                    <a:bodyPr/>
                    <a:lstStyle/>
                    <a:p>
                      <a:r>
                        <a:rPr sz="1725" b="0">
                          <a:solidFill>
                            <a:srgbClr val="142A45"/>
                          </a:solidFill>
                          <a:latin typeface="Arial"/>
                          <a:ea typeface="Arial"/>
                          <a:cs typeface="Arial"/>
                        </a:rPr>
                        <a:t>A / B</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A1–A3 language tests; B fitting, evaluation and export</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Controlled evidence and compact adapter</a:t>
                      </a:r>
                    </a:p>
                  </a:txBody>
                  <a:tcPr marL="95250" marR="95250" marT="76200" marB="76200" anchor="ctr">
                    <a:solidFill>
                      <a:srgbClr val="F0F5F8"/>
                    </a:solidFill>
                  </a:tcPr>
                </a:tc>
              </a:tr>
              <a:tr h="690563">
                <a:tc>
                  <a:txBody>
                    <a:bodyPr/>
                    <a:lstStyle/>
                    <a:p>
                      <a:r>
                        <a:rPr sz="1725" b="0">
                          <a:solidFill>
                            <a:srgbClr val="142A45"/>
                          </a:solidFill>
                          <a:latin typeface="Arial"/>
                          <a:ea typeface="Arial"/>
                          <a:cs typeface="Arial"/>
                        </a:rPr>
                        <a:t>C / E</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Pair recovery; cross-modal maps; scaling; whitening</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Geometry and modality boundaries</a:t>
                      </a:r>
                    </a:p>
                  </a:txBody>
                  <a:tcPr marL="95250" marR="95250" marT="76200" marB="76200" anchor="ctr">
                    <a:solidFill>
                      <a:srgbClr val="FFFFFF"/>
                    </a:solidFill>
                  </a:tcPr>
                </a:tc>
              </a:tr>
              <a:tr h="690563">
                <a:tc>
                  <a:txBody>
                    <a:bodyPr/>
                    <a:lstStyle/>
                    <a:p>
                      <a:r>
                        <a:rPr sz="1725" b="0">
                          <a:solidFill>
                            <a:srgbClr val="142A45"/>
                          </a:solidFill>
                          <a:latin typeface="Arial"/>
                          <a:ea typeface="Arial"/>
                          <a:cs typeface="Arial"/>
                        </a:rPr>
                        <a:t>F</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MLP controls and larger teacher-target refits</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Measured limits of extra nonlinear capacity</a:t>
                      </a:r>
                    </a:p>
                  </a:txBody>
                  <a:tcPr marL="95250" marR="95250" marT="76200" marB="76200" anchor="ctr">
                    <a:solidFill>
                      <a:srgbClr val="F0F5F8"/>
                    </a:solidFill>
                  </a:tcPr>
                </a:tc>
              </a:tr>
              <a:tr h="690563">
                <a:tc>
                  <a:txBody>
                    <a:bodyPr/>
                    <a:lstStyle/>
                    <a:p>
                      <a:r>
                        <a:rPr sz="1725" b="0">
                          <a:solidFill>
                            <a:srgbClr val="142A45"/>
                          </a:solidFill>
                          <a:latin typeface="Arial"/>
                          <a:ea typeface="Arial"/>
                          <a:cs typeface="Arial"/>
                        </a:rPr>
                        <a:t>G0–G16</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Hub, held-out transfer, composition and cliff diagnosis</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Reusable heads and numerical failure mechanism</a:t>
                      </a:r>
                    </a:p>
                  </a:txBody>
                  <a:tcPr marL="95250" marR="95250" marT="76200" marB="76200" anchor="ctr">
                    <a:solidFill>
                      <a:srgbClr val="FFFFFF"/>
                    </a:solidFill>
                  </a:tcPr>
                </a:tc>
              </a:tr>
              <a:tr h="690563">
                <a:tc>
                  <a:txBody>
                    <a:bodyPr/>
                    <a:lstStyle/>
                    <a:p>
                      <a:r>
                        <a:rPr sz="1725" b="0">
                          <a:solidFill>
                            <a:srgbClr val="142A45"/>
                          </a:solidFill>
                          <a:latin typeface="Arial"/>
                          <a:ea typeface="Arial"/>
                          <a:cs typeface="Arial"/>
                        </a:rPr>
                        <a:t>K / H / V</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Reproduction, bounded null, power and verification</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Reliability checks around the headline findings</a:t>
                      </a:r>
                    </a:p>
                  </a:txBody>
                  <a:tcPr marL="95250" marR="95250" marT="76200" marB="76200" anchor="ctr">
                    <a:solidFill>
                      <a:srgbClr val="F0F5F8"/>
                    </a:solidFill>
                  </a:tcPr>
                </a:tc>
              </a:tr>
            </a:tbl>
          </a:graphicData>
        </a:graphic>
      </p:graphicFrame>
    </p:spTree>
    <p:extLst>
      <p:ext uri="{BB962C8B-B14F-4D97-AF65-F5344CB8AC3E}">
        <p14:creationId xmlns:p14="http://schemas.microsoft.com/office/powerpoint/2010/main" val="208662103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A9A0BB-330C-4D60-8E1F-0CBF8599A69C}"/>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Backup: hub tests and unfinished work</a:t>
            </a:r>
          </a:p>
        </p:txBody>
      </p:sp>
      <p:sp>
        <p:nvSpPr>
          <p:cNvPr id="2" name="">
            <a:extLst xmlns:a="http://schemas.openxmlformats.org/drawingml/2006/main">
              <a:ext uri="{FF2B5EF4-FFF2-40B4-BE49-F238E27FC236}">
                <a16:creationId xmlns:a16="http://schemas.microsoft.com/office/drawing/2014/main" id="{EF3A9479-8939-41A2-9B15-9A348896FC5B}"/>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Atlas pp. 6, 9–11 | Report G-series and E.16</a:t>
            </a:r>
          </a:p>
        </p:txBody>
      </p:sp>
      <p:sp>
        <p:nvSpPr>
          <p:cNvPr id="3" name="">
            <a:extLst xmlns:a="http://schemas.openxmlformats.org/drawingml/2006/main">
              <a:ext uri="{FF2B5EF4-FFF2-40B4-BE49-F238E27FC236}">
                <a16:creationId xmlns:a16="http://schemas.microsoft.com/office/drawing/2014/main" id="{A5AEA015-D07D-4B91-BC68-BF59F2980D56}"/>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29</a:t>
            </a:r>
          </a:p>
        </p:txBody>
      </p:sp>
      <p:graphicFrame>
        <p:nvGraphicFramePr>
          <p:cNvPr id="8" name=""/>
          <p:cNvGraphicFramePr/>
          <p:nvPr/>
        </p:nvGraphicFramePr>
        <p:xfrm>
          <a:off xmlns:a="http://schemas.openxmlformats.org/drawingml/2006/main" x="571500" y="1524000"/>
          <a:ext xmlns:a="http://schemas.openxmlformats.org/drawingml/2006/main" cx="11049000" cy="4143375"/>
        </p:xfrm>
        <a:graphic xmlns:a="http://schemas.openxmlformats.org/drawingml/2006/main">
          <a:graphicData uri="http://schemas.openxmlformats.org/drawingml/2006/table">
            <a:tbl>
              <a:tblPr/>
              <a:tblGrid>
                <a:gridCol w="2381250"/>
                <a:gridCol w="8667750"/>
              </a:tblGrid>
              <a:tr h="690563">
                <a:tc>
                  <a:txBody>
                    <a:bodyPr/>
                    <a:lstStyle/>
                    <a:p>
                      <a:r>
                        <a:rPr sz="1725" b="1">
                          <a:solidFill>
                            <a:srgbClr val="FFFFFF"/>
                          </a:solidFill>
                          <a:latin typeface="Arial"/>
                          <a:ea typeface="Arial"/>
                          <a:cs typeface="Arial"/>
                        </a:rPr>
                        <a:t>Tests</a:t>
                      </a:r>
                    </a:p>
                  </a:txBody>
                  <a:tcPr marL="95250" marR="95250" marT="76200" marB="76200" anchor="ctr">
                    <a:solidFill>
                      <a:srgbClr val="142A45"/>
                    </a:solidFill>
                  </a:tcPr>
                </a:tc>
                <a:tc>
                  <a:txBody>
                    <a:bodyPr/>
                    <a:lstStyle/>
                    <a:p>
                      <a:r>
                        <a:rPr sz="1725" b="1">
                          <a:solidFill>
                            <a:srgbClr val="FFFFFF"/>
                          </a:solidFill>
                          <a:latin typeface="Arial"/>
                          <a:ea typeface="Arial"/>
                          <a:cs typeface="Arial"/>
                        </a:rPr>
                        <a:t>Purpose / status</a:t>
                      </a:r>
                    </a:p>
                  </a:txBody>
                  <a:tcPr marL="95250" marR="95250" marT="76200" marB="76200" anchor="ctr">
                    <a:solidFill>
                      <a:srgbClr val="142A45"/>
                    </a:solidFill>
                  </a:tcPr>
                </a:tc>
              </a:tr>
              <a:tr h="690563">
                <a:tc>
                  <a:txBody>
                    <a:bodyPr/>
                    <a:lstStyle/>
                    <a:p>
                      <a:r>
                        <a:rPr sz="1725" b="0">
                          <a:solidFill>
                            <a:srgbClr val="142A45"/>
                          </a:solidFill>
                          <a:latin typeface="Arial"/>
                          <a:ea typeface="Arial"/>
                          <a:cs typeface="Arial"/>
                        </a:rPr>
                        <a:t>G0–G4</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Reproduce protocol, compose maps, compare bespoke hubs, transfer to held-out encoders.</a:t>
                      </a:r>
                    </a:p>
                  </a:txBody>
                  <a:tcPr marL="95250" marR="95250" marT="76200" marB="76200" anchor="ctr">
                    <a:solidFill>
                      <a:srgbClr val="F0F5F8"/>
                    </a:solidFill>
                  </a:tcPr>
                </a:tc>
              </a:tr>
              <a:tr h="690563">
                <a:tc>
                  <a:txBody>
                    <a:bodyPr/>
                    <a:lstStyle/>
                    <a:p>
                      <a:r>
                        <a:rPr sz="1725" b="0">
                          <a:solidFill>
                            <a:srgbClr val="142A45"/>
                          </a:solidFill>
                          <a:latin typeface="Arial"/>
                          <a:ea typeface="Arial"/>
                          <a:cs typeface="Arial"/>
                        </a:rPr>
                        <a:t>G5–G7</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Measure locality, map constraints and the effect of hub projection.</a:t>
                      </a:r>
                    </a:p>
                  </a:txBody>
                  <a:tcPr marL="95250" marR="95250" marT="76200" marB="76200" anchor="ctr">
                    <a:solidFill>
                      <a:srgbClr val="FFFFFF"/>
                    </a:solidFill>
                  </a:tcPr>
                </a:tc>
              </a:tr>
              <a:tr h="690563">
                <a:tc>
                  <a:txBody>
                    <a:bodyPr/>
                    <a:lstStyle/>
                    <a:p>
                      <a:r>
                        <a:rPr sz="1725" b="0">
                          <a:solidFill>
                            <a:srgbClr val="142A45"/>
                          </a:solidFill>
                          <a:latin typeface="Arial"/>
                          <a:ea typeface="Arial"/>
                          <a:cs typeface="Arial"/>
                        </a:rPr>
                        <a:t>G8–G16</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Reject failed cliff explanations, test composition, diagnose and repair the head fit.</a:t>
                      </a:r>
                    </a:p>
                  </a:txBody>
                  <a:tcPr marL="95250" marR="95250" marT="76200" marB="76200" anchor="ctr">
                    <a:solidFill>
                      <a:srgbClr val="F0F5F8"/>
                    </a:solidFill>
                  </a:tcPr>
                </a:tc>
              </a:tr>
              <a:tr h="690563">
                <a:tc>
                  <a:txBody>
                    <a:bodyPr/>
                    <a:lstStyle/>
                    <a:p>
                      <a:r>
                        <a:rPr sz="1725" b="0">
                          <a:solidFill>
                            <a:srgbClr val="142A45"/>
                          </a:solidFill>
                          <a:latin typeface="Arial"/>
                          <a:ea typeface="Arial"/>
                          <a:cs typeface="Arial"/>
                        </a:rPr>
                        <a:t>K1–K3 / H1 / V1</a:t>
                      </a:r>
                    </a:p>
                  </a:txBody>
                  <a:tcPr marL="95250" marR="95250" marT="76200" marB="76200" anchor="ctr">
                    <a:solidFill>
                      <a:srgbClr val="FFFFFF"/>
                    </a:solidFill>
                  </a:tcPr>
                </a:tc>
                <a:tc>
                  <a:txBody>
                    <a:bodyPr/>
                    <a:lstStyle/>
                    <a:p>
                      <a:r>
                        <a:rPr sz="1725" b="0">
                          <a:solidFill>
                            <a:srgbClr val="142A45"/>
                          </a:solidFill>
                          <a:latin typeface="Arial"/>
                          <a:ea typeface="Arial"/>
                          <a:cs typeface="Arial"/>
                        </a:rPr>
                        <a:t>Reproduction and bounded local-structure null, artifact/power checks, independent verification.</a:t>
                      </a:r>
                    </a:p>
                  </a:txBody>
                  <a:tcPr marL="95250" marR="95250" marT="76200" marB="76200" anchor="ctr">
                    <a:solidFill>
                      <a:srgbClr val="FFFFFF"/>
                    </a:solidFill>
                  </a:tcPr>
                </a:tc>
              </a:tr>
              <a:tr h="690563">
                <a:tc>
                  <a:txBody>
                    <a:bodyPr/>
                    <a:lstStyle/>
                    <a:p>
                      <a:r>
                        <a:rPr sz="1725" b="0">
                          <a:solidFill>
                            <a:srgbClr val="142A45"/>
                          </a:solidFill>
                          <a:latin typeface="Arial"/>
                          <a:ea typeface="Arial"/>
                          <a:cs typeface="Arial"/>
                        </a:rPr>
                        <a:t>Pending</a:t>
                      </a:r>
                    </a:p>
                  </a:txBody>
                  <a:tcPr marL="95250" marR="95250" marT="76200" marB="76200" anchor="ctr">
                    <a:solidFill>
                      <a:srgbClr val="F0F5F8"/>
                    </a:solidFill>
                  </a:tcPr>
                </a:tc>
                <a:tc>
                  <a:txBody>
                    <a:bodyPr/>
                    <a:lstStyle/>
                    <a:p>
                      <a:r>
                        <a:rPr sz="1725" b="0">
                          <a:solidFill>
                            <a:srgbClr val="142A45"/>
                          </a:solidFill>
                          <a:latin typeface="Arial"/>
                          <a:ea typeface="Arial"/>
                          <a:cs typeface="Arial"/>
                        </a:rPr>
                        <a:t>Larger powered fits, experts-versus-generalist benchmark, new domains and image-target heads.</a:t>
                      </a:r>
                    </a:p>
                  </a:txBody>
                  <a:tcPr marL="95250" marR="95250" marT="76200" marB="76200" anchor="ctr">
                    <a:solidFill>
                      <a:srgbClr val="F0F5F8"/>
                    </a:solidFill>
                  </a:tcPr>
                </a:tc>
              </a:tr>
            </a:tbl>
          </a:graphicData>
        </a:graphic>
      </p:graphicFrame>
    </p:spTree>
    <p:extLst>
      <p:ext uri="{BB962C8B-B14F-4D97-AF65-F5344CB8AC3E}">
        <p14:creationId xmlns:p14="http://schemas.microsoft.com/office/powerpoint/2010/main" val="93504098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5AF1FF-3CCF-4D44-A853-1F8394992BE0}"/>
              </a:ext>
            </a:extLst>
          </p:cNvPr>
          <p:cNvSpPr>
            <a:spLocks xmlns:a="http://schemas.openxmlformats.org/drawingml/2006/main" noGrp="1"/>
          </p:cNvSpPr>
          <p:nvPr/>
        </p:nvSpPr>
        <p:spPr>
          <a:xfrm xmlns:a="http://schemas.openxmlformats.org/drawingml/2006/main">
            <a:off x="571500" y="3429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A45"/>
                </a:solidFill>
                <a:latin typeface="Arial"/>
                <a:ea typeface="Arial"/>
                <a:cs typeface="Arial"/>
              </a:defRPr>
            </a:pPr>
            <a:r>
              <a:rPr sz="3225" b="1">
                <a:solidFill>
                  <a:srgbClr val="142A45"/>
                </a:solidFill>
                <a:latin typeface="Arial"/>
                <a:ea typeface="Arial"/>
                <a:cs typeface="Arial"/>
              </a:rPr>
              <a:t>Backup: sources and interpretation notes</a:t>
            </a:r>
          </a:p>
        </p:txBody>
      </p:sp>
      <p:sp>
        <p:nvSpPr>
          <p:cNvPr id="2" name="">
            <a:extLst xmlns:a="http://schemas.openxmlformats.org/drawingml/2006/main">
              <a:ext uri="{FF2B5EF4-FFF2-40B4-BE49-F238E27FC236}">
                <a16:creationId xmlns:a16="http://schemas.microsoft.com/office/drawing/2014/main" id="{85DF6128-BB11-4C04-B36F-9246BAFF119E}"/>
              </a:ext>
            </a:extLst>
          </p:cNvPr>
          <p:cNvSpPr>
            <a:spLocks xmlns:a="http://schemas.openxmlformats.org/drawingml/2006/main" noGrp="1"/>
          </p:cNvSpPr>
          <p:nvPr/>
        </p:nvSpPr>
        <p:spPr>
          <a:xfrm xmlns:a="http://schemas.openxmlformats.org/drawingml/2006/main">
            <a:off x="571500" y="6438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478"/>
                </a:solidFill>
                <a:latin typeface="Arial"/>
                <a:ea typeface="Arial"/>
                <a:cs typeface="Arial"/>
              </a:defRPr>
            </a:pPr>
            <a:r>
              <a:rPr sz="1050" b="0">
                <a:solidFill>
                  <a:srgbClr val="536478"/>
                </a:solidFill>
                <a:latin typeface="Arial"/>
                <a:ea typeface="Arial"/>
                <a:cs typeface="Arial"/>
              </a:rPr>
              <a:t>Primary: Project_Atlas(5).pdf | Companion: Final_Project_Report(7).pdf and Results_Summary(3).pdf</a:t>
            </a:r>
          </a:p>
        </p:txBody>
      </p:sp>
      <p:sp>
        <p:nvSpPr>
          <p:cNvPr id="3" name="">
            <a:extLst xmlns:a="http://schemas.openxmlformats.org/drawingml/2006/main">
              <a:ext uri="{FF2B5EF4-FFF2-40B4-BE49-F238E27FC236}">
                <a16:creationId xmlns:a16="http://schemas.microsoft.com/office/drawing/2014/main" id="{87F8C505-6CED-4BA8-B28B-55EE088B924B}"/>
              </a:ext>
            </a:extLst>
          </p:cNvPr>
          <p:cNvSpPr>
            <a:spLocks xmlns:a="http://schemas.openxmlformats.org/drawingml/2006/main" noGrp="1"/>
          </p:cNvSpPr>
          <p:nvPr/>
        </p:nvSpPr>
        <p:spPr>
          <a:xfrm xmlns:a="http://schemas.openxmlformats.org/drawingml/2006/main">
            <a:off x="11287125" y="64389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478"/>
                </a:solidFill>
                <a:latin typeface="Arial"/>
                <a:ea typeface="Arial"/>
                <a:cs typeface="Arial"/>
              </a:defRPr>
            </a:pPr>
            <a:r>
              <a:rPr sz="1125" b="0">
                <a:solidFill>
                  <a:srgbClr val="536478"/>
                </a:solidFill>
                <a:latin typeface="Arial"/>
                <a:ea typeface="Arial"/>
                <a:cs typeface="Arial"/>
              </a:rPr>
              <a:t>30</a:t>
            </a:r>
          </a:p>
        </p:txBody>
      </p:sp>
      <p:sp>
        <p:nvSpPr>
          <p:cNvPr id="4" name="">
            <a:extLst xmlns:a="http://schemas.openxmlformats.org/drawingml/2006/main">
              <a:ext uri="{FF2B5EF4-FFF2-40B4-BE49-F238E27FC236}">
                <a16:creationId xmlns:a16="http://schemas.microsoft.com/office/drawing/2014/main" id="{A908B4FD-09A9-4901-ACDC-531D80A0F822}"/>
              </a:ext>
            </a:extLst>
          </p:cNvPr>
          <p:cNvSpPr>
            <a:spLocks xmlns:a="http://schemas.openxmlformats.org/drawingml/2006/main" noGrp="1"/>
          </p:cNvSpPr>
          <p:nvPr/>
        </p:nvSpPr>
        <p:spPr>
          <a:xfrm xmlns:a="http://schemas.openxmlformats.org/drawingml/2006/main">
            <a:off x="571500" y="1571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A45"/>
                </a:solidFill>
                <a:latin typeface="Arial"/>
                <a:ea typeface="Arial"/>
                <a:cs typeface="Arial"/>
              </a:defRPr>
            </a:pPr>
            <a:r>
              <a:rPr sz="2175" b="0">
                <a:solidFill>
                  <a:srgbClr val="142A45"/>
                </a:solidFill>
                <a:latin typeface="Arial"/>
                <a:ea typeface="Arial"/>
                <a:cs typeface="Arial"/>
              </a:rPr>
              <a:t>Project_Atlas(5): narrative, measurements and the nine findings.</a:t>
            </a:r>
          </a:p>
        </p:txBody>
      </p:sp>
      <p:sp>
        <p:nvSpPr>
          <p:cNvPr id="5" name="">
            <a:extLst xmlns:a="http://schemas.openxmlformats.org/drawingml/2006/main">
              <a:ext uri="{FF2B5EF4-FFF2-40B4-BE49-F238E27FC236}">
                <a16:creationId xmlns:a16="http://schemas.microsoft.com/office/drawing/2014/main" id="{E50E125C-7F9E-44E2-AB38-B6FFE844DC3A}"/>
              </a:ext>
            </a:extLst>
          </p:cNvPr>
          <p:cNvSpPr>
            <a:spLocks xmlns:a="http://schemas.openxmlformats.org/drawingml/2006/main" noGrp="1"/>
          </p:cNvSpPr>
          <p:nvPr/>
        </p:nvSpPr>
        <p:spPr>
          <a:xfrm xmlns:a="http://schemas.openxmlformats.org/drawingml/2006/main">
            <a:off x="571500" y="2571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A45"/>
                </a:solidFill>
                <a:latin typeface="Arial"/>
                <a:ea typeface="Arial"/>
                <a:cs typeface="Arial"/>
              </a:defRPr>
            </a:pPr>
            <a:r>
              <a:rPr sz="2175" b="0">
                <a:solidFill>
                  <a:srgbClr val="142A45"/>
                </a:solidFill>
                <a:latin typeface="Arial"/>
                <a:ea typeface="Arial"/>
                <a:cs typeface="Arial"/>
              </a:rPr>
              <a:t>Final_Project_Report(7): protocols, controls and later corrections.</a:t>
            </a:r>
          </a:p>
        </p:txBody>
      </p:sp>
      <p:sp>
        <p:nvSpPr>
          <p:cNvPr id="6" name="">
            <a:extLst xmlns:a="http://schemas.openxmlformats.org/drawingml/2006/main">
              <a:ext uri="{FF2B5EF4-FFF2-40B4-BE49-F238E27FC236}">
                <a16:creationId xmlns:a16="http://schemas.microsoft.com/office/drawing/2014/main" id="{25B6CE17-B5EB-423B-B6D9-0F2DE6DAEB85}"/>
              </a:ext>
            </a:extLst>
          </p:cNvPr>
          <p:cNvSpPr>
            <a:spLocks xmlns:a="http://schemas.openxmlformats.org/drawingml/2006/main" noGrp="1"/>
          </p:cNvSpPr>
          <p:nvPr/>
        </p:nvSpPr>
        <p:spPr>
          <a:xfrm xmlns:a="http://schemas.openxmlformats.org/drawingml/2006/main">
            <a:off x="571500" y="35718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A45"/>
                </a:solidFill>
                <a:latin typeface="Arial"/>
                <a:ea typeface="Arial"/>
                <a:cs typeface="Arial"/>
              </a:defRPr>
            </a:pPr>
            <a:r>
              <a:rPr sz="2175" b="0">
                <a:solidFill>
                  <a:srgbClr val="142A45"/>
                </a:solidFill>
                <a:latin typeface="Arial"/>
                <a:ea typeface="Arial"/>
                <a:cs typeface="Arial"/>
              </a:rPr>
              <a:t>PRH: Huh et al., ICML 2024. CKA: Kornblith et al., ICML 2019.</a:t>
            </a:r>
          </a:p>
        </p:txBody>
      </p:sp>
      <p:sp>
        <p:nvSpPr>
          <p:cNvPr id="7" name="">
            <a:extLst xmlns:a="http://schemas.openxmlformats.org/drawingml/2006/main">
              <a:ext uri="{FF2B5EF4-FFF2-40B4-BE49-F238E27FC236}">
                <a16:creationId xmlns:a16="http://schemas.microsoft.com/office/drawing/2014/main" id="{0B2A65F8-2402-4155-AED7-CEEBEC581A0F}"/>
              </a:ext>
            </a:extLst>
          </p:cNvPr>
          <p:cNvSpPr>
            <a:spLocks xmlns:a="http://schemas.openxmlformats.org/drawingml/2006/main" noGrp="1"/>
          </p:cNvSpPr>
          <p:nvPr/>
        </p:nvSpPr>
        <p:spPr>
          <a:xfrm xmlns:a="http://schemas.openxmlformats.org/drawingml/2006/main">
            <a:off x="571500" y="45720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A45"/>
                </a:solidFill>
                <a:latin typeface="Arial"/>
                <a:ea typeface="Arial"/>
                <a:cs typeface="Arial"/>
              </a:defRPr>
            </a:pPr>
            <a:r>
              <a:rPr sz="2175" b="0">
                <a:solidFill>
                  <a:srgbClr val="142A45"/>
                </a:solidFill>
                <a:latin typeface="Arial"/>
                <a:ea typeface="Arial"/>
                <a:cs typeface="Arial"/>
              </a:rPr>
              <a:t>Data and models: COCO, WikiText and official encoder repositories.</a:t>
            </a:r>
          </a:p>
        </p:txBody>
      </p:sp>
      <p:sp>
        <p:nvSpPr>
          <p:cNvPr id="8" name="">
            <a:extLst xmlns:a="http://schemas.openxmlformats.org/drawingml/2006/main">
              <a:ext uri="{FF2B5EF4-FFF2-40B4-BE49-F238E27FC236}">
                <a16:creationId xmlns:a16="http://schemas.microsoft.com/office/drawing/2014/main" id="{4E06F85C-6C3E-4E7F-A42C-D8BE85999143}"/>
              </a:ext>
            </a:extLst>
          </p:cNvPr>
          <p:cNvSpPr>
            <a:spLocks xmlns:a="http://schemas.openxmlformats.org/drawingml/2006/main" noGrp="1"/>
          </p:cNvSpPr>
          <p:nvPr/>
        </p:nvSpPr>
        <p:spPr>
          <a:xfrm xmlns:a="http://schemas.openxmlformats.org/drawingml/2006/main">
            <a:off x="571500" y="56769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3"/>
                </a:solidFill>
                <a:latin typeface="Arial"/>
                <a:ea typeface="Arial"/>
                <a:cs typeface="Arial"/>
              </a:defRPr>
            </a:pPr>
            <a:r>
              <a:rPr sz="1950" b="1">
                <a:solidFill>
                  <a:srgbClr val="087F83"/>
                </a:solidFill>
                <a:latin typeface="Arial"/>
                <a:ea typeface="Arial"/>
                <a:cs typeface="Arial"/>
              </a:rPr>
              <a:t>Full links appear in speaker notes. Claims describe the tested settings and reported results.</a:t>
            </a:r>
          </a:p>
        </p:txBody>
      </p:sp>
    </p:spTree>
    <p:extLst>
      <p:ext uri="{BB962C8B-B14F-4D97-AF65-F5344CB8AC3E}">
        <p14:creationId xmlns:p14="http://schemas.microsoft.com/office/powerpoint/2010/main" val="5390030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2026-09-17T12:41:46.9110000Z</dcterms:created>
  <dcterms:modified xsi:type="dcterms:W3CDTF">2026-09-17T12:41:46.9110000Z</dcterms:modified>
</coreProperties>
</file>