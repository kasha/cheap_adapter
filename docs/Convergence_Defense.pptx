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6232E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6232E"/>
                </a:solidFill>
                <a:latin typeface="Arial"/>
              </a:rPr>
              <a:t>Held-out R² by depth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trained (GPT-2 → Pythia)</c:v>
                </c:pt>
              </c:strCache>
            </c:strRef>
          </c:tx>
          <c:spPr>
            <a:solidFill>
              <a:srgbClr val="065A82"/>
            </a:solidFill>
            <a:ln w="38100" cap="flat">
              <a:solidFill>
                <a:srgbClr val="065A8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65A82"/>
              </a:solidFill>
              <a:ln w="9525" cap="flat">
                <a:solidFill>
                  <a:srgbClr val="065A8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L0</c:v>
                  </c:pt>
                  <c:pt idx="1">
                    <c:v>L1</c:v>
                  </c:pt>
                  <c:pt idx="2">
                    <c:v>L2</c:v>
                  </c:pt>
                  <c:pt idx="3">
                    <c:v>L3</c:v>
                  </c:pt>
                  <c:pt idx="4">
                    <c:v>L4</c:v>
                  </c:pt>
                  <c:pt idx="5">
                    <c:v>L5</c:v>
                  </c:pt>
                  <c:pt idx="6">
                    <c:v>L6</c:v>
                  </c:pt>
                  <c:pt idx="7">
                    <c:v>L7</c:v>
                  </c:pt>
                  <c:pt idx="8">
                    <c:v>L8</c:v>
                  </c:pt>
                  <c:pt idx="9">
                    <c:v>L9</c:v>
                  </c:pt>
                  <c:pt idx="10">
                    <c:v>L10</c:v>
                  </c:pt>
                  <c:pt idx="11">
                    <c:v>L11</c:v>
                  </c:pt>
                  <c:pt idx="12">
                    <c:v>L12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0.591</c:v>
                </c:pt>
                <c:pt idx="1">
                  <c:v>0.717</c:v>
                </c:pt>
                <c:pt idx="2">
                  <c:v>0.702</c:v>
                </c:pt>
                <c:pt idx="3">
                  <c:v>0.734</c:v>
                </c:pt>
                <c:pt idx="4">
                  <c:v>0.737</c:v>
                </c:pt>
                <c:pt idx="5">
                  <c:v>0.752</c:v>
                </c:pt>
                <c:pt idx="6">
                  <c:v>0.754</c:v>
                </c:pt>
                <c:pt idx="7">
                  <c:v>0.748</c:v>
                </c:pt>
                <c:pt idx="8">
                  <c:v>0.783</c:v>
                </c:pt>
                <c:pt idx="9">
                  <c:v>0.775</c:v>
                </c:pt>
                <c:pt idx="10">
                  <c:v>0.796</c:v>
                </c:pt>
                <c:pt idx="11">
                  <c:v>0.798</c:v>
                </c:pt>
                <c:pt idx="12">
                  <c:v>0.74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random-weights control</c:v>
                </c:pt>
              </c:strCache>
            </c:strRef>
          </c:tx>
          <c:spPr>
            <a:solidFill>
              <a:srgbClr val="C4CDD4"/>
            </a:solidFill>
            <a:ln w="38100" cap="flat">
              <a:solidFill>
                <a:srgbClr val="C4CDD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4CDD4"/>
              </a:solidFill>
              <a:ln w="9525" cap="flat">
                <a:solidFill>
                  <a:srgbClr val="C4CDD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L0</c:v>
                  </c:pt>
                  <c:pt idx="1">
                    <c:v>L1</c:v>
                  </c:pt>
                  <c:pt idx="2">
                    <c:v>L2</c:v>
                  </c:pt>
                  <c:pt idx="3">
                    <c:v>L3</c:v>
                  </c:pt>
                  <c:pt idx="4">
                    <c:v>L4</c:v>
                  </c:pt>
                  <c:pt idx="5">
                    <c:v>L5</c:v>
                  </c:pt>
                  <c:pt idx="6">
                    <c:v>L6</c:v>
                  </c:pt>
                  <c:pt idx="7">
                    <c:v>L7</c:v>
                  </c:pt>
                  <c:pt idx="8">
                    <c:v>L8</c:v>
                  </c:pt>
                  <c:pt idx="9">
                    <c:v>L9</c:v>
                  </c:pt>
                  <c:pt idx="10">
                    <c:v>L10</c:v>
                  </c:pt>
                  <c:pt idx="11">
                    <c:v>L11</c:v>
                  </c:pt>
                  <c:pt idx="12">
                    <c:v>L12</c:v>
                  </c:pt>
                </c:lvl>
              </c:multiLvlStrCache>
            </c:multiLvl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0.375</c:v>
                </c:pt>
                <c:pt idx="1">
                  <c:v>0.31</c:v>
                </c:pt>
                <c:pt idx="2">
                  <c:v>0.28</c:v>
                </c:pt>
                <c:pt idx="3">
                  <c:v>0.25</c:v>
                </c:pt>
                <c:pt idx="4">
                  <c:v>0.23</c:v>
                </c:pt>
                <c:pt idx="5">
                  <c:v>0.21</c:v>
                </c:pt>
                <c:pt idx="6">
                  <c:v>0.19</c:v>
                </c:pt>
                <c:pt idx="7">
                  <c:v>0.17</c:v>
                </c:pt>
                <c:pt idx="8">
                  <c:v>0.15</c:v>
                </c:pt>
                <c:pt idx="9">
                  <c:v>0.13</c:v>
                </c:pt>
                <c:pt idx="10">
                  <c:v>0.11</c:v>
                </c:pt>
                <c:pt idx="11">
                  <c:v>0.1</c:v>
                </c:pt>
                <c:pt idx="12">
                  <c:v>0.09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B7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"/>
          <c:min val="0"/>
        </c:scaling>
        <c:delete val="0"/>
        <c:axPos val="l"/>
        <c:majorGridlines>
          <c:spPr>
            <a:ln w="12700" cap="flat">
              <a:solidFill>
                <a:srgbClr val="EDF1F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B7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6232E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6232E"/>
                </a:solidFill>
                <a:latin typeface="Arial"/>
              </a:rPr>
              <a:t>Effective dimensionality (of 768)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GPT-2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623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L0</c:v>
                  </c:pt>
                  <c:pt idx="1">
                    <c:v>L4</c:v>
                  </c:pt>
                  <c:pt idx="2">
                    <c:v>L8</c:v>
                  </c:pt>
                  <c:pt idx="3">
                    <c:v>L12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8.9</c:v>
                </c:pt>
                <c:pt idx="1">
                  <c:v>3.3</c:v>
                </c:pt>
                <c:pt idx="2">
                  <c:v>10.9</c:v>
                </c:pt>
                <c:pt idx="3">
                  <c:v>2.2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Pythia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623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L0</c:v>
                  </c:pt>
                  <c:pt idx="1">
                    <c:v>L4</c:v>
                  </c:pt>
                  <c:pt idx="2">
                    <c:v>L8</c:v>
                  </c:pt>
                  <c:pt idx="3">
                    <c:v>L12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92.7</c:v>
                </c:pt>
                <c:pt idx="1">
                  <c:v>9.3</c:v>
                </c:pt>
                <c:pt idx="2">
                  <c:v>19.8</c:v>
                </c:pt>
                <c:pt idx="3">
                  <c:v>43.9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623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B7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DF1F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B7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halves: a scientific claim tested with controls, and an engineering artifact that only exists because the claim held. Total compute under one GPU-hour.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hypothesis is deliberately falsifiable: a linear map can rotate, scale and shear — it cannot compute new features or memorize exceptions. If it works, the structure was already there.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why the project measures activations. Weight-space comparison is not merely hard, it is meaningless without solving the permutation alignment problem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Mean pooling is what makes the comparison possible: different tokenizers mean no token-level correspondence exists, but passage-level does.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why not divide by 590K: the fit is 768 tractable problems, not one intractable one. Dividing by total parameters gives 0.002 and 0.013 — a meaningless ratio.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defensive point: this was a diagnosed confound with a prediction attached, not a lucky reroll. Run 1 numbers are reported in full, never discarded.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about the missed threshold: the pre-registered CKA diagonal target was &gt;0.5 and we measured 0.424. Reported as missed in Appendix C. The ratio criteria and stitching passed decisively.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shows the project's method: an anomaly is not hand-waved, it is diagnosed with a test that could have failed.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adapter is applied to image embeddings only, and only on the mobile side. The server and all queries stay native.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MLP is the only gradient training in the entire project, run deliberately as a control to prove it was unnecessary.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 scope: this is a qualitative demo on 9 vectors. The quantitative claim is B3's Recall@K on 1,000 held-out images.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negative is trusted only because a positive control succeeded on the same data — that is what makes it a finding rather than a failure to measure.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transferable lesson. Run 1 would have closed the investigation with a plausible wrong conclusion, and Experiment B would never have existed.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headline number is measured on held-out data the fit never saw.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scope: the experiments confirm the measured points and are consistent with the predicted trend; the trend itself remains an extrapolation this replication makes credible but cannot prove.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173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9D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EXPERT COURSE  ·  FINAL PROJECT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78308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independently trained models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 the same representations?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324612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scientific test, and a 0.79 MB artifact shipped from its answer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22960" y="4617720"/>
            <a:ext cx="292608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8463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 A  ·  GPT-2 vs Pythia-160M      Experiment B  ·  MobileCLIP -&gt; SigLIP 2 adapter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question, and why the obvious answer fails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5394960" cy="1920240"/>
          </a:xfrm>
          <a:prstGeom prst="roundRect">
            <a:avLst>
              <a:gd name="adj" fmla="val 2857"/>
            </a:avLst>
          </a:prstGeom>
          <a:solidFill>
            <a:srgbClr val="F4F7F9"/>
          </a:solidFill>
          <a:ln w="6350">
            <a:solidFill>
              <a:srgbClr val="E1E8ED"/>
            </a:solidFill>
            <a:prstDash val="solid"/>
          </a:ln>
          <a:effectLst>
            <a:outerShdw sx="100000" sy="100000" kx="0" ky="0" algn="bl" rotWithShape="0" blurRad="101600" dist="12700" dir="5400000">
              <a:srgbClr val="8FA3B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572768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layers from different models be assembled without training?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merging works only within one lineage (SLERP, TIES, DARE).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Cross-architecture transplants fail — permutation symmetry.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09360" y="1371600"/>
            <a:ext cx="5212080" cy="1920240"/>
          </a:xfrm>
          <a:prstGeom prst="roundRect">
            <a:avLst>
              <a:gd name="adj" fmla="val 2857"/>
            </a:avLst>
          </a:prstGeom>
          <a:solidFill>
            <a:srgbClr val="EAF2F7"/>
          </a:solidFill>
          <a:ln w="6350">
            <a:solidFill>
              <a:srgbClr val="E1E8ED"/>
            </a:solidFill>
            <a:prstDash val="solid"/>
          </a:ln>
          <a:effectLst>
            <a:outerShdw sx="100000" sy="100000" kx="0" ky="0" algn="bl" rotWithShape="0" blurRad="101600" dist="12700" dir="5400000">
              <a:srgbClr val="8FA3B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83680" y="157276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representations may still converge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83680" y="201168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content, different coordinate systems.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Re-Basin · CKA studies · Platonic Representation Hypothesis · vec2vec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611880"/>
            <a:ext cx="10881360" cy="1143000"/>
          </a:xfrm>
          <a:prstGeom prst="roundRect">
            <a:avLst>
              <a:gd name="adj" fmla="val 4800"/>
            </a:avLst>
          </a:prstGeom>
          <a:solidFill>
            <a:srgbClr val="21295C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3794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9D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60120" y="406908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Well-trained independent models share representations up to a linear transformation.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640080" y="49834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word load-bearing:   well-trained → needs a random-weights control   ·   independent → no shared lineage   ·   up to linear → strong enough to undo rotations, too weak to invent information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weights cannot be compared — the obstacle</a:t>
            </a:r>
            <a:endParaRPr lang="en-US" sz="3000" dirty="0"/>
          </a:p>
        </p:txBody>
      </p:sp>
      <p:pic>
        <p:nvPicPr>
          <p:cNvPr id="4" name="Image 0" descr="sl_pe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6766560" cy="2194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680960" y="1234440"/>
            <a:ext cx="3840480" cy="2194560"/>
          </a:xfrm>
          <a:prstGeom prst="roundRect">
            <a:avLst>
              <a:gd name="adj" fmla="val 2500"/>
            </a:avLst>
          </a:prstGeom>
          <a:solidFill>
            <a:srgbClr val="F4F7F9"/>
          </a:solidFill>
          <a:ln w="6350">
            <a:solidFill>
              <a:srgbClr val="E1E8ED"/>
            </a:solidFill>
            <a:prstDash val="solid"/>
          </a:ln>
          <a:effectLst>
            <a:outerShdw sx="100000" sy="100000" kx="0" ky="0" algn="bl" rotWithShape="0" blurRad="101600" dist="12700" dir="5400000">
              <a:srgbClr val="8FA3B0">
                <a:alpha val="1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955280" y="1417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on real matrices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955280" y="178308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difference:  0.0
</a:t>
            </a:r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 function
</a:t>
            </a:r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B33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cosine(W, W'):  −0.125
</a:t>
            </a:r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unrelated weights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1000-neuron layer has 1000! ≈ 10²⁵⁶⁸ equivalent arrangements — so the comparison must happen on ACTIVATIONS (what the model computes), not WEIGHTS (how it computes).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40080" y="44348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AF2F7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466344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Consequence for the design: feed both models the SAME inputs, read their internal states, and compare the geometry those states form.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 A — the pipeline</a:t>
            </a:r>
            <a:endParaRPr lang="en-US" sz="3000" dirty="0"/>
          </a:p>
        </p:txBody>
      </p:sp>
      <p:pic>
        <p:nvPicPr>
          <p:cNvPr id="4" name="Image 0" descr="sl_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88720"/>
            <a:ext cx="10881360" cy="18745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3291840"/>
            <a:ext cx="342900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6350">
            <a:solidFill>
              <a:srgbClr val="E1E8ED"/>
            </a:solidFill>
            <a:prstDash val="solid"/>
          </a:ln>
          <a:effectLst>
            <a:outerShdw sx="100000" sy="100000" kx="0" ky="0" algn="bl" rotWithShape="0" blurRad="101600" dist="12700" dir="5400000">
              <a:srgbClr val="8FA3B0">
                <a:alpha val="1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68680" y="3493008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4"/>
          <p:cNvSpPr/>
          <p:nvPr/>
        </p:nvSpPr>
        <p:spPr>
          <a:xfrm>
            <a:off x="868680" y="34930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463040" y="353872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96112" y="4041648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10,000 WikiText passages through both models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 seeded random-weights control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43400" y="3291840"/>
            <a:ext cx="342900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6350">
            <a:solidFill>
              <a:srgbClr val="E1E8ED"/>
            </a:solidFill>
            <a:prstDash val="solid"/>
          </a:ln>
          <a:effectLst>
            <a:outerShdw sx="100000" sy="100000" kx="0" ky="0" algn="bl" rotWithShape="0" blurRad="101600" dist="12700" dir="5400000">
              <a:srgbClr val="8FA3B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72000" y="3493008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9"/>
          <p:cNvSpPr/>
          <p:nvPr/>
        </p:nvSpPr>
        <p:spPr>
          <a:xfrm>
            <a:off x="4572000" y="34930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166360" y="353872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CKA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4599432" y="4041648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13×13 layer pairs, twice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(trained vs trained, trained vs random)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046720" y="3291840"/>
            <a:ext cx="342900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6350">
            <a:solidFill>
              <a:srgbClr val="E1E8ED"/>
            </a:solidFill>
            <a:prstDash val="solid"/>
          </a:ln>
          <a:effectLst>
            <a:outerShdw sx="100000" sy="100000" kx="0" ky="0" algn="bl" rotWithShape="0" blurRad="101600" dist="12700" dir="5400000">
              <a:srgbClr val="8FA3B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75320" y="3493008"/>
            <a:ext cx="457200" cy="457200"/>
          </a:xfrm>
          <a:prstGeom prst="ellipse">
            <a:avLst/>
          </a:prstGeom>
          <a:solidFill>
            <a:srgbClr val="C77D0A"/>
          </a:solidFill>
          <a:ln/>
        </p:spPr>
      </p:sp>
      <p:sp>
        <p:nvSpPr>
          <p:cNvPr id="17" name="Text 14"/>
          <p:cNvSpPr/>
          <p:nvPr/>
        </p:nvSpPr>
        <p:spPr>
          <a:xfrm>
            <a:off x="8275320" y="34930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869680" y="353872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Stitch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8302752" y="4041648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ridge matrix per layer pair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R² = the strong test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640080" y="52120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chosen adversarially: different labs, tokenizers, architectures, training corpora — both trained from scratch, no shared ancestry.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MATHEMATICS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map is a formula, not a training run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234440"/>
            <a:ext cx="10881360" cy="1051560"/>
          </a:xfrm>
          <a:prstGeom prst="roundRect">
            <a:avLst>
              <a:gd name="adj" fmla="val 5217"/>
            </a:avLst>
          </a:prstGeom>
          <a:solidFill>
            <a:srgbClr val="21295C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37160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 =  ( XᵀX  +  αI )⁻¹  XᵀY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18745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form · one np.linalg.solve · seconds · byte-identical every run · no epochs, no learning rate, no convergence question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2514600"/>
            <a:ext cx="5394960" cy="2148840"/>
          </a:xfrm>
          <a:prstGeom prst="roundRect">
            <a:avLst>
              <a:gd name="adj" fmla="val 2553"/>
            </a:avLst>
          </a:prstGeom>
          <a:solidFill>
            <a:srgbClr val="F4F7F9"/>
          </a:solidFill>
          <a:ln w="6350">
            <a:solidFill>
              <a:srgbClr val="E1E8ED"/>
            </a:solidFill>
            <a:prstDash val="solid"/>
          </a:ln>
          <a:effectLst>
            <a:outerShdw sx="100000" sy="100000" kx="0" ky="0" algn="bl" rotWithShape="0" blurRad="101600" dist="12700" dir="5400000">
              <a:srgbClr val="8FA3B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269748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inverse decomposes the problem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306324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inverted matrix contains only X — the outputs never enter it. So the 768×768 fit is 768 INDEPENDENT regressions sharing one inverse.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requirement is rows per INPUT dimension, not rows per 590,000 parameters.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09360" y="2514600"/>
            <a:ext cx="521208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6350">
            <a:solidFill>
              <a:srgbClr val="E1E8ED"/>
            </a:solidFill>
            <a:prstDash val="solid"/>
          </a:ln>
          <a:effectLst>
            <a:outerShdw sx="100000" sy="100000" kx="0" ky="0" algn="bl" rotWithShape="0" blurRad="101600" dist="12700" dir="5400000">
              <a:srgbClr val="8FA3B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83680" y="269748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 that decided the project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37960" y="310896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33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1.6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6537960" y="378561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1 · 1,234 rows</a:t>
            </a:r>
            <a:endParaRPr lang="en-US" sz="11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STARVED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9052560" y="310896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9.8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9052560" y="378561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2 · 7,500 rows</a:t>
            </a:r>
            <a:endParaRPr lang="en-US" sz="11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ADEQUATE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583680" y="431596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5–10 rows per input dimension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" y="48920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Consequence, checked later: output width is nearly free — the 512→768 adapter needs rows relative to 512, which is why 3,000 image pairs sufficed in Experiment B.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FAILURE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1 failed — and the failure was the lesson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280160"/>
            <a:ext cx="5394960" cy="3108960"/>
          </a:xfrm>
          <a:prstGeom prst="roundRect">
            <a:avLst>
              <a:gd name="adj" fmla="val 1765"/>
            </a:avLst>
          </a:prstGeom>
          <a:solidFill>
            <a:srgbClr val="FBF0EF"/>
          </a:solidFill>
          <a:ln w="6350">
            <a:solidFill>
              <a:srgbClr val="E1E8ED"/>
            </a:solidFill>
            <a:prstDash val="solid"/>
          </a:ln>
          <a:effectLst>
            <a:outerShdw sx="100000" sy="100000" kx="0" ky="0" algn="bl" rotWithShape="0" blurRad="101600" dist="12700" dir="5400000">
              <a:srgbClr val="8FA3B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4630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33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first run reported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187452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stitching mean R²  0.434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(L11)  0.552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b="1" dirty="0">
                <a:solidFill>
                  <a:srgbClr val="B33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control  −0.773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 vs criteria: BELOW TARGET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329184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negative R² on the control is impossible for a healthy fit — it means the map generalizes WORSE than predicting the mean. That is the signature of memorize-then-shrink, not of absent structure.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309360" y="1280160"/>
            <a:ext cx="5212080" cy="3108960"/>
          </a:xfrm>
          <a:prstGeom prst="roundRect">
            <a:avLst>
              <a:gd name="adj" fmla="val 1765"/>
            </a:avLst>
          </a:prstGeom>
          <a:solidFill>
            <a:srgbClr val="EFF6F2"/>
          </a:solidFill>
          <a:ln w="6350">
            <a:solidFill>
              <a:srgbClr val="E1E8ED"/>
            </a:solidFill>
            <a:prstDash val="solid"/>
          </a:ln>
          <a:effectLst>
            <a:outerShdw sx="100000" sy="100000" kx="0" ky="0" algn="bl" rotWithShape="0" blurRad="101600" dist="12700" dir="5400000">
              <a:srgbClr val="8FA3B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83680" y="146304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changed — and what did not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583680" y="1874520"/>
            <a:ext cx="4663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samples: 1,646 → 10,000</a:t>
            </a:r>
            <a:endParaRPr lang="en-US" sz="13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split: validation → train</a:t>
            </a:r>
            <a:endParaRPr lang="en-US" sz="13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(validation holds only ~1,646 long passages)</a:t>
            </a:r>
            <a:endParaRPr lang="en-US" sz="13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else: UNCHANGED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583680" y="329184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leakage: both models are FROZEN, nothing is trained, the text is only probe stimuli. Held-out discipline lives one level down — A3 holds out its own 25%.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46177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Diagnosis, not fitting the result:  the arithmetic was checkable in advance  ·  CKA barely moved (0.365 → 0.359) while regression moved a lot  ·  the control shifted exactly as theory predicts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 A — the hypothesis holds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234440"/>
            <a:ext cx="256032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6350">
            <a:solidFill>
              <a:srgbClr val="E1E8ED"/>
            </a:solidFill>
            <a:prstDash val="solid"/>
          </a:ln>
          <a:effectLst>
            <a:outerShdw sx="100000" sy="100000" kx="0" ky="0" algn="bl" rotWithShape="0" blurRad="101600" dist="12700" dir="5400000">
              <a:srgbClr val="8FA3B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0.737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40080" y="2093976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stitching mean R²</a:t>
            </a:r>
            <a:endParaRPr lang="en-US" sz="11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held-out, 13 layers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29000" y="1234440"/>
            <a:ext cx="256032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6350">
            <a:solidFill>
              <a:srgbClr val="E1E8ED"/>
            </a:solidFill>
            <a:prstDash val="solid"/>
          </a:ln>
          <a:effectLst>
            <a:outerShdw sx="100000" sy="100000" kx="0" ky="0" algn="bl" rotWithShape="0" blurRad="101600" dist="12700" dir="5400000">
              <a:srgbClr val="8FA3B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29000" y="1417320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0.797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3429000" y="2093976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at layer 11</a:t>
            </a:r>
            <a:endParaRPr lang="en-US" sz="11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middle-layer maximum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17920" y="1234440"/>
            <a:ext cx="256032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6350">
            <a:solidFill>
              <a:srgbClr val="E1E8ED"/>
            </a:solidFill>
            <a:prstDash val="solid"/>
          </a:ln>
          <a:effectLst>
            <a:outerShdw sx="100000" sy="100000" kx="0" ky="0" algn="bl" rotWithShape="0" blurRad="101600" dist="12700" dir="5400000">
              <a:srgbClr val="8FA3B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17920" y="1417320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A6B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0.173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217920" y="2093976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random-weights control</a:t>
            </a:r>
            <a:endParaRPr lang="en-US" sz="11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pipeline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006840" y="1234440"/>
            <a:ext cx="256032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6350">
            <a:solidFill>
              <a:srgbClr val="E1E8ED"/>
            </a:solidFill>
            <a:prstDash val="solid"/>
          </a:ln>
          <a:effectLst>
            <a:outerShdw sx="100000" sy="100000" kx="0" ky="0" algn="bl" rotWithShape="0" blurRad="101600" dist="12700" dir="5400000">
              <a:srgbClr val="8FA3B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006840" y="1417320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6.3×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9006840" y="2093976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CKA trained / random</a:t>
            </a:r>
            <a:endParaRPr lang="en-US" sz="11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0.424 vs 0.067</a:t>
            </a:r>
            <a:endParaRPr lang="en-US" sz="115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640080" y="3017520"/>
          <a:ext cx="694944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Shape 14"/>
          <p:cNvSpPr/>
          <p:nvPr/>
        </p:nvSpPr>
        <p:spPr>
          <a:xfrm>
            <a:off x="7863840" y="3017520"/>
            <a:ext cx="3657600" cy="2651760"/>
          </a:xfrm>
          <a:prstGeom prst="roundRect">
            <a:avLst>
              <a:gd name="adj" fmla="val 2069"/>
            </a:avLst>
          </a:prstGeom>
          <a:solidFill>
            <a:srgbClr val="EAF2F7"/>
          </a:solidFill>
          <a:ln w="6350">
            <a:solidFill>
              <a:srgbClr val="E1E8ED"/>
            </a:solidFill>
            <a:prstDash val="solid"/>
          </a:ln>
          <a:effectLst>
            <a:outerShdw sx="100000" sy="100000" kx="0" ky="0" algn="bl" rotWithShape="0" blurRad="101600" dist="12700" dir="5400000">
              <a:srgbClr val="8FA3B0">
                <a:alpha val="10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8138160" y="32004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is the evidence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8138160" y="356616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curve RISES with depth (0.59 → 0.80): both models build shared abstraction layer by layer.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curve DECAYS (0.38 → 0.09): random layers grind input structure away.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Opposite slopes cannot be produced by architecture or shared inputs alone.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robustness check that became a finding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Fitting the REVERSE direction (Pythia → GPT-2) appeared asymmetric. Two follow-up tests explained it completely.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5394960" cy="1783080"/>
          </a:xfrm>
          <a:prstGeom prst="roundRect">
            <a:avLst>
              <a:gd name="adj" fmla="val 3077"/>
            </a:avLst>
          </a:prstGeom>
          <a:solidFill>
            <a:srgbClr val="FBF7EF"/>
          </a:solidFill>
          <a:ln w="6350">
            <a:solidFill>
              <a:srgbClr val="E1E8ED"/>
            </a:solidFill>
            <a:prstDash val="solid"/>
          </a:ln>
          <a:effectLst>
            <a:outerShdw sx="100000" sy="100000" kx="0" ky="0" algn="bl" rotWithShape="0" blurRad="101600" dist="12700" dir="5400000">
              <a:srgbClr val="8FA3B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18745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77D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0 — a REAL information difference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914400" y="224028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length recoverable from pooled layer-0 vector: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GPT-2  R² = 1.000        Pythia  R² = 0.126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GPT-2 adds absolute positional embeddings at layer 0; Pythia's rotary encoding is applied inside attention.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309360" y="1691640"/>
            <a:ext cx="5212080" cy="1783080"/>
          </a:xfrm>
          <a:prstGeom prst="roundRect">
            <a:avLst>
              <a:gd name="adj" fmla="val 3077"/>
            </a:avLst>
          </a:prstGeom>
          <a:solidFill>
            <a:srgbClr val="EFF6F2"/>
          </a:solidFill>
          <a:ln w="6350">
            <a:solidFill>
              <a:srgbClr val="E1E8ED"/>
            </a:solidFill>
            <a:prstDash val="solid"/>
          </a:ln>
          <a:effectLst>
            <a:outerShdw sx="100000" sy="100000" kx="0" ky="0" algn="bl" rotWithShape="0" blurRad="101600" dist="12700" dir="5400000">
              <a:srgbClr val="8FA3B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83680" y="187452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layers — a METRIC artifact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583680" y="224028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|gap| under variance weighting:  0.097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Recomputed with uniform averaging:  0.006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16× reduction — the two directions become indistinguishable (L4: 0.722 vs 0.723).</a:t>
            </a:r>
            <a:endParaRPr lang="en-US" sz="115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640080" y="3657600"/>
          <a:ext cx="603504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6949440" y="3657600"/>
            <a:ext cx="4572000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6350">
            <a:solidFill>
              <a:srgbClr val="E1E8ED"/>
            </a:solidFill>
            <a:prstDash val="solid"/>
          </a:ln>
          <a:effectLst>
            <a:outerShdw sx="100000" sy="100000" kx="0" ky="0" algn="bl" rotWithShape="0" blurRad="101600" dist="12700" dir="5400000">
              <a:srgbClr val="8FA3B0">
                <a:alpha val="1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223760" y="38404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 twice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7223760" y="420624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GPT-2's variance collapses into 2–11 effective directions — the rogue-dimension phenomenon, measured here.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property (unequal variance spread) is what defeats rotation-only alignment in Experiment B.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 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finding to product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two spaces are linearly related, a phone-tier encoder and a server-tier encoder can share ONE vector index.</a:t>
            </a:r>
            <a:endParaRPr lang="en-US" sz="1400" dirty="0"/>
          </a:p>
        </p:txBody>
      </p:sp>
      <p:pic>
        <p:nvPicPr>
          <p:cNvPr id="5" name="Image 0" descr="sl_wr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91640"/>
            <a:ext cx="10881360" cy="23774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0080" y="4297680"/>
            <a:ext cx="342900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1E8ED"/>
            </a:solidFill>
            <a:prstDash val="solid"/>
          </a:ln>
          <a:effectLst>
            <a:outerShdw sx="100000" sy="100000" kx="0" ky="0" algn="bl" rotWithShape="0" blurRad="101600" dist="12700" dir="5400000">
              <a:srgbClr val="8FA3B0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44348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512 → 768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822960" y="4919472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matrix W</a:t>
            </a:r>
            <a:endParaRPr lang="en-US" sz="11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fitted in seconds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43400" y="4297680"/>
            <a:ext cx="342900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1E8ED"/>
            </a:solidFill>
            <a:prstDash val="solid"/>
          </a:ln>
          <a:effectLst>
            <a:outerShdw sx="100000" sy="100000" kx="0" ky="0" algn="bl" rotWithShape="0" blurRad="101600" dist="12700" dir="5400000">
              <a:srgbClr val="8FA3B0">
                <a:alpha val="1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4526280" y="44348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0.79 MB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4526280" y="4919472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ML fp16</a:t>
            </a:r>
            <a:endParaRPr lang="en-US" sz="11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the ANE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8046720" y="4297680"/>
            <a:ext cx="342900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1E8ED"/>
            </a:solidFill>
            <a:prstDash val="solid"/>
          </a:ln>
          <a:effectLst>
            <a:outerShdw sx="100000" sy="100000" kx="0" ky="0" algn="bl" rotWithShape="0" blurRad="101600" dist="12700" dir="5400000">
              <a:srgbClr val="8FA3B0">
                <a:alpha val="1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229600" y="44348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77D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index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229600" y="4919472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of two</a:t>
            </a:r>
            <a:endParaRPr lang="en-US" sz="11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photos never uploaded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 B · RESULT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adapter does to the geometry</a:t>
            </a:r>
            <a:endParaRPr lang="en-US" sz="3000" dirty="0"/>
          </a:p>
        </p:txBody>
      </p:sp>
      <p:pic>
        <p:nvPicPr>
          <p:cNvPr id="4" name="Image 0" descr="sl_a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34440"/>
            <a:ext cx="6949440" cy="3657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680960" y="1234440"/>
            <a:ext cx="3840480" cy="3657600"/>
          </a:xfrm>
          <a:prstGeom prst="roundRect">
            <a:avLst>
              <a:gd name="adj" fmla="val 1500"/>
            </a:avLst>
          </a:prstGeom>
          <a:solidFill>
            <a:srgbClr val="F4F7F9"/>
          </a:solidFill>
          <a:ln w="6350">
            <a:solidFill>
              <a:srgbClr val="E1E8ED"/>
            </a:solidFill>
            <a:prstDash val="solid"/>
          </a:ln>
          <a:effectLst>
            <a:outerShdw sx="100000" sy="100000" kx="0" ky="0" algn="bl" rotWithShape="0" blurRad="101600" dist="12700" dir="5400000">
              <a:srgbClr val="8FA3B0">
                <a:alpha val="1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955280" y="1417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33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955280" y="17373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Same-image pairs sit far apart.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 ≈ 0.00 · R@1 = 0.001 (exact chance)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7955280" y="26060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one 512×768 matrix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955280" y="292608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phone vector lands on its server twin.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 = 0.900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R@5 = 95.3% of ceiling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R@10 = 97.2% of ceiling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955280" y="420624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clouds interleave — there is no region you could circle and call "the mobile part".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50749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comparison: an MLP (512→1024→768, 300 epochs) gained +0.003 cosine — the relationship is linear, and the residual gap is missing information, not translation error.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runs — one query, both tiers, one ranking</a:t>
            </a:r>
            <a:endParaRPr lang="en-US" sz="3000" dirty="0"/>
          </a:p>
        </p:txBody>
      </p:sp>
      <p:pic>
        <p:nvPicPr>
          <p:cNvPr id="4" name="Image 0" descr="sl_co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80160"/>
            <a:ext cx="3931920" cy="39319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937760" y="1280160"/>
            <a:ext cx="6583680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6350">
            <a:solidFill>
              <a:srgbClr val="E1E8ED"/>
            </a:solidFill>
            <a:prstDash val="solid"/>
          </a:ln>
          <a:effectLst>
            <a:outerShdw sx="100000" sy="100000" kx="0" ky="0" algn="bl" rotWithShape="0" blurRad="101600" dist="12700" dir="5400000">
              <a:srgbClr val="8FA3B0">
                <a:alpha val="1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212080" y="146304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demo, measured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212080" y="182880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MOBILE   P = 91.3%   </a:t>
            </a:r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uploaded photo, indexed via the phone path
</a:t>
            </a:r>
            <a:pPr indent="0" marL="0">
              <a:lnSpc>
                <a:spcPts val="2000"/>
              </a:lnSpc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SERVER    P = 5.0%    </a:t>
            </a:r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goldfinches, indexed natively
</a:t>
            </a:r>
            <a:pPr indent="0" marL="0">
              <a:lnSpc>
                <a:spcPts val="2000"/>
              </a:lnSpc>
              <a:buNone/>
            </a:pPr>
            <a:r>
              <a:rPr lang="en-US" sz="12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MOBILE   P = 1.0%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937760" y="3337560"/>
            <a:ext cx="3200400" cy="1874520"/>
          </a:xfrm>
          <a:prstGeom prst="roundRect">
            <a:avLst>
              <a:gd name="adj" fmla="val 2927"/>
            </a:avLst>
          </a:prstGeom>
          <a:solidFill>
            <a:srgbClr val="EAF2F7"/>
          </a:solidFill>
          <a:ln w="6350">
            <a:solidFill>
              <a:srgbClr val="E1E8ED"/>
            </a:solidFill>
            <a:prstDash val="solid"/>
          </a:ln>
          <a:effectLst>
            <a:outerShdw sx="100000" sy="100000" kx="0" ky="0" algn="bl" rotWithShape="0" blurRad="101600" dist="12700" dir="5400000">
              <a:srgbClr val="8FA3B0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5120640" y="352044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 ms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5120640" y="40690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indexed on the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path, end to end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120640" y="46634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auto-captioned by BLIP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upload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8321040" y="3337560"/>
            <a:ext cx="3200400" cy="1874520"/>
          </a:xfrm>
          <a:prstGeom prst="roundRect">
            <a:avLst>
              <a:gd name="adj" fmla="val 2927"/>
            </a:avLst>
          </a:prstGeom>
          <a:solidFill>
            <a:srgbClr val="EFF6F2"/>
          </a:solidFill>
          <a:ln w="6350">
            <a:solidFill>
              <a:srgbClr val="E1E8ED"/>
            </a:solidFill>
            <a:prstDash val="solid"/>
          </a:ln>
          <a:effectLst>
            <a:outerShdw sx="100000" sy="100000" kx="0" ky="0" algn="bl" rotWithShape="0" blurRad="101600" dist="12700" dir="5400000">
              <a:srgbClr val="8FA3B0">
                <a:alpha val="1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503920" y="352044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0.08 ms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8503920" y="40690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search vs 150 ms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network RTT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8503920" y="46634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math either way —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network is the difference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SCIENTIFIC HONESTY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negative results, kept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234440"/>
            <a:ext cx="3429000" cy="41148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6350">
            <a:solidFill>
              <a:srgbClr val="E1E8ED"/>
            </a:solidFill>
            <a:prstDash val="solid"/>
          </a:ln>
          <a:effectLst>
            <a:outerShdw sx="100000" sy="100000" kx="0" ky="0" algn="bl" rotWithShape="0" blurRad="101600" dist="12700" dir="5400000">
              <a:srgbClr val="8FA3B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96112" y="14173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Procrustes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96112" y="17830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33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R² = 0.038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896112" y="23317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ridge 0.592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96112" y="2697480"/>
            <a:ext cx="2926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rotation preserves variance spread, so it cannot reconcile spaces that differ in anisotropy. Confound disclosed: the 512-vs-768 gap forced zero-padding, which handicaps rotation mechanically.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43400" y="1234440"/>
            <a:ext cx="3429000" cy="41148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6350">
            <a:solidFill>
              <a:srgbClr val="E1E8ED"/>
            </a:solidFill>
            <a:prstDash val="solid"/>
          </a:ln>
          <a:effectLst>
            <a:outerShdw sx="100000" sy="100000" kx="0" ky="0" algn="bl" rotWithShape="0" blurRad="101600" dist="12700" dir="5400000">
              <a:srgbClr val="8FA3B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99432" y="14173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MLP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99432" y="17830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77D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+0.003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599432" y="23317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 gain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99432" y="2697480"/>
            <a:ext cx="2926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times the parameters, direct optimization of the retrieval objective — no improvement. This is what PROVED linearity; the failed stronger method is the measurement.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46720" y="1234440"/>
            <a:ext cx="3429000" cy="41148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6350">
            <a:solidFill>
              <a:srgbClr val="E1E8ED"/>
            </a:solidFill>
            <a:prstDash val="solid"/>
          </a:ln>
          <a:effectLst>
            <a:outerShdw sx="100000" sy="100000" kx="0" ky="0" algn="bl" rotWithShape="0" blurRad="101600" dist="12700" dir="5400000">
              <a:srgbClr val="8FA3B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302752" y="14173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Pair-free translation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302752" y="17830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R@1 = chance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8302752" y="23317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 0.395 vs 0.017 floor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302752" y="2697480"/>
            <a:ext cx="2926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Distribution-level alignment recovered with zero pairs (23× random); instance-level not. Diagnostics refuted one hypothesis, supported another — full vec2vec machinery is necessary, not decorative.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77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9D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METHODOLOGICAL TAKEAWAY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10972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accepting a negative result, verify the experiment could have said yes.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22960" y="233172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331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554480" y="22860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per input dimension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554480" y="2624328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starvation biases DOWNWARD, systematically — it does not merely add noise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692640" y="24048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arithmetic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22960" y="338328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383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554480" y="333756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Alignment of the two matrices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554480" y="3675888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off-by-one and every pair is wrong, with no error raised — test by shuffling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92640" y="345643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22960" y="443484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4434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554480" y="43891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Pooling and preprocessing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554480" y="4727448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transforms that produced the matrices can destroy signal before fitting begins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692640" y="450799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22960" y="56235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D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false positive announces itself under scrutiny. A false negative just sits there looking like a clean answer.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was delivered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280160"/>
            <a:ext cx="3429000" cy="36576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6350">
            <a:solidFill>
              <a:srgbClr val="E1E8ED"/>
            </a:solidFill>
            <a:prstDash val="solid"/>
          </a:ln>
          <a:effectLst>
            <a:outerShdw sx="100000" sy="100000" kx="0" ky="0" algn="bl" rotWithShape="0" blurRad="101600" dist="12700" dir="5400000">
              <a:srgbClr val="8FA3B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1481328"/>
            <a:ext cx="411480" cy="4114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1417320" y="15087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Scientific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2057400"/>
            <a:ext cx="29260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 confirmed: R² 0.737 mean, 0.797 peak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CKA ratio 6.3× against a seeded control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Direction-symmetric once the metric artifact is removed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Anisotropy measured directly (eff. dim 2.2–92.7)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43400" y="1280160"/>
            <a:ext cx="3429000" cy="36576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6350">
            <a:solidFill>
              <a:srgbClr val="E1E8ED"/>
            </a:solidFill>
            <a:prstDash val="solid"/>
          </a:ln>
          <a:effectLst>
            <a:outerShdw sx="100000" sy="100000" kx="0" ky="0" algn="bl" rotWithShape="0" blurRad="101600" dist="12700" dir="5400000">
              <a:srgbClr val="8FA3B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99432" y="1481328"/>
            <a:ext cx="411480" cy="4114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5120640" y="15087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17720" y="2057400"/>
            <a:ext cx="29260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Adapter.mlpackage — 0.79 MB, fp16, iOS 16+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R@5 / R@10 at 95.3% / 97.2% of ceiling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shared Qdrant index, photos never uploaded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end-to-end demo with mixed-tier ranking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46720" y="1280160"/>
            <a:ext cx="3429000" cy="36576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6350">
            <a:solidFill>
              <a:srgbClr val="E1E8ED"/>
            </a:solidFill>
            <a:prstDash val="solid"/>
          </a:ln>
          <a:effectLst>
            <a:outerShdw sx="100000" sy="100000" kx="0" ky="0" algn="bl" rotWithShape="0" blurRad="101600" dist="12700" dir="5400000">
              <a:srgbClr val="8FA3B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302752" y="1481328"/>
            <a:ext cx="411480" cy="411480"/>
          </a:xfrm>
          <a:prstGeom prst="ellipse">
            <a:avLst/>
          </a:prstGeom>
          <a:solidFill>
            <a:srgbClr val="C77D0A"/>
          </a:solidFill>
          <a:ln/>
        </p:spPr>
      </p:sp>
      <p:sp>
        <p:nvSpPr>
          <p:cNvPr id="14" name="Text 12"/>
          <p:cNvSpPr/>
          <p:nvPr/>
        </p:nvSpPr>
        <p:spPr>
          <a:xfrm>
            <a:off x="8823960" y="15087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21040" y="2057400"/>
            <a:ext cx="29260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21-page report with 3 appendices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companion + concepts &amp; corrections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notebooks, every stage reproducible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Hebrew editions of the main documents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40080" y="51206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compute for the scientific core: under one GPU-hour on a free Colab T4.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058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9D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137160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models that never shared a datapoint</a:t>
            </a:r>
            <a:endParaRPr lang="en-US" sz="32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the same map of the world.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22960" y="288036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matrix translates between them — and the same matrix, fitted between a phone encoder and a server encoder, lets both write into a single index.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4023360"/>
            <a:ext cx="3200400" cy="1463040"/>
          </a:xfrm>
          <a:prstGeom prst="roundRect">
            <a:avLst>
              <a:gd name="adj" fmla="val 3750"/>
            </a:avLst>
          </a:prstGeom>
          <a:solidFill>
            <a:srgbClr val="2C3A6B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420624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0.737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822960" y="4828032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D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R²</a:t>
            </a:r>
            <a:endParaRPr lang="en-US" sz="11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D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 A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89120" y="4023360"/>
            <a:ext cx="3200400" cy="1463040"/>
          </a:xfrm>
          <a:prstGeom prst="roundRect">
            <a:avLst>
              <a:gd name="adj" fmla="val 3750"/>
            </a:avLst>
          </a:prstGeom>
          <a:solidFill>
            <a:srgbClr val="2C3A6B"/>
          </a:solidFill>
          <a:ln/>
        </p:spPr>
      </p:sp>
      <p:sp>
        <p:nvSpPr>
          <p:cNvPr id="9" name="Text 7"/>
          <p:cNvSpPr/>
          <p:nvPr/>
        </p:nvSpPr>
        <p:spPr>
          <a:xfrm>
            <a:off x="4389120" y="420624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0.900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389120" y="4828032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D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 to target</a:t>
            </a:r>
            <a:endParaRPr lang="en-US" sz="11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D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 B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955280" y="4023360"/>
            <a:ext cx="3200400" cy="1463040"/>
          </a:xfrm>
          <a:prstGeom prst="roundRect">
            <a:avLst>
              <a:gd name="adj" fmla="val 3750"/>
            </a:avLst>
          </a:prstGeom>
          <a:solidFill>
            <a:srgbClr val="2C3A6B"/>
          </a:solidFill>
          <a:ln/>
        </p:spPr>
      </p:sp>
      <p:sp>
        <p:nvSpPr>
          <p:cNvPr id="12" name="Text 10"/>
          <p:cNvSpPr/>
          <p:nvPr/>
        </p:nvSpPr>
        <p:spPr>
          <a:xfrm>
            <a:off x="7955280" y="420624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0.79 MB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7955280" y="4828032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D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 artifact</a:t>
            </a:r>
            <a:endParaRPr lang="en-US" sz="11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D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16+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stated plainly: two small models are a two-point sample of the Platonic Representation Hypothesis, not proof of its trend.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2026-08-03T12:20:26Z</dcterms:created>
  <dcterms:modified xsi:type="dcterms:W3CDTF">2026-08-03T12:20:26Z</dcterms:modified>
</cp:coreProperties>
</file>