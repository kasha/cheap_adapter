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hyperlink" Target="https://drive.google.com/drive/folders/15xBpKE-DW8e60dXhq3n5KLSs7kHSFj0_" TargetMode="External"/><Relationship Id="rId1" Type="http://schemas.openxmlformats.org/officeDocument/2006/relationships/image" Target="../media/image-25-1.png"/><Relationship Id="rId2" Type="http://schemas.openxmlformats.org/officeDocument/2006/relationships/image" Target="../media/image-25-2.png"/><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hyperlink" Target="https://drive.google.com/drive/folders/15xBpKE-DW8e60dXhq3n5KLSs7kHSFj0_" TargetMode="External"/><Relationship Id="rId2" Type="http://schemas.openxmlformats.org/officeDocument/2006/relationships/hyperlink" Target="https://drive.google.com/drive/folders/1Mk2_h8NXySnpWEooyDw-BgUue3FbhnWa" TargetMode="External"/><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731520" y="1234440"/>
            <a:ext cx="10698480" cy="365760"/>
          </a:xfrm>
          <a:prstGeom prst="rect">
            <a:avLst/>
          </a:prstGeom>
          <a:noFill/>
          <a:ln/>
        </p:spPr>
        <p:txBody>
          <a:bodyPr wrap="square" lIns="0" tIns="0" rIns="0" bIns="0" rtlCol="0" anchor="ctr"/>
          <a:lstStyle/>
          <a:p>
            <a:pPr indent="0" marL="0">
              <a:buNone/>
            </a:pPr>
            <a:r>
              <a:rPr lang="en-US" sz="1400" b="1" spc="400" kern="0" dirty="0">
                <a:solidFill>
                  <a:srgbClr val="CADCFC"/>
                </a:solidFill>
                <a:latin typeface="Calibri" pitchFamily="34" charset="0"/>
                <a:ea typeface="Calibri" pitchFamily="34" charset="-122"/>
                <a:cs typeface="Calibri" pitchFamily="34" charset="-120"/>
              </a:rPr>
              <a:t>REPRESENTATION CONVERGENCE</a:t>
            </a:r>
            <a:endParaRPr lang="en-US" sz="1400" dirty="0"/>
          </a:p>
        </p:txBody>
      </p:sp>
      <p:sp>
        <p:nvSpPr>
          <p:cNvPr id="3" name="Text 1"/>
          <p:cNvSpPr txBox="1"/>
          <p:nvPr/>
        </p:nvSpPr>
        <p:spPr>
          <a:xfrm>
            <a:off x="731520" y="1691640"/>
            <a:ext cx="10698480" cy="15544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Do independently trained models discover the same world — and can one matrix move knowledge between them?</a:t>
            </a:r>
            <a:endParaRPr lang="en-US" sz="3400" dirty="0"/>
          </a:p>
        </p:txBody>
      </p:sp>
      <p:sp>
        <p:nvSpPr>
          <p:cNvPr id="4" name="Text 2"/>
          <p:cNvSpPr txBox="1"/>
          <p:nvPr/>
        </p:nvSpPr>
        <p:spPr>
          <a:xfrm>
            <a:off x="731520" y="3429000"/>
            <a:ext cx="10058400" cy="82296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A subset of the Platonic Representation Hypothesis, tested on small frozen encoders — and turned into two engineered systems that run on weak devices.</a:t>
            </a:r>
            <a:endParaRPr lang="en-US" sz="1600" dirty="0"/>
          </a:p>
        </p:txBody>
      </p:sp>
      <p:sp>
        <p:nvSpPr>
          <p:cNvPr id="5" name="Text 3"/>
          <p:cNvSpPr txBox="1"/>
          <p:nvPr/>
        </p:nvSpPr>
        <p:spPr>
          <a:xfrm>
            <a:off x="731520" y="5029200"/>
            <a:ext cx="10698480" cy="36576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Liad Kashanovsky · AI Expert final project · Viva 17 September 2026 · 8 encoders · 9 findings · 11 falsified explanations · 2 shipped artifacts</a:t>
            </a:r>
            <a:endParaRPr lang="en-US" sz="1200" dirty="0"/>
          </a:p>
        </p:txBody>
      </p:sp>
      <p:sp>
        <p:nvSpPr>
          <p:cNvPr id="6" name="Text 4"/>
          <p:cNvSpPr txBox="1"/>
          <p:nvPr/>
        </p:nvSpPr>
        <p:spPr>
          <a:xfrm>
            <a:off x="731520" y="5486400"/>
            <a:ext cx="10698480" cy="365760"/>
          </a:xfrm>
          <a:prstGeom prst="rect">
            <a:avLst/>
          </a:prstGeom>
          <a:noFill/>
          <a:ln/>
        </p:spPr>
        <p:txBody>
          <a:bodyPr wrap="square" lIns="0" tIns="0" rIns="0" bIns="0" rtlCol="0" anchor="ctr"/>
          <a:lstStyle/>
          <a:p>
            <a:pPr indent="0" marL="0">
              <a:buNone/>
            </a:pPr>
            <a:r>
              <a:rPr lang="en-US" sz="1100" i="1" dirty="0">
                <a:solidFill>
                  <a:srgbClr val="CADCFC"/>
                </a:solidFill>
                <a:latin typeface="Calibri" pitchFamily="34" charset="0"/>
                <a:ea typeface="Calibri" pitchFamily="34" charset="-122"/>
                <a:cs typeface="Calibri" pitchFamily="34" charset="-120"/>
              </a:rPr>
              <a:t>Reminder deck: goal → measurement → what was proved or built, with the cat-on-a-chair example on every step.</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38560" y="6446520"/>
            <a:ext cx="54864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2</a:t>
            </a:r>
            <a:endParaRPr lang="en-US" sz="900" dirty="0"/>
          </a:p>
        </p:txBody>
      </p:sp>
      <p:sp>
        <p:nvSpPr>
          <p:cNvPr id="3" name="Text 1"/>
          <p:cNvSpPr txBox="1"/>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C8551A"/>
                </a:solidFill>
                <a:latin typeface="Calibri" pitchFamily="34" charset="0"/>
                <a:ea typeface="Calibri" pitchFamily="34" charset="-122"/>
                <a:cs typeface="Calibri" pitchFamily="34" charset="-120"/>
              </a:rPr>
              <a:t>THE HYPOTHESIS</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The Platonic Representation Hypothesis, in plain words</a:t>
            </a:r>
            <a:endParaRPr lang="en-US" sz="2700" dirty="0"/>
          </a:p>
        </p:txBody>
      </p:sp>
      <p:sp>
        <p:nvSpPr>
          <p:cNvPr id="5" name="Shape 3"/>
          <p:cNvSpPr/>
          <p:nvPr/>
        </p:nvSpPr>
        <p:spPr>
          <a:xfrm>
            <a:off x="548640" y="1508760"/>
            <a:ext cx="6766560" cy="2331720"/>
          </a:xfrm>
          <a:prstGeom prst="roundRect">
            <a:avLst>
              <a:gd name="adj" fmla="val 3137"/>
            </a:avLst>
          </a:prstGeom>
          <a:solidFill>
            <a:srgbClr val="EEF3FF"/>
          </a:solidFill>
          <a:ln w="12700">
            <a:solidFill>
              <a:srgbClr val="D6DCE8"/>
            </a:solidFill>
            <a:prstDash val="solid"/>
          </a:ln>
        </p:spPr>
      </p:sp>
      <p:sp>
        <p:nvSpPr>
          <p:cNvPr id="6" name="Text 4"/>
          <p:cNvSpPr txBox="1"/>
          <p:nvPr/>
        </p:nvSpPr>
        <p:spPr>
          <a:xfrm>
            <a:off x="777240" y="1737360"/>
            <a:ext cx="6309360" cy="1874520"/>
          </a:xfrm>
          <a:prstGeom prst="rect">
            <a:avLst/>
          </a:prstGeom>
          <a:noFill/>
          <a:ln/>
        </p:spPr>
        <p:txBody>
          <a:bodyPr wrap="square" lIns="0" tIns="0" rIns="0" bIns="0" rtlCol="0" anchor="t"/>
          <a:lstStyle/>
          <a:p>
            <a:pPr indent="0" marL="0">
              <a:buNone/>
            </a:pPr>
            <a:r>
              <a:rPr lang="en-US" sz="1800" dirty="0">
                <a:solidFill>
                  <a:srgbClr val="1F2937"/>
                </a:solidFill>
                <a:latin typeface="Cambria" pitchFamily="34" charset="0"/>
                <a:ea typeface="Cambria" pitchFamily="34" charset="-122"/>
                <a:cs typeface="Cambria" pitchFamily="34" charset="-120"/>
              </a:rPr>
              <a:t>Models trained separately — different data, different objectives, sometimes different senses entirely — are said to be converging on the same underlying picture of the world. </a:t>
            </a:r>
            <a:pPr indent="0" marL="0">
              <a:buNone/>
            </a:pPr>
            <a:r>
              <a:rPr lang="en-US" sz="1800" b="1" dirty="0">
                <a:solidFill>
                  <a:srgbClr val="1E2761"/>
                </a:solidFill>
                <a:latin typeface="Cambria" pitchFamily="34" charset="0"/>
                <a:ea typeface="Cambria" pitchFamily="34" charset="-122"/>
                <a:cs typeface="Cambria" pitchFamily="34" charset="-120"/>
              </a:rPr>
              <a:t>The name comes from Plato: there is one reality, and each model sees a shadow of it.</a:t>
            </a:r>
            <a:endParaRPr lang="en-US" sz="1800" dirty="0"/>
          </a:p>
        </p:txBody>
      </p:sp>
      <p:pic>
        <p:nvPicPr>
          <p:cNvPr id="7" name="Image 0" descr="/home/claude/deck/img/cave_allegory_seven.png">    </p:cNvPr>
          <p:cNvPicPr>
            <a:picLocks noChangeAspect="1"/>
          </p:cNvPicPr>
          <p:nvPr/>
        </p:nvPicPr>
        <p:blipFill>
          <a:blip r:embed="rId1"/>
          <a:srcRect l="0" r="0" t="0" b="0"/>
          <a:stretch/>
        </p:blipFill>
        <p:spPr>
          <a:xfrm>
            <a:off x="7498080" y="1417320"/>
            <a:ext cx="4114800" cy="2468880"/>
          </a:xfrm>
          <a:prstGeom prst="rect">
            <a:avLst/>
          </a:prstGeom>
        </p:spPr>
      </p:pic>
      <p:sp>
        <p:nvSpPr>
          <p:cNvPr id="8" name="Shape 5"/>
          <p:cNvSpPr/>
          <p:nvPr/>
        </p:nvSpPr>
        <p:spPr>
          <a:xfrm>
            <a:off x="548640" y="4069080"/>
            <a:ext cx="5486400" cy="2240280"/>
          </a:xfrm>
          <a:prstGeom prst="roundRect">
            <a:avLst>
              <a:gd name="adj" fmla="val 3265"/>
            </a:avLst>
          </a:prstGeom>
          <a:solidFill>
            <a:srgbClr val="EEF3FF"/>
          </a:solidFill>
          <a:ln w="12700">
            <a:solidFill>
              <a:srgbClr val="EEF3FF"/>
            </a:solidFill>
            <a:prstDash val="solid"/>
          </a:ln>
        </p:spPr>
      </p:sp>
      <p:sp>
        <p:nvSpPr>
          <p:cNvPr id="9" name="Text 6"/>
          <p:cNvSpPr txBox="1"/>
          <p:nvPr/>
        </p:nvSpPr>
        <p:spPr>
          <a:xfrm>
            <a:off x="713232" y="4178808"/>
            <a:ext cx="5157216"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What Huh et al. (2024) claim</a:t>
            </a:r>
            <a:endParaRPr lang="en-US" sz="1300" dirty="0"/>
          </a:p>
        </p:txBody>
      </p:sp>
      <p:sp>
        <p:nvSpPr>
          <p:cNvPr id="10" name="Text 7"/>
          <p:cNvSpPr txBox="1"/>
          <p:nvPr/>
        </p:nvSpPr>
        <p:spPr>
          <a:xfrm>
            <a:off x="713232" y="4572000"/>
            <a:ext cx="5157216" cy="164592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As models grow larger and train on more data, their internal representations converge toward one shared statistical model of reality — shadows of a single world on different cave walls. They measure it with mutual-nearest-neighbour alignment (CKNNA) on models up to 70B parameters, and report it grows stronger with scale.</a:t>
            </a:r>
            <a:endParaRPr lang="en-US" sz="1100" dirty="0"/>
          </a:p>
        </p:txBody>
      </p:sp>
      <p:sp>
        <p:nvSpPr>
          <p:cNvPr id="11" name="Shape 8"/>
          <p:cNvSpPr/>
          <p:nvPr/>
        </p:nvSpPr>
        <p:spPr>
          <a:xfrm>
            <a:off x="6217920" y="4069080"/>
            <a:ext cx="5394960" cy="2240280"/>
          </a:xfrm>
          <a:prstGeom prst="roundRect">
            <a:avLst>
              <a:gd name="adj" fmla="val 3265"/>
            </a:avLst>
          </a:prstGeom>
          <a:solidFill>
            <a:srgbClr val="FFF4EC"/>
          </a:solidFill>
          <a:ln w="12700">
            <a:solidFill>
              <a:srgbClr val="FFF4EC"/>
            </a:solidFill>
            <a:prstDash val="solid"/>
          </a:ln>
        </p:spPr>
      </p:sp>
      <p:sp>
        <p:nvSpPr>
          <p:cNvPr id="12" name="Text 9"/>
          <p:cNvSpPr txBox="1"/>
          <p:nvPr/>
        </p:nvSpPr>
        <p:spPr>
          <a:xfrm>
            <a:off x="6382512" y="4178808"/>
            <a:ext cx="5065776"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The gap I had to close</a:t>
            </a:r>
            <a:endParaRPr lang="en-US" sz="1300" dirty="0"/>
          </a:p>
        </p:txBody>
      </p:sp>
      <p:sp>
        <p:nvSpPr>
          <p:cNvPr id="13" name="Text 10"/>
          <p:cNvSpPr txBox="1"/>
          <p:nvPr/>
        </p:nvSpPr>
        <p:spPr>
          <a:xfrm>
            <a:off x="6382512" y="4572000"/>
            <a:ext cx="5065776" cy="164592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“Converging on the same picture” has no units — it cannot be tested or failed as written. So I narrowed it to a claim that CAN fail:</a:t>
            </a:r>
            <a:endParaRPr lang="en-US" sz="1100" dirty="0"/>
          </a:p>
          <a:p>
            <a:pPr indent="0" marL="0">
              <a:buNone/>
            </a:pPr>
            <a:endParaRPr lang="en-US" sz="1100" dirty="0"/>
          </a:p>
          <a:p>
            <a:pPr indent="0" marL="0">
              <a:buNone/>
            </a:pPr>
            <a:r>
              <a:rPr lang="en-US" sz="1100" dirty="0">
                <a:solidFill>
                  <a:srgbClr val="1F2937"/>
                </a:solidFill>
                <a:latin typeface="Calibri" pitchFamily="34" charset="0"/>
                <a:ea typeface="Calibri" pitchFamily="34" charset="-122"/>
                <a:cs typeface="Calibri" pitchFamily="34" charset="-120"/>
              </a:rPr>
              <a:t>     independently trained models agree UP TO ONE LINEAR MAP</a:t>
            </a:r>
            <a:endParaRPr lang="en-US" sz="1100" dirty="0"/>
          </a:p>
          <a:p>
            <a:pPr indent="0" marL="0">
              <a:buNone/>
            </a:pPr>
            <a:endParaRPr lang="en-US" sz="1100" dirty="0"/>
          </a:p>
          <a:p>
            <a:pPr indent="0" marL="0">
              <a:buNone/>
            </a:pPr>
            <a:r>
              <a:rPr lang="en-US" sz="1100" dirty="0">
                <a:solidFill>
                  <a:srgbClr val="1F2937"/>
                </a:solidFill>
                <a:latin typeface="Calibri" pitchFamily="34" charset="0"/>
                <a:ea typeface="Calibri" pitchFamily="34" charset="-122"/>
                <a:cs typeface="Calibri" pitchFamily="34" charset="-120"/>
              </a:rPr>
              <a:t>meaning: there exists one matrix W, solved in closed form (no training), with  x_A · W ≈ x_B.</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38560" y="6446520"/>
            <a:ext cx="54864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3</a:t>
            </a:r>
            <a:endParaRPr lang="en-US" sz="900" dirty="0"/>
          </a:p>
        </p:txBody>
      </p:sp>
      <p:sp>
        <p:nvSpPr>
          <p:cNvPr id="3" name="Text 1"/>
          <p:cNvSpPr txBox="1"/>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C8551A"/>
                </a:solidFill>
                <a:latin typeface="Calibri" pitchFamily="34" charset="0"/>
                <a:ea typeface="Calibri" pitchFamily="34" charset="-122"/>
                <a:cs typeface="Calibri" pitchFamily="34" charset="-120"/>
              </a:rPr>
              <a:t>WHY THE LINEAR-MAP FORM IS A REAL TEST, NOT A SLOGAN</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Three properties the narrowed claim has that the original does not</a:t>
            </a:r>
            <a:endParaRPr lang="en-US" sz="2700" dirty="0"/>
          </a:p>
        </p:txBody>
      </p:sp>
      <p:sp>
        <p:nvSpPr>
          <p:cNvPr id="5" name="Shape 3"/>
          <p:cNvSpPr/>
          <p:nvPr/>
        </p:nvSpPr>
        <p:spPr>
          <a:xfrm>
            <a:off x="548640" y="1600200"/>
            <a:ext cx="3566160" cy="2743200"/>
          </a:xfrm>
          <a:prstGeom prst="roundRect">
            <a:avLst>
              <a:gd name="adj" fmla="val 2667"/>
            </a:avLst>
          </a:prstGeom>
          <a:solidFill>
            <a:srgbClr val="EEF3FF"/>
          </a:solidFill>
          <a:ln w="12700">
            <a:solidFill>
              <a:srgbClr val="EEF3FF"/>
            </a:solidFill>
            <a:prstDash val="solid"/>
          </a:ln>
        </p:spPr>
      </p:sp>
      <p:sp>
        <p:nvSpPr>
          <p:cNvPr id="6" name="Text 4"/>
          <p:cNvSpPr txBox="1"/>
          <p:nvPr/>
        </p:nvSpPr>
        <p:spPr>
          <a:xfrm>
            <a:off x="713232" y="1709928"/>
            <a:ext cx="3236976"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1 · FALSIFIABLE</a:t>
            </a:r>
            <a:endParaRPr lang="en-US" sz="1300" dirty="0"/>
          </a:p>
        </p:txBody>
      </p:sp>
      <p:sp>
        <p:nvSpPr>
          <p:cNvPr id="7" name="Text 5"/>
          <p:cNvSpPr txBox="1"/>
          <p:nvPr/>
        </p:nvSpPr>
        <p:spPr>
          <a:xfrm>
            <a:off x="713232" y="2103120"/>
            <a:ext cx="3236976" cy="214884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The claim can be proven wrong. If no linear map beats a random-map control, convergence is rejected.</a:t>
            </a:r>
            <a:endParaRPr lang="en-US" sz="1100" dirty="0"/>
          </a:p>
          <a:p>
            <a:pPr indent="0" marL="0">
              <a:buNone/>
            </a:pPr>
            <a:endParaRPr lang="en-US" sz="1100" dirty="0"/>
          </a:p>
          <a:p>
            <a:pPr indent="0" marL="0">
              <a:buNone/>
            </a:pPr>
            <a:r>
              <a:rPr lang="en-US" sz="1100" dirty="0">
                <a:solidFill>
                  <a:srgbClr val="1F2937"/>
                </a:solidFill>
                <a:latin typeface="Calibri" pitchFamily="34" charset="0"/>
                <a:ea typeface="Calibri" pitchFamily="34" charset="-122"/>
                <a:cs typeface="Calibri" pitchFamily="34" charset="-120"/>
              </a:rPr>
              <a:t>It happened: a pure rotation (Procrustes) scored R² 0.038 against ridge 0.592 — so “same shape, just rotated” was falsified. The map has to STRETCH, not merely turn.</a:t>
            </a:r>
            <a:endParaRPr lang="en-US" sz="1100" dirty="0"/>
          </a:p>
        </p:txBody>
      </p:sp>
      <p:sp>
        <p:nvSpPr>
          <p:cNvPr id="8" name="Shape 6"/>
          <p:cNvSpPr/>
          <p:nvPr/>
        </p:nvSpPr>
        <p:spPr>
          <a:xfrm>
            <a:off x="4297680" y="1600200"/>
            <a:ext cx="3566160" cy="2743200"/>
          </a:xfrm>
          <a:prstGeom prst="roundRect">
            <a:avLst>
              <a:gd name="adj" fmla="val 2667"/>
            </a:avLst>
          </a:prstGeom>
          <a:solidFill>
            <a:srgbClr val="FFF4EC"/>
          </a:solidFill>
          <a:ln w="12700">
            <a:solidFill>
              <a:srgbClr val="FFF4EC"/>
            </a:solidFill>
            <a:prstDash val="solid"/>
          </a:ln>
        </p:spPr>
      </p:sp>
      <p:sp>
        <p:nvSpPr>
          <p:cNvPr id="9" name="Text 7"/>
          <p:cNvSpPr txBox="1"/>
          <p:nvPr/>
        </p:nvSpPr>
        <p:spPr>
          <a:xfrm>
            <a:off x="4462272" y="1709928"/>
            <a:ext cx="3236976"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2 · BOUNDED (why this matters)</a:t>
            </a:r>
            <a:endParaRPr lang="en-US" sz="1300" dirty="0"/>
          </a:p>
        </p:txBody>
      </p:sp>
      <p:sp>
        <p:nvSpPr>
          <p:cNvPr id="10" name="Text 8"/>
          <p:cNvSpPr txBox="1"/>
          <p:nvPr/>
        </p:nvSpPr>
        <p:spPr>
          <a:xfrm>
            <a:off x="4462272" y="2103120"/>
            <a:ext cx="3236976" cy="214884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A linear map is the WEAKEST useful transform — no hidden layers, no non-linearity, just multiply by one matrix.</a:t>
            </a:r>
            <a:endParaRPr lang="en-US" sz="1100" dirty="0"/>
          </a:p>
          <a:p>
            <a:pPr indent="0" marL="0">
              <a:buNone/>
            </a:pPr>
            <a:endParaRPr lang="en-US" sz="1100" dirty="0"/>
          </a:p>
          <a:p>
            <a:pPr indent="0" marL="0">
              <a:buNone/>
            </a:pPr>
            <a:r>
              <a:rPr lang="en-US" sz="1100" dirty="0">
                <a:solidFill>
                  <a:srgbClr val="1F2937"/>
                </a:solidFill>
                <a:latin typeface="Calibri" pitchFamily="34" charset="0"/>
                <a:ea typeface="Calibri" pitchFamily="34" charset="-122"/>
                <a:cs typeface="Calibri" pitchFamily="34" charset="-120"/>
              </a:rPr>
              <a:t>So if it works, you cannot dismiss it as “a powerful network secretly learned the task.” A matrix has no room to learn a task. The MLP control proves it: adding capacity gained +0.0000. Success can only mean the structure was already shared.</a:t>
            </a:r>
            <a:endParaRPr lang="en-US" sz="1100" dirty="0"/>
          </a:p>
        </p:txBody>
      </p:sp>
      <p:sp>
        <p:nvSpPr>
          <p:cNvPr id="11" name="Shape 9"/>
          <p:cNvSpPr/>
          <p:nvPr/>
        </p:nvSpPr>
        <p:spPr>
          <a:xfrm>
            <a:off x="8046720" y="1600200"/>
            <a:ext cx="3566160" cy="2743200"/>
          </a:xfrm>
          <a:prstGeom prst="roundRect">
            <a:avLst>
              <a:gd name="adj" fmla="val 2667"/>
            </a:avLst>
          </a:prstGeom>
          <a:solidFill>
            <a:srgbClr val="EEF7F3"/>
          </a:solidFill>
          <a:ln w="12700">
            <a:solidFill>
              <a:srgbClr val="EEF7F3"/>
            </a:solidFill>
            <a:prstDash val="solid"/>
          </a:ln>
        </p:spPr>
      </p:sp>
      <p:sp>
        <p:nvSpPr>
          <p:cNvPr id="12" name="Text 10"/>
          <p:cNvSpPr txBox="1"/>
          <p:nvPr/>
        </p:nvSpPr>
        <p:spPr>
          <a:xfrm>
            <a:off x="8211312" y="1709928"/>
            <a:ext cx="3236976"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3 · USEFUL</a:t>
            </a:r>
            <a:endParaRPr lang="en-US" sz="1300" dirty="0"/>
          </a:p>
        </p:txBody>
      </p:sp>
      <p:sp>
        <p:nvSpPr>
          <p:cNvPr id="13" name="Text 11"/>
          <p:cNvSpPr txBox="1"/>
          <p:nvPr/>
        </p:nvSpPr>
        <p:spPr>
          <a:xfrm>
            <a:off x="8211312" y="2103120"/>
            <a:ext cx="3236976" cy="214884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If one matrix carries knowledge between models, their components become interchangeable — an engineering result, not only a scientific one.</a:t>
            </a:r>
            <a:endParaRPr lang="en-US" sz="1100" dirty="0"/>
          </a:p>
          <a:p>
            <a:pPr indent="0" marL="0">
              <a:buNone/>
            </a:pPr>
            <a:endParaRPr lang="en-US" sz="1100" dirty="0"/>
          </a:p>
          <a:p>
            <a:pPr indent="0" marL="0">
              <a:buNone/>
            </a:pPr>
            <a:r>
              <a:rPr lang="en-US" sz="1100" dirty="0">
                <a:solidFill>
                  <a:srgbClr val="1F2937"/>
                </a:solidFill>
                <a:latin typeface="Calibri" pitchFamily="34" charset="0"/>
                <a:ea typeface="Calibri" pitchFamily="34" charset="-122"/>
                <a:cs typeface="Calibri" pitchFamily="34" charset="-120"/>
              </a:rPr>
              <a:t>Two systems follow directly: the 0.79 MB phone→server adapter, and the 512-d hub where adding a model is one solve.</a:t>
            </a:r>
            <a:endParaRPr lang="en-US" sz="1100" dirty="0"/>
          </a:p>
        </p:txBody>
      </p:sp>
      <p:sp>
        <p:nvSpPr>
          <p:cNvPr id="14" name="Text 12"/>
          <p:cNvSpPr txBox="1"/>
          <p:nvPr/>
        </p:nvSpPr>
        <p:spPr>
          <a:xfrm>
            <a:off x="548640" y="4572000"/>
            <a:ext cx="10972800" cy="320040"/>
          </a:xfrm>
          <a:prstGeom prst="rect">
            <a:avLst/>
          </a:prstGeom>
          <a:noFill/>
          <a:ln/>
        </p:spPr>
        <p:txBody>
          <a:bodyPr wrap="square" lIns="0" tIns="0" rIns="0" bIns="0" rtlCol="0" anchor="t"/>
          <a:lstStyle/>
          <a:p>
            <a:pPr algn="l" indent="0" marL="0">
              <a:buNone/>
            </a:pPr>
            <a:r>
              <a:rPr lang="en-US" sz="1500" b="1" dirty="0">
                <a:solidFill>
                  <a:srgbClr val="1E2761"/>
                </a:solidFill>
                <a:latin typeface="Calibri" pitchFamily="34" charset="0"/>
                <a:ea typeface="Calibri" pitchFamily="34" charset="-122"/>
                <a:cs typeface="Calibri" pitchFamily="34" charset="-120"/>
              </a:rPr>
              <a:t>In one line</a:t>
            </a:r>
            <a:endParaRPr lang="en-US" sz="1500" dirty="0"/>
          </a:p>
        </p:txBody>
      </p:sp>
      <p:sp>
        <p:nvSpPr>
          <p:cNvPr id="15" name="Text 13"/>
          <p:cNvSpPr txBox="1"/>
          <p:nvPr/>
        </p:nvSpPr>
        <p:spPr>
          <a:xfrm>
            <a:off x="548640" y="4937760"/>
            <a:ext cx="11064240" cy="1280160"/>
          </a:xfrm>
          <a:prstGeom prst="rect">
            <a:avLst/>
          </a:prstGeom>
          <a:noFill/>
          <a:ln/>
        </p:spPr>
        <p:txBody>
          <a:bodyPr wrap="square" lIns="0" tIns="0" rIns="0" bIns="0" rtlCol="0" anchor="t"/>
          <a:lstStyle/>
          <a:p>
            <a:pPr algn="l" indent="0" marL="0">
              <a:buNone/>
            </a:pPr>
            <a:r>
              <a:rPr lang="en-US" sz="1400" dirty="0">
                <a:solidFill>
                  <a:srgbClr val="1F2937"/>
                </a:solidFill>
                <a:latin typeface="Calibri" pitchFamily="34" charset="0"/>
                <a:ea typeface="Calibri" pitchFamily="34" charset="-122"/>
                <a:cs typeface="Calibri" pitchFamily="34" charset="-120"/>
              </a:rPr>
              <a:t>“Same picture” is untestable. “Agree up to one linear map” is falsifiable (a control can kill it), bounded (a matrix is too weak to fake it), and useful (it makes parts swappable). That is the claim this project actually proved — for a subset of models, and only locally.</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38560" y="6446520"/>
            <a:ext cx="54864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4</a:t>
            </a:r>
            <a:endParaRPr lang="en-US" sz="900" dirty="0"/>
          </a:p>
        </p:txBody>
      </p:sp>
      <p:sp>
        <p:nvSpPr>
          <p:cNvPr id="3" name="Text 1"/>
          <p:cNvSpPr txBox="1"/>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C8551A"/>
                </a:solidFill>
                <a:latin typeface="Calibri" pitchFamily="34" charset="0"/>
                <a:ea typeface="Calibri" pitchFamily="34" charset="-122"/>
                <a:cs typeface="Calibri" pitchFamily="34" charset="-120"/>
              </a:rPr>
              <a:t>THE WHOLE RESULT, UP FRONT</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What the project proved, what it built, and what it falsified</a:t>
            </a:r>
            <a:endParaRPr lang="en-US" sz="2700" dirty="0"/>
          </a:p>
        </p:txBody>
      </p:sp>
      <p:sp>
        <p:nvSpPr>
          <p:cNvPr id="5" name="Shape 3"/>
          <p:cNvSpPr/>
          <p:nvPr/>
        </p:nvSpPr>
        <p:spPr>
          <a:xfrm>
            <a:off x="548640" y="1463040"/>
            <a:ext cx="5486400" cy="2880360"/>
          </a:xfrm>
          <a:prstGeom prst="roundRect">
            <a:avLst>
              <a:gd name="adj" fmla="val 2540"/>
            </a:avLst>
          </a:prstGeom>
          <a:solidFill>
            <a:srgbClr val="EEF7F3"/>
          </a:solidFill>
          <a:ln w="12700">
            <a:solidFill>
              <a:srgbClr val="CFE3D8"/>
            </a:solidFill>
            <a:prstDash val="solid"/>
          </a:ln>
        </p:spPr>
      </p:sp>
      <p:sp>
        <p:nvSpPr>
          <p:cNvPr id="6" name="Text 4"/>
          <p:cNvSpPr txBox="1"/>
          <p:nvPr/>
        </p:nvSpPr>
        <p:spPr>
          <a:xfrm>
            <a:off x="713232" y="1572768"/>
            <a:ext cx="5120640" cy="274320"/>
          </a:xfrm>
          <a:prstGeom prst="rect">
            <a:avLst/>
          </a:prstGeom>
          <a:noFill/>
          <a:ln/>
        </p:spPr>
        <p:txBody>
          <a:bodyPr wrap="square" lIns="0" tIns="0" rIns="0" bIns="0" rtlCol="0" anchor="t"/>
          <a:lstStyle/>
          <a:p>
            <a:pPr algn="l" indent="0" marL="0">
              <a:buNone/>
            </a:pPr>
            <a:r>
              <a:rPr lang="en-US" sz="1300" b="1" dirty="0">
                <a:solidFill>
                  <a:srgbClr val="1B5E20"/>
                </a:solidFill>
                <a:latin typeface="Calibri" pitchFamily="34" charset="0"/>
                <a:ea typeface="Calibri" pitchFamily="34" charset="-122"/>
                <a:cs typeface="Calibri" pitchFamily="34" charset="-120"/>
              </a:rPr>
              <a:t>PROVED — the science</a:t>
            </a:r>
            <a:endParaRPr lang="en-US" sz="1300" dirty="0"/>
          </a:p>
        </p:txBody>
      </p:sp>
      <p:sp>
        <p:nvSpPr>
          <p:cNvPr id="7" name="Text 5"/>
          <p:cNvSpPr txBox="1"/>
          <p:nvPr/>
        </p:nvSpPr>
        <p:spPr>
          <a:xfrm>
            <a:off x="713232" y="1901952"/>
            <a:ext cx="5166360" cy="2377440"/>
          </a:xfrm>
          <a:prstGeom prst="rect">
            <a:avLst/>
          </a:prstGeom>
          <a:noFill/>
          <a:ln/>
        </p:spPr>
        <p:txBody>
          <a:bodyPr wrap="square" lIns="0" tIns="0" rIns="0" bIns="0" rtlCol="0" anchor="t"/>
          <a:lstStyle/>
          <a:p>
            <a:pPr marL="177800" indent="-177800">
              <a:spcAft>
                <a:spcPts val="500"/>
              </a:spcAft>
              <a:buSzPct val="100000"/>
              <a:buChar char="•"/>
            </a:pPr>
            <a:r>
              <a:rPr lang="en-US" sz="1050" dirty="0">
                <a:solidFill>
                  <a:srgbClr val="1F2937"/>
                </a:solidFill>
                <a:latin typeface="Calibri" pitchFamily="34" charset="0"/>
                <a:ea typeface="Calibri" pitchFamily="34" charset="-122"/>
                <a:cs typeface="Calibri" pitchFamily="34" charset="-120"/>
              </a:rPr>
              <a:t>Convergence is real but LOCAL: neighbourhoods agree (up to 62× chance), global geometry does not (raw cosine ≈ 0).</a:t>
            </a:r>
            <a:endParaRPr lang="en-US" sz="1050" dirty="0"/>
          </a:p>
          <a:p>
            <a:pPr marL="177800" indent="-177800">
              <a:spcAft>
                <a:spcPts val="500"/>
              </a:spcAft>
              <a:buSzPct val="100000"/>
              <a:buChar char="•"/>
            </a:pPr>
            <a:r>
              <a:rPr lang="en-US" sz="1050" dirty="0">
                <a:solidFill>
                  <a:srgbClr val="1F2937"/>
                </a:solidFill>
                <a:latin typeface="Calibri" pitchFamily="34" charset="0"/>
                <a:ea typeface="Calibri" pitchFamily="34" charset="-122"/>
                <a:cs typeface="Calibri" pitchFamily="34" charset="-120"/>
              </a:rPr>
              <a:t>It is linear, not rigid: one matrix works; a rotation alone fails (0.038 vs 0.592).</a:t>
            </a:r>
            <a:endParaRPr lang="en-US" sz="1050" dirty="0"/>
          </a:p>
          <a:p>
            <a:pPr marL="177800" indent="-177800">
              <a:spcAft>
                <a:spcPts val="500"/>
              </a:spcAft>
              <a:buSzPct val="100000"/>
              <a:buChar char="•"/>
            </a:pPr>
            <a:r>
              <a:rPr lang="en-US" sz="1050" dirty="0">
                <a:solidFill>
                  <a:srgbClr val="1F2937"/>
                </a:solidFill>
                <a:latin typeface="Calibri" pitchFamily="34" charset="0"/>
                <a:ea typeface="Calibri" pitchFamily="34" charset="-122"/>
                <a:cs typeface="Calibri" pitchFamily="34" charset="-120"/>
              </a:rPr>
              <a:t>It crosses modality with no joint training: image→text at 40.9–58.3% of a jointly-trained ceiling, up to 358× chance.</a:t>
            </a:r>
            <a:endParaRPr lang="en-US" sz="1050" dirty="0"/>
          </a:p>
          <a:p>
            <a:pPr marL="177800" indent="-177800">
              <a:spcAft>
                <a:spcPts val="500"/>
              </a:spcAft>
              <a:buSzPct val="100000"/>
              <a:buChar char="•"/>
            </a:pPr>
            <a:r>
              <a:rPr lang="en-US" sz="1050" dirty="0">
                <a:solidFill>
                  <a:srgbClr val="1F2937"/>
                </a:solidFill>
                <a:latin typeface="Calibri" pitchFamily="34" charset="0"/>
                <a:ea typeface="Calibri" pitchFamily="34" charset="-122"/>
                <a:cs typeface="Calibri" pitchFamily="34" charset="-120"/>
              </a:rPr>
              <a:t>Objective beats lineage beats modality (+53× / +44× / +29× over chance).</a:t>
            </a:r>
            <a:endParaRPr lang="en-US" sz="1050" dirty="0"/>
          </a:p>
          <a:p>
            <a:pPr marL="177800" indent="-177800">
              <a:spcAft>
                <a:spcPts val="500"/>
              </a:spcAft>
              <a:buSzPct val="100000"/>
              <a:buChar char="•"/>
            </a:pPr>
            <a:r>
              <a:rPr lang="en-US" sz="1050" dirty="0">
                <a:solidFill>
                  <a:srgbClr val="1F2937"/>
                </a:solidFill>
                <a:latin typeface="Calibri" pitchFamily="34" charset="0"/>
                <a:ea typeface="Calibri" pitchFamily="34" charset="-122"/>
                <a:cs typeface="Calibri" pitchFamily="34" charset="-120"/>
              </a:rPr>
              <a:t>The correspondence is self-identifying: recoverable from shape alone with ZERO pairs (39.7%, 595× chance).</a:t>
            </a:r>
            <a:endParaRPr lang="en-US" sz="1050" dirty="0"/>
          </a:p>
        </p:txBody>
      </p:sp>
      <p:sp>
        <p:nvSpPr>
          <p:cNvPr id="8" name="Shape 6"/>
          <p:cNvSpPr/>
          <p:nvPr/>
        </p:nvSpPr>
        <p:spPr>
          <a:xfrm>
            <a:off x="6217920" y="1463040"/>
            <a:ext cx="5394960" cy="2880360"/>
          </a:xfrm>
          <a:prstGeom prst="roundRect">
            <a:avLst>
              <a:gd name="adj" fmla="val 2540"/>
            </a:avLst>
          </a:prstGeom>
          <a:solidFill>
            <a:srgbClr val="FFF4EC"/>
          </a:solidFill>
          <a:ln w="12700">
            <a:solidFill>
              <a:srgbClr val="F0DCC8"/>
            </a:solidFill>
            <a:prstDash val="solid"/>
          </a:ln>
        </p:spPr>
      </p:sp>
      <p:sp>
        <p:nvSpPr>
          <p:cNvPr id="9" name="Text 7"/>
          <p:cNvSpPr txBox="1"/>
          <p:nvPr/>
        </p:nvSpPr>
        <p:spPr>
          <a:xfrm>
            <a:off x="6382512" y="1572768"/>
            <a:ext cx="5029200" cy="274320"/>
          </a:xfrm>
          <a:prstGeom prst="rect">
            <a:avLst/>
          </a:prstGeom>
          <a:noFill/>
          <a:ln/>
        </p:spPr>
        <p:txBody>
          <a:bodyPr wrap="square" lIns="0" tIns="0" rIns="0" bIns="0" rtlCol="0" anchor="t"/>
          <a:lstStyle/>
          <a:p>
            <a:pPr algn="l" indent="0" marL="0">
              <a:buNone/>
            </a:pPr>
            <a:r>
              <a:rPr lang="en-US" sz="1300" b="1" dirty="0">
                <a:solidFill>
                  <a:srgbClr val="C8551A"/>
                </a:solidFill>
                <a:latin typeface="Calibri" pitchFamily="34" charset="0"/>
                <a:ea typeface="Calibri" pitchFamily="34" charset="-122"/>
                <a:cs typeface="Calibri" pitchFamily="34" charset="-120"/>
              </a:rPr>
              <a:t>BUILT — the engineering (small-model advantage)</a:t>
            </a:r>
            <a:endParaRPr lang="en-US" sz="1300" dirty="0"/>
          </a:p>
        </p:txBody>
      </p:sp>
      <p:sp>
        <p:nvSpPr>
          <p:cNvPr id="10" name="Text 8"/>
          <p:cNvSpPr txBox="1"/>
          <p:nvPr/>
        </p:nvSpPr>
        <p:spPr>
          <a:xfrm>
            <a:off x="6382512" y="1901952"/>
            <a:ext cx="5074920" cy="2377440"/>
          </a:xfrm>
          <a:prstGeom prst="rect">
            <a:avLst/>
          </a:prstGeom>
          <a:noFill/>
          <a:ln/>
        </p:spPr>
        <p:txBody>
          <a:bodyPr wrap="square" lIns="0" tIns="0" rIns="0" bIns="0" rtlCol="0" anchor="t"/>
          <a:lstStyle/>
          <a:p>
            <a:pPr marL="177800" indent="-177800">
              <a:spcAft>
                <a:spcPts val="500"/>
              </a:spcAft>
              <a:buSzPct val="100000"/>
              <a:buChar char="•"/>
            </a:pPr>
            <a:r>
              <a:rPr lang="en-US" sz="1050" dirty="0">
                <a:solidFill>
                  <a:srgbClr val="1F2937"/>
                </a:solidFill>
                <a:latin typeface="Calibri" pitchFamily="34" charset="0"/>
                <a:ea typeface="Calibri" pitchFamily="34" charset="-122"/>
                <a:cs typeface="Calibri" pitchFamily="34" charset="-120"/>
              </a:rPr>
              <a:t>A 0.79 MB phone→server adapter (Core ML fp16, no GPU): a mobile encoder searches a server index at 95% of a jointly-trained ceiling.</a:t>
            </a:r>
            <a:endParaRPr lang="en-US" sz="1050" dirty="0"/>
          </a:p>
          <a:p>
            <a:pPr marL="177800" indent="-177800">
              <a:spcAft>
                <a:spcPts val="500"/>
              </a:spcAft>
              <a:buSzPct val="100000"/>
              <a:buChar char="•"/>
            </a:pPr>
            <a:r>
              <a:rPr lang="en-US" sz="1050" dirty="0">
                <a:solidFill>
                  <a:srgbClr val="1F2937"/>
                </a:solidFill>
                <a:latin typeface="Calibri" pitchFamily="34" charset="0"/>
                <a:ea typeface="Calibri" pitchFamily="34" charset="-122"/>
                <a:cs typeface="Calibri" pitchFamily="34" charset="-120"/>
              </a:rPr>
              <a:t>A 512-d hub for many small experts: adding a model updates ONE map, not the whole system — a closed-form solve in seconds on CPU.</a:t>
            </a:r>
            <a:endParaRPr lang="en-US" sz="1050" dirty="0"/>
          </a:p>
          <a:p>
            <a:pPr marL="177800" indent="-177800">
              <a:spcAft>
                <a:spcPts val="500"/>
              </a:spcAft>
              <a:buSzPct val="100000"/>
              <a:buChar char="•"/>
            </a:pPr>
            <a:r>
              <a:rPr lang="en-US" sz="1050" dirty="0">
                <a:solidFill>
                  <a:srgbClr val="1F2937"/>
                </a:solidFill>
                <a:latin typeface="Calibri" pitchFamily="34" charset="0"/>
                <a:ea typeface="Calibri" pitchFamily="34" charset="-122"/>
                <a:cs typeface="Calibri" pitchFamily="34" charset="-120"/>
              </a:rPr>
              <a:t>A whitening preprocessor that rescues a collapsed space (GPT-2 R@1 0.130 → 0.478).</a:t>
            </a:r>
            <a:endParaRPr lang="en-US" sz="1050" dirty="0"/>
          </a:p>
          <a:p>
            <a:pPr marL="177800" indent="-177800">
              <a:spcAft>
                <a:spcPts val="500"/>
              </a:spcAft>
              <a:buSzPct val="100000"/>
              <a:buChar char="•"/>
            </a:pPr>
            <a:r>
              <a:rPr lang="en-US" sz="1050" dirty="0">
                <a:solidFill>
                  <a:srgbClr val="1F2937"/>
                </a:solidFill>
                <a:latin typeface="Calibri" pitchFamily="34" charset="0"/>
                <a:ea typeface="Calibri" pitchFamily="34" charset="-122"/>
                <a:cs typeface="Calibri" pitchFamily="34" charset="-120"/>
              </a:rPr>
              <a:t>One GPU pass builds the caches; everything after runs on a laptop — the same economy that makes it deployable.</a:t>
            </a:r>
            <a:endParaRPr lang="en-US" sz="1050" dirty="0"/>
          </a:p>
        </p:txBody>
      </p:sp>
      <p:sp>
        <p:nvSpPr>
          <p:cNvPr id="11" name="Shape 9"/>
          <p:cNvSpPr/>
          <p:nvPr/>
        </p:nvSpPr>
        <p:spPr>
          <a:xfrm>
            <a:off x="548640" y="4526280"/>
            <a:ext cx="11064240" cy="1783080"/>
          </a:xfrm>
          <a:prstGeom prst="roundRect">
            <a:avLst>
              <a:gd name="adj" fmla="val 4103"/>
            </a:avLst>
          </a:prstGeom>
          <a:solidFill>
            <a:srgbClr val="F5F7FB"/>
          </a:solidFill>
          <a:ln w="12700">
            <a:solidFill>
              <a:srgbClr val="D6DCE8"/>
            </a:solidFill>
            <a:prstDash val="solid"/>
          </a:ln>
        </p:spPr>
      </p:sp>
      <p:sp>
        <p:nvSpPr>
          <p:cNvPr id="12" name="Text 10"/>
          <p:cNvSpPr txBox="1"/>
          <p:nvPr/>
        </p:nvSpPr>
        <p:spPr>
          <a:xfrm>
            <a:off x="713232" y="4626864"/>
            <a:ext cx="10972800" cy="274320"/>
          </a:xfrm>
          <a:prstGeom prst="rect">
            <a:avLst/>
          </a:prstGeom>
          <a:noFill/>
          <a:ln/>
        </p:spPr>
        <p:txBody>
          <a:bodyPr wrap="square" lIns="0" tIns="0" rIns="0" bIns="0" rtlCol="0" anchor="t"/>
          <a:lstStyle/>
          <a:p>
            <a:pPr algn="l" indent="0" marL="0">
              <a:buNone/>
            </a:pPr>
            <a:r>
              <a:rPr lang="en-US" sz="1300" b="1" dirty="0">
                <a:solidFill>
                  <a:srgbClr val="B91C1C"/>
                </a:solidFill>
                <a:latin typeface="Calibri" pitchFamily="34" charset="0"/>
                <a:ea typeface="Calibri" pitchFamily="34" charset="-122"/>
                <a:cs typeface="Calibri" pitchFamily="34" charset="-120"/>
              </a:rPr>
              <a:t>FALSIFIED — kept on the record (11 explanations, 2 of them our own)</a:t>
            </a:r>
            <a:endParaRPr lang="en-US" sz="1300" dirty="0"/>
          </a:p>
        </p:txBody>
      </p:sp>
      <p:sp>
        <p:nvSpPr>
          <p:cNvPr id="13" name="Text 11"/>
          <p:cNvSpPr txBox="1"/>
          <p:nvPr/>
        </p:nvSpPr>
        <p:spPr>
          <a:xfrm>
            <a:off x="713232" y="4956048"/>
            <a:ext cx="10972800" cy="1280160"/>
          </a:xfrm>
          <a:prstGeom prst="rect">
            <a:avLst/>
          </a:prstGeom>
          <a:noFill/>
          <a:ln/>
        </p:spPr>
        <p:txBody>
          <a:bodyPr wrap="square" lIns="0" tIns="0" rIns="0" bIns="0" rtlCol="0" anchor="t"/>
          <a:lstStyle/>
          <a:p>
            <a:pPr marL="177800" indent="-177800">
              <a:spcAft>
                <a:spcPts val="400"/>
              </a:spcAft>
              <a:buSzPct val="100000"/>
              <a:buChar char="•"/>
            </a:pPr>
            <a:r>
              <a:rPr lang="en-US" sz="1050" dirty="0">
                <a:solidFill>
                  <a:srgbClr val="1F2937"/>
                </a:solidFill>
                <a:latin typeface="Calibri" pitchFamily="34" charset="0"/>
                <a:ea typeface="Calibri" pitchFamily="34" charset="-122"/>
                <a:cs typeface="Calibri" pitchFamily="34" charset="-120"/>
              </a:rPr>
              <a:t>“Good models converge to the SAME space” — refuted: raw cosine ≈ 0, global agreement ≈ chance. It is local, not global.</a:t>
            </a:r>
            <a:endParaRPr lang="en-US" sz="1050" dirty="0"/>
          </a:p>
          <a:p>
            <a:pPr marL="177800" indent="-177800">
              <a:spcAft>
                <a:spcPts val="400"/>
              </a:spcAft>
              <a:buSzPct val="100000"/>
              <a:buChar char="•"/>
            </a:pPr>
            <a:r>
              <a:rPr lang="en-US" sz="1050" dirty="0">
                <a:solidFill>
                  <a:srgbClr val="1F2937"/>
                </a:solidFill>
                <a:latin typeface="Calibri" pitchFamily="34" charset="0"/>
                <a:ea typeface="Calibri" pitchFamily="34" charset="-122"/>
                <a:cs typeface="Calibri" pitchFamily="34" charset="-120"/>
              </a:rPr>
              <a:t>“A rotation aligns the spaces” — refuted (Procrustes 0.038). “An MLP beats the matrix” — refuted (+0.0000, twice).</a:t>
            </a:r>
            <a:endParaRPr lang="en-US" sz="1050" dirty="0"/>
          </a:p>
          <a:p>
            <a:pPr marL="177800" indent="-177800">
              <a:spcAft>
                <a:spcPts val="400"/>
              </a:spcAft>
              <a:buSzPct val="100000"/>
              <a:buChar char="•"/>
            </a:pPr>
            <a:r>
              <a:rPr lang="en-US" sz="1050" dirty="0">
                <a:solidFill>
                  <a:srgbClr val="1F2937"/>
                </a:solidFill>
                <a:latin typeface="Calibri" pitchFamily="34" charset="0"/>
                <a:ea typeface="Calibri" pitchFamily="34" charset="-122"/>
                <a:cs typeface="Calibri" pitchFamily="34" charset="-120"/>
              </a:rPr>
              <a:t>“Alignment keeps rising with scale” — both ladders rise then FALL (giant 0.339, Qwen-4B 0.307). P2/P3 falsified.</a:t>
            </a:r>
            <a:endParaRPr lang="en-US" sz="1050" dirty="0"/>
          </a:p>
          <a:p>
            <a:pPr marL="177800" indent="-177800">
              <a:spcAft>
                <a:spcPts val="400"/>
              </a:spcAft>
              <a:buSzPct val="100000"/>
              <a:buChar char="•"/>
            </a:pPr>
            <a:r>
              <a:rPr lang="en-US" sz="1050" dirty="0">
                <a:solidFill>
                  <a:srgbClr val="1F2937"/>
                </a:solidFill>
                <a:latin typeface="Calibri" pitchFamily="34" charset="0"/>
                <a:ea typeface="Calibri" pitchFamily="34" charset="-122"/>
                <a:cs typeface="Calibri" pitchFamily="34" charset="-120"/>
              </a:rPr>
              <a:t>The width cliff: seven mechanisms falsified, the eighth (rank wall) confirmed. One of our own tests was wrong and is recorded as such.</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38560" y="6446520"/>
            <a:ext cx="54864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5</a:t>
            </a:r>
            <a:endParaRPr lang="en-US" sz="900" dirty="0"/>
          </a:p>
        </p:txBody>
      </p:sp>
      <p:sp>
        <p:nvSpPr>
          <p:cNvPr id="3" name="Text 1"/>
          <p:cNvSpPr txBox="1"/>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C8551A"/>
                </a:solidFill>
                <a:latin typeface="Calibri" pitchFamily="34" charset="0"/>
                <a:ea typeface="Calibri" pitchFamily="34" charset="-122"/>
                <a:cs typeface="Calibri" pitchFamily="34" charset="-120"/>
              </a:rPr>
              <a:t>WHY SMALL, FROZEN ENCODERS — THE CONSTRAINT AND THE THESIS</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A short project with no cluster made small models both necessary and the point</a:t>
            </a:r>
            <a:endParaRPr lang="en-US" sz="2700" dirty="0"/>
          </a:p>
        </p:txBody>
      </p:sp>
      <p:sp>
        <p:nvSpPr>
          <p:cNvPr id="5" name="Shape 3"/>
          <p:cNvSpPr/>
          <p:nvPr/>
        </p:nvSpPr>
        <p:spPr>
          <a:xfrm>
            <a:off x="548640" y="1554480"/>
            <a:ext cx="3566160" cy="2468880"/>
          </a:xfrm>
          <a:prstGeom prst="roundRect">
            <a:avLst>
              <a:gd name="adj" fmla="val 2963"/>
            </a:avLst>
          </a:prstGeom>
          <a:solidFill>
            <a:srgbClr val="EEF3FF"/>
          </a:solidFill>
          <a:ln w="12700">
            <a:solidFill>
              <a:srgbClr val="EEF3FF"/>
            </a:solidFill>
            <a:prstDash val="solid"/>
          </a:ln>
        </p:spPr>
      </p:sp>
      <p:sp>
        <p:nvSpPr>
          <p:cNvPr id="6" name="Text 4"/>
          <p:cNvSpPr txBox="1"/>
          <p:nvPr/>
        </p:nvSpPr>
        <p:spPr>
          <a:xfrm>
            <a:off x="713232" y="1664208"/>
            <a:ext cx="3236976"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The constraint</a:t>
            </a:r>
            <a:endParaRPr lang="en-US" sz="1300" dirty="0"/>
          </a:p>
        </p:txBody>
      </p:sp>
      <p:sp>
        <p:nvSpPr>
          <p:cNvPr id="7" name="Text 5"/>
          <p:cNvSpPr txBox="1"/>
          <p:nvPr/>
        </p:nvSpPr>
        <p:spPr>
          <a:xfrm>
            <a:off x="713232" y="2057400"/>
            <a:ext cx="3236976" cy="187452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PRH's own evidence uses language models up to 70B parameters. Encoding models that large over a corpus, repeatedly, is weeks of GPU time and money a short, time-boxed project cannot spend — and scale hides the mechanism. Careful research needs MANY cheap, held-out, pre-registered runs, not a few expensive ones.</a:t>
            </a:r>
            <a:endParaRPr lang="en-US" sz="1100" dirty="0"/>
          </a:p>
        </p:txBody>
      </p:sp>
      <p:sp>
        <p:nvSpPr>
          <p:cNvPr id="8" name="Shape 6"/>
          <p:cNvSpPr/>
          <p:nvPr/>
        </p:nvSpPr>
        <p:spPr>
          <a:xfrm>
            <a:off x="4297680" y="1554480"/>
            <a:ext cx="3566160" cy="2468880"/>
          </a:xfrm>
          <a:prstGeom prst="roundRect">
            <a:avLst>
              <a:gd name="adj" fmla="val 2963"/>
            </a:avLst>
          </a:prstGeom>
          <a:solidFill>
            <a:srgbClr val="FFF4EC"/>
          </a:solidFill>
          <a:ln w="12700">
            <a:solidFill>
              <a:srgbClr val="FFF4EC"/>
            </a:solidFill>
            <a:prstDash val="solid"/>
          </a:ln>
        </p:spPr>
      </p:sp>
      <p:sp>
        <p:nvSpPr>
          <p:cNvPr id="9" name="Text 7"/>
          <p:cNvSpPr txBox="1"/>
          <p:nvPr/>
        </p:nvSpPr>
        <p:spPr>
          <a:xfrm>
            <a:off x="4462272" y="1664208"/>
            <a:ext cx="3236976"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The decision</a:t>
            </a:r>
            <a:endParaRPr lang="en-US" sz="1300" dirty="0"/>
          </a:p>
        </p:txBody>
      </p:sp>
      <p:sp>
        <p:nvSpPr>
          <p:cNvPr id="10" name="Text 8"/>
          <p:cNvSpPr txBox="1"/>
          <p:nvPr/>
        </p:nvSpPr>
        <p:spPr>
          <a:xfrm>
            <a:off x="4462272" y="2057400"/>
            <a:ext cx="3236976" cy="187452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Eight encoders of 22M–4B parameters, run forward ONCE over 9,533 COCO items on a Colab T4/L4. Everything after is linear algebra on a CPU: the ridge maps, the whitened-PCA hub, all retrieval. No training, no fine-tuning — delete the matrix and only the two downloaded models remain.</a:t>
            </a:r>
            <a:endParaRPr lang="en-US" sz="1100" dirty="0"/>
          </a:p>
        </p:txBody>
      </p:sp>
      <p:sp>
        <p:nvSpPr>
          <p:cNvPr id="11" name="Shape 9"/>
          <p:cNvSpPr/>
          <p:nvPr/>
        </p:nvSpPr>
        <p:spPr>
          <a:xfrm>
            <a:off x="8046720" y="1554480"/>
            <a:ext cx="3566160" cy="2468880"/>
          </a:xfrm>
          <a:prstGeom prst="roundRect">
            <a:avLst>
              <a:gd name="adj" fmla="val 2963"/>
            </a:avLst>
          </a:prstGeom>
          <a:solidFill>
            <a:srgbClr val="EEF7F3"/>
          </a:solidFill>
          <a:ln w="12700">
            <a:solidFill>
              <a:srgbClr val="EEF7F3"/>
            </a:solidFill>
            <a:prstDash val="solid"/>
          </a:ln>
        </p:spPr>
      </p:sp>
      <p:sp>
        <p:nvSpPr>
          <p:cNvPr id="12" name="Text 10"/>
          <p:cNvSpPr txBox="1"/>
          <p:nvPr/>
        </p:nvSpPr>
        <p:spPr>
          <a:xfrm>
            <a:off x="8211312" y="1664208"/>
            <a:ext cx="3236976"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Why it was the RIGHT choice</a:t>
            </a:r>
            <a:endParaRPr lang="en-US" sz="1300" dirty="0"/>
          </a:p>
        </p:txBody>
      </p:sp>
      <p:sp>
        <p:nvSpPr>
          <p:cNvPr id="13" name="Text 11"/>
          <p:cNvSpPr txBox="1"/>
          <p:nvPr/>
        </p:nvSpPr>
        <p:spPr>
          <a:xfrm>
            <a:off x="8211312" y="2057400"/>
            <a:ext cx="3236976" cy="187452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It made 30+ falsifiable experiments and 11 falsifications affordable — the science. And it is exactly what an on-device product needs — the engineering. The small-model design is not a compromise; it is the thesis: many small experts, cheaply combined, on weak hardware.</a:t>
            </a:r>
            <a:endParaRPr lang="en-US" sz="1100" dirty="0"/>
          </a:p>
        </p:txBody>
      </p:sp>
      <p:sp>
        <p:nvSpPr>
          <p:cNvPr id="14" name="Text 12"/>
          <p:cNvSpPr txBox="1"/>
          <p:nvPr/>
        </p:nvSpPr>
        <p:spPr>
          <a:xfrm>
            <a:off x="548640" y="4251960"/>
            <a:ext cx="10972800" cy="320040"/>
          </a:xfrm>
          <a:prstGeom prst="rect">
            <a:avLst/>
          </a:prstGeom>
          <a:noFill/>
          <a:ln/>
        </p:spPr>
        <p:txBody>
          <a:bodyPr wrap="square" lIns="0" tIns="0" rIns="0" bIns="0" rtlCol="0" anchor="t"/>
          <a:lstStyle/>
          <a:p>
            <a:pPr algn="l" indent="0" marL="0">
              <a:buNone/>
            </a:pPr>
            <a:r>
              <a:rPr lang="en-US" sz="1400" b="1" dirty="0">
                <a:solidFill>
                  <a:srgbClr val="1E2761"/>
                </a:solidFill>
                <a:latin typeface="Calibri" pitchFamily="34" charset="0"/>
                <a:ea typeface="Calibri" pitchFamily="34" charset="-122"/>
                <a:cs typeface="Calibri" pitchFamily="34" charset="-120"/>
              </a:rPr>
              <a:t>The engineering advantage, concretely</a:t>
            </a:r>
            <a:endParaRPr lang="en-US" sz="1400" dirty="0"/>
          </a:p>
        </p:txBody>
      </p:sp>
      <p:sp>
        <p:nvSpPr>
          <p:cNvPr id="15" name="Text 13"/>
          <p:cNvSpPr txBox="1"/>
          <p:nvPr/>
        </p:nvSpPr>
        <p:spPr>
          <a:xfrm>
            <a:off x="548640" y="4617720"/>
            <a:ext cx="11064240" cy="18288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Update one model, not all of them: adding or swapping an encoder re-fits ONE entry map (a closed-form solve, seconds) — the hub, the head and every other map stay untouched. A monolithic large model would need a full retrain.</a:t>
            </a:r>
            <a:endParaRPr lang="en-US" sz="1200" dirty="0"/>
          </a:p>
          <a:p>
            <a:pPr marL="177800" indent="-1778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Runs on weak devices: the shipped adapter is one 0.79 MB fp16 matrix that executes on a phone with no GPU; the hub rebuilds on a CPU in seconds.</a:t>
            </a:r>
            <a:endParaRPr lang="en-US" sz="1200" dirty="0"/>
          </a:p>
          <a:p>
            <a:pPr marL="177800" indent="-1778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Specialisation kept: each small expert stays strong in its own domain instead of being averaged into one generalist — and sharing them costs nothing (103.6% of hubs built per pair).</a:t>
            </a:r>
            <a:endParaRPr lang="en-US" sz="1200" dirty="0"/>
          </a:p>
          <a:p>
            <a:pPr marL="177800" indent="-1778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The scale caveat is conceded, not hidden: PRH's ladder predicts more scale should only strengthen these results — the big-model tests are the to-do list (slide 30), first in line when compute allows.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38560" y="6446520"/>
            <a:ext cx="54864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6</a:t>
            </a:r>
            <a:endParaRPr lang="en-US" sz="900" dirty="0"/>
          </a:p>
        </p:txBody>
      </p:sp>
      <p:sp>
        <p:nvSpPr>
          <p:cNvPr id="3" name="Text 1"/>
          <p:cNvSpPr txBox="1"/>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C8551A"/>
                </a:solidFill>
                <a:latin typeface="Calibri" pitchFamily="34" charset="0"/>
                <a:ea typeface="Calibri" pitchFamily="34" charset="-122"/>
                <a:cs typeface="Calibri" pitchFamily="34" charset="-120"/>
              </a:rPr>
              <a:t>THE WHOLE PROJECT IN ONE EXAMPLE</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The cat on a chair: two models place it at unrelated coordinates, yet agree on its relationships</a:t>
            </a:r>
            <a:endParaRPr lang="en-US" sz="2700" dirty="0"/>
          </a:p>
        </p:txBody>
      </p:sp>
      <p:pic>
        <p:nvPicPr>
          <p:cNvPr id="5" name="Image 0" descr="/home/claude/deck/img/four_meanings.png">    </p:cNvPr>
          <p:cNvPicPr>
            <a:picLocks noChangeAspect="1"/>
          </p:cNvPicPr>
          <p:nvPr/>
        </p:nvPicPr>
        <p:blipFill>
          <a:blip r:embed="rId1"/>
          <a:srcRect l="0" r="0" t="0" b="0"/>
          <a:stretch/>
        </p:blipFill>
        <p:spPr>
          <a:xfrm>
            <a:off x="548640" y="1508760"/>
            <a:ext cx="6766560" cy="3794760"/>
          </a:xfrm>
          <a:prstGeom prst="rect">
            <a:avLst/>
          </a:prstGeom>
        </p:spPr>
      </p:pic>
      <p:sp>
        <p:nvSpPr>
          <p:cNvPr id="6" name="Shape 3"/>
          <p:cNvSpPr/>
          <p:nvPr/>
        </p:nvSpPr>
        <p:spPr>
          <a:xfrm>
            <a:off x="7589520" y="1508760"/>
            <a:ext cx="4023360" cy="2880360"/>
          </a:xfrm>
          <a:prstGeom prst="roundRect">
            <a:avLst>
              <a:gd name="adj" fmla="val 1905"/>
            </a:avLst>
          </a:prstGeom>
          <a:solidFill>
            <a:srgbClr val="F5F7FB"/>
          </a:solidFill>
          <a:ln w="12700">
            <a:solidFill>
              <a:srgbClr val="D6DCE8"/>
            </a:solidFill>
            <a:prstDash val="solid"/>
          </a:ln>
        </p:spPr>
      </p:sp>
      <p:sp>
        <p:nvSpPr>
          <p:cNvPr id="7" name="Text 4"/>
          <p:cNvSpPr txBox="1"/>
          <p:nvPr/>
        </p:nvSpPr>
        <p:spPr>
          <a:xfrm>
            <a:off x="7726680" y="1581912"/>
            <a:ext cx="3749040" cy="274320"/>
          </a:xfrm>
          <a:prstGeom prst="rect">
            <a:avLst/>
          </a:prstGeom>
          <a:noFill/>
          <a:ln/>
        </p:spPr>
        <p:txBody>
          <a:bodyPr wrap="square" lIns="0" tIns="0" rIns="0" bIns="0" rtlCol="0" anchor="ctr"/>
          <a:lstStyle/>
          <a:p>
            <a:pPr indent="0" marL="0">
              <a:buNone/>
            </a:pPr>
            <a:r>
              <a:rPr lang="en-US" sz="1000" b="1" dirty="0">
                <a:solidFill>
                  <a:srgbClr val="C8551A"/>
                </a:solidFill>
                <a:latin typeface="Calibri" pitchFamily="34" charset="0"/>
                <a:ea typeface="Calibri" pitchFamily="34" charset="-122"/>
                <a:cs typeface="Calibri" pitchFamily="34" charset="-120"/>
              </a:rPr>
              <a:t>the short math</a:t>
            </a:r>
            <a:endParaRPr lang="en-US" sz="1000" dirty="0"/>
          </a:p>
        </p:txBody>
      </p:sp>
      <p:sp>
        <p:nvSpPr>
          <p:cNvPr id="8" name="Text 5"/>
          <p:cNvSpPr txBox="1"/>
          <p:nvPr/>
        </p:nvSpPr>
        <p:spPr>
          <a:xfrm>
            <a:off x="7726680" y="1856232"/>
            <a:ext cx="3749040" cy="2468880"/>
          </a:xfrm>
          <a:prstGeom prst="rect">
            <a:avLst/>
          </a:prstGeom>
          <a:noFill/>
          <a:ln/>
        </p:spPr>
        <p:txBody>
          <a:bodyPr wrap="square" lIns="0" tIns="0" rIns="0" bIns="0" rtlCol="0" anchor="t"/>
          <a:lstStyle/>
          <a:p>
            <a:pPr indent="0" marL="0">
              <a:buNone/>
            </a:pPr>
            <a:r>
              <a:rPr lang="en-US" sz="1000" dirty="0">
                <a:solidFill>
                  <a:srgbClr val="1F2937"/>
                </a:solidFill>
                <a:latin typeface="Courier New" pitchFamily="34" charset="0"/>
                <a:ea typeface="Courier New" pitchFamily="34" charset="-122"/>
                <a:cs typeface="Courier New" pitchFamily="34" charset="-120"/>
              </a:rPr>
              <a:t>DINOv2 sees pixels -&gt; x_img in R^768</a:t>
            </a:r>
            <a:endParaRPr lang="en-US" sz="1000" dirty="0"/>
          </a:p>
          <a:p>
            <a:pPr indent="0" marL="0">
              <a:buNone/>
            </a:pPr>
            <a:r>
              <a:rPr lang="en-US" sz="1000" dirty="0">
                <a:solidFill>
                  <a:srgbClr val="1F2937"/>
                </a:solidFill>
                <a:latin typeface="Courier New" pitchFamily="34" charset="0"/>
                <a:ea typeface="Courier New" pitchFamily="34" charset="-122"/>
                <a:cs typeface="Courier New" pitchFamily="34" charset="-120"/>
              </a:rPr>
              <a:t>bge-m3 reads text  -&gt; x_txt in R^1024</a:t>
            </a:r>
            <a:endParaRPr lang="en-US" sz="1000" dirty="0"/>
          </a:p>
          <a:p>
            <a:pPr indent="0" marL="0">
              <a:buNone/>
            </a:pPr>
            <a:endParaRPr lang="en-US" sz="1000" dirty="0"/>
          </a:p>
          <a:p>
            <a:pPr indent="0" marL="0">
              <a:buNone/>
            </a:pPr>
            <a:r>
              <a:rPr lang="en-US" sz="1000" dirty="0">
                <a:solidFill>
                  <a:srgbClr val="1F2937"/>
                </a:solidFill>
                <a:latin typeface="Courier New" pitchFamily="34" charset="0"/>
                <a:ea typeface="Courier New" pitchFamily="34" charset="-122"/>
                <a:cs typeface="Courier New" pitchFamily="34" charset="-120"/>
              </a:rPr>
              <a:t>cosine(x_img, x_txt) ~ 0.00</a:t>
            </a:r>
            <a:endParaRPr lang="en-US" sz="1000" dirty="0"/>
          </a:p>
          <a:p>
            <a:pPr indent="0" marL="0">
              <a:buNone/>
            </a:pPr>
            <a:r>
              <a:rPr lang="en-US" sz="1000" dirty="0">
                <a:solidFill>
                  <a:srgbClr val="1F2937"/>
                </a:solidFill>
                <a:latin typeface="Courier New" pitchFamily="34" charset="0"/>
                <a:ea typeface="Courier New" pitchFamily="34" charset="-122"/>
                <a:cs typeface="Courier New" pitchFamily="34" charset="-120"/>
              </a:rPr>
              <a:t>  (the two COORDINATES share nothing)</a:t>
            </a:r>
            <a:endParaRPr lang="en-US" sz="1000" dirty="0"/>
          </a:p>
          <a:p>
            <a:pPr indent="0" marL="0">
              <a:buNone/>
            </a:pPr>
            <a:endParaRPr lang="en-US" sz="1000" dirty="0"/>
          </a:p>
          <a:p>
            <a:pPr indent="0" marL="0">
              <a:buNone/>
            </a:pPr>
            <a:r>
              <a:rPr lang="en-US" sz="1000" dirty="0">
                <a:solidFill>
                  <a:srgbClr val="1F2937"/>
                </a:solidFill>
                <a:latin typeface="Courier New" pitchFamily="34" charset="0"/>
                <a:ea typeface="Courier New" pitchFamily="34" charset="-122"/>
                <a:cs typeface="Courier New" pitchFamily="34" charset="-120"/>
              </a:rPr>
              <a:t>yet in BOTH spaces the RELATIONS hold:</a:t>
            </a:r>
            <a:endParaRPr lang="en-US" sz="1000" dirty="0"/>
          </a:p>
          <a:p>
            <a:pPr indent="0" marL="0">
              <a:buNone/>
            </a:pPr>
            <a:r>
              <a:rPr lang="en-US" sz="1000" dirty="0">
                <a:solidFill>
                  <a:srgbClr val="1F2937"/>
                </a:solidFill>
                <a:latin typeface="Courier New" pitchFamily="34" charset="0"/>
                <a:ea typeface="Courier New" pitchFamily="34" charset="-122"/>
                <a:cs typeface="Courier New" pitchFamily="34" charset="-120"/>
              </a:rPr>
              <a:t>dist(cat-chair, cat-sofa)</a:t>
            </a:r>
            <a:endParaRPr lang="en-US" sz="1000" dirty="0"/>
          </a:p>
          <a:p>
            <a:pPr indent="0" marL="0">
              <a:buNone/>
            </a:pPr>
            <a:r>
              <a:rPr lang="en-US" sz="1000" dirty="0">
                <a:solidFill>
                  <a:srgbClr val="1F2937"/>
                </a:solidFill>
                <a:latin typeface="Courier New" pitchFamily="34" charset="0"/>
                <a:ea typeface="Courier New" pitchFamily="34" charset="-122"/>
                <a:cs typeface="Courier New" pitchFamily="34" charset="-120"/>
              </a:rPr>
              <a:t>        &lt;  dist(cat-chair, airplane)</a:t>
            </a:r>
            <a:endParaRPr lang="en-US" sz="1000" dirty="0"/>
          </a:p>
          <a:p>
            <a:pPr indent="0" marL="0">
              <a:buNone/>
            </a:pPr>
            <a:endParaRPr lang="en-US" sz="1000" dirty="0"/>
          </a:p>
          <a:p>
            <a:pPr indent="0" marL="0">
              <a:buNone/>
            </a:pPr>
            <a:r>
              <a:rPr lang="en-US" sz="1000" dirty="0">
                <a:solidFill>
                  <a:srgbClr val="1F2937"/>
                </a:solidFill>
                <a:latin typeface="Courier New" pitchFamily="34" charset="0"/>
                <a:ea typeface="Courier New" pitchFamily="34" charset="-122"/>
                <a:cs typeface="Courier New" pitchFamily="34" charset="-120"/>
              </a:rPr>
              <a:t>claim: exists ONE matrix W with</a:t>
            </a:r>
            <a:endParaRPr lang="en-US" sz="1000" dirty="0"/>
          </a:p>
          <a:p>
            <a:pPr indent="0" marL="0">
              <a:buNone/>
            </a:pPr>
            <a:r>
              <a:rPr lang="en-US" sz="1000" dirty="0">
                <a:solidFill>
                  <a:srgbClr val="1F2937"/>
                </a:solidFill>
                <a:latin typeface="Courier New" pitchFamily="34" charset="0"/>
                <a:ea typeface="Courier New" pitchFamily="34" charset="-122"/>
                <a:cs typeface="Courier New" pitchFamily="34" charset="-120"/>
              </a:rPr>
              <a:t>   x_img . W  ~  x_txt   (no training)</a:t>
            </a:r>
            <a:endParaRPr lang="en-US" sz="1000" dirty="0"/>
          </a:p>
        </p:txBody>
      </p:sp>
      <p:sp>
        <p:nvSpPr>
          <p:cNvPr id="9" name="Text 6"/>
          <p:cNvSpPr txBox="1"/>
          <p:nvPr/>
        </p:nvSpPr>
        <p:spPr>
          <a:xfrm>
            <a:off x="7589520" y="4526280"/>
            <a:ext cx="4023360" cy="1828800"/>
          </a:xfrm>
          <a:prstGeom prst="rect">
            <a:avLst/>
          </a:prstGeom>
          <a:noFill/>
          <a:ln/>
        </p:spPr>
        <p:txBody>
          <a:bodyPr wrap="square" lIns="0" tIns="0" rIns="0" bIns="0" rtlCol="0" anchor="t"/>
          <a:lstStyle/>
          <a:p>
            <a:pPr marL="177800" indent="-177800">
              <a:spcAft>
                <a:spcPts val="500"/>
              </a:spcAft>
              <a:buSzPct val="100000"/>
              <a:buChar char="•"/>
            </a:pPr>
            <a:r>
              <a:rPr lang="en-US" sz="1150" b="1" dirty="0">
                <a:solidFill>
                  <a:srgbClr val="1F2937"/>
                </a:solidFill>
                <a:latin typeface="Calibri" pitchFamily="34" charset="0"/>
                <a:ea typeface="Calibri" pitchFamily="34" charset="-122"/>
                <a:cs typeface="Calibri" pitchFamily="34" charset="-120"/>
              </a:rPr>
              <a:t>coordinates share nothing:  same-image cosine ≈ 0</a:t>
            </a:r>
            <a:endParaRPr lang="en-US" sz="1150" dirty="0"/>
          </a:p>
          <a:p>
            <a:pPr marL="177800" indent="-1778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shape agrees (no map):  distance-rank correlation ρ = +0.676</a:t>
            </a:r>
            <a:endParaRPr lang="en-US" sz="1150" dirty="0"/>
          </a:p>
          <a:p>
            <a:pPr marL="177800" indent="-177800">
              <a:spcAft>
                <a:spcPts val="500"/>
              </a:spcAft>
              <a:buSzPct val="100000"/>
              <a:buChar char="•"/>
            </a:pPr>
            <a:r>
              <a:rPr lang="en-US" sz="1150" dirty="0">
                <a:solidFill>
                  <a:srgbClr val="1F2937"/>
                </a:solidFill>
                <a:latin typeface="Calibri" pitchFamily="34" charset="0"/>
                <a:ea typeface="Calibri" pitchFamily="34" charset="-122"/>
                <a:cs typeface="Calibri" pitchFamily="34" charset="-120"/>
              </a:rPr>
              <a:t>neighbours agree (no map):  62% of 10 nearest shared vs 1% chance</a:t>
            </a:r>
            <a:endParaRPr lang="en-US" sz="1150" dirty="0"/>
          </a:p>
          <a:p>
            <a:pPr marL="177800" indent="-177800">
              <a:spcAft>
                <a:spcPts val="500"/>
              </a:spcAft>
              <a:buSzPct val="100000"/>
              <a:buChar char="•"/>
            </a:pPr>
            <a:r>
              <a:rPr lang="en-US" sz="1150" b="1" dirty="0">
                <a:solidFill>
                  <a:srgbClr val="1F2937"/>
                </a:solidFill>
                <a:latin typeface="Calibri" pitchFamily="34" charset="0"/>
                <a:ea typeface="Calibri" pitchFamily="34" charset="-122"/>
                <a:cs typeface="Calibri" pitchFamily="34" charset="-120"/>
              </a:rPr>
              <a:t>after ONE linear map:  same-image cosine +0.900</a:t>
            </a:r>
            <a:endParaRPr lang="en-US" sz="1150" dirty="0"/>
          </a:p>
        </p:txBody>
      </p:sp>
      <p:sp>
        <p:nvSpPr>
          <p:cNvPr id="10" name="Text 7"/>
          <p:cNvSpPr txBox="1"/>
          <p:nvPr/>
        </p:nvSpPr>
        <p:spPr>
          <a:xfrm>
            <a:off x="548640" y="5394960"/>
            <a:ext cx="6766560" cy="365760"/>
          </a:xfrm>
          <a:prstGeom prst="rect">
            <a:avLst/>
          </a:prstGeom>
          <a:noFill/>
          <a:ln/>
        </p:spPr>
        <p:txBody>
          <a:bodyPr wrap="square" lIns="0" tIns="0" rIns="0" bIns="0" rtlCol="0" anchor="ctr"/>
          <a:lstStyle/>
          <a:p>
            <a:pPr indent="0" marL="0">
              <a:buNone/>
            </a:pPr>
            <a:r>
              <a:rPr lang="en-US" sz="950" i="1" dirty="0">
                <a:solidFill>
                  <a:srgbClr val="5B6472"/>
                </a:solidFill>
                <a:latin typeface="Calibri" pitchFamily="34" charset="0"/>
                <a:ea typeface="Calibri" pitchFamily="34" charset="-122"/>
                <a:cs typeface="Calibri" pitchFamily="34" charset="-120"/>
              </a:rPr>
              <a:t>Fig: four meanings of similarity on the same 1,000 images. 'dist' = distance between two items inside one space (small = near). Shape and neighbours were already shared; the map only supplies coordinates.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38560" y="6446520"/>
            <a:ext cx="54864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7</a:t>
            </a:r>
            <a:endParaRPr lang="en-US" sz="900" dirty="0"/>
          </a:p>
        </p:txBody>
      </p:sp>
      <p:sp>
        <p:nvSpPr>
          <p:cNvPr id="3" name="Text 1"/>
          <p:cNvSpPr txBox="1"/>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C8551A"/>
                </a:solidFill>
                <a:latin typeface="Calibri" pitchFamily="34" charset="0"/>
                <a:ea typeface="Calibri" pitchFamily="34" charset="-122"/>
                <a:cs typeface="Calibri" pitchFamily="34" charset="-120"/>
              </a:rPr>
              <a:t>THE WORDS USED ON EVERY SLIDE</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Vector, space, structure — and the four things that can make two spaces alike</a:t>
            </a:r>
            <a:endParaRPr lang="en-US" sz="2700" dirty="0"/>
          </a:p>
        </p:txBody>
      </p:sp>
      <p:pic>
        <p:nvPicPr>
          <p:cNvPr id="5" name="Image 0" descr="/home/claude/deck/img/shape_vs_vector.png">    </p:cNvPr>
          <p:cNvPicPr>
            <a:picLocks noChangeAspect="1"/>
          </p:cNvPicPr>
          <p:nvPr/>
        </p:nvPicPr>
        <p:blipFill>
          <a:blip r:embed="rId1"/>
          <a:srcRect l="0" r="0" t="0" b="0"/>
          <a:stretch/>
        </p:blipFill>
        <p:spPr>
          <a:xfrm>
            <a:off x="548640" y="1508760"/>
            <a:ext cx="5486400" cy="4114800"/>
          </a:xfrm>
          <a:prstGeom prst="rect">
            <a:avLst/>
          </a:prstGeom>
        </p:spPr>
      </p:pic>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217920" y="1508760"/>
          <a:ext cx="5394960" cy="914400"/>
        </p:xfrm>
        <a:graphic>
          <a:graphicData uri="http://schemas.openxmlformats.org/drawingml/2006/table">
            <a:tbl>
              <a:tblPr/>
              <a:tblGrid>
                <a:gridCol w="1143000"/>
                <a:gridCol w="2148840"/>
                <a:gridCol w="2103120"/>
              </a:tblGrid>
              <a:tr h="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term</a:t>
                      </a:r>
                      <a:endParaRPr lang="en-US" sz="1000" dirty="0">
                        <a:latin typeface="Calibri" charset="0"/>
                        <a:ea typeface="Calibri" charset="0"/>
                        <a:cs typeface="Calibri" charset="0"/>
                      </a:endParaRPr>
                    </a:p>
                  </a:txBody>
                  <a:tcPr marL="45720" marR="45720" marT="45720" marB="45720" anchor="ctr">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meaning</a:t>
                      </a:r>
                      <a:endParaRPr lang="en-US" sz="1000" dirty="0">
                        <a:latin typeface="Calibri" charset="0"/>
                        <a:ea typeface="Calibri" charset="0"/>
                        <a:cs typeface="Calibri" charset="0"/>
                      </a:endParaRPr>
                    </a:p>
                  </a:txBody>
                  <a:tcPr marL="45720" marR="45720" marT="45720" marB="45720" anchor="ctr">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cat / dog reading</a:t>
                      </a:r>
                      <a:endParaRPr lang="en-US" sz="1000" dirty="0">
                        <a:latin typeface="Calibri" charset="0"/>
                        <a:ea typeface="Calibri" charset="0"/>
                        <a:cs typeface="Calibri" charset="0"/>
                      </a:endParaRPr>
                    </a:p>
                  </a:txBody>
                  <a:tcPr marL="45720" marR="45720" marT="45720" marB="45720" anchor="ctr">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1E2761"/>
                    </a:solidFill>
                  </a:tcPr>
                </a:tc>
              </a:tr>
              <a:tr h="0">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VECTOR</a:t>
                      </a:r>
                      <a:endParaRPr lang="en-US" sz="10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one item's address: direction + length</a:t>
                      </a:r>
                      <a:endParaRPr lang="en-US" sz="10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one cat photo = one arrow</a:t>
                      </a:r>
                      <a:endParaRPr lang="en-US" sz="10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SPACE</a:t>
                      </a:r>
                      <a:endParaRPr lang="en-US" sz="10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the whole cloud's shape: where variance lives</a:t>
                      </a:r>
                      <a:endParaRPr lang="en-US" sz="10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all cats and dogs together; round or a cigar?</a:t>
                      </a:r>
                      <a:endParaRPr lang="en-US" sz="10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r>
              <a:tr h="0">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STRUCTURE</a:t>
                      </a:r>
                      <a:endParaRPr lang="en-US" sz="10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the pattern of relations between items</a:t>
                      </a:r>
                      <a:endParaRPr lang="en-US" sz="10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cat near cat, dog near dog, airplane far</a:t>
                      </a:r>
                      <a:endParaRPr lang="en-US" sz="10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MODALITY</a:t>
                      </a:r>
                      <a:endParaRPr lang="en-US" sz="10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the input channel</a:t>
                      </a:r>
                      <a:endParaRPr lang="en-US" sz="10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DINOv2 saw the photo; bge read the caption</a:t>
                      </a:r>
                      <a:endParaRPr lang="en-US" sz="10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r>
              <a:tr h="0">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OBJECTIVE</a:t>
                      </a:r>
                      <a:endParaRPr lang="en-US" sz="10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the learning signal that shaped the space</a:t>
                      </a:r>
                      <a:endParaRPr lang="en-US" sz="10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contrastive · next-token · masked-LM · classification</a:t>
                      </a:r>
                      <a:endParaRPr lang="en-US" sz="10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LINEAGE</a:t>
                      </a:r>
                      <a:endParaRPr lang="en-US" sz="10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shared ancestry / weights</a:t>
                      </a:r>
                      <a:endParaRPr lang="en-US" sz="10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DINOv2 small, base, large are siblings</a:t>
                      </a:r>
                      <a:endParaRPr lang="en-US" sz="10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r>
              <a:tr h="0">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ISOTROPY</a:t>
                      </a:r>
                      <a:endParaRPr lang="en-US" sz="10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variance spread evenly across directions</a:t>
                      </a:r>
                      <a:endParaRPr lang="en-US" sz="10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cosine reads the full shape; healthy</a:t>
                      </a:r>
                      <a:endParaRPr lang="en-US" sz="10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r>
              <a:tr h="0">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ANISOTROPY</a:t>
                      </a:r>
                      <a:endParaRPr lang="en-US" sz="10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variance concentrated in few directions</a:t>
                      </a:r>
                      <a:endParaRPr lang="en-US" sz="10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1000" dirty="0">
                          <a:solidFill>
                            <a:srgbClr val="1F2937"/>
                          </a:solidFill>
                          <a:latin typeface="Calibri" pitchFamily="34" charset="0"/>
                          <a:ea typeface="Calibri" pitchFamily="34" charset="-122"/>
                          <a:cs typeface="Calibri" pitchFamily="34" charset="-120"/>
                        </a:rPr>
                        <a:t>GPT-2: every caption at cosine +0.999 — a cone</a:t>
                      </a:r>
                      <a:endParaRPr lang="en-US" sz="10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r>
            </a:tbl>
          </a:graphicData>
        </a:graphic>
      </p:graphicFrame>
      <p:sp>
        <p:nvSpPr>
          <p:cNvPr id="7" name="Text 3"/>
          <p:cNvSpPr txBox="1"/>
          <p:nvPr/>
        </p:nvSpPr>
        <p:spPr>
          <a:xfrm>
            <a:off x="6217920" y="5623560"/>
            <a:ext cx="5394960" cy="731520"/>
          </a:xfrm>
          <a:prstGeom prst="rect">
            <a:avLst/>
          </a:prstGeom>
          <a:noFill/>
          <a:ln/>
        </p:spPr>
        <p:txBody>
          <a:bodyPr wrap="square" lIns="0" tIns="0" rIns="0" bIns="0" rtlCol="0" anchor="t"/>
          <a:lstStyle/>
          <a:p>
            <a:pPr algn="l" indent="0" marL="0">
              <a:buNone/>
            </a:pPr>
            <a:r>
              <a:rPr lang="en-US" sz="1100" b="1" dirty="0">
                <a:solidFill>
                  <a:srgbClr val="1E2761"/>
                </a:solidFill>
                <a:latin typeface="Calibri" pitchFamily="34" charset="0"/>
                <a:ea typeface="Calibri" pitchFamily="34" charset="-122"/>
                <a:cs typeface="Calibri" pitchFamily="34" charset="-120"/>
              </a:rPr>
              <a:t>Result to hold onto:  sharing an OBJECTIVE aligns spaces more than sharing LINEAGE, and both more than sharing MODALITY  (+53× / +44× / +29× over chance).</a:t>
            </a:r>
            <a:endParaRPr lang="en-US" sz="1100" dirty="0"/>
          </a:p>
        </p:txBody>
      </p:sp>
      <p:sp>
        <p:nvSpPr>
          <p:cNvPr id="8" name="Text 4"/>
          <p:cNvSpPr txBox="1"/>
          <p:nvPr/>
        </p:nvSpPr>
        <p:spPr>
          <a:xfrm>
            <a:off x="548640" y="5715000"/>
            <a:ext cx="5486400" cy="365760"/>
          </a:xfrm>
          <a:prstGeom prst="rect">
            <a:avLst/>
          </a:prstGeom>
          <a:noFill/>
          <a:ln/>
        </p:spPr>
        <p:txBody>
          <a:bodyPr wrap="square" lIns="0" tIns="0" rIns="0" bIns="0" rtlCol="0" anchor="ctr"/>
          <a:lstStyle/>
          <a:p>
            <a:pPr indent="0" marL="0">
              <a:buNone/>
            </a:pPr>
            <a:r>
              <a:rPr lang="en-US" sz="950" i="1" dirty="0">
                <a:solidFill>
                  <a:srgbClr val="5B6472"/>
                </a:solidFill>
                <a:latin typeface="Calibri" pitchFamily="34" charset="0"/>
                <a:ea typeface="Calibri" pitchFamily="34" charset="-122"/>
                <a:cs typeface="Calibri" pitchFamily="34" charset="-120"/>
              </a:rPr>
              <a:t>Fig shape_vs_vector.png: A vector vs B space, C spectrum, D same shape / different coordinates, E different geography (no linear map fixes it), F the adapter's 512 singular values (69× spread).</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38560" y="6446520"/>
            <a:ext cx="54864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8</a:t>
            </a:r>
            <a:endParaRPr lang="en-US" sz="900" dirty="0"/>
          </a:p>
        </p:txBody>
      </p:sp>
      <p:sp>
        <p:nvSpPr>
          <p:cNvPr id="3" name="Text 1"/>
          <p:cNvSpPr txBox="1"/>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C8551A"/>
                </a:solidFill>
                <a:latin typeface="Calibri" pitchFamily="34" charset="0"/>
                <a:ea typeface="Calibri" pitchFamily="34" charset="-122"/>
                <a:cs typeface="Calibri" pitchFamily="34" charset="-120"/>
              </a:rPr>
              <a:t>HOW 'SIMILAR' IS GRADED</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Five kinds of similarity, weakest to strongest — the answer changes as you climb</a:t>
            </a:r>
            <a:endParaRPr lang="en-US" sz="27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1783080"/>
                <a:gridCol w="2103120"/>
                <a:gridCol w="2697480"/>
                <a:gridCol w="2148840"/>
                <a:gridCol w="2331720"/>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level</a:t>
                      </a:r>
                      <a:endParaRPr lang="en-US" sz="1050" dirty="0">
                        <a:latin typeface="Calibri" charset="0"/>
                        <a:ea typeface="Calibri" charset="0"/>
                        <a:cs typeface="Calibri" charset="0"/>
                      </a:endParaRPr>
                    </a:p>
                  </a:txBody>
                  <a:tcPr marL="45720" marR="45720" marT="45720" marB="45720" anchor="ctr">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the question</a:t>
                      </a:r>
                      <a:endParaRPr lang="en-US" sz="1050" dirty="0">
                        <a:latin typeface="Calibri" charset="0"/>
                        <a:ea typeface="Calibri" charset="0"/>
                        <a:cs typeface="Calibri" charset="0"/>
                      </a:endParaRPr>
                    </a:p>
                  </a:txBody>
                  <a:tcPr marL="45720" marR="45720" marT="45720" marB="45720" anchor="ctr">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for the cat on a chair</a:t>
                      </a:r>
                      <a:endParaRPr lang="en-US" sz="1050" dirty="0">
                        <a:latin typeface="Calibri" charset="0"/>
                        <a:ea typeface="Calibri" charset="0"/>
                        <a:cs typeface="Calibri" charset="0"/>
                      </a:endParaRPr>
                    </a:p>
                  </a:txBody>
                  <a:tcPr marL="45720" marR="45720" marT="45720" marB="45720" anchor="ctr">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measured by</a:t>
                      </a:r>
                      <a:endParaRPr lang="en-US" sz="1050" dirty="0">
                        <a:latin typeface="Calibri" charset="0"/>
                        <a:ea typeface="Calibri" charset="0"/>
                        <a:cs typeface="Calibri" charset="0"/>
                      </a:endParaRPr>
                    </a:p>
                  </a:txBody>
                  <a:tcPr marL="45720" marR="45720" marT="45720" marB="45720" anchor="ctr">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result here</a:t>
                      </a:r>
                      <a:endParaRPr lang="en-US" sz="1050" dirty="0">
                        <a:latin typeface="Calibri" charset="0"/>
                        <a:ea typeface="Calibri" charset="0"/>
                        <a:cs typeface="Calibri" charset="0"/>
                      </a:endParaRPr>
                    </a:p>
                  </a:txBody>
                  <a:tcPr marL="45720" marR="45720" marT="45720" marB="45720" anchor="ctr">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1E2761"/>
                    </a:solidFill>
                  </a:tcPr>
                </a:tc>
              </a:tr>
              <a:tr h="0">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1 · shared NEIGHBOURS</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do the same things sit nearby?</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is cat-on-sofa among its nearest items in both spaces?</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k-NN overlap (no map)</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YES, strongly — 27–62× chance at k=10</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2 · shared ORDER</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do they agree on nearer vs farther?</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cat-chair nearer to cat-sofa than to airplane, in both?</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Spearman ρ of pairwise distances (no map)</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YES, moderately — ρ 0.29 cross-modal, up to 0.76</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r>
              <a:tr h="0">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3 · shared STRUCTURE</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does the whole similarity pattern match?</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does every item relate to every other the same way?</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CKA / RSA vs a random control</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PARTLY — 4–6× a random control, weak absolutely</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4 · shared SUBSPACE</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can one be turned into the other by a linear map?</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map the image vector onto its caption's direction</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ridge regression, then retrieval</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YES — 88–95% of a jointly-trained ceiling</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r>
              <a:tr h="0">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5 · same GEOMETRY</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same shape, just rotated?</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does a pure rotation align the clouds?</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orthogonal Procrustes</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NO — 0.038 vs ridge 0.592. Related, not rigid</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4892040"/>
            <a:ext cx="5394960" cy="1417320"/>
          </a:xfrm>
          <a:prstGeom prst="roundRect">
            <a:avLst>
              <a:gd name="adj" fmla="val 5161"/>
            </a:avLst>
          </a:prstGeom>
          <a:solidFill>
            <a:srgbClr val="EEF3FF"/>
          </a:solidFill>
          <a:ln w="12700">
            <a:solidFill>
              <a:srgbClr val="EEF3FF"/>
            </a:solidFill>
            <a:prstDash val="solid"/>
          </a:ln>
        </p:spPr>
      </p:sp>
      <p:sp>
        <p:nvSpPr>
          <p:cNvPr id="7" name="Text 4"/>
          <p:cNvSpPr txBox="1"/>
          <p:nvPr/>
        </p:nvSpPr>
        <p:spPr>
          <a:xfrm>
            <a:off x="713232" y="5001768"/>
            <a:ext cx="5065776"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Reading the ladder</a:t>
            </a:r>
            <a:endParaRPr lang="en-US" sz="1300" dirty="0"/>
          </a:p>
        </p:txBody>
      </p:sp>
      <p:sp>
        <p:nvSpPr>
          <p:cNvPr id="8" name="Text 5"/>
          <p:cNvSpPr txBox="1"/>
          <p:nvPr/>
        </p:nvSpPr>
        <p:spPr>
          <a:xfrm>
            <a:off x="713232" y="5394960"/>
            <a:ext cx="5065776" cy="82296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Strong at level 1, weak at level 3 → models agree about NEIGHBOURHOODS, not global arrangement. Level 4 works but 5 fails → the spaces are related by a STRETCH, not merely a turn (the adapter's singular values span 69×).</a:t>
            </a:r>
            <a:endParaRPr lang="en-US" sz="1100" dirty="0"/>
          </a:p>
        </p:txBody>
      </p:sp>
      <p:sp>
        <p:nvSpPr>
          <p:cNvPr id="9" name="Shape 6"/>
          <p:cNvSpPr/>
          <p:nvPr/>
        </p:nvSpPr>
        <p:spPr>
          <a:xfrm>
            <a:off x="6217920" y="4892040"/>
            <a:ext cx="5394960" cy="1417320"/>
          </a:xfrm>
          <a:prstGeom prst="roundRect">
            <a:avLst>
              <a:gd name="adj" fmla="val 5161"/>
            </a:avLst>
          </a:prstGeom>
          <a:solidFill>
            <a:srgbClr val="EEF7F3"/>
          </a:solidFill>
          <a:ln w="12700">
            <a:solidFill>
              <a:srgbClr val="EEF7F3"/>
            </a:solidFill>
            <a:prstDash val="solid"/>
          </a:ln>
        </p:spPr>
      </p:sp>
      <p:sp>
        <p:nvSpPr>
          <p:cNvPr id="10" name="Text 7"/>
          <p:cNvSpPr txBox="1"/>
          <p:nvPr/>
        </p:nvSpPr>
        <p:spPr>
          <a:xfrm>
            <a:off x="6382512" y="5001768"/>
            <a:ext cx="5065776"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The metaphor that fits</a:t>
            </a:r>
            <a:endParaRPr lang="en-US" sz="1300" dirty="0"/>
          </a:p>
        </p:txBody>
      </p:sp>
      <p:sp>
        <p:nvSpPr>
          <p:cNvPr id="11" name="Text 8"/>
          <p:cNvSpPr txBox="1"/>
          <p:nvPr/>
        </p:nvSpPr>
        <p:spPr>
          <a:xfrm>
            <a:off x="6382512" y="5394960"/>
            <a:ext cx="5065776" cy="82296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Two map projections of the Earth disagree about distance and area, yet both keep Spain next to France. Different charts of one shared structure — not one space.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38560" y="6446520"/>
            <a:ext cx="54864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9</a:t>
            </a:r>
            <a:endParaRPr lang="en-US" sz="900" dirty="0"/>
          </a:p>
        </p:txBody>
      </p:sp>
      <p:sp>
        <p:nvSpPr>
          <p:cNvPr id="3" name="Text 1"/>
          <p:cNvSpPr txBox="1"/>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C8551A"/>
                </a:solidFill>
                <a:latin typeface="Calibri" pitchFamily="34" charset="0"/>
                <a:ea typeface="Calibri" pitchFamily="34" charset="-122"/>
                <a:cs typeface="Calibri" pitchFamily="34" charset="-120"/>
              </a:rPr>
              <a:t>THE MEASUREMENTS</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Every metric is a question with a blind spot — what each asks, in the cat/dog sentence</a:t>
            </a:r>
            <a:endParaRPr lang="en-US" sz="27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7040880" cy="914400"/>
        </p:xfrm>
        <a:graphic>
          <a:graphicData uri="http://schemas.openxmlformats.org/drawingml/2006/table">
            <a:tbl>
              <a:tblPr/>
              <a:tblGrid>
                <a:gridCol w="1234440"/>
                <a:gridCol w="2331720"/>
                <a:gridCol w="2011680"/>
                <a:gridCol w="1463040"/>
              </a:tblGrid>
              <a:tr h="0">
                <a:tc>
                  <a:txBody>
                    <a:bodyPr/>
                    <a:lstStyle/>
                    <a:p>
                      <a:pPr indent="0" marL="0">
                        <a:buNone/>
                      </a:pPr>
                      <a:r>
                        <a:rPr lang="en-US" sz="880" b="1" dirty="0">
                          <a:solidFill>
                            <a:srgbClr val="FFFFFF"/>
                          </a:solidFill>
                          <a:latin typeface="Calibri" pitchFamily="34" charset="0"/>
                          <a:ea typeface="Calibri" pitchFamily="34" charset="-122"/>
                          <a:cs typeface="Calibri" pitchFamily="34" charset="-120"/>
                        </a:rPr>
                        <a:t>metric</a:t>
                      </a:r>
                      <a:endParaRPr lang="en-US" sz="880" dirty="0">
                        <a:latin typeface="Calibri" charset="0"/>
                        <a:ea typeface="Calibri" charset="0"/>
                        <a:cs typeface="Calibri" charset="0"/>
                      </a:endParaRPr>
                    </a:p>
                  </a:txBody>
                  <a:tcPr marL="45720" marR="45720" marT="45720" marB="45720" anchor="ctr">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1E2761"/>
                    </a:solidFill>
                  </a:tcPr>
                </a:tc>
                <a:tc>
                  <a:txBody>
                    <a:bodyPr/>
                    <a:lstStyle/>
                    <a:p>
                      <a:pPr indent="0" marL="0">
                        <a:buNone/>
                      </a:pPr>
                      <a:r>
                        <a:rPr lang="en-US" sz="880" b="1" dirty="0">
                          <a:solidFill>
                            <a:srgbClr val="FFFFFF"/>
                          </a:solidFill>
                          <a:latin typeface="Calibri" pitchFamily="34" charset="0"/>
                          <a:ea typeface="Calibri" pitchFamily="34" charset="-122"/>
                          <a:cs typeface="Calibri" pitchFamily="34" charset="-120"/>
                        </a:rPr>
                        <a:t>the question it asks (cat / dog)</a:t>
                      </a:r>
                      <a:endParaRPr lang="en-US" sz="880" dirty="0">
                        <a:latin typeface="Calibri" charset="0"/>
                        <a:ea typeface="Calibri" charset="0"/>
                        <a:cs typeface="Calibri" charset="0"/>
                      </a:endParaRPr>
                    </a:p>
                  </a:txBody>
                  <a:tcPr marL="45720" marR="45720" marT="45720" marB="45720" anchor="ctr">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1E2761"/>
                    </a:solidFill>
                  </a:tcPr>
                </a:tc>
                <a:tc>
                  <a:txBody>
                    <a:bodyPr/>
                    <a:lstStyle/>
                    <a:p>
                      <a:pPr indent="0" marL="0">
                        <a:buNone/>
                      </a:pPr>
                      <a:r>
                        <a:rPr lang="en-US" sz="880" b="1" dirty="0">
                          <a:solidFill>
                            <a:srgbClr val="FFFFFF"/>
                          </a:solidFill>
                          <a:latin typeface="Calibri" pitchFamily="34" charset="0"/>
                          <a:ea typeface="Calibri" pitchFamily="34" charset="-122"/>
                          <a:cs typeface="Calibri" pitchFamily="34" charset="-120"/>
                        </a:rPr>
                        <a:t>when it misleads</a:t>
                      </a:r>
                      <a:endParaRPr lang="en-US" sz="880" dirty="0">
                        <a:latin typeface="Calibri" charset="0"/>
                        <a:ea typeface="Calibri" charset="0"/>
                        <a:cs typeface="Calibri" charset="0"/>
                      </a:endParaRPr>
                    </a:p>
                  </a:txBody>
                  <a:tcPr marL="45720" marR="45720" marT="45720" marB="45720" anchor="ctr">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1E2761"/>
                    </a:solidFill>
                  </a:tcPr>
                </a:tc>
                <a:tc>
                  <a:txBody>
                    <a:bodyPr/>
                    <a:lstStyle/>
                    <a:p>
                      <a:pPr indent="0" marL="0">
                        <a:buNone/>
                      </a:pPr>
                      <a:r>
                        <a:rPr lang="en-US" sz="880" b="1" dirty="0">
                          <a:solidFill>
                            <a:srgbClr val="FFFFFF"/>
                          </a:solidFill>
                          <a:latin typeface="Calibri" pitchFamily="34" charset="0"/>
                          <a:ea typeface="Calibri" pitchFamily="34" charset="-122"/>
                          <a:cs typeface="Calibri" pitchFamily="34" charset="-120"/>
                        </a:rPr>
                        <a:t>read it as</a:t>
                      </a:r>
                      <a:endParaRPr lang="en-US" sz="880" dirty="0">
                        <a:latin typeface="Calibri" charset="0"/>
                        <a:ea typeface="Calibri" charset="0"/>
                        <a:cs typeface="Calibri" charset="0"/>
                      </a:endParaRPr>
                    </a:p>
                  </a:txBody>
                  <a:tcPr marL="45720" marR="45720" marT="45720" marB="45720" anchor="ctr">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1E2761"/>
                    </a:solidFill>
                  </a:tcPr>
                </a:tc>
              </a:tr>
              <a:tr h="0">
                <a:tc>
                  <a:txBody>
                    <a:bodyPr/>
                    <a:lstStyle/>
                    <a:p>
                      <a:pPr indent="0" marL="0">
                        <a:buNone/>
                      </a:pPr>
                      <a:r>
                        <a:rPr lang="en-US" sz="880" dirty="0">
                          <a:solidFill>
                            <a:srgbClr val="1F2937"/>
                          </a:solidFill>
                          <a:latin typeface="Calibri" pitchFamily="34" charset="0"/>
                          <a:ea typeface="Calibri" pitchFamily="34" charset="-122"/>
                          <a:cs typeface="Calibri" pitchFamily="34" charset="-120"/>
                        </a:rPr>
                        <a:t>cosine similarity</a:t>
                      </a:r>
                      <a:endParaRPr lang="en-US" sz="88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880" dirty="0">
                          <a:solidFill>
                            <a:srgbClr val="1F2937"/>
                          </a:solidFill>
                          <a:latin typeface="Calibri" pitchFamily="34" charset="0"/>
                          <a:ea typeface="Calibri" pitchFamily="34" charset="-122"/>
                          <a:cs typeface="Calibri" pitchFamily="34" charset="-120"/>
                        </a:rPr>
                        <a:t>do two vectors point the same way? (cat photo vs its caption)</a:t>
                      </a:r>
                      <a:endParaRPr lang="en-US" sz="88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880" dirty="0">
                          <a:solidFill>
                            <a:srgbClr val="1F2937"/>
                          </a:solidFill>
                          <a:latin typeface="Calibri" pitchFamily="34" charset="0"/>
                          <a:ea typeface="Calibri" pitchFamily="34" charset="-122"/>
                          <a:cs typeface="Calibri" pitchFamily="34" charset="-120"/>
                        </a:rPr>
                        <a:t>in a collapsed space every pair reads +0.999</a:t>
                      </a:r>
                      <a:endParaRPr lang="en-US" sz="88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880" dirty="0">
                          <a:solidFill>
                            <a:srgbClr val="1F2937"/>
                          </a:solidFill>
                          <a:latin typeface="Calibri" pitchFamily="34" charset="0"/>
                          <a:ea typeface="Calibri" pitchFamily="34" charset="-122"/>
                          <a:cs typeface="Calibri" pitchFamily="34" charset="-120"/>
                        </a:rPr>
                        <a:t>check the space's mean pair-cosine first</a:t>
                      </a:r>
                      <a:endParaRPr lang="en-US" sz="88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r>
              <a:tr h="0">
                <a:tc>
                  <a:txBody>
                    <a:bodyPr/>
                    <a:lstStyle/>
                    <a:p>
                      <a:pPr indent="0" marL="0">
                        <a:buNone/>
                      </a:pPr>
                      <a:r>
                        <a:rPr lang="en-US" sz="880" dirty="0">
                          <a:solidFill>
                            <a:srgbClr val="1F2937"/>
                          </a:solidFill>
                          <a:latin typeface="Calibri" pitchFamily="34" charset="0"/>
                          <a:ea typeface="Calibri" pitchFamily="34" charset="-122"/>
                          <a:cs typeface="Calibri" pitchFamily="34" charset="-120"/>
                        </a:rPr>
                        <a:t>distance (dist)</a:t>
                      </a:r>
                      <a:endParaRPr lang="en-US" sz="88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880" dirty="0">
                          <a:solidFill>
                            <a:srgbClr val="1F2937"/>
                          </a:solidFill>
                          <a:latin typeface="Calibri" pitchFamily="34" charset="0"/>
                          <a:ea typeface="Calibri" pitchFamily="34" charset="-122"/>
                          <a:cs typeface="Calibri" pitchFamily="34" charset="-120"/>
                        </a:rPr>
                        <a:t>how far apart are two items in ONE space? (cat-chair to cat-sofa)</a:t>
                      </a:r>
                      <a:endParaRPr lang="en-US" sz="88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880" dirty="0">
                          <a:solidFill>
                            <a:srgbClr val="1F2937"/>
                          </a:solidFill>
                          <a:latin typeface="Calibri" pitchFamily="34" charset="0"/>
                          <a:ea typeface="Calibri" pitchFamily="34" charset="-122"/>
                          <a:cs typeface="Calibri" pitchFamily="34" charset="-120"/>
                        </a:rPr>
                        <a:t>scale differs between spaces — compare RANKS, not raw values</a:t>
                      </a:r>
                      <a:endParaRPr lang="en-US" sz="88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880" dirty="0">
                          <a:solidFill>
                            <a:srgbClr val="1F2937"/>
                          </a:solidFill>
                          <a:latin typeface="Calibri" pitchFamily="34" charset="0"/>
                          <a:ea typeface="Calibri" pitchFamily="34" charset="-122"/>
                          <a:cs typeface="Calibri" pitchFamily="34" charset="-120"/>
                        </a:rPr>
                        <a:t>small = near; the raw material for ρ and k-NN</a:t>
                      </a:r>
                      <a:endParaRPr lang="en-US" sz="88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r>
              <a:tr h="0">
                <a:tc>
                  <a:txBody>
                    <a:bodyPr/>
                    <a:lstStyle/>
                    <a:p>
                      <a:pPr indent="0" marL="0">
                        <a:buNone/>
                      </a:pPr>
                      <a:r>
                        <a:rPr lang="en-US" sz="880" dirty="0">
                          <a:solidFill>
                            <a:srgbClr val="1F2937"/>
                          </a:solidFill>
                          <a:latin typeface="Calibri" pitchFamily="34" charset="0"/>
                          <a:ea typeface="Calibri" pitchFamily="34" charset="-122"/>
                          <a:cs typeface="Calibri" pitchFamily="34" charset="-120"/>
                        </a:rPr>
                        <a:t>R² (held-out)</a:t>
                      </a:r>
                      <a:endParaRPr lang="en-US" sz="88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880" dirty="0">
                          <a:solidFill>
                            <a:srgbClr val="1F2937"/>
                          </a:solidFill>
                          <a:latin typeface="Calibri" pitchFamily="34" charset="0"/>
                          <a:ea typeface="Calibri" pitchFamily="34" charset="-122"/>
                          <a:cs typeface="Calibri" pitchFamily="34" charset="-120"/>
                        </a:rPr>
                        <a:t>do the predicted numbers match the caption vector's? (reconstruction)</a:t>
                      </a:r>
                      <a:endParaRPr lang="en-US" sz="88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880" dirty="0">
                          <a:solidFill>
                            <a:srgbClr val="1F2937"/>
                          </a:solidFill>
                          <a:latin typeface="Calibri" pitchFamily="34" charset="0"/>
                          <a:ea typeface="Calibri" pitchFamily="34" charset="-122"/>
                          <a:cs typeface="Calibri" pitchFamily="34" charset="-120"/>
                        </a:rPr>
                        <a:t>tiny target variance → hugely negative even when retrieval is fine</a:t>
                      </a:r>
                      <a:endParaRPr lang="en-US" sz="88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880" dirty="0">
                          <a:solidFill>
                            <a:srgbClr val="1F2937"/>
                          </a:solidFill>
                          <a:latin typeface="Calibri" pitchFamily="34" charset="0"/>
                          <a:ea typeface="Calibri" pitchFamily="34" charset="-122"/>
                          <a:cs typeface="Calibri" pitchFamily="34" charset="-120"/>
                        </a:rPr>
                        <a:t>reconstruction quality WITH magnitude</a:t>
                      </a:r>
                      <a:endParaRPr lang="en-US" sz="88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r>
              <a:tr h="0">
                <a:tc>
                  <a:txBody>
                    <a:bodyPr/>
                    <a:lstStyle/>
                    <a:p>
                      <a:pPr indent="0" marL="0">
                        <a:buNone/>
                      </a:pPr>
                      <a:r>
                        <a:rPr lang="en-US" sz="880" dirty="0">
                          <a:solidFill>
                            <a:srgbClr val="1F2937"/>
                          </a:solidFill>
                          <a:latin typeface="Calibri" pitchFamily="34" charset="0"/>
                          <a:ea typeface="Calibri" pitchFamily="34" charset="-122"/>
                          <a:cs typeface="Calibri" pitchFamily="34" charset="-120"/>
                        </a:rPr>
                        <a:t>R@1 / R@5</a:t>
                      </a:r>
                      <a:endParaRPr lang="en-US" sz="88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880" dirty="0">
                          <a:solidFill>
                            <a:srgbClr val="1F2937"/>
                          </a:solidFill>
                          <a:latin typeface="Calibri" pitchFamily="34" charset="0"/>
                          <a:ea typeface="Calibri" pitchFamily="34" charset="-122"/>
                          <a:cs typeface="Calibri" pitchFamily="34" charset="-120"/>
                        </a:rPr>
                        <a:t>does the right cat rank first / in the top 5 of N=1,000?</a:t>
                      </a:r>
                      <a:endParaRPr lang="en-US" sz="88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880" dirty="0">
                          <a:solidFill>
                            <a:srgbClr val="1F2937"/>
                          </a:solidFill>
                          <a:latin typeface="Calibri" pitchFamily="34" charset="0"/>
                          <a:ea typeface="Calibri" pitchFamily="34" charset="-122"/>
                          <a:cs typeface="Calibri" pitchFamily="34" charset="-120"/>
                        </a:rPr>
                        <a:t>meaningless without N — always quote chance 1/N</a:t>
                      </a:r>
                      <a:endParaRPr lang="en-US" sz="88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880" dirty="0">
                          <a:solidFill>
                            <a:srgbClr val="1F2937"/>
                          </a:solidFill>
                          <a:latin typeface="Calibri" pitchFamily="34" charset="0"/>
                          <a:ea typeface="Calibri" pitchFamily="34" charset="-122"/>
                          <a:cs typeface="Calibri" pitchFamily="34" charset="-120"/>
                        </a:rPr>
                        <a:t>the deployed question; chance 0.001</a:t>
                      </a:r>
                      <a:endParaRPr lang="en-US" sz="88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r>
              <a:tr h="0">
                <a:tc>
                  <a:txBody>
                    <a:bodyPr/>
                    <a:lstStyle/>
                    <a:p>
                      <a:pPr indent="0" marL="0">
                        <a:buNone/>
                      </a:pPr>
                      <a:r>
                        <a:rPr lang="en-US" sz="880" dirty="0">
                          <a:solidFill>
                            <a:srgbClr val="1F2937"/>
                          </a:solidFill>
                          <a:latin typeface="Calibri" pitchFamily="34" charset="0"/>
                          <a:ea typeface="Calibri" pitchFamily="34" charset="-122"/>
                          <a:cs typeface="Calibri" pitchFamily="34" charset="-120"/>
                        </a:rPr>
                        <a:t>% of ceiling</a:t>
                      </a:r>
                      <a:endParaRPr lang="en-US" sz="88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880" dirty="0">
                          <a:solidFill>
                            <a:srgbClr val="1F2937"/>
                          </a:solidFill>
                          <a:latin typeface="Calibri" pitchFamily="34" charset="0"/>
                          <a:ea typeface="Calibri" pitchFamily="34" charset="-122"/>
                          <a:cs typeface="Calibri" pitchFamily="34" charset="-120"/>
                        </a:rPr>
                        <a:t>how much of a jointly-trained system survives?</a:t>
                      </a:r>
                      <a:endParaRPr lang="en-US" sz="88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880" dirty="0">
                          <a:solidFill>
                            <a:srgbClr val="1F2937"/>
                          </a:solidFill>
                          <a:latin typeface="Calibri" pitchFamily="34" charset="0"/>
                          <a:ea typeface="Calibri" pitchFamily="34" charset="-122"/>
                          <a:cs typeface="Calibri" pitchFamily="34" charset="-120"/>
                        </a:rPr>
                        <a:t>if the ceiling used a different protocol (55.2% → 40.9%)</a:t>
                      </a:r>
                      <a:endParaRPr lang="en-US" sz="88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880" dirty="0">
                          <a:solidFill>
                            <a:srgbClr val="1F2937"/>
                          </a:solidFill>
                          <a:latin typeface="Calibri" pitchFamily="34" charset="0"/>
                          <a:ea typeface="Calibri" pitchFamily="34" charset="-122"/>
                          <a:cs typeface="Calibri" pitchFamily="34" charset="-120"/>
                        </a:rPr>
                        <a:t>the honest cross-experiment yardstick</a:t>
                      </a:r>
                      <a:endParaRPr lang="en-US" sz="88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r>
              <a:tr h="0">
                <a:tc>
                  <a:txBody>
                    <a:bodyPr/>
                    <a:lstStyle/>
                    <a:p>
                      <a:pPr indent="0" marL="0">
                        <a:buNone/>
                      </a:pPr>
                      <a:r>
                        <a:rPr lang="en-US" sz="880" dirty="0">
                          <a:solidFill>
                            <a:srgbClr val="1F2937"/>
                          </a:solidFill>
                          <a:latin typeface="Calibri" pitchFamily="34" charset="0"/>
                          <a:ea typeface="Calibri" pitchFamily="34" charset="-122"/>
                          <a:cs typeface="Calibri" pitchFamily="34" charset="-120"/>
                        </a:rPr>
                        <a:t>k-NN overlap</a:t>
                      </a:r>
                      <a:endParaRPr lang="en-US" sz="88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880" dirty="0">
                          <a:solidFill>
                            <a:srgbClr val="1F2937"/>
                          </a:solidFill>
                          <a:latin typeface="Calibri" pitchFamily="34" charset="0"/>
                          <a:ea typeface="Calibri" pitchFamily="34" charset="-122"/>
                          <a:cs typeface="Calibri" pitchFamily="34" charset="-120"/>
                        </a:rPr>
                        <a:t>are my 10 nearest cats your 10 nearest cats?</a:t>
                      </a:r>
                      <a:endParaRPr lang="en-US" sz="88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880" dirty="0">
                          <a:solidFill>
                            <a:srgbClr val="1F2937"/>
                          </a:solidFill>
                          <a:latin typeface="Calibri" pitchFamily="34" charset="0"/>
                          <a:ea typeface="Calibri" pitchFamily="34" charset="-122"/>
                          <a:cs typeface="Calibri" pitchFamily="34" charset="-120"/>
                        </a:rPr>
                        <a:t>raw fraction rises with k because chance does</a:t>
                      </a:r>
                      <a:endParaRPr lang="en-US" sz="88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880" dirty="0">
                          <a:solidFill>
                            <a:srgbClr val="1F2937"/>
                          </a:solidFill>
                          <a:latin typeface="Calibri" pitchFamily="34" charset="0"/>
                          <a:ea typeface="Calibri" pitchFamily="34" charset="-122"/>
                          <a:cs typeface="Calibri" pitchFamily="34" charset="-120"/>
                        </a:rPr>
                        <a:t>the RATIO to chance k/N</a:t>
                      </a:r>
                      <a:endParaRPr lang="en-US" sz="88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r>
              <a:tr h="0">
                <a:tc>
                  <a:txBody>
                    <a:bodyPr/>
                    <a:lstStyle/>
                    <a:p>
                      <a:pPr indent="0" marL="0">
                        <a:buNone/>
                      </a:pPr>
                      <a:r>
                        <a:rPr lang="en-US" sz="880" dirty="0">
                          <a:solidFill>
                            <a:srgbClr val="1F2937"/>
                          </a:solidFill>
                          <a:latin typeface="Calibri" pitchFamily="34" charset="0"/>
                          <a:ea typeface="Calibri" pitchFamily="34" charset="-122"/>
                          <a:cs typeface="Calibri" pitchFamily="34" charset="-120"/>
                        </a:rPr>
                        <a:t>Spearman ρ</a:t>
                      </a:r>
                      <a:endParaRPr lang="en-US" sz="88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880" dirty="0">
                          <a:solidFill>
                            <a:srgbClr val="1F2937"/>
                          </a:solidFill>
                          <a:latin typeface="Calibri" pitchFamily="34" charset="0"/>
                          <a:ea typeface="Calibri" pitchFamily="34" charset="-122"/>
                          <a:cs typeface="Calibri" pitchFamily="34" charset="-120"/>
                        </a:rPr>
                        <a:t>is near still near, far still far? (order of distances)</a:t>
                      </a:r>
                      <a:endParaRPr lang="en-US" sz="88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880" dirty="0">
                          <a:solidFill>
                            <a:srgbClr val="1F2937"/>
                          </a:solidFill>
                          <a:latin typeface="Calibri" pitchFamily="34" charset="0"/>
                          <a:ea typeface="Calibri" pitchFamily="34" charset="-122"/>
                          <a:cs typeface="Calibri" pitchFamily="34" charset="-120"/>
                        </a:rPr>
                        <a:t>—</a:t>
                      </a:r>
                      <a:endParaRPr lang="en-US" sz="88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880" dirty="0">
                          <a:solidFill>
                            <a:srgbClr val="1F2937"/>
                          </a:solidFill>
                          <a:latin typeface="Calibri" pitchFamily="34" charset="0"/>
                          <a:ea typeface="Calibri" pitchFamily="34" charset="-122"/>
                          <a:cs typeface="Calibri" pitchFamily="34" charset="-120"/>
                        </a:rPr>
                        <a:t>shape agreement, no map, rotation-invariant</a:t>
                      </a:r>
                      <a:endParaRPr lang="en-US" sz="88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r>
              <a:tr h="0">
                <a:tc>
                  <a:txBody>
                    <a:bodyPr/>
                    <a:lstStyle/>
                    <a:p>
                      <a:pPr indent="0" marL="0">
                        <a:buNone/>
                      </a:pPr>
                      <a:r>
                        <a:rPr lang="en-US" sz="880" dirty="0">
                          <a:solidFill>
                            <a:srgbClr val="1F2937"/>
                          </a:solidFill>
                          <a:latin typeface="Calibri" pitchFamily="34" charset="0"/>
                          <a:ea typeface="Calibri" pitchFamily="34" charset="-122"/>
                          <a:cs typeface="Calibri" pitchFamily="34" charset="-120"/>
                        </a:rPr>
                        <a:t>verification AUC</a:t>
                      </a:r>
                      <a:endParaRPr lang="en-US" sz="88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880" dirty="0">
                          <a:solidFill>
                            <a:srgbClr val="1F2937"/>
                          </a:solidFill>
                          <a:latin typeface="Calibri" pitchFamily="34" charset="0"/>
                          <a:ea typeface="Calibri" pitchFamily="34" charset="-122"/>
                          <a:cs typeface="Calibri" pitchFamily="34" charset="-120"/>
                        </a:rPr>
                        <a:t>same cat, or a random impostor?</a:t>
                      </a:r>
                      <a:endParaRPr lang="en-US" sz="88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880" dirty="0">
                          <a:solidFill>
                            <a:srgbClr val="1F2937"/>
                          </a:solidFill>
                          <a:latin typeface="Calibri" pitchFamily="34" charset="0"/>
                          <a:ea typeface="Calibri" pitchFamily="34" charset="-122"/>
                          <a:cs typeface="Calibri" pitchFamily="34" charset="-120"/>
                        </a:rPr>
                        <a:t>negatives are easy → scores sit near 1</a:t>
                      </a:r>
                      <a:endParaRPr lang="en-US" sz="88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880" dirty="0">
                          <a:solidFill>
                            <a:srgbClr val="1F2937"/>
                          </a:solidFill>
                          <a:latin typeface="Calibri" pitchFamily="34" charset="0"/>
                          <a:ea typeface="Calibri" pitchFamily="34" charset="-122"/>
                          <a:cs typeface="Calibri" pitchFamily="34" charset="-120"/>
                        </a:rPr>
                        <a:t>0.999 means the question was easy</a:t>
                      </a:r>
                      <a:endParaRPr lang="en-US" sz="88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r>
              <a:tr h="0">
                <a:tc>
                  <a:txBody>
                    <a:bodyPr/>
                    <a:lstStyle/>
                    <a:p>
                      <a:pPr indent="0" marL="0">
                        <a:buNone/>
                      </a:pPr>
                      <a:r>
                        <a:rPr lang="en-US" sz="880" dirty="0">
                          <a:solidFill>
                            <a:srgbClr val="1F2937"/>
                          </a:solidFill>
                          <a:latin typeface="Calibri" pitchFamily="34" charset="0"/>
                          <a:ea typeface="Calibri" pitchFamily="34" charset="-122"/>
                          <a:cs typeface="Calibri" pitchFamily="34" charset="-120"/>
                        </a:rPr>
                        <a:t>effective rank</a:t>
                      </a:r>
                      <a:endParaRPr lang="en-US" sz="88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880" dirty="0">
                          <a:solidFill>
                            <a:srgbClr val="1F2937"/>
                          </a:solidFill>
                          <a:latin typeface="Calibri" pitchFamily="34" charset="0"/>
                          <a:ea typeface="Calibri" pitchFamily="34" charset="-122"/>
                          <a:cs typeface="Calibri" pitchFamily="34" charset="-120"/>
                        </a:rPr>
                        <a:t>how many directions carry information?</a:t>
                      </a:r>
                      <a:endParaRPr lang="en-US" sz="88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880" dirty="0">
                          <a:solidFill>
                            <a:srgbClr val="1F2937"/>
                          </a:solidFill>
                          <a:latin typeface="Calibri" pitchFamily="34" charset="0"/>
                          <a:ea typeface="Calibri" pitchFamily="34" charset="-122"/>
                          <a:cs typeface="Calibri" pitchFamily="34" charset="-120"/>
                        </a:rPr>
                        <a:t>—</a:t>
                      </a:r>
                      <a:endParaRPr lang="en-US" sz="88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880" dirty="0">
                          <a:solidFill>
                            <a:srgbClr val="1F2937"/>
                          </a:solidFill>
                          <a:latin typeface="Calibri" pitchFamily="34" charset="0"/>
                          <a:ea typeface="Calibri" pitchFamily="34" charset="-122"/>
                          <a:cs typeface="Calibri" pitchFamily="34" charset="-120"/>
                        </a:rPr>
                        <a:t>&lt; ~10% of width = collapsed</a:t>
                      </a:r>
                      <a:endParaRPr lang="en-US" sz="88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r>
            </a:tbl>
          </a:graphicData>
        </a:graphic>
      </p:graphicFrame>
      <p:sp>
        <p:nvSpPr>
          <p:cNvPr id="6" name="Shape 3"/>
          <p:cNvSpPr/>
          <p:nvPr/>
        </p:nvSpPr>
        <p:spPr>
          <a:xfrm>
            <a:off x="7772400" y="1463040"/>
            <a:ext cx="3840480" cy="4114800"/>
          </a:xfrm>
          <a:prstGeom prst="roundRect">
            <a:avLst>
              <a:gd name="adj" fmla="val 1429"/>
            </a:avLst>
          </a:prstGeom>
          <a:solidFill>
            <a:srgbClr val="F5F7FB"/>
          </a:solidFill>
          <a:ln w="12700">
            <a:solidFill>
              <a:srgbClr val="D6DCE8"/>
            </a:solidFill>
            <a:prstDash val="solid"/>
          </a:ln>
        </p:spPr>
      </p:sp>
      <p:sp>
        <p:nvSpPr>
          <p:cNvPr id="7" name="Text 4"/>
          <p:cNvSpPr txBox="1"/>
          <p:nvPr/>
        </p:nvSpPr>
        <p:spPr>
          <a:xfrm>
            <a:off x="7909560" y="1536192"/>
            <a:ext cx="3566160" cy="274320"/>
          </a:xfrm>
          <a:prstGeom prst="rect">
            <a:avLst/>
          </a:prstGeom>
          <a:noFill/>
          <a:ln/>
        </p:spPr>
        <p:txBody>
          <a:bodyPr wrap="square" lIns="0" tIns="0" rIns="0" bIns="0" rtlCol="0" anchor="ctr"/>
          <a:lstStyle/>
          <a:p>
            <a:pPr indent="0" marL="0">
              <a:buNone/>
            </a:pPr>
            <a:r>
              <a:rPr lang="en-US" sz="1000" b="1" dirty="0">
                <a:solidFill>
                  <a:srgbClr val="C8551A"/>
                </a:solidFill>
                <a:latin typeface="Calibri" pitchFamily="34" charset="0"/>
                <a:ea typeface="Calibri" pitchFamily="34" charset="-122"/>
                <a:cs typeface="Calibri" pitchFamily="34" charset="-120"/>
              </a:rPr>
              <a:t>the short math</a:t>
            </a:r>
            <a:endParaRPr lang="en-US" sz="1000" dirty="0"/>
          </a:p>
        </p:txBody>
      </p:sp>
      <p:sp>
        <p:nvSpPr>
          <p:cNvPr id="8" name="Text 5"/>
          <p:cNvSpPr txBox="1"/>
          <p:nvPr/>
        </p:nvSpPr>
        <p:spPr>
          <a:xfrm>
            <a:off x="7909560" y="1810512"/>
            <a:ext cx="3566160" cy="3703320"/>
          </a:xfrm>
          <a:prstGeom prst="rect">
            <a:avLst/>
          </a:prstGeom>
          <a:noFill/>
          <a:ln/>
        </p:spPr>
        <p:txBody>
          <a:bodyPr wrap="square" lIns="0" tIns="0" rIns="0" bIns="0" rtlCol="0" anchor="t"/>
          <a:lstStyle/>
          <a:p>
            <a:pPr indent="0" marL="0">
              <a:buNone/>
            </a:pPr>
            <a:r>
              <a:rPr lang="en-US" sz="1000" dirty="0">
                <a:solidFill>
                  <a:srgbClr val="1F2937"/>
                </a:solidFill>
                <a:latin typeface="Courier New" pitchFamily="34" charset="0"/>
                <a:ea typeface="Courier New" pitchFamily="34" charset="-122"/>
                <a:cs typeface="Courier New" pitchFamily="34" charset="-120"/>
              </a:rPr>
              <a:t>cos(u,t) = (u.t)/(|u||t|)</a:t>
            </a:r>
            <a:endParaRPr lang="en-US" sz="1000" dirty="0"/>
          </a:p>
          <a:p>
            <a:pPr indent="0" marL="0">
              <a:buNone/>
            </a:pPr>
            <a:r>
              <a:rPr lang="en-US" sz="1000" dirty="0">
                <a:solidFill>
                  <a:srgbClr val="1F2937"/>
                </a:solidFill>
                <a:latin typeface="Courier New" pitchFamily="34" charset="0"/>
                <a:ea typeface="Courier New" pitchFamily="34" charset="-122"/>
                <a:cs typeface="Courier New" pitchFamily="34" charset="-120"/>
              </a:rPr>
              <a:t>dist(i,j) = 1 - cos(i,j)   (in one space)</a:t>
            </a:r>
            <a:endParaRPr lang="en-US" sz="1000" dirty="0"/>
          </a:p>
          <a:p>
            <a:pPr indent="0" marL="0">
              <a:buNone/>
            </a:pPr>
            <a:r>
              <a:rPr lang="en-US" sz="1000" dirty="0">
                <a:solidFill>
                  <a:srgbClr val="1F2937"/>
                </a:solidFill>
                <a:latin typeface="Courier New" pitchFamily="34" charset="0"/>
                <a:ea typeface="Courier New" pitchFamily="34" charset="-122"/>
                <a:cs typeface="Courier New" pitchFamily="34" charset="-120"/>
              </a:rPr>
              <a:t>R@K = P(true item in top-K of N)</a:t>
            </a:r>
            <a:endParaRPr lang="en-US" sz="1000" dirty="0"/>
          </a:p>
          <a:p>
            <a:pPr indent="0" marL="0">
              <a:buNone/>
            </a:pPr>
            <a:r>
              <a:rPr lang="en-US" sz="1000" dirty="0">
                <a:solidFill>
                  <a:srgbClr val="1F2937"/>
                </a:solidFill>
                <a:latin typeface="Courier New" pitchFamily="34" charset="0"/>
                <a:ea typeface="Courier New" pitchFamily="34" charset="-122"/>
                <a:cs typeface="Courier New" pitchFamily="34" charset="-120"/>
              </a:rPr>
              <a:t>kNN overlap = |NN_k^A(i) &amp; NN_k^B(i)| / k</a:t>
            </a:r>
            <a:endParaRPr lang="en-US" sz="1000" dirty="0"/>
          </a:p>
          <a:p>
            <a:pPr indent="0" marL="0">
              <a:buNone/>
            </a:pPr>
            <a:r>
              <a:rPr lang="en-US" sz="1000" dirty="0">
                <a:solidFill>
                  <a:srgbClr val="1F2937"/>
                </a:solidFill>
                <a:latin typeface="Courier New" pitchFamily="34" charset="0"/>
                <a:ea typeface="Courier New" pitchFamily="34" charset="-122"/>
                <a:cs typeface="Courier New" pitchFamily="34" charset="-120"/>
              </a:rPr>
              <a:t>  chance = k/N ; report overlap / (k/N)</a:t>
            </a:r>
            <a:endParaRPr lang="en-US" sz="1000" dirty="0"/>
          </a:p>
          <a:p>
            <a:pPr indent="0" marL="0">
              <a:buNone/>
            </a:pPr>
            <a:r>
              <a:rPr lang="en-US" sz="1000" dirty="0">
                <a:solidFill>
                  <a:srgbClr val="1F2937"/>
                </a:solidFill>
                <a:latin typeface="Courier New" pitchFamily="34" charset="0"/>
                <a:ea typeface="Courier New" pitchFamily="34" charset="-122"/>
                <a:cs typeface="Courier New" pitchFamily="34" charset="-120"/>
              </a:rPr>
              <a:t>rho = Spearman over all pairwise dists</a:t>
            </a:r>
            <a:endParaRPr lang="en-US" sz="1000" dirty="0"/>
          </a:p>
          <a:p>
            <a:pPr indent="0" marL="0">
              <a:buNone/>
            </a:pPr>
            <a:r>
              <a:rPr lang="en-US" sz="1000" dirty="0">
                <a:solidFill>
                  <a:srgbClr val="1F2937"/>
                </a:solidFill>
                <a:latin typeface="Courier New" pitchFamily="34" charset="0"/>
                <a:ea typeface="Courier New" pitchFamily="34" charset="-122"/>
                <a:cs typeface="Courier New" pitchFamily="34" charset="-120"/>
              </a:rPr>
              <a:t>AUC = P(score(same) &gt; score(impostor))</a:t>
            </a:r>
            <a:endParaRPr lang="en-US" sz="1000" dirty="0"/>
          </a:p>
          <a:p>
            <a:pPr indent="0" marL="0">
              <a:buNone/>
            </a:pPr>
            <a:endParaRPr lang="en-US" sz="1000" dirty="0"/>
          </a:p>
          <a:p>
            <a:pPr indent="0" marL="0">
              <a:buNone/>
            </a:pPr>
            <a:r>
              <a:rPr lang="en-US" sz="1000" dirty="0">
                <a:solidFill>
                  <a:srgbClr val="1F2937"/>
                </a:solidFill>
                <a:latin typeface="Courier New" pitchFamily="34" charset="0"/>
                <a:ea typeface="Courier New" pitchFamily="34" charset="-122"/>
                <a:cs typeface="Courier New" pitchFamily="34" charset="-120"/>
              </a:rPr>
              <a:t>worked cat row (toy 3 -&gt; 2):</a:t>
            </a:r>
            <a:endParaRPr lang="en-US" sz="1000" dirty="0"/>
          </a:p>
          <a:p>
            <a:pPr indent="0" marL="0">
              <a:buNone/>
            </a:pPr>
            <a:r>
              <a:rPr lang="en-US" sz="1000" dirty="0">
                <a:solidFill>
                  <a:srgbClr val="1F2937"/>
                </a:solidFill>
                <a:latin typeface="Courier New" pitchFamily="34" charset="0"/>
                <a:ea typeface="Courier New" pitchFamily="34" charset="-122"/>
                <a:cs typeface="Courier New" pitchFamily="34" charset="-120"/>
              </a:rPr>
              <a:t>a=[0.9,0.1,0.4]; W fitted on 7,000 rows</a:t>
            </a:r>
            <a:endParaRPr lang="en-US" sz="1000" dirty="0"/>
          </a:p>
          <a:p>
            <a:pPr indent="0" marL="0">
              <a:buNone/>
            </a:pPr>
            <a:r>
              <a:rPr lang="en-US" sz="1000" dirty="0">
                <a:solidFill>
                  <a:srgbClr val="1F2937"/>
                </a:solidFill>
                <a:latin typeface="Courier New" pitchFamily="34" charset="0"/>
                <a:ea typeface="Courier New" pitchFamily="34" charset="-122"/>
                <a:cs typeface="Courier New" pitchFamily="34" charset="-120"/>
              </a:rPr>
              <a:t>u = a.W = [0.61,0.88]; t=[0.60,0.80]</a:t>
            </a:r>
            <a:endParaRPr lang="en-US" sz="1000" dirty="0"/>
          </a:p>
          <a:p>
            <a:pPr indent="0" marL="0">
              <a:buNone/>
            </a:pPr>
            <a:r>
              <a:rPr lang="en-US" sz="1000" dirty="0">
                <a:solidFill>
                  <a:srgbClr val="1F2937"/>
                </a:solidFill>
                <a:latin typeface="Courier New" pitchFamily="34" charset="0"/>
                <a:ea typeface="Courier New" pitchFamily="34" charset="-122"/>
                <a:cs typeface="Courier New" pitchFamily="34" charset="-120"/>
              </a:rPr>
              <a:t>cos(u,t)=0.999 -&gt; the right row is found</a:t>
            </a:r>
            <a:endParaRPr lang="en-US" sz="1000" dirty="0"/>
          </a:p>
        </p:txBody>
      </p:sp>
      <p:sp>
        <p:nvSpPr>
          <p:cNvPr id="9" name="Text 6"/>
          <p:cNvSpPr txBox="1"/>
          <p:nvPr/>
        </p:nvSpPr>
        <p:spPr>
          <a:xfrm>
            <a:off x="548640" y="5715000"/>
            <a:ext cx="11064240" cy="365760"/>
          </a:xfrm>
          <a:prstGeom prst="rect">
            <a:avLst/>
          </a:prstGeom>
          <a:noFill/>
          <a:ln/>
        </p:spPr>
        <p:txBody>
          <a:bodyPr wrap="square" lIns="0" tIns="0" rIns="0" bIns="0" rtlCol="0" anchor="ctr"/>
          <a:lstStyle/>
          <a:p>
            <a:pPr indent="0" marL="0">
              <a:buNone/>
            </a:pPr>
            <a:r>
              <a:rPr lang="en-US" sz="950" i="1" dirty="0">
                <a:solidFill>
                  <a:srgbClr val="5B6472"/>
                </a:solidFill>
                <a:latin typeface="Calibri" pitchFamily="34" charset="0"/>
                <a:ea typeface="Calibri" pitchFamily="34" charset="-122"/>
                <a:cs typeface="Calibri" pitchFamily="34" charset="-120"/>
              </a:rPr>
              <a:t>Lesson: a metric is only interpretable relative to the geometry it is computed in — the same system read cosine 1.000 and retrieval 0.160 on the same data. Full reference: Similarity_Methods_Master_Table.pdf, Math_and_Terms.pdf.</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38560" y="6446520"/>
            <a:ext cx="54864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10</a:t>
            </a:r>
            <a:endParaRPr lang="en-US" sz="900" dirty="0"/>
          </a:p>
        </p:txBody>
      </p:sp>
      <p:sp>
        <p:nvSpPr>
          <p:cNvPr id="3" name="Text 1"/>
          <p:cNvSpPr txBox="1"/>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C8551A"/>
                </a:solidFill>
                <a:latin typeface="Calibri" pitchFamily="34" charset="0"/>
                <a:ea typeface="Calibri" pitchFamily="34" charset="-122"/>
                <a:cs typeface="Calibri" pitchFamily="34" charset="-120"/>
              </a:rPr>
              <a:t>THE FRAME BEHIND EVERY METRIC</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PCA and whitening on cats and dogs: the separation was there all along</a:t>
            </a:r>
            <a:endParaRPr lang="en-US" sz="2700" dirty="0"/>
          </a:p>
        </p:txBody>
      </p:sp>
      <p:pic>
        <p:nvPicPr>
          <p:cNvPr id="5" name="Image 0" descr="/home/claude/deck/img/pca-000.png">    </p:cNvPr>
          <p:cNvPicPr>
            <a:picLocks noChangeAspect="1"/>
          </p:cNvPicPr>
          <p:nvPr/>
        </p:nvPicPr>
        <p:blipFill>
          <a:blip r:embed="rId1"/>
          <a:srcRect l="0" r="0" t="0" b="0"/>
          <a:stretch/>
        </p:blipFill>
        <p:spPr>
          <a:xfrm>
            <a:off x="548640" y="1508760"/>
            <a:ext cx="4297680" cy="3749040"/>
          </a:xfrm>
          <a:prstGeom prst="rect">
            <a:avLst/>
          </a:prstGeom>
        </p:spPr>
      </p:pic>
      <p:pic>
        <p:nvPicPr>
          <p:cNvPr id="6" name="Image 1" descr="/home/claude/deck/img/pca_whitening.png">    </p:cNvPr>
          <p:cNvPicPr>
            <a:picLocks noChangeAspect="1"/>
          </p:cNvPicPr>
          <p:nvPr/>
        </p:nvPicPr>
        <p:blipFill>
          <a:blip r:embed="rId2"/>
          <a:srcRect l="0" r="0" t="0" b="0"/>
          <a:stretch/>
        </p:blipFill>
        <p:spPr>
          <a:xfrm>
            <a:off x="5029200" y="1508760"/>
            <a:ext cx="3566160" cy="3200400"/>
          </a:xfrm>
          <a:prstGeom prst="rect">
            <a:avLst/>
          </a:prstGeom>
        </p:spPr>
      </p:pic>
      <p:sp>
        <p:nvSpPr>
          <p:cNvPr id="7" name="Shape 3"/>
          <p:cNvSpPr/>
          <p:nvPr/>
        </p:nvSpPr>
        <p:spPr>
          <a:xfrm>
            <a:off x="8778240" y="1508760"/>
            <a:ext cx="2834640" cy="3200400"/>
          </a:xfrm>
          <a:prstGeom prst="roundRect">
            <a:avLst>
              <a:gd name="adj" fmla="val 1935"/>
            </a:avLst>
          </a:prstGeom>
          <a:solidFill>
            <a:srgbClr val="F5F7FB"/>
          </a:solidFill>
          <a:ln w="12700">
            <a:solidFill>
              <a:srgbClr val="D6DCE8"/>
            </a:solidFill>
            <a:prstDash val="solid"/>
          </a:ln>
        </p:spPr>
      </p:sp>
      <p:sp>
        <p:nvSpPr>
          <p:cNvPr id="8" name="Text 4"/>
          <p:cNvSpPr txBox="1"/>
          <p:nvPr/>
        </p:nvSpPr>
        <p:spPr>
          <a:xfrm>
            <a:off x="8915400" y="1581912"/>
            <a:ext cx="2560320" cy="274320"/>
          </a:xfrm>
          <a:prstGeom prst="rect">
            <a:avLst/>
          </a:prstGeom>
          <a:noFill/>
          <a:ln/>
        </p:spPr>
        <p:txBody>
          <a:bodyPr wrap="square" lIns="0" tIns="0" rIns="0" bIns="0" rtlCol="0" anchor="ctr"/>
          <a:lstStyle/>
          <a:p>
            <a:pPr indent="0" marL="0">
              <a:buNone/>
            </a:pPr>
            <a:r>
              <a:rPr lang="en-US" sz="1000" b="1" dirty="0">
                <a:solidFill>
                  <a:srgbClr val="C8551A"/>
                </a:solidFill>
                <a:latin typeface="Calibri" pitchFamily="34" charset="0"/>
                <a:ea typeface="Calibri" pitchFamily="34" charset="-122"/>
                <a:cs typeface="Calibri" pitchFamily="34" charset="-120"/>
              </a:rPr>
              <a:t>the short math</a:t>
            </a:r>
            <a:endParaRPr lang="en-US" sz="1000" dirty="0"/>
          </a:p>
        </p:txBody>
      </p:sp>
      <p:sp>
        <p:nvSpPr>
          <p:cNvPr id="9" name="Text 5"/>
          <p:cNvSpPr txBox="1"/>
          <p:nvPr/>
        </p:nvSpPr>
        <p:spPr>
          <a:xfrm>
            <a:off x="8915400" y="1856232"/>
            <a:ext cx="2560320" cy="2788920"/>
          </a:xfrm>
          <a:prstGeom prst="rect">
            <a:avLst/>
          </a:prstGeom>
          <a:noFill/>
          <a:ln/>
        </p:spPr>
        <p:txBody>
          <a:bodyPr wrap="square" lIns="0" tIns="0" rIns="0" bIns="0" rtlCol="0" anchor="t"/>
          <a:lstStyle/>
          <a:p>
            <a:pPr indent="0" marL="0">
              <a:buNone/>
            </a:pPr>
            <a:r>
              <a:rPr lang="en-US" sz="1000" dirty="0">
                <a:solidFill>
                  <a:srgbClr val="1F2937"/>
                </a:solidFill>
                <a:latin typeface="Courier New" pitchFamily="34" charset="0"/>
                <a:ea typeface="Courier New" pitchFamily="34" charset="-122"/>
                <a:cs typeface="Courier New" pitchFamily="34" charset="-120"/>
              </a:rPr>
              <a:t>center: Xc = X - mu</a:t>
            </a:r>
            <a:endParaRPr lang="en-US" sz="1000" dirty="0"/>
          </a:p>
          <a:p>
            <a:pPr indent="0" marL="0">
              <a:buNone/>
            </a:pPr>
            <a:r>
              <a:rPr lang="en-US" sz="1000" dirty="0">
                <a:solidFill>
                  <a:srgbClr val="1F2937"/>
                </a:solidFill>
                <a:latin typeface="Courier New" pitchFamily="34" charset="0"/>
                <a:ea typeface="Courier New" pitchFamily="34" charset="-122"/>
                <a:cs typeface="Courier New" pitchFamily="34" charset="-120"/>
              </a:rPr>
              <a:t>PCA:    Xc = U S V^T</a:t>
            </a:r>
            <a:endParaRPr lang="en-US" sz="1000" dirty="0"/>
          </a:p>
          <a:p>
            <a:pPr indent="0" marL="0">
              <a:buNone/>
            </a:pPr>
            <a:r>
              <a:rPr lang="en-US" sz="1000" dirty="0">
                <a:solidFill>
                  <a:srgbClr val="1F2937"/>
                </a:solidFill>
                <a:latin typeface="Courier New" pitchFamily="34" charset="0"/>
                <a:ea typeface="Courier New" pitchFamily="34" charset="-122"/>
                <a:cs typeface="Courier New" pitchFamily="34" charset="-120"/>
              </a:rPr>
              <a:t>  V = directions, S^2/(n-1) = variance</a:t>
            </a:r>
            <a:endParaRPr lang="en-US" sz="1000" dirty="0"/>
          </a:p>
          <a:p>
            <a:pPr indent="0" marL="0">
              <a:buNone/>
            </a:pPr>
            <a:r>
              <a:rPr lang="en-US" sz="1000" dirty="0">
                <a:solidFill>
                  <a:srgbClr val="1F2937"/>
                </a:solidFill>
                <a:latin typeface="Courier New" pitchFamily="34" charset="0"/>
                <a:ea typeface="Courier New" pitchFamily="34" charset="-122"/>
                <a:cs typeface="Courier New" pitchFamily="34" charset="-120"/>
              </a:rPr>
              <a:t>whiten: H = Xc V S^-1</a:t>
            </a:r>
            <a:endParaRPr lang="en-US" sz="1000" dirty="0"/>
          </a:p>
          <a:p>
            <a:pPr indent="0" marL="0">
              <a:buNone/>
            </a:pPr>
            <a:r>
              <a:rPr lang="en-US" sz="1000" dirty="0">
                <a:solidFill>
                  <a:srgbClr val="1F2937"/>
                </a:solidFill>
                <a:latin typeface="Courier New" pitchFamily="34" charset="0"/>
                <a:ea typeface="Courier New" pitchFamily="34" charset="-122"/>
                <a:cs typeface="Courier New" pitchFamily="34" charset="-120"/>
              </a:rPr>
              <a:t>  -&gt; every direction has variance 1</a:t>
            </a:r>
            <a:endParaRPr lang="en-US" sz="1000" dirty="0"/>
          </a:p>
          <a:p>
            <a:pPr indent="0" marL="0">
              <a:buNone/>
            </a:pPr>
            <a:endParaRPr lang="en-US" sz="1000" dirty="0"/>
          </a:p>
          <a:p>
            <a:pPr indent="0" marL="0">
              <a:buNone/>
            </a:pPr>
            <a:r>
              <a:rPr lang="en-US" sz="1000" dirty="0">
                <a:solidFill>
                  <a:srgbClr val="1F2937"/>
                </a:solidFill>
                <a:latin typeface="Courier New" pitchFamily="34" charset="0"/>
                <a:ea typeface="Courier New" pitchFamily="34" charset="-122"/>
                <a:cs typeface="Courier New" pitchFamily="34" charset="-120"/>
              </a:rPr>
              <a:t>cat/dog toy: PC1 holds 96.4% of variance</a:t>
            </a:r>
            <a:endParaRPr lang="en-US" sz="1000" dirty="0"/>
          </a:p>
          <a:p>
            <a:pPr indent="0" marL="0">
              <a:buNone/>
            </a:pPr>
            <a:r>
              <a:rPr lang="en-US" sz="1000" dirty="0">
                <a:solidFill>
                  <a:srgbClr val="1F2937"/>
                </a:solidFill>
                <a:latin typeface="Courier New" pitchFamily="34" charset="0"/>
                <a:ea typeface="Courier New" pitchFamily="34" charset="-122"/>
                <a:cs typeface="Courier New" pitchFamily="34" charset="-120"/>
              </a:rPr>
              <a:t>GPT-2 real: eff.rank 6.6 -&gt; 490.8;</a:t>
            </a:r>
            <a:endParaRPr lang="en-US" sz="1000" dirty="0"/>
          </a:p>
          <a:p>
            <a:pPr indent="0" marL="0">
              <a:buNone/>
            </a:pPr>
            <a:r>
              <a:rPr lang="en-US" sz="1000" dirty="0">
                <a:solidFill>
                  <a:srgbClr val="1F2937"/>
                </a:solidFill>
                <a:latin typeface="Courier New" pitchFamily="34" charset="0"/>
                <a:ea typeface="Courier New" pitchFamily="34" charset="-122"/>
                <a:cs typeface="Courier New" pitchFamily="34" charset="-120"/>
              </a:rPr>
              <a:t>  R@1 0.130 -&gt; 0.478 (102.6% of bge)</a:t>
            </a:r>
            <a:endParaRPr lang="en-US" sz="1000" dirty="0"/>
          </a:p>
        </p:txBody>
      </p:sp>
      <p:sp>
        <p:nvSpPr>
          <p:cNvPr id="10" name="Text 6"/>
          <p:cNvSpPr txBox="1"/>
          <p:nvPr/>
        </p:nvSpPr>
        <p:spPr>
          <a:xfrm>
            <a:off x="5029200" y="4846320"/>
            <a:ext cx="6583680" cy="1600200"/>
          </a:xfrm>
          <a:prstGeom prst="rect">
            <a:avLst/>
          </a:prstGeom>
          <a:noFill/>
          <a:ln/>
        </p:spPr>
        <p:txBody>
          <a:bodyPr wrap="square" lIns="0" tIns="0" rIns="0" bIns="0" rtlCol="0" anchor="t"/>
          <a:lstStyle/>
          <a:p>
            <a:pPr marL="177800" indent="-177800">
              <a:spcAft>
                <a:spcPts val="400"/>
              </a:spcAft>
              <a:buSzPct val="100000"/>
              <a:buChar char="•"/>
            </a:pPr>
            <a:r>
              <a:rPr lang="en-US" sz="1050" dirty="0">
                <a:solidFill>
                  <a:srgbClr val="1F2937"/>
                </a:solidFill>
                <a:latin typeface="Calibri" pitchFamily="34" charset="0"/>
                <a:ea typeface="Calibri" pitchFamily="34" charset="-122"/>
                <a:cs typeface="Calibri" pitchFamily="34" charset="-120"/>
              </a:rPr>
              <a:t>Experiment: PCA finds the loud direction; whitening divides each direction by its spread so the stretched cloud becomes round.</a:t>
            </a:r>
            <a:endParaRPr lang="en-US" sz="1050" dirty="0"/>
          </a:p>
          <a:p>
            <a:pPr marL="177800" indent="-177800">
              <a:spcAft>
                <a:spcPts val="400"/>
              </a:spcAft>
              <a:buSzPct val="100000"/>
              <a:buChar char="•"/>
            </a:pPr>
            <a:r>
              <a:rPr lang="en-US" sz="1050" dirty="0">
                <a:solidFill>
                  <a:srgbClr val="1F2937"/>
                </a:solidFill>
                <a:latin typeface="Calibri" pitchFamily="34" charset="0"/>
                <a:ea typeface="Calibri" pitchFamily="34" charset="-122"/>
                <a:cs typeface="Calibri" pitchFamily="34" charset="-120"/>
              </a:rPr>
              <a:t>Measurement: retrieval R@1 and mean pair-cosine, before vs after. In a stretched cloud the loud axis dominates every angle; whitening lets all directions count.</a:t>
            </a:r>
            <a:endParaRPr lang="en-US" sz="1050" dirty="0"/>
          </a:p>
          <a:p>
            <a:pPr marL="177800" indent="-177800">
              <a:spcAft>
                <a:spcPts val="400"/>
              </a:spcAft>
              <a:buSzPct val="100000"/>
              <a:buChar char="•"/>
            </a:pPr>
            <a:r>
              <a:rPr lang="en-US" sz="1050" dirty="0">
                <a:solidFill>
                  <a:srgbClr val="1F2937"/>
                </a:solidFill>
                <a:latin typeface="Calibri" pitchFamily="34" charset="0"/>
                <a:ea typeface="Calibri" pitchFamily="34" charset="-122"/>
                <a:cs typeface="Calibri" pitchFamily="34" charset="-120"/>
              </a:rPr>
              <a:t>Result: cats and dogs stay separate — whitening changes coordinates, never which items are distinct. This IS the GPT-2 rescue (C.11).</a:t>
            </a:r>
            <a:endParaRPr lang="en-US" sz="1050" dirty="0"/>
          </a:p>
          <a:p>
            <a:pPr marL="177800" indent="-177800">
              <a:spcAft>
                <a:spcPts val="400"/>
              </a:spcAft>
              <a:buSzPct val="100000"/>
              <a:buChar char="•"/>
            </a:pPr>
            <a:r>
              <a:rPr lang="en-US" sz="1050" dirty="0">
                <a:solidFill>
                  <a:srgbClr val="1F2937"/>
                </a:solidFill>
                <a:latin typeface="Calibri" pitchFamily="34" charset="0"/>
                <a:ea typeface="Calibri" pitchFamily="34" charset="-122"/>
                <a:cs typeface="Calibri" pitchFamily="34" charset="-120"/>
              </a:rPr>
              <a:t>Caveat, cuts both ways: uneven variance is NOISE when reading a known correspondence (retrieval ↑) and SIGNAL when finding an unknown one (Gromov–Wasserstein 39.7% → 0.1%, C.12).</a:t>
            </a:r>
            <a:endParaRPr lang="en-US" sz="1050" dirty="0"/>
          </a:p>
        </p:txBody>
      </p:sp>
      <p:sp>
        <p:nvSpPr>
          <p:cNvPr id="11" name="Text 7"/>
          <p:cNvSpPr txBox="1"/>
          <p:nvPr/>
        </p:nvSpPr>
        <p:spPr>
          <a:xfrm>
            <a:off x="548640" y="5349240"/>
            <a:ext cx="4297680" cy="365760"/>
          </a:xfrm>
          <a:prstGeom prst="rect">
            <a:avLst/>
          </a:prstGeom>
          <a:noFill/>
          <a:ln/>
        </p:spPr>
        <p:txBody>
          <a:bodyPr wrap="square" lIns="0" tIns="0" rIns="0" bIns="0" rtlCol="0" anchor="ctr"/>
          <a:lstStyle/>
          <a:p>
            <a:pPr indent="0" marL="0">
              <a:buNone/>
            </a:pPr>
            <a:r>
              <a:rPr lang="en-US" sz="950" i="1" dirty="0">
                <a:solidFill>
                  <a:srgbClr val="5B6472"/>
                </a:solidFill>
                <a:latin typeface="Calibri" pitchFamily="34" charset="0"/>
                <a:ea typeface="Calibri" pitchFamily="34" charset="-122"/>
                <a:cs typeface="Calibri" pitchFamily="34" charset="-120"/>
              </a:rPr>
              <a:t>Step-by-step: PCA_Cat_Dog_All_Graph_States.pdf · Experiment_Summary.pdf §4</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38560" y="6446520"/>
            <a:ext cx="54864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11</a:t>
            </a:r>
            <a:endParaRPr lang="en-US" sz="900" dirty="0"/>
          </a:p>
        </p:txBody>
      </p:sp>
      <p:sp>
        <p:nvSpPr>
          <p:cNvPr id="3" name="Text 1"/>
          <p:cNvSpPr txBox="1"/>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C8551A"/>
                </a:solidFill>
                <a:latin typeface="Calibri" pitchFamily="34" charset="0"/>
                <a:ea typeface="Calibri" pitchFamily="34" charset="-122"/>
                <a:cs typeface="Calibri" pitchFamily="34" charset="-120"/>
              </a:rPr>
              <a:t>THE EIGHT ENCODERS</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Modality, objective, supervision regime, size — and what each did here</a:t>
            </a:r>
            <a:endParaRPr lang="en-US" sz="27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194560"/>
                <a:gridCol w="3291840"/>
                <a:gridCol w="1737360"/>
                <a:gridCol w="3840480"/>
              </a:tblGrid>
              <a:tr h="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encoder · dim</a:t>
                      </a:r>
                      <a:endParaRPr lang="en-US" sz="900" dirty="0">
                        <a:latin typeface="Calibri" charset="0"/>
                        <a:ea typeface="Calibri" charset="0"/>
                        <a:cs typeface="Calibri" charset="0"/>
                      </a:endParaRPr>
                    </a:p>
                  </a:txBody>
                  <a:tcPr marL="45720" marR="45720" marT="45720" marB="45720" anchor="ctr">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1E2761"/>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objective — what supervises it</a:t>
                      </a:r>
                      <a:endParaRPr lang="en-US" sz="900" dirty="0">
                        <a:latin typeface="Calibri" charset="0"/>
                        <a:ea typeface="Calibri" charset="0"/>
                        <a:cs typeface="Calibri" charset="0"/>
                      </a:endParaRPr>
                    </a:p>
                  </a:txBody>
                  <a:tcPr marL="45720" marR="45720" marT="45720" marB="45720" anchor="ctr">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1E2761"/>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regime · params</a:t>
                      </a:r>
                      <a:endParaRPr lang="en-US" sz="900" dirty="0">
                        <a:latin typeface="Calibri" charset="0"/>
                        <a:ea typeface="Calibri" charset="0"/>
                        <a:cs typeface="Calibri" charset="0"/>
                      </a:endParaRPr>
                    </a:p>
                  </a:txBody>
                  <a:tcPr marL="45720" marR="45720" marT="45720" marB="45720" anchor="ctr">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1E2761"/>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role and result</a:t>
                      </a:r>
                      <a:endParaRPr lang="en-US" sz="900" dirty="0">
                        <a:latin typeface="Calibri" charset="0"/>
                        <a:ea typeface="Calibri" charset="0"/>
                        <a:cs typeface="Calibri" charset="0"/>
                      </a:endParaRPr>
                    </a:p>
                  </a:txBody>
                  <a:tcPr marL="45720" marR="45720" marT="45720" marB="45720" anchor="ctr">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1E2761"/>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DINOv2 s/b/l · 768/1536/2048</a:t>
                      </a:r>
                      <a:endParaRPr lang="en-US" sz="9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self-distillation: an EMA teacher's output on other crops of the SAME image; no labels, no text</a:t>
                      </a:r>
                      <a:endParaRPr lang="en-US" sz="9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SELF-SUP · 22–304M</a:t>
                      </a:r>
                      <a:endParaRPr lang="en-US" sz="9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hub members; capacity ladder 40.9 / 53.5 / 58.3% of ceiling; img_small sets hub width &lt; 768</a:t>
                      </a:r>
                      <a:endParaRPr lang="en-US" sz="9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bge-m3 · 1024</a:t>
                      </a:r>
                      <a:endParaRPr lang="en-US" sz="9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contrastive on query–passage pairs (the pairing is the label)</a:t>
                      </a:r>
                      <a:endParaRPr lang="en-US" sz="9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PAIR-SUP (text) · 568M</a:t>
                      </a:r>
                      <a:endParaRPr lang="en-US" sz="9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hub member + head TARGET; top pair with SBERT (ρ 0.76)</a:t>
                      </a:r>
                      <a:endParaRPr lang="en-US" sz="9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GPT-2 · 768</a:t>
                      </a:r>
                      <a:endParaRPr lang="en-US" sz="9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next-token prediction</a:t>
                      </a:r>
                      <a:endParaRPr lang="en-US" sz="9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SELF-SUP · 124M</a:t>
                      </a:r>
                      <a:endParaRPr lang="en-US" sz="9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the collapse case: eff.rank 6.6; read 95.1% / write 24.8%; whitening rescues to 102.6%</a:t>
                      </a:r>
                      <a:endParaRPr lang="en-US" sz="9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BERT · 768</a:t>
                      </a:r>
                      <a:endParaRPr lang="en-US" sz="9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masked language modelling</a:t>
                      </a:r>
                      <a:endParaRPr lang="en-US" sz="9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SELF-SUP · 110M</a:t>
                      </a:r>
                      <a:endParaRPr lang="en-US" sz="9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ladder rung between GPT-2 and contrastive spaces (eff.rank 65)</a:t>
                      </a:r>
                      <a:endParaRPr lang="en-US" sz="9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SBERT (all-mpnet) · 768</a:t>
                      </a:r>
                      <a:endParaRPr lang="en-US" sz="9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BERT fine-tuned on human-labelled NLI pairs</a:t>
                      </a:r>
                      <a:endParaRPr lang="en-US" sz="9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SUPERVISED · 110M</a:t>
                      </a:r>
                      <a:endParaRPr lang="en-US" sz="9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healthiest text space; best head target 101.0% of native</a:t>
                      </a:r>
                      <a:endParaRPr lang="en-US" sz="9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SigLIP 2 base · 768</a:t>
                      </a:r>
                      <a:endParaRPr lang="en-US" sz="9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image–text contrastive on web alt-text</a:t>
                      </a:r>
                      <a:endParaRPr lang="en-US" sz="9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PAIR-SUP · HELD OUT</a:t>
                      </a:r>
                      <a:endParaRPr lang="en-US" sz="9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Exp B target &amp; ceiling; cross-lineage hub transfer 94.2%</a:t>
                      </a:r>
                      <a:endParaRPr lang="en-US" sz="9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MobileCLIP-S1 · 512</a:t>
                      </a:r>
                      <a:endParaRPr lang="en-US" sz="9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image–text contrastive, distilled (phone tier)</a:t>
                      </a:r>
                      <a:endParaRPr lang="en-US" sz="9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PAIR-SUP · phone tier</a:t>
                      </a:r>
                      <a:endParaRPr lang="en-US" sz="9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Exp B source: adapter R² 0.592, cos 0.900, 0.79 MB shipped</a:t>
                      </a:r>
                      <a:endParaRPr lang="en-US" sz="9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ConvNeXt-base · 1024</a:t>
                      </a:r>
                      <a:endParaRPr lang="en-US" sz="9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ImageNet-22k classification (22k human labels)</a:t>
                      </a:r>
                      <a:endParaRPr lang="en-US" sz="9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FULLY SUP · HELD OUT</a:t>
                      </a:r>
                      <a:endParaRPr lang="en-US" sz="9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96.7% of native — ABOVE the ViT family band</a:t>
                      </a:r>
                      <a:endParaRPr lang="en-US" sz="9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r>
              <a:tr h="0">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Scale rungs: DINOv2-giant 3072 · Qwen3-Emb 0.6B/4B</a:t>
                      </a:r>
                      <a:endParaRPr lang="en-US" sz="9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self-distillation / contrastive fine-tune</a:t>
                      </a:r>
                      <a:endParaRPr lang="en-US" sz="9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1.1B · 0.6B · 4B</a:t>
                      </a:r>
                      <a:endParaRPr lang="en-US" sz="9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900" dirty="0">
                          <a:solidFill>
                            <a:srgbClr val="1F2937"/>
                          </a:solidFill>
                          <a:latin typeface="Calibri" pitchFamily="34" charset="0"/>
                          <a:ea typeface="Calibri" pitchFamily="34" charset="-122"/>
                          <a:cs typeface="Calibri" pitchFamily="34" charset="-120"/>
                        </a:rPr>
                        <a:t>both ladders rise then FALL (P2, P3 falsified)</a:t>
                      </a:r>
                      <a:endParaRPr lang="en-US" sz="90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6080760"/>
            <a:ext cx="11064240" cy="365760"/>
          </a:xfrm>
          <a:prstGeom prst="rect">
            <a:avLst/>
          </a:prstGeom>
          <a:noFill/>
          <a:ln/>
        </p:spPr>
        <p:txBody>
          <a:bodyPr wrap="square" lIns="0" tIns="0" rIns="0" bIns="0" rtlCol="0" anchor="ctr"/>
          <a:lstStyle/>
          <a:p>
            <a:pPr indent="0" marL="0">
              <a:buNone/>
            </a:pPr>
            <a:r>
              <a:rPr lang="en-US" sz="950" i="1" dirty="0">
                <a:solidFill>
                  <a:srgbClr val="5B6472"/>
                </a:solidFill>
                <a:latin typeface="Calibri" pitchFamily="34" charset="0"/>
                <a:ea typeface="Calibri" pitchFamily="34" charset="-122"/>
                <a:cs typeface="Calibri" pitchFamily="34" charset="-120"/>
              </a:rPr>
              <a:t>Three supervision regimes, four objectives — all join one hub at 93–97% of native. Convergence does not require a shared training signal. Provenance: Report §E.10; Experiment_Summary.pdf p.1.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38560" y="6446520"/>
            <a:ext cx="54864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12</a:t>
            </a:r>
            <a:endParaRPr lang="en-US" sz="900" dirty="0"/>
          </a:p>
        </p:txBody>
      </p:sp>
      <p:sp>
        <p:nvSpPr>
          <p:cNvPr id="3" name="Text 1"/>
          <p:cNvSpPr txBox="1"/>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C8551A"/>
                </a:solidFill>
                <a:latin typeface="Calibri" pitchFamily="34" charset="0"/>
                <a:ea typeface="Calibri" pitchFamily="34" charset="-122"/>
                <a:cs typeface="Calibri" pitchFamily="34" charset="-120"/>
              </a:rPr>
              <a:t>THE MODELS · THEIR WORLDS</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How each encoder builds its world — and why that predicts how it aligns</a:t>
            </a:r>
            <a:endParaRPr lang="en-US" sz="2700" dirty="0"/>
          </a:p>
        </p:txBody>
      </p:sp>
      <p:sp>
        <p:nvSpPr>
          <p:cNvPr id="5" name="Shape 3"/>
          <p:cNvSpPr/>
          <p:nvPr/>
        </p:nvSpPr>
        <p:spPr>
          <a:xfrm>
            <a:off x="548640" y="1554480"/>
            <a:ext cx="3566160" cy="2194560"/>
          </a:xfrm>
          <a:prstGeom prst="roundRect">
            <a:avLst>
              <a:gd name="adj" fmla="val 3333"/>
            </a:avLst>
          </a:prstGeom>
          <a:solidFill>
            <a:srgbClr val="EEF3FF"/>
          </a:solidFill>
          <a:ln w="12700">
            <a:solidFill>
              <a:srgbClr val="EEF3FF"/>
            </a:solidFill>
            <a:prstDash val="solid"/>
          </a:ln>
        </p:spPr>
      </p:sp>
      <p:sp>
        <p:nvSpPr>
          <p:cNvPr id="6" name="Text 4"/>
          <p:cNvSpPr txBox="1"/>
          <p:nvPr/>
        </p:nvSpPr>
        <p:spPr>
          <a:xfrm>
            <a:off x="713232" y="1664208"/>
            <a:ext cx="3236976"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Self-supervised image (DINOv2)</a:t>
            </a:r>
            <a:endParaRPr lang="en-US" sz="1300" dirty="0"/>
          </a:p>
        </p:txBody>
      </p:sp>
      <p:sp>
        <p:nvSpPr>
          <p:cNvPr id="7" name="Text 5"/>
          <p:cNvSpPr txBox="1"/>
          <p:nvPr/>
        </p:nvSpPr>
        <p:spPr>
          <a:xfrm>
            <a:off x="713232" y="2057400"/>
            <a:ext cx="3236976" cy="160020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A ViT sees two crops of the SAME photo; a slow “teacher” copy of itself labels one, the student predicts it. No text, no labels — the world is “what stays the same across views.” One 768–2048-d vector per image.</a:t>
            </a:r>
            <a:endParaRPr lang="en-US" sz="1100" dirty="0"/>
          </a:p>
        </p:txBody>
      </p:sp>
      <p:sp>
        <p:nvSpPr>
          <p:cNvPr id="8" name="Shape 6"/>
          <p:cNvSpPr/>
          <p:nvPr/>
        </p:nvSpPr>
        <p:spPr>
          <a:xfrm>
            <a:off x="4297680" y="1554480"/>
            <a:ext cx="3566160" cy="2194560"/>
          </a:xfrm>
          <a:prstGeom prst="roundRect">
            <a:avLst>
              <a:gd name="adj" fmla="val 3333"/>
            </a:avLst>
          </a:prstGeom>
          <a:solidFill>
            <a:srgbClr val="EEF7F3"/>
          </a:solidFill>
          <a:ln w="12700">
            <a:solidFill>
              <a:srgbClr val="EEF7F3"/>
            </a:solidFill>
            <a:prstDash val="solid"/>
          </a:ln>
        </p:spPr>
      </p:sp>
      <p:sp>
        <p:nvSpPr>
          <p:cNvPr id="9" name="Text 7"/>
          <p:cNvSpPr txBox="1"/>
          <p:nvPr/>
        </p:nvSpPr>
        <p:spPr>
          <a:xfrm>
            <a:off x="4462272" y="1664208"/>
            <a:ext cx="3236976"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Contrastive image–text (SigLIP 2, MobileCLIP)</a:t>
            </a:r>
            <a:endParaRPr lang="en-US" sz="1300" dirty="0"/>
          </a:p>
        </p:txBody>
      </p:sp>
      <p:sp>
        <p:nvSpPr>
          <p:cNvPr id="10" name="Text 8"/>
          <p:cNvSpPr txBox="1"/>
          <p:nvPr/>
        </p:nvSpPr>
        <p:spPr>
          <a:xfrm>
            <a:off x="4462272" y="2057400"/>
            <a:ext cx="3236976" cy="160020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Two towers. Photos and their alt-text are pulled together, everything else pushed apart. The world is “what text says about pictures.” MobileCLIP is the same idea distilled to phone size (512-d).</a:t>
            </a:r>
            <a:endParaRPr lang="en-US" sz="1100" dirty="0"/>
          </a:p>
        </p:txBody>
      </p:sp>
      <p:sp>
        <p:nvSpPr>
          <p:cNvPr id="11" name="Shape 9"/>
          <p:cNvSpPr/>
          <p:nvPr/>
        </p:nvSpPr>
        <p:spPr>
          <a:xfrm>
            <a:off x="8046720" y="1554480"/>
            <a:ext cx="3566160" cy="2194560"/>
          </a:xfrm>
          <a:prstGeom prst="roundRect">
            <a:avLst>
              <a:gd name="adj" fmla="val 3333"/>
            </a:avLst>
          </a:prstGeom>
          <a:solidFill>
            <a:srgbClr val="FFF4EC"/>
          </a:solidFill>
          <a:ln w="12700">
            <a:solidFill>
              <a:srgbClr val="FFF4EC"/>
            </a:solidFill>
            <a:prstDash val="solid"/>
          </a:ln>
        </p:spPr>
      </p:sp>
      <p:sp>
        <p:nvSpPr>
          <p:cNvPr id="12" name="Text 10"/>
          <p:cNvSpPr txBox="1"/>
          <p:nvPr/>
        </p:nvSpPr>
        <p:spPr>
          <a:xfrm>
            <a:off x="8211312" y="1664208"/>
            <a:ext cx="3236976"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Contrastive text (bge-m3, SBERT, Qwen)</a:t>
            </a:r>
            <a:endParaRPr lang="en-US" sz="1300" dirty="0"/>
          </a:p>
        </p:txBody>
      </p:sp>
      <p:sp>
        <p:nvSpPr>
          <p:cNvPr id="13" name="Text 11"/>
          <p:cNvSpPr txBox="1"/>
          <p:nvPr/>
        </p:nvSpPr>
        <p:spPr>
          <a:xfrm>
            <a:off x="8211312" y="2057400"/>
            <a:ext cx="3236976" cy="160020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Trained so a query and its matching passage (or NLI-entailed sentences) point the same way. Isotropic, cosine-friendly spaces — the “coordinate frame” that similarity training buys.</a:t>
            </a:r>
            <a:endParaRPr lang="en-US" sz="1100" dirty="0"/>
          </a:p>
        </p:txBody>
      </p:sp>
      <p:sp>
        <p:nvSpPr>
          <p:cNvPr id="14" name="Shape 12"/>
          <p:cNvSpPr/>
          <p:nvPr/>
        </p:nvSpPr>
        <p:spPr>
          <a:xfrm>
            <a:off x="548640" y="3886200"/>
            <a:ext cx="3566160" cy="2194560"/>
          </a:xfrm>
          <a:prstGeom prst="roundRect">
            <a:avLst>
              <a:gd name="adj" fmla="val 3333"/>
            </a:avLst>
          </a:prstGeom>
          <a:solidFill>
            <a:srgbClr val="EEF3FF"/>
          </a:solidFill>
          <a:ln w="12700">
            <a:solidFill>
              <a:srgbClr val="EEF3FF"/>
            </a:solidFill>
            <a:prstDash val="solid"/>
          </a:ln>
        </p:spPr>
      </p:sp>
      <p:sp>
        <p:nvSpPr>
          <p:cNvPr id="15" name="Text 13"/>
          <p:cNvSpPr txBox="1"/>
          <p:nvPr/>
        </p:nvSpPr>
        <p:spPr>
          <a:xfrm>
            <a:off x="713232" y="3995928"/>
            <a:ext cx="3236976"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Language models (GPT-2 causal, BERT masked)</a:t>
            </a:r>
            <a:endParaRPr lang="en-US" sz="1300" dirty="0"/>
          </a:p>
        </p:txBody>
      </p:sp>
      <p:sp>
        <p:nvSpPr>
          <p:cNvPr id="16" name="Text 14"/>
          <p:cNvSpPr txBox="1"/>
          <p:nvPr/>
        </p:nvSpPr>
        <p:spPr>
          <a:xfrm>
            <a:off x="713232" y="4389120"/>
            <a:ext cx="3236976" cy="160020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Predict the next / masked token. Never asked to make sentences comparable, so the pooled space collapses toward one direction (GPT-2 pair-cosine +0.999). The information is there — the frame hides it.</a:t>
            </a:r>
            <a:endParaRPr lang="en-US" sz="1100" dirty="0"/>
          </a:p>
        </p:txBody>
      </p:sp>
      <p:sp>
        <p:nvSpPr>
          <p:cNvPr id="17" name="Shape 15"/>
          <p:cNvSpPr/>
          <p:nvPr/>
        </p:nvSpPr>
        <p:spPr>
          <a:xfrm>
            <a:off x="4297680" y="3886200"/>
            <a:ext cx="3566160" cy="2194560"/>
          </a:xfrm>
          <a:prstGeom prst="roundRect">
            <a:avLst>
              <a:gd name="adj" fmla="val 3333"/>
            </a:avLst>
          </a:prstGeom>
          <a:solidFill>
            <a:srgbClr val="EEF7F3"/>
          </a:solidFill>
          <a:ln w="12700">
            <a:solidFill>
              <a:srgbClr val="EEF7F3"/>
            </a:solidFill>
            <a:prstDash val="solid"/>
          </a:ln>
        </p:spPr>
      </p:sp>
      <p:sp>
        <p:nvSpPr>
          <p:cNvPr id="18" name="Text 16"/>
          <p:cNvSpPr txBox="1"/>
          <p:nvPr/>
        </p:nvSpPr>
        <p:spPr>
          <a:xfrm>
            <a:off x="4462272" y="3995928"/>
            <a:ext cx="3236976"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Supervised convnet (ConvNeXt)</a:t>
            </a:r>
            <a:endParaRPr lang="en-US" sz="1300" dirty="0"/>
          </a:p>
        </p:txBody>
      </p:sp>
      <p:sp>
        <p:nvSpPr>
          <p:cNvPr id="19" name="Text 17"/>
          <p:cNvSpPr txBox="1"/>
          <p:nvPr/>
        </p:nvSpPr>
        <p:spPr>
          <a:xfrm>
            <a:off x="4462272" y="4389120"/>
            <a:ext cx="3236976" cy="160020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No attention at all; 22k ImageNet class labels. The control that says architecture and supervision do not bound the claim: 96.7% hub transfer, above the ViT band.</a:t>
            </a:r>
            <a:endParaRPr lang="en-US" sz="1100" dirty="0"/>
          </a:p>
        </p:txBody>
      </p:sp>
      <p:sp>
        <p:nvSpPr>
          <p:cNvPr id="20" name="Shape 18"/>
          <p:cNvSpPr/>
          <p:nvPr/>
        </p:nvSpPr>
        <p:spPr>
          <a:xfrm>
            <a:off x="8046720" y="3886200"/>
            <a:ext cx="3566160" cy="2194560"/>
          </a:xfrm>
          <a:prstGeom prst="roundRect">
            <a:avLst>
              <a:gd name="adj" fmla="val 3333"/>
            </a:avLst>
          </a:prstGeom>
          <a:solidFill>
            <a:srgbClr val="FFF4EC"/>
          </a:solidFill>
          <a:ln w="12700">
            <a:solidFill>
              <a:srgbClr val="FFF4EC"/>
            </a:solidFill>
            <a:prstDash val="solid"/>
          </a:ln>
        </p:spPr>
      </p:sp>
      <p:sp>
        <p:nvSpPr>
          <p:cNvPr id="21" name="Text 19"/>
          <p:cNvSpPr txBox="1"/>
          <p:nvPr/>
        </p:nvSpPr>
        <p:spPr>
          <a:xfrm>
            <a:off x="8211312" y="3995928"/>
            <a:ext cx="3236976"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Vector embeddings, in general</a:t>
            </a:r>
            <a:endParaRPr lang="en-US" sz="1300" dirty="0"/>
          </a:p>
        </p:txBody>
      </p:sp>
      <p:sp>
        <p:nvSpPr>
          <p:cNvPr id="22" name="Text 20"/>
          <p:cNvSpPr txBox="1"/>
          <p:nvPr/>
        </p:nvSpPr>
        <p:spPr>
          <a:xfrm>
            <a:off x="8211312" y="4389120"/>
            <a:ext cx="3236976" cy="160020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Every model ends as one vector per item: tokens → hidden states → masked-mean over tokens (text) or CLS/patch pooling (image). Row i of every cache is the SAME COCO item — the only “pairing” any fit sees.</a:t>
            </a:r>
            <a:endParaRPr lang="en-US" sz="1100" dirty="0"/>
          </a:p>
        </p:txBody>
      </p:sp>
      <p:sp>
        <p:nvSpPr>
          <p:cNvPr id="23" name="Text 21"/>
          <p:cNvSpPr txBox="1"/>
          <p:nvPr/>
        </p:nvSpPr>
        <p:spPr>
          <a:xfrm>
            <a:off x="548640" y="6309360"/>
            <a:ext cx="11064240" cy="365760"/>
          </a:xfrm>
          <a:prstGeom prst="rect">
            <a:avLst/>
          </a:prstGeom>
          <a:noFill/>
          <a:ln/>
        </p:spPr>
        <p:txBody>
          <a:bodyPr wrap="square" lIns="0" tIns="0" rIns="0" bIns="0" rtlCol="0" anchor="ctr"/>
          <a:lstStyle/>
          <a:p>
            <a:pPr indent="0" marL="0">
              <a:buNone/>
            </a:pPr>
            <a:r>
              <a:rPr lang="en-US" sz="950" i="1" dirty="0">
                <a:solidFill>
                  <a:srgbClr val="5B6472"/>
                </a:solidFill>
                <a:latin typeface="Calibri" pitchFamily="34" charset="0"/>
                <a:ea typeface="Calibri" pitchFamily="34" charset="-122"/>
                <a:cs typeface="Calibri" pitchFamily="34" charset="-120"/>
              </a:rPr>
              <a:t>See tokens_layers_pooling.png (Status_Report.pdf p.3) for the token→layer→pooled-row pipeline; Report §E.10 for provenance.</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38560" y="6446520"/>
            <a:ext cx="54864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13</a:t>
            </a:r>
            <a:endParaRPr lang="en-US" sz="900" dirty="0"/>
          </a:p>
        </p:txBody>
      </p:sp>
      <p:sp>
        <p:nvSpPr>
          <p:cNvPr id="3" name="Text 1"/>
          <p:cNvSpPr txBox="1"/>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C8551A"/>
                </a:solidFill>
                <a:latin typeface="Calibri" pitchFamily="34" charset="0"/>
                <a:ea typeface="Calibri" pitchFamily="34" charset="-122"/>
                <a:cs typeface="Calibri" pitchFamily="34" charset="-120"/>
              </a:rPr>
              <a:t>METHOD</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Scientific questions, engineering discipline — and the one COCO row behind every number</a:t>
            </a:r>
            <a:endParaRPr lang="en-US" sz="2700" dirty="0"/>
          </a:p>
        </p:txBody>
      </p:sp>
      <p:pic>
        <p:nvPicPr>
          <p:cNvPr id="5" name="Image 0" descr="/home/claude/deck/img/tokens_layers_pooling.png">    </p:cNvPr>
          <p:cNvPicPr>
            <a:picLocks noChangeAspect="1"/>
          </p:cNvPicPr>
          <p:nvPr/>
        </p:nvPicPr>
        <p:blipFill>
          <a:blip r:embed="rId1"/>
          <a:srcRect l="0" r="0" t="0" b="0"/>
          <a:stretch/>
        </p:blipFill>
        <p:spPr>
          <a:xfrm>
            <a:off x="548640" y="1508760"/>
            <a:ext cx="5486400" cy="3291840"/>
          </a:xfrm>
          <a:prstGeom prst="rect">
            <a:avLst/>
          </a:prstGeom>
        </p:spPr>
      </p:pic>
      <p:sp>
        <p:nvSpPr>
          <p:cNvPr id="6" name="Shape 3"/>
          <p:cNvSpPr/>
          <p:nvPr/>
        </p:nvSpPr>
        <p:spPr>
          <a:xfrm>
            <a:off x="6309360" y="1508760"/>
            <a:ext cx="5303520" cy="1691640"/>
          </a:xfrm>
          <a:prstGeom prst="roundRect">
            <a:avLst>
              <a:gd name="adj" fmla="val 4324"/>
            </a:avLst>
          </a:prstGeom>
          <a:solidFill>
            <a:srgbClr val="EEF3FF"/>
          </a:solidFill>
          <a:ln w="12700">
            <a:solidFill>
              <a:srgbClr val="EEF3FF"/>
            </a:solidFill>
            <a:prstDash val="solid"/>
          </a:ln>
        </p:spPr>
      </p:sp>
      <p:sp>
        <p:nvSpPr>
          <p:cNvPr id="7" name="Text 4"/>
          <p:cNvSpPr txBox="1"/>
          <p:nvPr/>
        </p:nvSpPr>
        <p:spPr>
          <a:xfrm>
            <a:off x="6473952" y="1618488"/>
            <a:ext cx="4974336"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Rules the project never broke</a:t>
            </a:r>
            <a:endParaRPr lang="en-US" sz="1300" dirty="0"/>
          </a:p>
        </p:txBody>
      </p:sp>
      <p:sp>
        <p:nvSpPr>
          <p:cNvPr id="8" name="Text 5"/>
          <p:cNvSpPr txBox="1"/>
          <p:nvPr/>
        </p:nvSpPr>
        <p:spPr>
          <a:xfrm>
            <a:off x="6473952" y="2011680"/>
            <a:ext cx="4974336" cy="109728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No training, no fine-tuning — closed-form ridge only; both models frozen (delete W and nothing remains). Every number held-out (1,000 of 9,533 rows) and quoted against a control. Predictions pre-registered before measuring; failures recorded, never deleted. Rows per input dimension ≥ 5, checked BEFORE reading results.</a:t>
            </a:r>
            <a:endParaRPr lang="en-US" sz="1100" dirty="0"/>
          </a:p>
        </p:txBody>
      </p:sp>
      <p:sp>
        <p:nvSpPr>
          <p:cNvPr id="9" name="Shape 6"/>
          <p:cNvSpPr/>
          <p:nvPr/>
        </p:nvSpPr>
        <p:spPr>
          <a:xfrm>
            <a:off x="6309360" y="3337560"/>
            <a:ext cx="5303520" cy="1463040"/>
          </a:xfrm>
          <a:prstGeom prst="roundRect">
            <a:avLst>
              <a:gd name="adj" fmla="val 5000"/>
            </a:avLst>
          </a:prstGeom>
          <a:solidFill>
            <a:srgbClr val="EEF7F3"/>
          </a:solidFill>
          <a:ln w="12700">
            <a:solidFill>
              <a:srgbClr val="EEF7F3"/>
            </a:solidFill>
            <a:prstDash val="solid"/>
          </a:ln>
        </p:spPr>
      </p:sp>
      <p:sp>
        <p:nvSpPr>
          <p:cNvPr id="10" name="Text 7"/>
          <p:cNvSpPr txBox="1"/>
          <p:nvPr/>
        </p:nvSpPr>
        <p:spPr>
          <a:xfrm>
            <a:off x="6473952" y="3447288"/>
            <a:ext cx="4974336"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The data</a:t>
            </a:r>
            <a:endParaRPr lang="en-US" sz="1300" dirty="0"/>
          </a:p>
        </p:txBody>
      </p:sp>
      <p:sp>
        <p:nvSpPr>
          <p:cNvPr id="11" name="Text 8"/>
          <p:cNvSpPr txBox="1"/>
          <p:nvPr/>
        </p:nvSpPr>
        <p:spPr>
          <a:xfrm>
            <a:off x="6473952" y="3840480"/>
            <a:ext cx="4974336" cy="86868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COCO image–caption pairs, 9,533 images (8,533 train / 1,000 eval). Five human captions each — ‘A cat sitting on a chair.’ · ‘Cat on chair.’ · ‘A cat is seated on a chair.’ — embedded and AVERAGED into one target. Averaging raised R² 0.278 → 0.511, so the ceiling is averaged too.</a:t>
            </a:r>
            <a:endParaRPr lang="en-US" sz="1100" dirty="0"/>
          </a:p>
        </p:txBody>
      </p:sp>
      <p:sp>
        <p:nvSpPr>
          <p:cNvPr id="12" name="Shape 9"/>
          <p:cNvSpPr/>
          <p:nvPr/>
        </p:nvSpPr>
        <p:spPr>
          <a:xfrm>
            <a:off x="548640" y="4983480"/>
            <a:ext cx="11064240" cy="1280160"/>
          </a:xfrm>
          <a:prstGeom prst="roundRect">
            <a:avLst>
              <a:gd name="adj" fmla="val 4286"/>
            </a:avLst>
          </a:prstGeom>
          <a:solidFill>
            <a:srgbClr val="F5F7FB"/>
          </a:solidFill>
          <a:ln w="12700">
            <a:solidFill>
              <a:srgbClr val="D6DCE8"/>
            </a:solidFill>
            <a:prstDash val="solid"/>
          </a:ln>
        </p:spPr>
      </p:sp>
      <p:sp>
        <p:nvSpPr>
          <p:cNvPr id="13" name="Text 10"/>
          <p:cNvSpPr txBox="1"/>
          <p:nvPr/>
        </p:nvSpPr>
        <p:spPr>
          <a:xfrm>
            <a:off x="685800" y="5056632"/>
            <a:ext cx="10789920" cy="274320"/>
          </a:xfrm>
          <a:prstGeom prst="rect">
            <a:avLst/>
          </a:prstGeom>
          <a:noFill/>
          <a:ln/>
        </p:spPr>
        <p:txBody>
          <a:bodyPr wrap="square" lIns="0" tIns="0" rIns="0" bIns="0" rtlCol="0" anchor="ctr"/>
          <a:lstStyle/>
          <a:p>
            <a:pPr indent="0" marL="0">
              <a:buNone/>
            </a:pPr>
            <a:r>
              <a:rPr lang="en-US" sz="1000" b="1" dirty="0">
                <a:solidFill>
                  <a:srgbClr val="C8551A"/>
                </a:solidFill>
                <a:latin typeface="Calibri" pitchFamily="34" charset="0"/>
                <a:ea typeface="Calibri" pitchFamily="34" charset="-122"/>
                <a:cs typeface="Calibri" pitchFamily="34" charset="-120"/>
              </a:rPr>
              <a:t>the short math</a:t>
            </a:r>
            <a:endParaRPr lang="en-US" sz="1000" dirty="0"/>
          </a:p>
        </p:txBody>
      </p:sp>
      <p:sp>
        <p:nvSpPr>
          <p:cNvPr id="14" name="Text 11"/>
          <p:cNvSpPr txBox="1"/>
          <p:nvPr/>
        </p:nvSpPr>
        <p:spPr>
          <a:xfrm>
            <a:off x="685800" y="5330952"/>
            <a:ext cx="10789920" cy="868680"/>
          </a:xfrm>
          <a:prstGeom prst="rect">
            <a:avLst/>
          </a:prstGeom>
          <a:noFill/>
          <a:ln/>
        </p:spPr>
        <p:txBody>
          <a:bodyPr wrap="square" lIns="0" tIns="0" rIns="0" bIns="0" rtlCol="0" anchor="t"/>
          <a:lstStyle/>
          <a:p>
            <a:pPr indent="0" marL="0">
              <a:buNone/>
            </a:pPr>
            <a:r>
              <a:rPr lang="en-US" sz="1000" dirty="0">
                <a:solidFill>
                  <a:srgbClr val="1F2937"/>
                </a:solidFill>
                <a:latin typeface="Courier New" pitchFamily="34" charset="0"/>
                <a:ea typeface="Courier New" pitchFamily="34" charset="-122"/>
                <a:cs typeface="Courier New" pitchFamily="34" charset="-120"/>
              </a:rPr>
              <a:t>the only fitted object is one ridge matrix:</a:t>
            </a:r>
            <a:endParaRPr lang="en-US" sz="1000" dirty="0"/>
          </a:p>
          <a:p>
            <a:pPr indent="0" marL="0">
              <a:buNone/>
            </a:pPr>
            <a:r>
              <a:rPr lang="en-US" sz="1000" dirty="0">
                <a:solidFill>
                  <a:srgbClr val="1F2937"/>
                </a:solidFill>
                <a:latin typeface="Courier New" pitchFamily="34" charset="0"/>
                <a:ea typeface="Courier New" pitchFamily="34" charset="-122"/>
                <a:cs typeface="Courier New" pitchFamily="34" charset="-120"/>
              </a:rPr>
              <a:t>W = argmin_W |XW - T|^2 + alpha|W|^2  =  (X^T X + alpha I)^-1 X^T T</a:t>
            </a:r>
            <a:endParaRPr lang="en-US" sz="1000" dirty="0"/>
          </a:p>
          <a:p>
            <a:pPr indent="0" marL="0">
              <a:buNone/>
            </a:pPr>
            <a:r>
              <a:rPr lang="en-US" sz="1000" dirty="0">
                <a:solidFill>
                  <a:srgbClr val="1F2937"/>
                </a:solidFill>
                <a:latin typeface="Courier New" pitchFamily="34" charset="0"/>
                <a:ea typeface="Courier New" pitchFamily="34" charset="-122"/>
                <a:cs typeface="Courier New" pitchFamily="34" charset="-120"/>
              </a:rPr>
              <a:t>alpha chosen on a validation slice of TRAIN rows only</a:t>
            </a:r>
            <a:endParaRPr lang="en-US" sz="1000" dirty="0"/>
          </a:p>
          <a:p>
            <a:pPr indent="0" marL="0">
              <a:buNone/>
            </a:pPr>
            <a:r>
              <a:rPr lang="en-US" sz="1000" dirty="0">
                <a:solidFill>
                  <a:srgbClr val="1F2937"/>
                </a:solidFill>
                <a:latin typeface="Courier New" pitchFamily="34" charset="0"/>
                <a:ea typeface="Courier New" pitchFamily="34" charset="-122"/>
                <a:cs typeface="Courier New" pitchFamily="34" charset="-120"/>
              </a:rPr>
              <a:t>retrieval: s_j = cos(q, t_j), ranked over N=1,000; chance 0.001</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38560" y="6446520"/>
            <a:ext cx="54864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14</a:t>
            </a:r>
            <a:endParaRPr lang="en-US" sz="900" dirty="0"/>
          </a:p>
        </p:txBody>
      </p:sp>
      <p:sp>
        <p:nvSpPr>
          <p:cNvPr id="3" name="Text 1"/>
          <p:cNvSpPr txBox="1"/>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C8551A"/>
                </a:solidFill>
                <a:latin typeface="Calibri" pitchFamily="34" charset="0"/>
                <a:ea typeface="Calibri" pitchFamily="34" charset="-122"/>
                <a:cs typeface="Calibri" pitchFamily="34" charset="-120"/>
              </a:rPr>
              <a:t>THE RECORD</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How the project evolved — Part I: pairwise experiments, then Part II: the hub</a:t>
            </a:r>
            <a:endParaRPr lang="en-US" sz="2700" dirty="0"/>
          </a:p>
        </p:txBody>
      </p:sp>
      <p:sp>
        <p:nvSpPr>
          <p:cNvPr id="5" name="Shape 3"/>
          <p:cNvSpPr/>
          <p:nvPr/>
        </p:nvSpPr>
        <p:spPr>
          <a:xfrm>
            <a:off x="548640" y="1371600"/>
            <a:ext cx="11064240" cy="457200"/>
          </a:xfrm>
          <a:prstGeom prst="roundRect">
            <a:avLst>
              <a:gd name="adj" fmla="val 12000"/>
            </a:avLst>
          </a:prstGeom>
          <a:solidFill>
            <a:srgbClr val="1E2761"/>
          </a:solidFill>
          <a:ln w="12700">
            <a:solidFill>
              <a:srgbClr val="1E2761"/>
            </a:solidFill>
            <a:prstDash val="solid"/>
          </a:ln>
        </p:spPr>
      </p:sp>
      <p:sp>
        <p:nvSpPr>
          <p:cNvPr id="6" name="Text 4"/>
          <p:cNvSpPr txBox="1"/>
          <p:nvPr/>
        </p:nvSpPr>
        <p:spPr>
          <a:xfrm>
            <a:off x="731520" y="1371600"/>
            <a:ext cx="10698480" cy="4572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PART I · TWO ENCODERS AT A TIME  (A, B, E, C)  —  is structure shared, and can one matrix carry it?</a:t>
            </a:r>
            <a:endParaRPr lang="en-US" sz="1250" dirty="0"/>
          </a:p>
        </p:txBody>
      </p:sp>
      <p:sp>
        <p:nvSpPr>
          <p:cNvPr id="7" name="Shape 5"/>
          <p:cNvSpPr/>
          <p:nvPr/>
        </p:nvSpPr>
        <p:spPr>
          <a:xfrm>
            <a:off x="548640" y="1965960"/>
            <a:ext cx="5486400" cy="896112"/>
          </a:xfrm>
          <a:prstGeom prst="roundRect">
            <a:avLst>
              <a:gd name="adj" fmla="val 6122"/>
            </a:avLst>
          </a:prstGeom>
          <a:solidFill>
            <a:srgbClr val="EEF3FF"/>
          </a:solidFill>
          <a:ln w="12700">
            <a:solidFill>
              <a:srgbClr val="D6DCE8"/>
            </a:solidFill>
            <a:prstDash val="solid"/>
          </a:ln>
        </p:spPr>
      </p:sp>
      <p:sp>
        <p:nvSpPr>
          <p:cNvPr id="8" name="Text 6"/>
          <p:cNvSpPr txBox="1"/>
          <p:nvPr/>
        </p:nvSpPr>
        <p:spPr>
          <a:xfrm>
            <a:off x="658368" y="2075688"/>
            <a:ext cx="1143000" cy="676656"/>
          </a:xfrm>
          <a:prstGeom prst="rect">
            <a:avLst/>
          </a:prstGeom>
          <a:solidFill>
            <a:srgbClr val="1E2761"/>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a:t>
            </a:r>
            <a:endParaRPr lang="en-US" sz="1400" dirty="0"/>
          </a:p>
        </p:txBody>
      </p:sp>
      <p:sp>
        <p:nvSpPr>
          <p:cNvPr id="9" name="Text 7"/>
          <p:cNvSpPr txBox="1"/>
          <p:nvPr/>
        </p:nvSpPr>
        <p:spPr>
          <a:xfrm>
            <a:off x="1920240" y="2039112"/>
            <a:ext cx="3977640" cy="292608"/>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Do two LLMs converge?</a:t>
            </a:r>
            <a:endParaRPr lang="en-US" sz="1250" dirty="0"/>
          </a:p>
        </p:txBody>
      </p:sp>
      <p:sp>
        <p:nvSpPr>
          <p:cNvPr id="10" name="Text 8"/>
          <p:cNvSpPr txBox="1"/>
          <p:nvPr/>
        </p:nvSpPr>
        <p:spPr>
          <a:xfrm>
            <a:off x="1920240" y="2331720"/>
            <a:ext cx="3977640" cy="274320"/>
          </a:xfrm>
          <a:prstGeom prst="rect">
            <a:avLst/>
          </a:prstGeom>
          <a:noFill/>
          <a:ln/>
        </p:spPr>
        <p:txBody>
          <a:bodyPr wrap="square" lIns="0" tIns="0" rIns="0" bIns="0" rtlCol="0" anchor="ctr"/>
          <a:lstStyle/>
          <a:p>
            <a:pPr indent="0" marL="0">
              <a:buNone/>
            </a:pPr>
            <a:r>
              <a:rPr lang="en-US" sz="950" dirty="0">
                <a:solidFill>
                  <a:srgbClr val="5B6472"/>
                </a:solidFill>
                <a:latin typeface="Calibri" pitchFamily="34" charset="0"/>
                <a:ea typeface="Calibri" pitchFamily="34" charset="-122"/>
                <a:cs typeface="Calibri" pitchFamily="34" charset="-120"/>
              </a:rPr>
              <a:t>GPT-2 vs Pythia-160M · 10,000 WikiText passages</a:t>
            </a:r>
            <a:endParaRPr lang="en-US" sz="950" dirty="0"/>
          </a:p>
        </p:txBody>
      </p:sp>
      <p:sp>
        <p:nvSpPr>
          <p:cNvPr id="11" name="Text 9"/>
          <p:cNvSpPr txBox="1"/>
          <p:nvPr/>
        </p:nvSpPr>
        <p:spPr>
          <a:xfrm>
            <a:off x="1920240" y="2587752"/>
            <a:ext cx="3977640" cy="256032"/>
          </a:xfrm>
          <a:prstGeom prst="rect">
            <a:avLst/>
          </a:prstGeom>
          <a:noFill/>
          <a:ln/>
        </p:spPr>
        <p:txBody>
          <a:bodyPr wrap="square" lIns="0" tIns="0" rIns="0" bIns="0" rtlCol="0" anchor="ctr"/>
          <a:lstStyle/>
          <a:p>
            <a:pPr indent="0" marL="0">
              <a:buNone/>
            </a:pPr>
            <a:r>
              <a:rPr lang="en-US" sz="1050" b="1" dirty="0">
                <a:solidFill>
                  <a:srgbClr val="C8551A"/>
                </a:solidFill>
                <a:latin typeface="Calibri" pitchFamily="34" charset="0"/>
                <a:ea typeface="Calibri" pitchFamily="34" charset="-122"/>
                <a:cs typeface="Calibri" pitchFamily="34" charset="-120"/>
              </a:rPr>
              <a:t>R² 0.74–0.80; CKA 5.3× random</a:t>
            </a:r>
            <a:endParaRPr lang="en-US" sz="1050" dirty="0"/>
          </a:p>
        </p:txBody>
      </p:sp>
      <p:sp>
        <p:nvSpPr>
          <p:cNvPr id="12" name="Shape 10"/>
          <p:cNvSpPr/>
          <p:nvPr/>
        </p:nvSpPr>
        <p:spPr>
          <a:xfrm>
            <a:off x="6217920" y="1965960"/>
            <a:ext cx="5486400" cy="896112"/>
          </a:xfrm>
          <a:prstGeom prst="roundRect">
            <a:avLst>
              <a:gd name="adj" fmla="val 6122"/>
            </a:avLst>
          </a:prstGeom>
          <a:solidFill>
            <a:srgbClr val="EEF3FF"/>
          </a:solidFill>
          <a:ln w="12700">
            <a:solidFill>
              <a:srgbClr val="D6DCE8"/>
            </a:solidFill>
            <a:prstDash val="solid"/>
          </a:ln>
        </p:spPr>
      </p:sp>
      <p:sp>
        <p:nvSpPr>
          <p:cNvPr id="13" name="Text 11"/>
          <p:cNvSpPr txBox="1"/>
          <p:nvPr/>
        </p:nvSpPr>
        <p:spPr>
          <a:xfrm>
            <a:off x="6327648" y="2075688"/>
            <a:ext cx="1143000" cy="676656"/>
          </a:xfrm>
          <a:prstGeom prst="rect">
            <a:avLst/>
          </a:prstGeom>
          <a:solidFill>
            <a:srgbClr val="1E2761"/>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B / F</a:t>
            </a:r>
            <a:endParaRPr lang="en-US" sz="1400" dirty="0"/>
          </a:p>
        </p:txBody>
      </p:sp>
      <p:sp>
        <p:nvSpPr>
          <p:cNvPr id="14" name="Text 12"/>
          <p:cNvSpPr txBox="1"/>
          <p:nvPr/>
        </p:nvSpPr>
        <p:spPr>
          <a:xfrm>
            <a:off x="7589520" y="2039112"/>
            <a:ext cx="3977640" cy="292608"/>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Phone→server adapter</a:t>
            </a:r>
            <a:endParaRPr lang="en-US" sz="1250" dirty="0"/>
          </a:p>
        </p:txBody>
      </p:sp>
      <p:sp>
        <p:nvSpPr>
          <p:cNvPr id="15" name="Text 13"/>
          <p:cNvSpPr txBox="1"/>
          <p:nvPr/>
        </p:nvSpPr>
        <p:spPr>
          <a:xfrm>
            <a:off x="7589520" y="2331720"/>
            <a:ext cx="3977640" cy="274320"/>
          </a:xfrm>
          <a:prstGeom prst="rect">
            <a:avLst/>
          </a:prstGeom>
          <a:noFill/>
          <a:ln/>
        </p:spPr>
        <p:txBody>
          <a:bodyPr wrap="square" lIns="0" tIns="0" rIns="0" bIns="0" rtlCol="0" anchor="ctr"/>
          <a:lstStyle/>
          <a:p>
            <a:pPr indent="0" marL="0">
              <a:buNone/>
            </a:pPr>
            <a:r>
              <a:rPr lang="en-US" sz="950" dirty="0">
                <a:solidFill>
                  <a:srgbClr val="5B6472"/>
                </a:solidFill>
                <a:latin typeface="Calibri" pitchFamily="34" charset="0"/>
                <a:ea typeface="Calibri" pitchFamily="34" charset="-122"/>
                <a:cs typeface="Calibri" pitchFamily="34" charset="-120"/>
              </a:rPr>
              <a:t>MobileCLIP→SigLIP · 4,000 COCO val2017</a:t>
            </a:r>
            <a:endParaRPr lang="en-US" sz="950" dirty="0"/>
          </a:p>
        </p:txBody>
      </p:sp>
      <p:sp>
        <p:nvSpPr>
          <p:cNvPr id="16" name="Text 14"/>
          <p:cNvSpPr txBox="1"/>
          <p:nvPr/>
        </p:nvSpPr>
        <p:spPr>
          <a:xfrm>
            <a:off x="7589520" y="2587752"/>
            <a:ext cx="3977640" cy="256032"/>
          </a:xfrm>
          <a:prstGeom prst="rect">
            <a:avLst/>
          </a:prstGeom>
          <a:noFill/>
          <a:ln/>
        </p:spPr>
        <p:txBody>
          <a:bodyPr wrap="square" lIns="0" tIns="0" rIns="0" bIns="0" rtlCol="0" anchor="ctr"/>
          <a:lstStyle/>
          <a:p>
            <a:pPr indent="0" marL="0">
              <a:buNone/>
            </a:pPr>
            <a:r>
              <a:rPr lang="en-US" sz="1050" b="1" dirty="0">
                <a:solidFill>
                  <a:srgbClr val="C8551A"/>
                </a:solidFill>
                <a:latin typeface="Calibri" pitchFamily="34" charset="0"/>
                <a:ea typeface="Calibri" pitchFamily="34" charset="-122"/>
                <a:cs typeface="Calibri" pitchFamily="34" charset="-120"/>
              </a:rPr>
              <a:t>88.4% of ceiling; 0.79 MB; MLP +0.0000</a:t>
            </a:r>
            <a:endParaRPr lang="en-US" sz="1050" dirty="0"/>
          </a:p>
        </p:txBody>
      </p:sp>
      <p:sp>
        <p:nvSpPr>
          <p:cNvPr id="17" name="Shape 15"/>
          <p:cNvSpPr/>
          <p:nvPr/>
        </p:nvSpPr>
        <p:spPr>
          <a:xfrm>
            <a:off x="548640" y="2990088"/>
            <a:ext cx="5486400" cy="896112"/>
          </a:xfrm>
          <a:prstGeom prst="roundRect">
            <a:avLst>
              <a:gd name="adj" fmla="val 6122"/>
            </a:avLst>
          </a:prstGeom>
          <a:solidFill>
            <a:srgbClr val="EEF3FF"/>
          </a:solidFill>
          <a:ln w="12700">
            <a:solidFill>
              <a:srgbClr val="D6DCE8"/>
            </a:solidFill>
            <a:prstDash val="solid"/>
          </a:ln>
        </p:spPr>
      </p:sp>
      <p:sp>
        <p:nvSpPr>
          <p:cNvPr id="18" name="Text 16"/>
          <p:cNvSpPr txBox="1"/>
          <p:nvPr/>
        </p:nvSpPr>
        <p:spPr>
          <a:xfrm>
            <a:off x="658368" y="3099816"/>
            <a:ext cx="1143000" cy="676656"/>
          </a:xfrm>
          <a:prstGeom prst="rect">
            <a:avLst/>
          </a:prstGeom>
          <a:solidFill>
            <a:srgbClr val="1E2761"/>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E1–E13</a:t>
            </a:r>
            <a:endParaRPr lang="en-US" sz="1400" dirty="0"/>
          </a:p>
        </p:txBody>
      </p:sp>
      <p:sp>
        <p:nvSpPr>
          <p:cNvPr id="19" name="Text 17"/>
          <p:cNvSpPr txBox="1"/>
          <p:nvPr/>
        </p:nvSpPr>
        <p:spPr>
          <a:xfrm>
            <a:off x="1920240" y="3063240"/>
            <a:ext cx="3977640" cy="292608"/>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Cross-modal &amp; capacity ladder</a:t>
            </a:r>
            <a:endParaRPr lang="en-US" sz="1250" dirty="0"/>
          </a:p>
        </p:txBody>
      </p:sp>
      <p:sp>
        <p:nvSpPr>
          <p:cNvPr id="20" name="Text 18"/>
          <p:cNvSpPr txBox="1"/>
          <p:nvPr/>
        </p:nvSpPr>
        <p:spPr>
          <a:xfrm>
            <a:off x="1920240" y="3355848"/>
            <a:ext cx="3977640" cy="274320"/>
          </a:xfrm>
          <a:prstGeom prst="rect">
            <a:avLst/>
          </a:prstGeom>
          <a:noFill/>
          <a:ln/>
        </p:spPr>
        <p:txBody>
          <a:bodyPr wrap="square" lIns="0" tIns="0" rIns="0" bIns="0" rtlCol="0" anchor="ctr"/>
          <a:lstStyle/>
          <a:p>
            <a:pPr indent="0" marL="0">
              <a:buNone/>
            </a:pPr>
            <a:r>
              <a:rPr lang="en-US" sz="950" dirty="0">
                <a:solidFill>
                  <a:srgbClr val="5B6472"/>
                </a:solidFill>
                <a:latin typeface="Calibri" pitchFamily="34" charset="0"/>
                <a:ea typeface="Calibri" pitchFamily="34" charset="-122"/>
                <a:cs typeface="Calibri" pitchFamily="34" charset="-120"/>
              </a:rPr>
              <a:t>DINOv2 s/b/l → bge-m3 · 8,000 COCO train2017</a:t>
            </a:r>
            <a:endParaRPr lang="en-US" sz="950" dirty="0"/>
          </a:p>
        </p:txBody>
      </p:sp>
      <p:sp>
        <p:nvSpPr>
          <p:cNvPr id="21" name="Text 19"/>
          <p:cNvSpPr txBox="1"/>
          <p:nvPr/>
        </p:nvSpPr>
        <p:spPr>
          <a:xfrm>
            <a:off x="1920240" y="3611880"/>
            <a:ext cx="3977640" cy="256032"/>
          </a:xfrm>
          <a:prstGeom prst="rect">
            <a:avLst/>
          </a:prstGeom>
          <a:noFill/>
          <a:ln/>
        </p:spPr>
        <p:txBody>
          <a:bodyPr wrap="square" lIns="0" tIns="0" rIns="0" bIns="0" rtlCol="0" anchor="ctr"/>
          <a:lstStyle/>
          <a:p>
            <a:pPr indent="0" marL="0">
              <a:buNone/>
            </a:pPr>
            <a:r>
              <a:rPr lang="en-US" sz="1050" b="1" dirty="0">
                <a:solidFill>
                  <a:srgbClr val="C8551A"/>
                </a:solidFill>
                <a:latin typeface="Calibri" pitchFamily="34" charset="0"/>
                <a:ea typeface="Calibri" pitchFamily="34" charset="-122"/>
                <a:cs typeface="Calibri" pitchFamily="34" charset="-120"/>
              </a:rPr>
              <a:t>40.9 / 53.5 / 58.3% of ceiling</a:t>
            </a:r>
            <a:endParaRPr lang="en-US" sz="1050" dirty="0"/>
          </a:p>
        </p:txBody>
      </p:sp>
      <p:sp>
        <p:nvSpPr>
          <p:cNvPr id="22" name="Shape 20"/>
          <p:cNvSpPr/>
          <p:nvPr/>
        </p:nvSpPr>
        <p:spPr>
          <a:xfrm>
            <a:off x="6217920" y="2990088"/>
            <a:ext cx="5486400" cy="896112"/>
          </a:xfrm>
          <a:prstGeom prst="roundRect">
            <a:avLst>
              <a:gd name="adj" fmla="val 6122"/>
            </a:avLst>
          </a:prstGeom>
          <a:solidFill>
            <a:srgbClr val="EEF3FF"/>
          </a:solidFill>
          <a:ln w="12700">
            <a:solidFill>
              <a:srgbClr val="D6DCE8"/>
            </a:solidFill>
            <a:prstDash val="solid"/>
          </a:ln>
        </p:spPr>
      </p:sp>
      <p:sp>
        <p:nvSpPr>
          <p:cNvPr id="23" name="Text 21"/>
          <p:cNvSpPr txBox="1"/>
          <p:nvPr/>
        </p:nvSpPr>
        <p:spPr>
          <a:xfrm>
            <a:off x="6327648" y="3099816"/>
            <a:ext cx="1143000" cy="676656"/>
          </a:xfrm>
          <a:prstGeom prst="rect">
            <a:avLst/>
          </a:prstGeom>
          <a:solidFill>
            <a:srgbClr val="1E2761"/>
          </a:solid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C.11–C.12</a:t>
            </a:r>
            <a:endParaRPr lang="en-US" sz="1400" dirty="0"/>
          </a:p>
        </p:txBody>
      </p:sp>
      <p:sp>
        <p:nvSpPr>
          <p:cNvPr id="24" name="Text 22"/>
          <p:cNvSpPr txBox="1"/>
          <p:nvPr/>
        </p:nvSpPr>
        <p:spPr>
          <a:xfrm>
            <a:off x="7589520" y="3063240"/>
            <a:ext cx="3977640" cy="292608"/>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Isotropy rescue; pair-free recovery</a:t>
            </a:r>
            <a:endParaRPr lang="en-US" sz="1250" dirty="0"/>
          </a:p>
        </p:txBody>
      </p:sp>
      <p:sp>
        <p:nvSpPr>
          <p:cNvPr id="25" name="Text 23"/>
          <p:cNvSpPr txBox="1"/>
          <p:nvPr/>
        </p:nvSpPr>
        <p:spPr>
          <a:xfrm>
            <a:off x="7589520" y="3355848"/>
            <a:ext cx="3977640" cy="274320"/>
          </a:xfrm>
          <a:prstGeom prst="rect">
            <a:avLst/>
          </a:prstGeom>
          <a:noFill/>
          <a:ln/>
        </p:spPr>
        <p:txBody>
          <a:bodyPr wrap="square" lIns="0" tIns="0" rIns="0" bIns="0" rtlCol="0" anchor="ctr"/>
          <a:lstStyle/>
          <a:p>
            <a:pPr indent="0" marL="0">
              <a:buNone/>
            </a:pPr>
            <a:r>
              <a:rPr lang="en-US" sz="950" dirty="0">
                <a:solidFill>
                  <a:srgbClr val="5B6472"/>
                </a:solidFill>
                <a:latin typeface="Calibri" pitchFamily="34" charset="0"/>
                <a:ea typeface="Calibri" pitchFamily="34" charset="-122"/>
                <a:cs typeface="Calibri" pitchFamily="34" charset="-120"/>
              </a:rPr>
              <a:t>GPT-2 whitening; Gromov–Wasserstein</a:t>
            </a:r>
            <a:endParaRPr lang="en-US" sz="950" dirty="0"/>
          </a:p>
        </p:txBody>
      </p:sp>
      <p:sp>
        <p:nvSpPr>
          <p:cNvPr id="26" name="Text 24"/>
          <p:cNvSpPr txBox="1"/>
          <p:nvPr/>
        </p:nvSpPr>
        <p:spPr>
          <a:xfrm>
            <a:off x="7589520" y="3611880"/>
            <a:ext cx="3977640" cy="256032"/>
          </a:xfrm>
          <a:prstGeom prst="rect">
            <a:avLst/>
          </a:prstGeom>
          <a:noFill/>
          <a:ln/>
        </p:spPr>
        <p:txBody>
          <a:bodyPr wrap="square" lIns="0" tIns="0" rIns="0" bIns="0" rtlCol="0" anchor="ctr"/>
          <a:lstStyle/>
          <a:p>
            <a:pPr indent="0" marL="0">
              <a:buNone/>
            </a:pPr>
            <a:r>
              <a:rPr lang="en-US" sz="1050" b="1" dirty="0">
                <a:solidFill>
                  <a:srgbClr val="C8551A"/>
                </a:solidFill>
                <a:latin typeface="Calibri" pitchFamily="34" charset="0"/>
                <a:ea typeface="Calibri" pitchFamily="34" charset="-122"/>
                <a:cs typeface="Calibri" pitchFamily="34" charset="-120"/>
              </a:rPr>
              <a:t>0.130→0.478; 39.7% with NO pairs</a:t>
            </a:r>
            <a:endParaRPr lang="en-US" sz="1050" dirty="0"/>
          </a:p>
        </p:txBody>
      </p:sp>
      <p:sp>
        <p:nvSpPr>
          <p:cNvPr id="27" name="Shape 25"/>
          <p:cNvSpPr/>
          <p:nvPr/>
        </p:nvSpPr>
        <p:spPr>
          <a:xfrm>
            <a:off x="548640" y="4160520"/>
            <a:ext cx="11064240" cy="457200"/>
          </a:xfrm>
          <a:prstGeom prst="roundRect">
            <a:avLst>
              <a:gd name="adj" fmla="val 12000"/>
            </a:avLst>
          </a:prstGeom>
          <a:solidFill>
            <a:srgbClr val="0F766E"/>
          </a:solidFill>
          <a:ln w="12700">
            <a:solidFill>
              <a:srgbClr val="0F766E"/>
            </a:solidFill>
            <a:prstDash val="solid"/>
          </a:ln>
        </p:spPr>
      </p:sp>
      <p:sp>
        <p:nvSpPr>
          <p:cNvPr id="28" name="Text 26"/>
          <p:cNvSpPr txBox="1"/>
          <p:nvPr/>
        </p:nvSpPr>
        <p:spPr>
          <a:xfrm>
            <a:off x="731520" y="4160520"/>
            <a:ext cx="10698480" cy="4572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PART II · MANY ENCODERS IN ONE SPACE  (G, K)  —  can a component trained on one serve the rest?</a:t>
            </a:r>
            <a:endParaRPr lang="en-US" sz="1250" dirty="0"/>
          </a:p>
        </p:txBody>
      </p:sp>
      <p:sp>
        <p:nvSpPr>
          <p:cNvPr id="29" name="Shape 27"/>
          <p:cNvSpPr/>
          <p:nvPr/>
        </p:nvSpPr>
        <p:spPr>
          <a:xfrm>
            <a:off x="548640" y="4892040"/>
            <a:ext cx="5486400" cy="603504"/>
          </a:xfrm>
          <a:prstGeom prst="roundRect">
            <a:avLst>
              <a:gd name="adj" fmla="val 7576"/>
            </a:avLst>
          </a:prstGeom>
          <a:solidFill>
            <a:srgbClr val="EEF7F3"/>
          </a:solidFill>
          <a:ln w="12700">
            <a:solidFill>
              <a:srgbClr val="CFE3D8"/>
            </a:solidFill>
            <a:prstDash val="solid"/>
          </a:ln>
        </p:spPr>
      </p:sp>
      <p:sp>
        <p:nvSpPr>
          <p:cNvPr id="30" name="Text 28"/>
          <p:cNvSpPr txBox="1"/>
          <p:nvPr/>
        </p:nvSpPr>
        <p:spPr>
          <a:xfrm>
            <a:off x="640080" y="4965192"/>
            <a:ext cx="1417320" cy="457200"/>
          </a:xfrm>
          <a:prstGeom prst="rect">
            <a:avLst/>
          </a:prstGeom>
          <a:solidFill>
            <a:srgbClr val="0F766E"/>
          </a:solid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G0–G4</a:t>
            </a:r>
            <a:endParaRPr lang="en-US" sz="1050" dirty="0"/>
          </a:p>
        </p:txBody>
      </p:sp>
      <p:sp>
        <p:nvSpPr>
          <p:cNvPr id="31" name="Text 29"/>
          <p:cNvSpPr txBox="1"/>
          <p:nvPr/>
        </p:nvSpPr>
        <p:spPr>
          <a:xfrm>
            <a:off x="2148840" y="4937760"/>
            <a:ext cx="3794760" cy="27432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The hub; held-out lineages</a:t>
            </a:r>
            <a:endParaRPr lang="en-US" sz="1050" dirty="0"/>
          </a:p>
        </p:txBody>
      </p:sp>
      <p:sp>
        <p:nvSpPr>
          <p:cNvPr id="32" name="Text 30"/>
          <p:cNvSpPr txBox="1"/>
          <p:nvPr/>
        </p:nvSpPr>
        <p:spPr>
          <a:xfrm>
            <a:off x="2148840" y="5212080"/>
            <a:ext cx="3794760" cy="256032"/>
          </a:xfrm>
          <a:prstGeom prst="rect">
            <a:avLst/>
          </a:prstGeom>
          <a:noFill/>
          <a:ln/>
        </p:spPr>
        <p:txBody>
          <a:bodyPr wrap="square" lIns="0" tIns="0" rIns="0" bIns="0" rtlCol="0" anchor="ctr"/>
          <a:lstStyle/>
          <a:p>
            <a:pPr indent="0" marL="0">
              <a:buNone/>
            </a:pPr>
            <a:r>
              <a:rPr lang="en-US" sz="950" dirty="0">
                <a:solidFill>
                  <a:srgbClr val="C8551A"/>
                </a:solidFill>
                <a:latin typeface="Calibri" pitchFamily="34" charset="0"/>
                <a:ea typeface="Calibri" pitchFamily="34" charset="-122"/>
                <a:cs typeface="Calibri" pitchFamily="34" charset="-120"/>
              </a:rPr>
              <a:t>94.2% to the decimal; ConvNeXt 96.7%</a:t>
            </a:r>
            <a:endParaRPr lang="en-US" sz="950" dirty="0"/>
          </a:p>
        </p:txBody>
      </p:sp>
      <p:sp>
        <p:nvSpPr>
          <p:cNvPr id="33" name="Shape 31"/>
          <p:cNvSpPr/>
          <p:nvPr/>
        </p:nvSpPr>
        <p:spPr>
          <a:xfrm>
            <a:off x="6217920" y="4892040"/>
            <a:ext cx="5486400" cy="603504"/>
          </a:xfrm>
          <a:prstGeom prst="roundRect">
            <a:avLst>
              <a:gd name="adj" fmla="val 7576"/>
            </a:avLst>
          </a:prstGeom>
          <a:solidFill>
            <a:srgbClr val="EEF7F3"/>
          </a:solidFill>
          <a:ln w="12700">
            <a:solidFill>
              <a:srgbClr val="CFE3D8"/>
            </a:solidFill>
            <a:prstDash val="solid"/>
          </a:ln>
        </p:spPr>
      </p:sp>
      <p:sp>
        <p:nvSpPr>
          <p:cNvPr id="34" name="Text 32"/>
          <p:cNvSpPr txBox="1"/>
          <p:nvPr/>
        </p:nvSpPr>
        <p:spPr>
          <a:xfrm>
            <a:off x="6309360" y="4965192"/>
            <a:ext cx="1417320" cy="457200"/>
          </a:xfrm>
          <a:prstGeom prst="rect">
            <a:avLst/>
          </a:prstGeom>
          <a:solidFill>
            <a:srgbClr val="0F766E"/>
          </a:solid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G5–G16</a:t>
            </a:r>
            <a:endParaRPr lang="en-US" sz="1050" dirty="0"/>
          </a:p>
        </p:txBody>
      </p:sp>
      <p:sp>
        <p:nvSpPr>
          <p:cNvPr id="35" name="Text 33"/>
          <p:cNvSpPr txBox="1"/>
          <p:nvPr/>
        </p:nvSpPr>
        <p:spPr>
          <a:xfrm>
            <a:off x="7818120" y="4937760"/>
            <a:ext cx="3794760" cy="27432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What predicts agreement; the width cliff</a:t>
            </a:r>
            <a:endParaRPr lang="en-US" sz="1050" dirty="0"/>
          </a:p>
        </p:txBody>
      </p:sp>
      <p:sp>
        <p:nvSpPr>
          <p:cNvPr id="36" name="Text 34"/>
          <p:cNvSpPr txBox="1"/>
          <p:nvPr/>
        </p:nvSpPr>
        <p:spPr>
          <a:xfrm>
            <a:off x="7818120" y="5212080"/>
            <a:ext cx="3794760" cy="256032"/>
          </a:xfrm>
          <a:prstGeom prst="rect">
            <a:avLst/>
          </a:prstGeom>
          <a:noFill/>
          <a:ln/>
        </p:spPr>
        <p:txBody>
          <a:bodyPr wrap="square" lIns="0" tIns="0" rIns="0" bIns="0" rtlCol="0" anchor="ctr"/>
          <a:lstStyle/>
          <a:p>
            <a:pPr indent="0" marL="0">
              <a:buNone/>
            </a:pPr>
            <a:r>
              <a:rPr lang="en-US" sz="950" dirty="0">
                <a:solidFill>
                  <a:srgbClr val="C8551A"/>
                </a:solidFill>
                <a:latin typeface="Calibri" pitchFamily="34" charset="0"/>
                <a:ea typeface="Calibri" pitchFamily="34" charset="-122"/>
                <a:cs typeface="Calibri" pitchFamily="34" charset="-120"/>
              </a:rPr>
              <a:t>objective +53×; rank wall confirmed, 7 falsified</a:t>
            </a:r>
            <a:endParaRPr lang="en-US" sz="950" dirty="0"/>
          </a:p>
        </p:txBody>
      </p:sp>
      <p:sp>
        <p:nvSpPr>
          <p:cNvPr id="37" name="Shape 35"/>
          <p:cNvSpPr/>
          <p:nvPr/>
        </p:nvSpPr>
        <p:spPr>
          <a:xfrm>
            <a:off x="548640" y="5605272"/>
            <a:ext cx="5486400" cy="603504"/>
          </a:xfrm>
          <a:prstGeom prst="roundRect">
            <a:avLst>
              <a:gd name="adj" fmla="val 7576"/>
            </a:avLst>
          </a:prstGeom>
          <a:solidFill>
            <a:srgbClr val="EEF7F3"/>
          </a:solidFill>
          <a:ln w="12700">
            <a:solidFill>
              <a:srgbClr val="CFE3D8"/>
            </a:solidFill>
            <a:prstDash val="solid"/>
          </a:ln>
        </p:spPr>
      </p:sp>
      <p:sp>
        <p:nvSpPr>
          <p:cNvPr id="38" name="Text 36"/>
          <p:cNvSpPr txBox="1"/>
          <p:nvPr/>
        </p:nvSpPr>
        <p:spPr>
          <a:xfrm>
            <a:off x="640080" y="5678424"/>
            <a:ext cx="1417320" cy="457200"/>
          </a:xfrm>
          <a:prstGeom prst="rect">
            <a:avLst/>
          </a:prstGeom>
          <a:solidFill>
            <a:srgbClr val="0F766E"/>
          </a:solid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G10 · K1–K3</a:t>
            </a:r>
            <a:endParaRPr lang="en-US" sz="1050" dirty="0"/>
          </a:p>
        </p:txBody>
      </p:sp>
      <p:sp>
        <p:nvSpPr>
          <p:cNvPr id="39" name="Text 37"/>
          <p:cNvSpPr txBox="1"/>
          <p:nvPr/>
        </p:nvSpPr>
        <p:spPr>
          <a:xfrm>
            <a:off x="2148840" y="5650992"/>
            <a:ext cx="3794760" cy="27432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Honesty &amp; statistical power</a:t>
            </a:r>
            <a:endParaRPr lang="en-US" sz="1050" dirty="0"/>
          </a:p>
        </p:txBody>
      </p:sp>
      <p:sp>
        <p:nvSpPr>
          <p:cNvPr id="40" name="Text 38"/>
          <p:cNvSpPr txBox="1"/>
          <p:nvPr/>
        </p:nvSpPr>
        <p:spPr>
          <a:xfrm>
            <a:off x="2148840" y="5925312"/>
            <a:ext cx="3794760" cy="256032"/>
          </a:xfrm>
          <a:prstGeom prst="rect">
            <a:avLst/>
          </a:prstGeom>
          <a:noFill/>
          <a:ln/>
        </p:spPr>
        <p:txBody>
          <a:bodyPr wrap="square" lIns="0" tIns="0" rIns="0" bIns="0" rtlCol="0" anchor="ctr"/>
          <a:lstStyle/>
          <a:p>
            <a:pPr indent="0" marL="0">
              <a:buNone/>
            </a:pPr>
            <a:r>
              <a:rPr lang="en-US" sz="950" dirty="0">
                <a:solidFill>
                  <a:srgbClr val="C8551A"/>
                </a:solidFill>
                <a:latin typeface="Calibri" pitchFamily="34" charset="0"/>
                <a:ea typeface="Calibri" pitchFamily="34" charset="-122"/>
                <a:cs typeface="Calibri" pitchFamily="34" charset="-120"/>
              </a:rPr>
              <a:t>11.2 pt declared; CI −0.038–0.024 vs SESOI 0.05</a:t>
            </a:r>
            <a:endParaRPr lang="en-US" sz="950" dirty="0"/>
          </a:p>
        </p:txBody>
      </p:sp>
      <p:sp>
        <p:nvSpPr>
          <p:cNvPr id="41" name="Shape 39"/>
          <p:cNvSpPr/>
          <p:nvPr/>
        </p:nvSpPr>
        <p:spPr>
          <a:xfrm>
            <a:off x="6217920" y="5605272"/>
            <a:ext cx="5486400" cy="603504"/>
          </a:xfrm>
          <a:prstGeom prst="roundRect">
            <a:avLst>
              <a:gd name="adj" fmla="val 7576"/>
            </a:avLst>
          </a:prstGeom>
          <a:solidFill>
            <a:srgbClr val="EEF7F3"/>
          </a:solidFill>
          <a:ln w="12700">
            <a:solidFill>
              <a:srgbClr val="CFE3D8"/>
            </a:solidFill>
            <a:prstDash val="solid"/>
          </a:ln>
        </p:spPr>
      </p:sp>
      <p:sp>
        <p:nvSpPr>
          <p:cNvPr id="42" name="Text 40"/>
          <p:cNvSpPr txBox="1"/>
          <p:nvPr/>
        </p:nvSpPr>
        <p:spPr>
          <a:xfrm>
            <a:off x="6309360" y="5678424"/>
            <a:ext cx="1417320" cy="457200"/>
          </a:xfrm>
          <a:prstGeom prst="rect">
            <a:avLst/>
          </a:prstGeom>
          <a:solidFill>
            <a:srgbClr val="0F766E"/>
          </a:solid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Scale P1–P4</a:t>
            </a:r>
            <a:endParaRPr lang="en-US" sz="1050" dirty="0"/>
          </a:p>
        </p:txBody>
      </p:sp>
      <p:sp>
        <p:nvSpPr>
          <p:cNvPr id="43" name="Text 41"/>
          <p:cNvSpPr txBox="1"/>
          <p:nvPr/>
        </p:nvSpPr>
        <p:spPr>
          <a:xfrm>
            <a:off x="7818120" y="5650992"/>
            <a:ext cx="3794760" cy="27432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Does capacity keep helping?</a:t>
            </a:r>
            <a:endParaRPr lang="en-US" sz="1050" dirty="0"/>
          </a:p>
        </p:txBody>
      </p:sp>
      <p:sp>
        <p:nvSpPr>
          <p:cNvPr id="44" name="Text 42"/>
          <p:cNvSpPr txBox="1"/>
          <p:nvPr/>
        </p:nvSpPr>
        <p:spPr>
          <a:xfrm>
            <a:off x="7818120" y="5925312"/>
            <a:ext cx="3794760" cy="256032"/>
          </a:xfrm>
          <a:prstGeom prst="rect">
            <a:avLst/>
          </a:prstGeom>
          <a:noFill/>
          <a:ln/>
        </p:spPr>
        <p:txBody>
          <a:bodyPr wrap="square" lIns="0" tIns="0" rIns="0" bIns="0" rtlCol="0" anchor="ctr"/>
          <a:lstStyle/>
          <a:p>
            <a:pPr indent="0" marL="0">
              <a:buNone/>
            </a:pPr>
            <a:r>
              <a:rPr lang="en-US" sz="950" dirty="0">
                <a:solidFill>
                  <a:srgbClr val="C8551A"/>
                </a:solidFill>
                <a:latin typeface="Calibri" pitchFamily="34" charset="0"/>
                <a:ea typeface="Calibri" pitchFamily="34" charset="-122"/>
                <a:cs typeface="Calibri" pitchFamily="34" charset="-120"/>
              </a:rPr>
              <a:t>both ladders rise then FALL</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731520" y="2011680"/>
            <a:ext cx="10698480" cy="548640"/>
          </a:xfrm>
          <a:prstGeom prst="rect">
            <a:avLst/>
          </a:prstGeom>
          <a:noFill/>
          <a:ln/>
        </p:spPr>
        <p:txBody>
          <a:bodyPr wrap="square" lIns="0" tIns="0" rIns="0" bIns="0" rtlCol="0" anchor="ctr"/>
          <a:lstStyle/>
          <a:p>
            <a:pPr indent="0" marL="0">
              <a:buNone/>
            </a:pPr>
            <a:r>
              <a:rPr lang="en-US" sz="1800" b="1" spc="600" kern="0" dirty="0">
                <a:solidFill>
                  <a:srgbClr val="CADCFC"/>
                </a:solidFill>
                <a:latin typeface="Calibri" pitchFamily="34" charset="0"/>
                <a:ea typeface="Calibri" pitchFamily="34" charset="-122"/>
                <a:cs typeface="Calibri" pitchFamily="34" charset="-120"/>
              </a:rPr>
              <a:t>PART I</a:t>
            </a:r>
            <a:endParaRPr lang="en-US" sz="1800" dirty="0"/>
          </a:p>
        </p:txBody>
      </p:sp>
      <p:sp>
        <p:nvSpPr>
          <p:cNvPr id="3" name="Text 1"/>
          <p:cNvSpPr txBox="1"/>
          <p:nvPr/>
        </p:nvSpPr>
        <p:spPr>
          <a:xfrm>
            <a:off x="731520" y="2606040"/>
            <a:ext cx="1069848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Two encoders at a time</a:t>
            </a:r>
            <a:endParaRPr lang="en-US" sz="4000" dirty="0"/>
          </a:p>
        </p:txBody>
      </p:sp>
      <p:sp>
        <p:nvSpPr>
          <p:cNvPr id="4" name="Text 2"/>
          <p:cNvSpPr txBox="1"/>
          <p:nvPr/>
        </p:nvSpPr>
        <p:spPr>
          <a:xfrm>
            <a:off x="731520" y="3749040"/>
            <a:ext cx="10058400" cy="109728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Experiments A, B, E, C — is structure shared between two independently trained models, and can a single matrix carry it? Each slide: how it was fitted, what was measured, what it proved, what failed.</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38560" y="6446520"/>
            <a:ext cx="54864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16</a:t>
            </a:r>
            <a:endParaRPr lang="en-US" sz="900" dirty="0"/>
          </a:p>
        </p:txBody>
      </p:sp>
      <p:sp>
        <p:nvSpPr>
          <p:cNvPr id="3" name="Text 1"/>
          <p:cNvSpPr txBox="1"/>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C8551A"/>
                </a:solidFill>
                <a:latin typeface="Calibri" pitchFamily="34" charset="0"/>
                <a:ea typeface="Calibri" pitchFamily="34" charset="-122"/>
                <a:cs typeface="Calibri" pitchFamily="34" charset="-120"/>
              </a:rPr>
              <a:t>EXPERIMENT A · TWO LANGUAGE MODELS</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Do GPT-2 and Pythia-160M carry the same information, layer by layer?</a:t>
            </a:r>
            <a:endParaRPr lang="en-US" sz="2700" dirty="0"/>
          </a:p>
        </p:txBody>
      </p:sp>
      <p:pic>
        <p:nvPicPr>
          <p:cNvPr id="5" name="Image 0" descr="/home/claude/deck/img/cka.png">    </p:cNvPr>
          <p:cNvPicPr>
            <a:picLocks noChangeAspect="1"/>
          </p:cNvPicPr>
          <p:nvPr/>
        </p:nvPicPr>
        <p:blipFill>
          <a:blip r:embed="rId1"/>
          <a:srcRect l="0" r="0" t="0" b="0"/>
          <a:stretch/>
        </p:blipFill>
        <p:spPr>
          <a:xfrm>
            <a:off x="548640" y="1508760"/>
            <a:ext cx="3749040" cy="3108960"/>
          </a:xfrm>
          <a:prstGeom prst="rect">
            <a:avLst/>
          </a:prstGeom>
        </p:spPr>
      </p:pic>
      <p:pic>
        <p:nvPicPr>
          <p:cNvPr id="6" name="Image 1" descr="/home/claude/deck/img/stitching_r2.png">    </p:cNvPr>
          <p:cNvPicPr>
            <a:picLocks noChangeAspect="1"/>
          </p:cNvPicPr>
          <p:nvPr/>
        </p:nvPicPr>
        <p:blipFill>
          <a:blip r:embed="rId2"/>
          <a:srcRect l="0" r="0" t="0" b="0"/>
          <a:stretch/>
        </p:blipFill>
        <p:spPr>
          <a:xfrm>
            <a:off x="4434840" y="1508760"/>
            <a:ext cx="4023360" cy="2148840"/>
          </a:xfrm>
          <a:prstGeom prst="rect">
            <a:avLst/>
          </a:prstGeom>
        </p:spPr>
      </p:pic>
      <p:sp>
        <p:nvSpPr>
          <p:cNvPr id="7" name="Shape 3"/>
          <p:cNvSpPr/>
          <p:nvPr/>
        </p:nvSpPr>
        <p:spPr>
          <a:xfrm>
            <a:off x="8595360" y="1508760"/>
            <a:ext cx="3017520" cy="3108960"/>
          </a:xfrm>
          <a:prstGeom prst="roundRect">
            <a:avLst>
              <a:gd name="adj" fmla="val 2424"/>
            </a:avLst>
          </a:prstGeom>
          <a:solidFill>
            <a:srgbClr val="EEF3FF"/>
          </a:solidFill>
          <a:ln w="12700">
            <a:solidFill>
              <a:srgbClr val="EEF3FF"/>
            </a:solidFill>
            <a:prstDash val="solid"/>
          </a:ln>
        </p:spPr>
      </p:sp>
      <p:sp>
        <p:nvSpPr>
          <p:cNvPr id="8" name="Text 4"/>
          <p:cNvSpPr txBox="1"/>
          <p:nvPr/>
        </p:nvSpPr>
        <p:spPr>
          <a:xfrm>
            <a:off x="8759952" y="1618488"/>
            <a:ext cx="2688336"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Data &amp; setup</a:t>
            </a:r>
            <a:endParaRPr lang="en-US" sz="1300" dirty="0"/>
          </a:p>
        </p:txBody>
      </p:sp>
      <p:sp>
        <p:nvSpPr>
          <p:cNvPr id="9" name="Text 5"/>
          <p:cNvSpPr txBox="1"/>
          <p:nvPr/>
        </p:nvSpPr>
        <p:spPr>
          <a:xfrm>
            <a:off x="8759952" y="2011680"/>
            <a:ext cx="2688336" cy="251460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Data: 10,000 WikiText passages through both frozen models. Hidden states masked-mean-pooled per layer → A_layers [13, 10000, 768]. Per layer: CKA (structure) and one ridge map GPT-2→Pythia (stitching), with a seeded random-weights Pythia as control. 7,500 train / 768 = 9.8 rows/dim. Nothing was trained.</a:t>
            </a:r>
            <a:endParaRPr lang="en-US" sz="1100" dirty="0"/>
          </a:p>
        </p:txBody>
      </p:sp>
      <p:sp>
        <p:nvSpPr>
          <p:cNvPr id="10" name="Text 6"/>
          <p:cNvSpPr txBox="1"/>
          <p:nvPr/>
        </p:nvSpPr>
        <p:spPr>
          <a:xfrm>
            <a:off x="548640" y="4709160"/>
            <a:ext cx="7955280" cy="1737360"/>
          </a:xfrm>
          <a:prstGeom prst="rect">
            <a:avLst/>
          </a:prstGeom>
          <a:noFill/>
          <a:ln/>
        </p:spPr>
        <p:txBody>
          <a:bodyPr wrap="square" lIns="0" tIns="0" rIns="0" bIns="0" rtlCol="0" anchor="t"/>
          <a:lstStyle/>
          <a:p>
            <a:pPr marL="177800" indent="-177800">
              <a:spcAft>
                <a:spcPts val="500"/>
              </a:spcAft>
              <a:buSzPct val="100000"/>
              <a:buChar char="•"/>
            </a:pPr>
            <a:r>
              <a:rPr lang="en-US" sz="1050" dirty="0">
                <a:solidFill>
                  <a:srgbClr val="1F2937"/>
                </a:solidFill>
                <a:latin typeface="Calibri" pitchFamily="34" charset="0"/>
                <a:ea typeface="Calibri" pitchFamily="34" charset="-122"/>
                <a:cs typeface="Calibri" pitchFamily="34" charset="-120"/>
              </a:rPr>
              <a:t>Measured — CKA (structure agreement): trained 0.359 vs random 0.067 = 5.3× (diagonal mean 0.424 = 6.3×). Stitching R² (linear map GPT-2→Pythia): 0.797 at layer 11 vs 0.173 random.</a:t>
            </a:r>
            <a:endParaRPr lang="en-US" sz="1050" dirty="0"/>
          </a:p>
          <a:p>
            <a:pPr marL="177800" indent="-177800">
              <a:spcAft>
                <a:spcPts val="500"/>
              </a:spcAft>
              <a:buSzPct val="100000"/>
              <a:buChar char="•"/>
            </a:pPr>
            <a:r>
              <a:rPr lang="en-US" sz="1050" dirty="0">
                <a:solidFill>
                  <a:srgbClr val="1F2937"/>
                </a:solidFill>
                <a:latin typeface="Calibri" pitchFamily="34" charset="0"/>
                <a:ea typeface="Calibri" pitchFamily="34" charset="-122"/>
                <a:cs typeface="Calibri" pitchFamily="34" charset="-120"/>
              </a:rPr>
              <a:t>Proved: convergence exists at all, across architectures and data — the licence for everything after. The trained curve RISES with depth (0.59→0.80) while the random control DECAYS (0.38→0.09): opposite slopes, an 8× gap at layer 11.</a:t>
            </a:r>
            <a:endParaRPr lang="en-US" sz="1050" dirty="0"/>
          </a:p>
          <a:p>
            <a:pPr marL="177800" indent="-177800">
              <a:spcAft>
                <a:spcPts val="500"/>
              </a:spcAft>
              <a:buSzPct val="100000"/>
              <a:buChar char="•"/>
            </a:pPr>
            <a:r>
              <a:rPr lang="en-US" sz="1050" dirty="0">
                <a:solidFill>
                  <a:srgbClr val="1F2937"/>
                </a:solidFill>
                <a:latin typeface="Calibri" pitchFamily="34" charset="0"/>
                <a:ea typeface="Calibri" pitchFamily="34" charset="-122"/>
                <a:cs typeface="Calibri" pitchFamily="34" charset="-120"/>
              </a:rPr>
              <a:t>Failure caught → converted: a rank-one ‘hubness’ component carried 97% of the CKA matrix; dividing marginals out lifted the diagonal 0.98→1.16. Run 1 (1,646 rows) FAILED on starvation; run 2 (10,000) passed — same pipeline, more rows.</a:t>
            </a:r>
            <a:endParaRPr lang="en-US" sz="1050" dirty="0"/>
          </a:p>
        </p:txBody>
      </p:sp>
      <p:sp>
        <p:nvSpPr>
          <p:cNvPr id="11" name="Shape 7"/>
          <p:cNvSpPr/>
          <p:nvPr/>
        </p:nvSpPr>
        <p:spPr>
          <a:xfrm>
            <a:off x="8595360" y="4709160"/>
            <a:ext cx="3017520" cy="1737360"/>
          </a:xfrm>
          <a:prstGeom prst="roundRect">
            <a:avLst>
              <a:gd name="adj" fmla="val 3158"/>
            </a:avLst>
          </a:prstGeom>
          <a:solidFill>
            <a:srgbClr val="F5F7FB"/>
          </a:solidFill>
          <a:ln w="12700">
            <a:solidFill>
              <a:srgbClr val="D6DCE8"/>
            </a:solidFill>
            <a:prstDash val="solid"/>
          </a:ln>
        </p:spPr>
      </p:sp>
      <p:sp>
        <p:nvSpPr>
          <p:cNvPr id="12" name="Text 8"/>
          <p:cNvSpPr txBox="1"/>
          <p:nvPr/>
        </p:nvSpPr>
        <p:spPr>
          <a:xfrm>
            <a:off x="8732520" y="4782312"/>
            <a:ext cx="2743200" cy="274320"/>
          </a:xfrm>
          <a:prstGeom prst="rect">
            <a:avLst/>
          </a:prstGeom>
          <a:noFill/>
          <a:ln/>
        </p:spPr>
        <p:txBody>
          <a:bodyPr wrap="square" lIns="0" tIns="0" rIns="0" bIns="0" rtlCol="0" anchor="ctr"/>
          <a:lstStyle/>
          <a:p>
            <a:pPr indent="0" marL="0">
              <a:buNone/>
            </a:pPr>
            <a:r>
              <a:rPr lang="en-US" sz="1000" b="1" dirty="0">
                <a:solidFill>
                  <a:srgbClr val="C8551A"/>
                </a:solidFill>
                <a:latin typeface="Calibri" pitchFamily="34" charset="0"/>
                <a:ea typeface="Calibri" pitchFamily="34" charset="-122"/>
                <a:cs typeface="Calibri" pitchFamily="34" charset="-120"/>
              </a:rPr>
              <a:t>the short math</a:t>
            </a:r>
            <a:endParaRPr lang="en-US" sz="1000" dirty="0"/>
          </a:p>
        </p:txBody>
      </p:sp>
      <p:sp>
        <p:nvSpPr>
          <p:cNvPr id="13" name="Text 9"/>
          <p:cNvSpPr txBox="1"/>
          <p:nvPr/>
        </p:nvSpPr>
        <p:spPr>
          <a:xfrm>
            <a:off x="8732520" y="5056632"/>
            <a:ext cx="2743200" cy="1325880"/>
          </a:xfrm>
          <a:prstGeom prst="rect">
            <a:avLst/>
          </a:prstGeom>
          <a:noFill/>
          <a:ln/>
        </p:spPr>
        <p:txBody>
          <a:bodyPr wrap="square" lIns="0" tIns="0" rIns="0" bIns="0" rtlCol="0" anchor="t"/>
          <a:lstStyle/>
          <a:p>
            <a:pPr indent="0" marL="0">
              <a:buNone/>
            </a:pPr>
            <a:r>
              <a:rPr lang="en-US" sz="1000" dirty="0">
                <a:solidFill>
                  <a:srgbClr val="1F2937"/>
                </a:solidFill>
                <a:latin typeface="Courier New" pitchFamily="34" charset="0"/>
                <a:ea typeface="Courier New" pitchFamily="34" charset="-122"/>
                <a:cs typeface="Courier New" pitchFamily="34" charset="-120"/>
              </a:rPr>
              <a:t>CKA(K,L) = HSIC(K,L) /</a:t>
            </a:r>
            <a:endParaRPr lang="en-US" sz="1000" dirty="0"/>
          </a:p>
          <a:p>
            <a:pPr indent="0" marL="0">
              <a:buNone/>
            </a:pPr>
            <a:r>
              <a:rPr lang="en-US" sz="1000" dirty="0">
                <a:solidFill>
                  <a:srgbClr val="1F2937"/>
                </a:solidFill>
                <a:latin typeface="Courier New" pitchFamily="34" charset="0"/>
                <a:ea typeface="Courier New" pitchFamily="34" charset="-122"/>
                <a:cs typeface="Courier New" pitchFamily="34" charset="-120"/>
              </a:rPr>
              <a:t>  sqrt(HSIC(K,K) HSIC(L,L))</a:t>
            </a:r>
            <a:endParaRPr lang="en-US" sz="1000" dirty="0"/>
          </a:p>
          <a:p>
            <a:pPr indent="0" marL="0">
              <a:buNone/>
            </a:pPr>
            <a:r>
              <a:rPr lang="en-US" sz="1000" dirty="0">
                <a:solidFill>
                  <a:srgbClr val="1F2937"/>
                </a:solidFill>
                <a:latin typeface="Courier New" pitchFamily="34" charset="0"/>
                <a:ea typeface="Courier New" pitchFamily="34" charset="-122"/>
                <a:cs typeface="Courier New" pitchFamily="34" charset="-120"/>
              </a:rPr>
              <a:t>pool_i = sum_t h_t / T (pads out)</a:t>
            </a:r>
            <a:endParaRPr lang="en-US" sz="1000" dirty="0"/>
          </a:p>
          <a:p>
            <a:pPr indent="0" marL="0">
              <a:buNone/>
            </a:pPr>
            <a:r>
              <a:rPr lang="en-US" sz="1000" dirty="0">
                <a:solidFill>
                  <a:srgbClr val="1F2937"/>
                </a:solidFill>
                <a:latin typeface="Courier New" pitchFamily="34" charset="0"/>
                <a:ea typeface="Courier New" pitchFamily="34" charset="-122"/>
                <a:cs typeface="Courier New" pitchFamily="34" charset="-120"/>
              </a:rPr>
              <a:t>W_l = ridge(X_l -&gt; Y_l) per layer</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38560" y="6446520"/>
            <a:ext cx="54864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17</a:t>
            </a:r>
            <a:endParaRPr lang="en-US" sz="900" dirty="0"/>
          </a:p>
        </p:txBody>
      </p:sp>
      <p:sp>
        <p:nvSpPr>
          <p:cNvPr id="3" name="Text 1"/>
          <p:cNvSpPr txBox="1"/>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C8551A"/>
                </a:solidFill>
                <a:latin typeface="Calibri" pitchFamily="34" charset="0"/>
                <a:ea typeface="Calibri" pitchFamily="34" charset="-122"/>
                <a:cs typeface="Calibri" pitchFamily="34" charset="-120"/>
              </a:rPr>
              <a:t>EXPERIMENT B · ENGINEERED SOLUTION #1</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MobileCLIP → SigLIP 2: one 0.79 MB matrix lets a phone encoder search a server index</a:t>
            </a:r>
            <a:endParaRPr lang="en-US" sz="2700" dirty="0"/>
          </a:p>
        </p:txBody>
      </p:sp>
      <p:pic>
        <p:nvPicPr>
          <p:cNvPr id="5" name="Image 0" descr="/home/claude/deck/img/proof_geometry_real.png">    </p:cNvPr>
          <p:cNvPicPr>
            <a:picLocks noChangeAspect="1"/>
          </p:cNvPicPr>
          <p:nvPr/>
        </p:nvPicPr>
        <p:blipFill>
          <a:blip r:embed="rId1"/>
          <a:srcRect l="0" r="0" t="0" b="0"/>
          <a:stretch/>
        </p:blipFill>
        <p:spPr>
          <a:xfrm>
            <a:off x="548640" y="1508760"/>
            <a:ext cx="6583680" cy="2880360"/>
          </a:xfrm>
          <a:prstGeom prst="rect">
            <a:avLst/>
          </a:prstGeom>
        </p:spPr>
      </p:pic>
      <p:sp>
        <p:nvSpPr>
          <p:cNvPr id="6" name="Shape 3"/>
          <p:cNvSpPr/>
          <p:nvPr/>
        </p:nvSpPr>
        <p:spPr>
          <a:xfrm>
            <a:off x="7315200" y="1508760"/>
            <a:ext cx="4297680" cy="2880360"/>
          </a:xfrm>
          <a:prstGeom prst="roundRect">
            <a:avLst>
              <a:gd name="adj" fmla="val 2540"/>
            </a:avLst>
          </a:prstGeom>
          <a:solidFill>
            <a:srgbClr val="EEF3FF"/>
          </a:solidFill>
          <a:ln w="12700">
            <a:solidFill>
              <a:srgbClr val="EEF3FF"/>
            </a:solidFill>
            <a:prstDash val="solid"/>
          </a:ln>
        </p:spPr>
      </p:sp>
      <p:sp>
        <p:nvSpPr>
          <p:cNvPr id="7" name="Text 4"/>
          <p:cNvSpPr txBox="1"/>
          <p:nvPr/>
        </p:nvSpPr>
        <p:spPr>
          <a:xfrm>
            <a:off x="7479792" y="1618488"/>
            <a:ext cx="3968496"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Data &amp; how it was fitted</a:t>
            </a:r>
            <a:endParaRPr lang="en-US" sz="1300" dirty="0"/>
          </a:p>
        </p:txBody>
      </p:sp>
      <p:sp>
        <p:nvSpPr>
          <p:cNvPr id="8" name="Text 5"/>
          <p:cNvSpPr txBox="1"/>
          <p:nvPr/>
        </p:nvSpPr>
        <p:spPr>
          <a:xfrm>
            <a:off x="7479792" y="2011680"/>
            <a:ext cx="3968496" cy="228600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Two frozen image–text encoders that never met: MobileCLIP-S1 (phone tier, 512-d) and SigLIP 2 (server, 768-d). Data: 4,000 COCO val2017 image–caption pairs — 3,000 train / 1,000 held out. One ridge matrix W (512×768) fitted to match REPRESENTATIONS — it never sees the retrieval task it is later scored on. SigLIP's own text tower and cosine ranking are reused unchanged. Exported as Core ML fp16, bit-exact.</a:t>
            </a:r>
            <a:endParaRPr lang="en-US" sz="1100" dirty="0"/>
          </a:p>
        </p:txBody>
      </p:sp>
      <p:sp>
        <p:nvSpPr>
          <p:cNvPr id="9" name="Text 6"/>
          <p:cNvSpPr txBox="1"/>
          <p:nvPr/>
        </p:nvSpPr>
        <p:spPr>
          <a:xfrm>
            <a:off x="548640" y="4526280"/>
            <a:ext cx="11064240" cy="1828800"/>
          </a:xfrm>
          <a:prstGeom prst="rect">
            <a:avLst/>
          </a:prstGeom>
          <a:noFill/>
          <a:ln/>
        </p:spPr>
        <p:txBody>
          <a:bodyPr wrap="square" lIns="0" tIns="0" rIns="0" bIns="0" rtlCol="0" anchor="t"/>
          <a:lstStyle/>
          <a:p>
            <a:pPr marL="177800" indent="-177800">
              <a:spcAft>
                <a:spcPts val="400"/>
              </a:spcAft>
              <a:buSzPct val="100000"/>
              <a:buChar char="•"/>
            </a:pPr>
            <a:r>
              <a:rPr lang="en-US" sz="1050" dirty="0">
                <a:solidFill>
                  <a:srgbClr val="1F2937"/>
                </a:solidFill>
                <a:latin typeface="Calibri" pitchFamily="34" charset="0"/>
                <a:ea typeface="Calibri" pitchFamily="34" charset="-122"/>
                <a:cs typeface="Calibri" pitchFamily="34" charset="-120"/>
              </a:rPr>
              <a:t>Measured — held-out R² 0.592 (reconstruction); mean cosine to the true twin 0.900 (raw was −0.003); verification AUC 0.999 (no-adapter control 0.477); R@1 88.4% and R@5 95.1% of the jointly-trained ceiling; 39 ms upload-to-index.</a:t>
            </a:r>
            <a:endParaRPr lang="en-US" sz="1050" dirty="0"/>
          </a:p>
          <a:p>
            <a:pPr marL="177800" indent="-177800">
              <a:spcAft>
                <a:spcPts val="400"/>
              </a:spcAft>
              <a:buSzPct val="100000"/>
              <a:buChar char="•"/>
            </a:pPr>
            <a:r>
              <a:rPr lang="en-US" sz="1050" dirty="0">
                <a:solidFill>
                  <a:srgbClr val="1F2937"/>
                </a:solidFill>
                <a:latin typeface="Calibri" pitchFamily="34" charset="0"/>
                <a:ea typeface="Calibri" pitchFamily="34" charset="-122"/>
                <a:cs typeface="Calibri" pitchFamily="34" charset="-120"/>
              </a:rPr>
              <a:t>Failure → finding: orthogonal Procrustes (rotation only) scores R² 0.038 — the spaces differ by a STRETCH (W's singular values span 69×). Related, not rigid.</a:t>
            </a:r>
            <a:endParaRPr lang="en-US" sz="1050" dirty="0"/>
          </a:p>
          <a:p>
            <a:pPr marL="177800" indent="-177800">
              <a:spcAft>
                <a:spcPts val="400"/>
              </a:spcAft>
              <a:buSzPct val="100000"/>
              <a:buChar char="•"/>
            </a:pPr>
            <a:r>
              <a:rPr lang="en-US" sz="1050" dirty="0">
                <a:solidFill>
                  <a:srgbClr val="1F2937"/>
                </a:solidFill>
                <a:latin typeface="Calibri" pitchFamily="34" charset="0"/>
                <a:ea typeface="Calibri" pitchFamily="34" charset="-122"/>
                <a:cs typeface="Calibri" pitchFamily="34" charset="-120"/>
              </a:rPr>
              <a:t>Proved: the shared structure lives in the representations, not the connector — a task-free matrix transfers BETTER than a task-trained one.</a:t>
            </a:r>
            <a:endParaRPr lang="en-US" sz="1050" dirty="0"/>
          </a:p>
          <a:p>
            <a:pPr marL="177800" indent="-177800">
              <a:spcAft>
                <a:spcPts val="400"/>
              </a:spcAft>
              <a:buSzPct val="100000"/>
              <a:buChar char="•"/>
            </a:pPr>
            <a:r>
              <a:rPr lang="en-US" sz="1050" dirty="0">
                <a:solidFill>
                  <a:srgbClr val="1F2937"/>
                </a:solidFill>
                <a:latin typeface="Calibri" pitchFamily="34" charset="0"/>
                <a:ea typeface="Calibri" pitchFamily="34" charset="-122"/>
                <a:cs typeface="Calibri" pitchFamily="34" charset="-120"/>
              </a:rPr>
              <a:t>Cat reading (panel C): the phone cat vector sits nearly on top of its server twin (cos 0.868), and the caption ‘a cat’ ranks both almost identically.</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38560" y="6446520"/>
            <a:ext cx="54864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18</a:t>
            </a:r>
            <a:endParaRPr lang="en-US" sz="900" dirty="0"/>
          </a:p>
        </p:txBody>
      </p:sp>
      <p:sp>
        <p:nvSpPr>
          <p:cNvPr id="3" name="Text 1"/>
          <p:cNvSpPr txBox="1"/>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C8551A"/>
                </a:solidFill>
                <a:latin typeface="Calibri" pitchFamily="34" charset="0"/>
                <a:ea typeface="Calibri" pitchFamily="34" charset="-122"/>
                <a:cs typeface="Calibri" pitchFamily="34" charset="-120"/>
              </a:rPr>
              <a:t>EXPERIMENT B · WHAT ONE MATRIX BUYS</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The failure that proved linearity — and the same adapter as three different decisions</a:t>
            </a:r>
            <a:endParaRPr lang="en-US" sz="2700" dirty="0"/>
          </a:p>
        </p:txBody>
      </p:sp>
      <p:sp>
        <p:nvSpPr>
          <p:cNvPr id="5" name="Text 3"/>
          <p:cNvSpPr txBox="1"/>
          <p:nvPr/>
        </p:nvSpPr>
        <p:spPr>
          <a:xfrm>
            <a:off x="548640" y="1463040"/>
            <a:ext cx="2651760" cy="685800"/>
          </a:xfrm>
          <a:prstGeom prst="rect">
            <a:avLst/>
          </a:prstGeom>
          <a:noFill/>
          <a:ln/>
        </p:spPr>
        <p:txBody>
          <a:bodyPr wrap="square" lIns="0" tIns="0" rIns="0" bIns="0" rtlCol="0" anchor="ctr"/>
          <a:lstStyle/>
          <a:p>
            <a:pPr algn="ctr" indent="0" marL="0">
              <a:buNone/>
            </a:pPr>
            <a:r>
              <a:rPr lang="en-US" sz="3600" b="1" dirty="0">
                <a:solidFill>
                  <a:srgbClr val="1E2761"/>
                </a:solidFill>
                <a:latin typeface="Cambria" pitchFamily="34" charset="0"/>
                <a:ea typeface="Cambria" pitchFamily="34" charset="-122"/>
                <a:cs typeface="Cambria" pitchFamily="34" charset="-120"/>
              </a:rPr>
              <a:t>0.592</a:t>
            </a:r>
            <a:endParaRPr lang="en-US" sz="3600" dirty="0"/>
          </a:p>
        </p:txBody>
      </p:sp>
      <p:sp>
        <p:nvSpPr>
          <p:cNvPr id="6" name="Text 4"/>
          <p:cNvSpPr txBox="1"/>
          <p:nvPr/>
        </p:nvSpPr>
        <p:spPr>
          <a:xfrm>
            <a:off x="548640" y="2121408"/>
            <a:ext cx="2651760" cy="457200"/>
          </a:xfrm>
          <a:prstGeom prst="rect">
            <a:avLst/>
          </a:prstGeom>
          <a:noFill/>
          <a:ln/>
        </p:spPr>
        <p:txBody>
          <a:bodyPr wrap="square" lIns="0" tIns="0" rIns="0" bIns="0" rtlCol="0" anchor="ctr"/>
          <a:lstStyle/>
          <a:p>
            <a:pPr algn="ctr" indent="0" marL="0">
              <a:buNone/>
            </a:pPr>
            <a:r>
              <a:rPr lang="en-US" sz="1050" dirty="0">
                <a:solidFill>
                  <a:srgbClr val="5B6472"/>
                </a:solidFill>
                <a:latin typeface="Calibri" pitchFamily="34" charset="0"/>
                <a:ea typeface="Calibri" pitchFamily="34" charset="-122"/>
                <a:cs typeface="Calibri" pitchFamily="34" charset="-120"/>
              </a:rPr>
              <a:t>held-out R² (reconstruction)</a:t>
            </a:r>
            <a:endParaRPr lang="en-US" sz="1050" dirty="0"/>
          </a:p>
        </p:txBody>
      </p:sp>
      <p:sp>
        <p:nvSpPr>
          <p:cNvPr id="7" name="Text 5"/>
          <p:cNvSpPr txBox="1"/>
          <p:nvPr/>
        </p:nvSpPr>
        <p:spPr>
          <a:xfrm>
            <a:off x="3291840" y="1463040"/>
            <a:ext cx="2651760" cy="685800"/>
          </a:xfrm>
          <a:prstGeom prst="rect">
            <a:avLst/>
          </a:prstGeom>
          <a:noFill/>
          <a:ln/>
        </p:spPr>
        <p:txBody>
          <a:bodyPr wrap="square" lIns="0" tIns="0" rIns="0" bIns="0" rtlCol="0" anchor="ctr"/>
          <a:lstStyle/>
          <a:p>
            <a:pPr algn="ctr" indent="0" marL="0">
              <a:buNone/>
            </a:pPr>
            <a:r>
              <a:rPr lang="en-US" sz="3600" b="1" dirty="0">
                <a:solidFill>
                  <a:srgbClr val="1E2761"/>
                </a:solidFill>
                <a:latin typeface="Cambria" pitchFamily="34" charset="0"/>
                <a:ea typeface="Cambria" pitchFamily="34" charset="-122"/>
                <a:cs typeface="Cambria" pitchFamily="34" charset="-120"/>
              </a:rPr>
              <a:t>0.900</a:t>
            </a:r>
            <a:endParaRPr lang="en-US" sz="3600" dirty="0"/>
          </a:p>
        </p:txBody>
      </p:sp>
      <p:sp>
        <p:nvSpPr>
          <p:cNvPr id="8" name="Text 6"/>
          <p:cNvSpPr txBox="1"/>
          <p:nvPr/>
        </p:nvSpPr>
        <p:spPr>
          <a:xfrm>
            <a:off x="3291840" y="2121408"/>
            <a:ext cx="2651760" cy="457200"/>
          </a:xfrm>
          <a:prstGeom prst="rect">
            <a:avLst/>
          </a:prstGeom>
          <a:noFill/>
          <a:ln/>
        </p:spPr>
        <p:txBody>
          <a:bodyPr wrap="square" lIns="0" tIns="0" rIns="0" bIns="0" rtlCol="0" anchor="ctr"/>
          <a:lstStyle/>
          <a:p>
            <a:pPr algn="ctr" indent="0" marL="0">
              <a:buNone/>
            </a:pPr>
            <a:r>
              <a:rPr lang="en-US" sz="1050" dirty="0">
                <a:solidFill>
                  <a:srgbClr val="5B6472"/>
                </a:solidFill>
                <a:latin typeface="Calibri" pitchFamily="34" charset="0"/>
                <a:ea typeface="Calibri" pitchFamily="34" charset="-122"/>
                <a:cs typeface="Calibri" pitchFamily="34" charset="-120"/>
              </a:rPr>
              <a:t>mean cosine to the true twin</a:t>
            </a:r>
            <a:endParaRPr lang="en-US" sz="1050" dirty="0"/>
          </a:p>
        </p:txBody>
      </p:sp>
      <p:sp>
        <p:nvSpPr>
          <p:cNvPr id="9" name="Text 7"/>
          <p:cNvSpPr txBox="1"/>
          <p:nvPr/>
        </p:nvSpPr>
        <p:spPr>
          <a:xfrm>
            <a:off x="6035040" y="1463040"/>
            <a:ext cx="2651760" cy="685800"/>
          </a:xfrm>
          <a:prstGeom prst="rect">
            <a:avLst/>
          </a:prstGeom>
          <a:noFill/>
          <a:ln/>
        </p:spPr>
        <p:txBody>
          <a:bodyPr wrap="square" lIns="0" tIns="0" rIns="0" bIns="0" rtlCol="0" anchor="ctr"/>
          <a:lstStyle/>
          <a:p>
            <a:pPr algn="ctr" indent="0" marL="0">
              <a:buNone/>
            </a:pPr>
            <a:r>
              <a:rPr lang="en-US" sz="3600" b="1" dirty="0">
                <a:solidFill>
                  <a:srgbClr val="1E2761"/>
                </a:solidFill>
                <a:latin typeface="Cambria" pitchFamily="34" charset="0"/>
                <a:ea typeface="Cambria" pitchFamily="34" charset="-122"/>
                <a:cs typeface="Cambria" pitchFamily="34" charset="-120"/>
              </a:rPr>
              <a:t>88.4%</a:t>
            </a:r>
            <a:endParaRPr lang="en-US" sz="3600" dirty="0"/>
          </a:p>
        </p:txBody>
      </p:sp>
      <p:sp>
        <p:nvSpPr>
          <p:cNvPr id="10" name="Text 8"/>
          <p:cNvSpPr txBox="1"/>
          <p:nvPr/>
        </p:nvSpPr>
        <p:spPr>
          <a:xfrm>
            <a:off x="6035040" y="2121408"/>
            <a:ext cx="2651760" cy="457200"/>
          </a:xfrm>
          <a:prstGeom prst="rect">
            <a:avLst/>
          </a:prstGeom>
          <a:noFill/>
          <a:ln/>
        </p:spPr>
        <p:txBody>
          <a:bodyPr wrap="square" lIns="0" tIns="0" rIns="0" bIns="0" rtlCol="0" anchor="ctr"/>
          <a:lstStyle/>
          <a:p>
            <a:pPr algn="ctr" indent="0" marL="0">
              <a:buNone/>
            </a:pPr>
            <a:r>
              <a:rPr lang="en-US" sz="1050" dirty="0">
                <a:solidFill>
                  <a:srgbClr val="5B6472"/>
                </a:solidFill>
                <a:latin typeface="Calibri" pitchFamily="34" charset="0"/>
                <a:ea typeface="Calibri" pitchFamily="34" charset="-122"/>
                <a:cs typeface="Calibri" pitchFamily="34" charset="-120"/>
              </a:rPr>
              <a:t>of the jointly-trained ceiling (R@1)</a:t>
            </a:r>
            <a:endParaRPr lang="en-US" sz="1050" dirty="0"/>
          </a:p>
        </p:txBody>
      </p:sp>
      <p:sp>
        <p:nvSpPr>
          <p:cNvPr id="11" name="Text 9"/>
          <p:cNvSpPr txBox="1"/>
          <p:nvPr/>
        </p:nvSpPr>
        <p:spPr>
          <a:xfrm>
            <a:off x="8778240" y="1463040"/>
            <a:ext cx="2834640" cy="685800"/>
          </a:xfrm>
          <a:prstGeom prst="rect">
            <a:avLst/>
          </a:prstGeom>
          <a:noFill/>
          <a:ln/>
        </p:spPr>
        <p:txBody>
          <a:bodyPr wrap="square" lIns="0" tIns="0" rIns="0" bIns="0" rtlCol="0" anchor="ctr"/>
          <a:lstStyle/>
          <a:p>
            <a:pPr algn="ctr" indent="0" marL="0">
              <a:buNone/>
            </a:pPr>
            <a:r>
              <a:rPr lang="en-US" sz="3600" b="1" dirty="0">
                <a:solidFill>
                  <a:srgbClr val="C8551A"/>
                </a:solidFill>
                <a:latin typeface="Cambria" pitchFamily="34" charset="0"/>
                <a:ea typeface="Cambria" pitchFamily="34" charset="-122"/>
                <a:cs typeface="Cambria" pitchFamily="34" charset="-120"/>
              </a:rPr>
              <a:t>0.79 MB</a:t>
            </a:r>
            <a:endParaRPr lang="en-US" sz="3600" dirty="0"/>
          </a:p>
        </p:txBody>
      </p:sp>
      <p:sp>
        <p:nvSpPr>
          <p:cNvPr id="12" name="Text 10"/>
          <p:cNvSpPr txBox="1"/>
          <p:nvPr/>
        </p:nvSpPr>
        <p:spPr>
          <a:xfrm>
            <a:off x="8778240" y="2121408"/>
            <a:ext cx="2834640" cy="457200"/>
          </a:xfrm>
          <a:prstGeom prst="rect">
            <a:avLst/>
          </a:prstGeom>
          <a:noFill/>
          <a:ln/>
        </p:spPr>
        <p:txBody>
          <a:bodyPr wrap="square" lIns="0" tIns="0" rIns="0" bIns="0" rtlCol="0" anchor="ctr"/>
          <a:lstStyle/>
          <a:p>
            <a:pPr algn="ctr" indent="0" marL="0">
              <a:buNone/>
            </a:pPr>
            <a:r>
              <a:rPr lang="en-US" sz="1050" dirty="0">
                <a:solidFill>
                  <a:srgbClr val="5B6472"/>
                </a:solidFill>
                <a:latin typeface="Calibri" pitchFamily="34" charset="0"/>
                <a:ea typeface="Calibri" pitchFamily="34" charset="-122"/>
                <a:cs typeface="Calibri" pitchFamily="34" charset="-120"/>
              </a:rPr>
              <a:t>shipped adapter, Core ML fp16, no GPU</a:t>
            </a:r>
            <a:endParaRPr lang="en-US" sz="1050" dirty="0"/>
          </a:p>
        </p:txBody>
      </p:sp>
      <p:pic>
        <p:nvPicPr>
          <p:cNvPr id="13" name="Image 0" descr="/home/claude/deck/img/mlp_flex.png">    </p:cNvPr>
          <p:cNvPicPr>
            <a:picLocks noChangeAspect="1"/>
          </p:cNvPicPr>
          <p:nvPr/>
        </p:nvPicPr>
        <p:blipFill>
          <a:blip r:embed="rId1"/>
          <a:srcRect l="0" r="0" t="0" b="0"/>
          <a:stretch/>
        </p:blipFill>
        <p:spPr>
          <a:xfrm>
            <a:off x="548640" y="2743200"/>
            <a:ext cx="5577840" cy="3108960"/>
          </a:xfrm>
          <a:prstGeom prst="rect">
            <a:avLst/>
          </a:prstGeom>
        </p:spPr>
      </p:pic>
      <p:pic>
        <p:nvPicPr>
          <p:cNvPr id="14" name="Image 1" descr="/home/claude/deck/img/membership_roc.png">    </p:cNvPr>
          <p:cNvPicPr>
            <a:picLocks noChangeAspect="1"/>
          </p:cNvPicPr>
          <p:nvPr/>
        </p:nvPicPr>
        <p:blipFill>
          <a:blip r:embed="rId2"/>
          <a:srcRect l="0" r="0" t="0" b="0"/>
          <a:stretch/>
        </p:blipFill>
        <p:spPr>
          <a:xfrm>
            <a:off x="6309360" y="2743200"/>
            <a:ext cx="5303520" cy="1828800"/>
          </a:xfrm>
          <a:prstGeom prst="rect">
            <a:avLst/>
          </a:prstGeom>
        </p:spPr>
      </p:pic>
      <p:sp>
        <p:nvSpPr>
          <p:cNvPr id="15" name="Text 11"/>
          <p:cNvSpPr txBox="1"/>
          <p:nvPr/>
        </p:nvSpPr>
        <p:spPr>
          <a:xfrm>
            <a:off x="6309360" y="4709160"/>
            <a:ext cx="5303520" cy="1691640"/>
          </a:xfrm>
          <a:prstGeom prst="rect">
            <a:avLst/>
          </a:prstGeom>
          <a:noFill/>
          <a:ln/>
        </p:spPr>
        <p:txBody>
          <a:bodyPr wrap="square" lIns="0" tIns="0" rIns="0" bIns="0" rtlCol="0" anchor="t"/>
          <a:lstStyle/>
          <a:p>
            <a:pPr marL="177800" indent="-177800">
              <a:spcAft>
                <a:spcPts val="500"/>
              </a:spcAft>
              <a:buSzPct val="100000"/>
              <a:buChar char="•"/>
            </a:pPr>
            <a:r>
              <a:rPr lang="en-US" sz="1050" dirty="0">
                <a:solidFill>
                  <a:srgbClr val="1F2937"/>
                </a:solidFill>
                <a:latin typeface="Calibri" pitchFamily="34" charset="0"/>
                <a:ea typeface="Calibri" pitchFamily="34" charset="-122"/>
                <a:cs typeface="Calibri" pitchFamily="34" charset="-120"/>
              </a:rPr>
              <a:t>MLP control (F2): more parameters, non-linearity, 74 rows/dim, 40 epochs — held-out cosine 0.9183 vs 0.9183, gain +0.0000, on two runs. Linear is not an approximation of the relationship; it IS the relationship.</a:t>
            </a:r>
            <a:endParaRPr lang="en-US" sz="1050" dirty="0"/>
          </a:p>
          <a:p>
            <a:pPr marL="177800" indent="-177800">
              <a:spcAft>
                <a:spcPts val="500"/>
              </a:spcAft>
              <a:buSzPct val="100000"/>
              <a:buChar char="•"/>
            </a:pPr>
            <a:r>
              <a:rPr lang="en-US" sz="1050" dirty="0">
                <a:solidFill>
                  <a:srgbClr val="1F2937"/>
                </a:solidFill>
                <a:latin typeface="Calibri" pitchFamily="34" charset="0"/>
                <a:ea typeface="Calibri" pitchFamily="34" charset="-122"/>
                <a:cs typeface="Calibri" pitchFamily="34" charset="-120"/>
              </a:rPr>
              <a:t>One adapter, three questions (D.2): verification — same photo? AUC 0.999. ranking — does the twin outrank impostors? R@1 0.987. membership — indexed at all, under ONE global cutoff? AUC 0.889, F1 0.840. Difficulty rises as the decision gets more global.</a:t>
            </a:r>
            <a:endParaRPr lang="en-US" sz="1050" dirty="0"/>
          </a:p>
        </p:txBody>
      </p:sp>
      <p:sp>
        <p:nvSpPr>
          <p:cNvPr id="16" name="Text 12"/>
          <p:cNvSpPr txBox="1"/>
          <p:nvPr/>
        </p:nvSpPr>
        <p:spPr>
          <a:xfrm>
            <a:off x="548640" y="5943600"/>
            <a:ext cx="5577840" cy="365760"/>
          </a:xfrm>
          <a:prstGeom prst="rect">
            <a:avLst/>
          </a:prstGeom>
          <a:noFill/>
          <a:ln/>
        </p:spPr>
        <p:txBody>
          <a:bodyPr wrap="square" lIns="0" tIns="0" rIns="0" bIns="0" rtlCol="0" anchor="ctr"/>
          <a:lstStyle/>
          <a:p>
            <a:pPr indent="0" marL="0">
              <a:buNone/>
            </a:pPr>
            <a:r>
              <a:rPr lang="en-US" sz="950" i="1" dirty="0">
                <a:solidFill>
                  <a:srgbClr val="5B6472"/>
                </a:solidFill>
                <a:latin typeface="Calibri" pitchFamily="34" charset="0"/>
                <a:ea typeface="Calibri" pitchFamily="34" charset="-122"/>
                <a:cs typeface="Calibri" pitchFamily="34" charset="-120"/>
              </a:rPr>
              <a:t>mlp_vs_linear (corrections pack); membership_roc.png (report D.2). B5 sandbox: 11 free-text queries on real photos, 7/9 rank-1, negative query flat — pass.</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38560" y="6446520"/>
            <a:ext cx="54864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19</a:t>
            </a:r>
            <a:endParaRPr lang="en-US" sz="900" dirty="0"/>
          </a:p>
        </p:txBody>
      </p:sp>
      <p:sp>
        <p:nvSpPr>
          <p:cNvPr id="3" name="Text 1"/>
          <p:cNvSpPr txBox="1"/>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C8551A"/>
                </a:solidFill>
                <a:latin typeface="Calibri" pitchFamily="34" charset="0"/>
                <a:ea typeface="Calibri" pitchFamily="34" charset="-122"/>
                <a:cs typeface="Calibri" pitchFamily="34" charset="-120"/>
              </a:rPr>
              <a:t>EXPERIMENT E1 · CROSSING MODALITIES</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DINOv2 never saw a word; bge-m3 never saw a pixel. One matrix, image → text space</a:t>
            </a:r>
            <a:endParaRPr lang="en-US" sz="2700" dirty="0"/>
          </a:p>
        </p:txBody>
      </p:sp>
      <p:pic>
        <p:nvPicPr>
          <p:cNvPr id="5" name="Image 0" descr="/home/claude/deck/img/e1_arch.png">    </p:cNvPr>
          <p:cNvPicPr>
            <a:picLocks noChangeAspect="1"/>
          </p:cNvPicPr>
          <p:nvPr/>
        </p:nvPicPr>
        <p:blipFill>
          <a:blip r:embed="rId1"/>
          <a:srcRect l="0" r="0" t="0" b="0"/>
          <a:stretch/>
        </p:blipFill>
        <p:spPr>
          <a:xfrm>
            <a:off x="548640" y="1508760"/>
            <a:ext cx="6858000" cy="4480560"/>
          </a:xfrm>
          <a:prstGeom prst="rect">
            <a:avLst/>
          </a:prstGeom>
        </p:spPr>
      </p:pic>
      <p:sp>
        <p:nvSpPr>
          <p:cNvPr id="6" name="Shape 3"/>
          <p:cNvSpPr/>
          <p:nvPr/>
        </p:nvSpPr>
        <p:spPr>
          <a:xfrm>
            <a:off x="7589520" y="1508760"/>
            <a:ext cx="4023360" cy="2148840"/>
          </a:xfrm>
          <a:prstGeom prst="roundRect">
            <a:avLst>
              <a:gd name="adj" fmla="val 3404"/>
            </a:avLst>
          </a:prstGeom>
          <a:solidFill>
            <a:srgbClr val="EEF3FF"/>
          </a:solidFill>
          <a:ln w="12700">
            <a:solidFill>
              <a:srgbClr val="EEF3FF"/>
            </a:solidFill>
            <a:prstDash val="solid"/>
          </a:ln>
        </p:spPr>
      </p:sp>
      <p:sp>
        <p:nvSpPr>
          <p:cNvPr id="7" name="Text 4"/>
          <p:cNvSpPr txBox="1"/>
          <p:nvPr/>
        </p:nvSpPr>
        <p:spPr>
          <a:xfrm>
            <a:off x="7754112" y="1618488"/>
            <a:ext cx="3694176"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Data &amp; how it was fitted</a:t>
            </a:r>
            <a:endParaRPr lang="en-US" sz="1300" dirty="0"/>
          </a:p>
        </p:txBody>
      </p:sp>
      <p:sp>
        <p:nvSpPr>
          <p:cNvPr id="8" name="Text 5"/>
          <p:cNvSpPr txBox="1"/>
          <p:nvPr/>
        </p:nvSpPr>
        <p:spPr>
          <a:xfrm>
            <a:off x="7754112" y="2011680"/>
            <a:ext cx="3694176" cy="155448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Data: 8,000 COCO train2017 image–caption pairs — 7,000 fit W (768→1024), 1,000 held out. Target = the five captions embedded by bge-m3 and AVERAGED. Ridge; alpha on a train-internal validation slice. 9.1 rows/dim (floor 5). Ceiling = SigLIP measured on the SAME rows, same direction, same averaging.</a:t>
            </a:r>
            <a:endParaRPr lang="en-US" sz="1100" dirty="0"/>
          </a:p>
        </p:txBody>
      </p:sp>
      <p:sp>
        <p:nvSpPr>
          <p:cNvPr id="9" name="Text 6"/>
          <p:cNvSpPr txBox="1"/>
          <p:nvPr/>
        </p:nvSpPr>
        <p:spPr>
          <a:xfrm>
            <a:off x="7589520" y="3749040"/>
            <a:ext cx="4023360" cy="2651760"/>
          </a:xfrm>
          <a:prstGeom prst="rect">
            <a:avLst/>
          </a:prstGeom>
          <a:noFill/>
          <a:ln/>
        </p:spPr>
        <p:txBody>
          <a:bodyPr wrap="square" lIns="0" tIns="0" rIns="0" bIns="0" rtlCol="0" anchor="t"/>
          <a:lstStyle/>
          <a:p>
            <a:pPr marL="177800" indent="-177800">
              <a:spcAft>
                <a:spcPts val="500"/>
              </a:spcAft>
              <a:buSzPct val="100000"/>
              <a:buChar char="•"/>
            </a:pPr>
            <a:r>
              <a:rPr lang="en-US" sz="1000" dirty="0">
                <a:solidFill>
                  <a:srgbClr val="1F2937"/>
                </a:solidFill>
                <a:latin typeface="Calibri" pitchFamily="34" charset="0"/>
                <a:ea typeface="Calibri" pitchFamily="34" charset="-122"/>
                <a:cs typeface="Calibri" pitchFamily="34" charset="-120"/>
              </a:rPr>
              <a:t>Measured — R² 0.511 (reconstruction); R@1 0.358 = 40.9% of the matched ceiling (358× chance); shuffle-control gap 0.641. Verdict: MEASURABLE BUT WEAK, robust to caption protocol (24.7% single / 40.9% averaged, both in the pre-registered band).</a:t>
            </a:r>
            <a:endParaRPr lang="en-US" sz="1000" dirty="0"/>
          </a:p>
          <a:p>
            <a:pPr marL="177800" indent="-177800">
              <a:spcAft>
                <a:spcPts val="500"/>
              </a:spcAft>
              <a:buSzPct val="100000"/>
              <a:buChar char="•"/>
            </a:pPr>
            <a:r>
              <a:rPr lang="en-US" sz="1000" dirty="0">
                <a:solidFill>
                  <a:srgbClr val="1F2937"/>
                </a:solidFill>
                <a:latin typeface="Calibri" pitchFamily="34" charset="0"/>
                <a:ea typeface="Calibri" pitchFamily="34" charset="-122"/>
                <a:cs typeface="Calibri" pitchFamily="34" charset="-120"/>
              </a:rPr>
              <a:t>Failure caught: a borrowed ceiling read 55.2% — wrong direction and protocol. Re-measured properly: 40.9%. Now a standing rule — the ceiling is never a borrowed number.</a:t>
            </a:r>
            <a:endParaRPr lang="en-US" sz="1000" dirty="0"/>
          </a:p>
          <a:p>
            <a:pPr marL="177800" indent="-177800">
              <a:spcAft>
                <a:spcPts val="500"/>
              </a:spcAft>
              <a:buSzPct val="100000"/>
              <a:buChar char="•"/>
            </a:pPr>
            <a:r>
              <a:rPr lang="en-US" sz="1000" dirty="0">
                <a:solidFill>
                  <a:srgbClr val="1F2937"/>
                </a:solidFill>
                <a:latin typeface="Calibri" pitchFamily="34" charset="0"/>
                <a:ea typeface="Calibri" pitchFamily="34" charset="-122"/>
                <a:cs typeface="Calibri" pitchFamily="34" charset="-120"/>
              </a:rPr>
              <a:t>Proved: PRH's actual cross-modal claim holds WITHOUT joint training — crossing modality costs about half of R@1 versus a same-modality pair.</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38560" y="6446520"/>
            <a:ext cx="54864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20</a:t>
            </a:r>
            <a:endParaRPr lang="en-US" sz="900" dirty="0"/>
          </a:p>
        </p:txBody>
      </p:sp>
      <p:sp>
        <p:nvSpPr>
          <p:cNvPr id="3" name="Text 1"/>
          <p:cNvSpPr txBox="1"/>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C8551A"/>
                </a:solidFill>
                <a:latin typeface="Calibri" pitchFamily="34" charset="0"/>
                <a:ea typeface="Calibri" pitchFamily="34" charset="-122"/>
                <a:cs typeface="Calibri" pitchFamily="34" charset="-120"/>
              </a:rPr>
              <a:t>EXPERIMENT E · CAPACITY</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Does alignment grow with model size? Yes to 304M — then both ladders fall</a:t>
            </a:r>
            <a:endParaRPr lang="en-US" sz="2700" dirty="0"/>
          </a:p>
        </p:txBody>
      </p:sp>
      <p:pic>
        <p:nvPicPr>
          <p:cNvPr id="5" name="Image 0" descr="/home/claude/deck/img/capacity.png">    </p:cNvPr>
          <p:cNvPicPr>
            <a:picLocks noChangeAspect="1"/>
          </p:cNvPicPr>
          <p:nvPr/>
        </p:nvPicPr>
        <p:blipFill>
          <a:blip r:embed="rId1"/>
          <a:srcRect l="0" r="0" t="0" b="0"/>
          <a:stretch/>
        </p:blipFill>
        <p:spPr>
          <a:xfrm>
            <a:off x="548640" y="1508760"/>
            <a:ext cx="5943600" cy="3840480"/>
          </a:xfrm>
          <a:prstGeom prst="rect">
            <a:avLst/>
          </a:prstGeom>
        </p:spPr>
      </p:pic>
      <p:sp>
        <p:nvSpPr>
          <p:cNvPr id="6" name="Text 3"/>
          <p:cNvSpPr txBox="1"/>
          <p:nvPr/>
        </p:nvSpPr>
        <p:spPr>
          <a:xfrm>
            <a:off x="6766560" y="1554480"/>
            <a:ext cx="1554480" cy="685800"/>
          </a:xfrm>
          <a:prstGeom prst="rect">
            <a:avLst/>
          </a:prstGeom>
          <a:noFill/>
          <a:ln/>
        </p:spPr>
        <p:txBody>
          <a:bodyPr wrap="square" lIns="0" tIns="0" rIns="0" bIns="0" rtlCol="0" anchor="ctr"/>
          <a:lstStyle/>
          <a:p>
            <a:pPr algn="ctr" indent="0" marL="0">
              <a:buNone/>
            </a:pPr>
            <a:r>
              <a:rPr lang="en-US" sz="3600" b="1" dirty="0">
                <a:solidFill>
                  <a:srgbClr val="1E2761"/>
                </a:solidFill>
                <a:latin typeface="Cambria" pitchFamily="34" charset="0"/>
                <a:ea typeface="Cambria" pitchFamily="34" charset="-122"/>
                <a:cs typeface="Cambria" pitchFamily="34" charset="-120"/>
              </a:rPr>
              <a:t>40.9%</a:t>
            </a:r>
            <a:endParaRPr lang="en-US" sz="3600" dirty="0"/>
          </a:p>
        </p:txBody>
      </p:sp>
      <p:sp>
        <p:nvSpPr>
          <p:cNvPr id="7" name="Text 4"/>
          <p:cNvSpPr txBox="1"/>
          <p:nvPr/>
        </p:nvSpPr>
        <p:spPr>
          <a:xfrm>
            <a:off x="6766560" y="2212848"/>
            <a:ext cx="1554480" cy="457200"/>
          </a:xfrm>
          <a:prstGeom prst="rect">
            <a:avLst/>
          </a:prstGeom>
          <a:noFill/>
          <a:ln/>
        </p:spPr>
        <p:txBody>
          <a:bodyPr wrap="square" lIns="0" tIns="0" rIns="0" bIns="0" rtlCol="0" anchor="ctr"/>
          <a:lstStyle/>
          <a:p>
            <a:pPr algn="ctr" indent="0" marL="0">
              <a:buNone/>
            </a:pPr>
            <a:r>
              <a:rPr lang="en-US" sz="1050" dirty="0">
                <a:solidFill>
                  <a:srgbClr val="5B6472"/>
                </a:solidFill>
                <a:latin typeface="Calibri" pitchFamily="34" charset="0"/>
                <a:ea typeface="Calibri" pitchFamily="34" charset="-122"/>
                <a:cs typeface="Calibri" pitchFamily="34" charset="-120"/>
              </a:rPr>
              <a:t>small 22M</a:t>
            </a:r>
            <a:endParaRPr lang="en-US" sz="1050" dirty="0"/>
          </a:p>
        </p:txBody>
      </p:sp>
      <p:sp>
        <p:nvSpPr>
          <p:cNvPr id="8" name="Text 5"/>
          <p:cNvSpPr txBox="1"/>
          <p:nvPr/>
        </p:nvSpPr>
        <p:spPr>
          <a:xfrm>
            <a:off x="8321040" y="1554480"/>
            <a:ext cx="1554480" cy="685800"/>
          </a:xfrm>
          <a:prstGeom prst="rect">
            <a:avLst/>
          </a:prstGeom>
          <a:noFill/>
          <a:ln/>
        </p:spPr>
        <p:txBody>
          <a:bodyPr wrap="square" lIns="0" tIns="0" rIns="0" bIns="0" rtlCol="0" anchor="ctr"/>
          <a:lstStyle/>
          <a:p>
            <a:pPr algn="ctr" indent="0" marL="0">
              <a:buNone/>
            </a:pPr>
            <a:r>
              <a:rPr lang="en-US" sz="3600" b="1" dirty="0">
                <a:solidFill>
                  <a:srgbClr val="1E2761"/>
                </a:solidFill>
                <a:latin typeface="Cambria" pitchFamily="34" charset="0"/>
                <a:ea typeface="Cambria" pitchFamily="34" charset="-122"/>
                <a:cs typeface="Cambria" pitchFamily="34" charset="-120"/>
              </a:rPr>
              <a:t>53.5%</a:t>
            </a:r>
            <a:endParaRPr lang="en-US" sz="3600" dirty="0"/>
          </a:p>
        </p:txBody>
      </p:sp>
      <p:sp>
        <p:nvSpPr>
          <p:cNvPr id="9" name="Text 6"/>
          <p:cNvSpPr txBox="1"/>
          <p:nvPr/>
        </p:nvSpPr>
        <p:spPr>
          <a:xfrm>
            <a:off x="8321040" y="2212848"/>
            <a:ext cx="1554480" cy="457200"/>
          </a:xfrm>
          <a:prstGeom prst="rect">
            <a:avLst/>
          </a:prstGeom>
          <a:noFill/>
          <a:ln/>
        </p:spPr>
        <p:txBody>
          <a:bodyPr wrap="square" lIns="0" tIns="0" rIns="0" bIns="0" rtlCol="0" anchor="ctr"/>
          <a:lstStyle/>
          <a:p>
            <a:pPr algn="ctr" indent="0" marL="0">
              <a:buNone/>
            </a:pPr>
            <a:r>
              <a:rPr lang="en-US" sz="1050" dirty="0">
                <a:solidFill>
                  <a:srgbClr val="5B6472"/>
                </a:solidFill>
                <a:latin typeface="Calibri" pitchFamily="34" charset="0"/>
                <a:ea typeface="Calibri" pitchFamily="34" charset="-122"/>
                <a:cs typeface="Calibri" pitchFamily="34" charset="-120"/>
              </a:rPr>
              <a:t>base 87M</a:t>
            </a:r>
            <a:endParaRPr lang="en-US" sz="1050" dirty="0"/>
          </a:p>
        </p:txBody>
      </p:sp>
      <p:sp>
        <p:nvSpPr>
          <p:cNvPr id="10" name="Text 7"/>
          <p:cNvSpPr txBox="1"/>
          <p:nvPr/>
        </p:nvSpPr>
        <p:spPr>
          <a:xfrm>
            <a:off x="9875520" y="1554480"/>
            <a:ext cx="1737360" cy="685800"/>
          </a:xfrm>
          <a:prstGeom prst="rect">
            <a:avLst/>
          </a:prstGeom>
          <a:noFill/>
          <a:ln/>
        </p:spPr>
        <p:txBody>
          <a:bodyPr wrap="square" lIns="0" tIns="0" rIns="0" bIns="0" rtlCol="0" anchor="ctr"/>
          <a:lstStyle/>
          <a:p>
            <a:pPr algn="ctr" indent="0" marL="0">
              <a:buNone/>
            </a:pPr>
            <a:r>
              <a:rPr lang="en-US" sz="3600" b="1" dirty="0">
                <a:solidFill>
                  <a:srgbClr val="1E2761"/>
                </a:solidFill>
                <a:latin typeface="Cambria" pitchFamily="34" charset="0"/>
                <a:ea typeface="Cambria" pitchFamily="34" charset="-122"/>
                <a:cs typeface="Cambria" pitchFamily="34" charset="-120"/>
              </a:rPr>
              <a:t>58.3%</a:t>
            </a:r>
            <a:endParaRPr lang="en-US" sz="3600" dirty="0"/>
          </a:p>
        </p:txBody>
      </p:sp>
      <p:sp>
        <p:nvSpPr>
          <p:cNvPr id="11" name="Text 8"/>
          <p:cNvSpPr txBox="1"/>
          <p:nvPr/>
        </p:nvSpPr>
        <p:spPr>
          <a:xfrm>
            <a:off x="9875520" y="2212848"/>
            <a:ext cx="1737360" cy="457200"/>
          </a:xfrm>
          <a:prstGeom prst="rect">
            <a:avLst/>
          </a:prstGeom>
          <a:noFill/>
          <a:ln/>
        </p:spPr>
        <p:txBody>
          <a:bodyPr wrap="square" lIns="0" tIns="0" rIns="0" bIns="0" rtlCol="0" anchor="ctr"/>
          <a:lstStyle/>
          <a:p>
            <a:pPr algn="ctr" indent="0" marL="0">
              <a:buNone/>
            </a:pPr>
            <a:r>
              <a:rPr lang="en-US" sz="1050" dirty="0">
                <a:solidFill>
                  <a:srgbClr val="5B6472"/>
                </a:solidFill>
                <a:latin typeface="Calibri" pitchFamily="34" charset="0"/>
                <a:ea typeface="Calibri" pitchFamily="34" charset="-122"/>
                <a:cs typeface="Calibri" pitchFamily="34" charset="-120"/>
              </a:rPr>
              <a:t>large 304M</a:t>
            </a:r>
            <a:endParaRPr lang="en-US" sz="1050" dirty="0"/>
          </a:p>
        </p:txBody>
      </p:sp>
      <p:sp>
        <p:nvSpPr>
          <p:cNvPr id="12" name="Text 9"/>
          <p:cNvSpPr txBox="1"/>
          <p:nvPr/>
        </p:nvSpPr>
        <p:spPr>
          <a:xfrm>
            <a:off x="6766560" y="2834640"/>
            <a:ext cx="4846320" cy="3383280"/>
          </a:xfrm>
          <a:prstGeom prst="rect">
            <a:avLst/>
          </a:prstGeom>
          <a:noFill/>
          <a:ln/>
        </p:spPr>
        <p:txBody>
          <a:bodyPr wrap="square" lIns="0" tIns="0" rIns="0" bIns="0" rtlCol="0" anchor="t"/>
          <a:lstStyle/>
          <a:p>
            <a:pPr marL="177800" indent="-177800">
              <a:spcAft>
                <a:spcPts val="600"/>
              </a:spcAft>
              <a:buSzPct val="100000"/>
              <a:buChar char="•"/>
            </a:pPr>
            <a:r>
              <a:rPr lang="en-US" sz="1050" dirty="0">
                <a:solidFill>
                  <a:srgbClr val="1F2937"/>
                </a:solidFill>
                <a:latin typeface="Calibri" pitchFamily="34" charset="0"/>
                <a:ea typeface="Calibri" pitchFamily="34" charset="-122"/>
                <a:cs typeface="Calibri" pitchFamily="34" charset="-120"/>
              </a:rPr>
              <a:t>Ladder (E1 sweep): same text encoder, data, pooling, 11.1 rows/dim at every point. Every measure rises: R² 0.516/0.580/0.609; shuffle gap 0.616/0.682/0.709. +15.3 points of ceiling per decade of parameters (fit R² 0.949). Returns compress: 4.0× params buys 12.6 pts, the next 3.5× buys 4.8.</a:t>
            </a:r>
            <a:endParaRPr lang="en-US" sz="1050" dirty="0"/>
          </a:p>
          <a:p>
            <a:pPr marL="177800" indent="-177800">
              <a:spcAft>
                <a:spcPts val="600"/>
              </a:spcAft>
              <a:buSzPct val="100000"/>
              <a:buChar char="•"/>
            </a:pPr>
            <a:r>
              <a:rPr lang="en-US" sz="1050" dirty="0">
                <a:solidFill>
                  <a:srgbClr val="1F2937"/>
                </a:solidFill>
                <a:latin typeface="Calibri" pitchFamily="34" charset="0"/>
                <a:ea typeface="Calibri" pitchFamily="34" charset="-122"/>
                <a:cs typeface="Calibri" pitchFamily="34" charset="-120"/>
              </a:rPr>
              <a:t>Scale extension (raw shape ρ, no map, 11 encoders): image ladder 0.381→0.381→0.418 then 0.339 at giant; text ladder 0.320→0.352→0.307 at Qwen-4B. Rise then FALL at 7× the parameters. P2 and P3 FALSIFIED.</a:t>
            </a:r>
            <a:endParaRPr lang="en-US" sz="1050" dirty="0"/>
          </a:p>
          <a:p>
            <a:pPr marL="177800" indent="-177800">
              <a:spcAft>
                <a:spcPts val="600"/>
              </a:spcAft>
              <a:buSzPct val="100000"/>
              <a:buChar char="•"/>
            </a:pPr>
            <a:r>
              <a:rPr lang="en-US" sz="1050" dirty="0">
                <a:solidFill>
                  <a:srgbClr val="1F2937"/>
                </a:solidFill>
                <a:latin typeface="Calibri" pitchFamily="34" charset="0"/>
                <a:ea typeface="Calibri" pitchFamily="34" charset="-122"/>
                <a:cs typeface="Calibri" pitchFamily="34" charset="-120"/>
              </a:rPr>
              <a:t>Proved: alignment is not monotonic in capacity in this regime (0.02–4B). Within-modality contrastive text pairs agree at 0.76–0.86; cross-modal sits at 0.19–0.35 and does not improve with scale.</a:t>
            </a:r>
            <a:endParaRPr lang="en-US" sz="1050" dirty="0"/>
          </a:p>
        </p:txBody>
      </p:sp>
      <p:sp>
        <p:nvSpPr>
          <p:cNvPr id="13" name="Text 10"/>
          <p:cNvSpPr txBox="1"/>
          <p:nvPr/>
        </p:nvSpPr>
        <p:spPr>
          <a:xfrm>
            <a:off x="548640" y="5440680"/>
            <a:ext cx="5943600" cy="365760"/>
          </a:xfrm>
          <a:prstGeom prst="rect">
            <a:avLst/>
          </a:prstGeom>
          <a:noFill/>
          <a:ln/>
        </p:spPr>
        <p:txBody>
          <a:bodyPr wrap="square" lIns="0" tIns="0" rIns="0" bIns="0" rtlCol="0" anchor="ctr"/>
          <a:lstStyle/>
          <a:p>
            <a:pPr indent="0" marL="0">
              <a:buNone/>
            </a:pPr>
            <a:r>
              <a:rPr lang="en-US" sz="950" i="1" dirty="0">
                <a:solidFill>
                  <a:srgbClr val="5B6472"/>
                </a:solidFill>
                <a:latin typeface="Calibri" pitchFamily="34" charset="0"/>
                <a:ea typeface="Calibri" pitchFamily="34" charset="-122"/>
                <a:cs typeface="Calibri" pitchFamily="34" charset="-120"/>
              </a:rPr>
              <a:t>capacity chart from Viva_Presentation_2; Report C.10 and E.16. ρ = distance-rank (shape) agreement, no map fitted.</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38560" y="6446520"/>
            <a:ext cx="54864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21</a:t>
            </a:r>
            <a:endParaRPr lang="en-US" sz="900" dirty="0"/>
          </a:p>
        </p:txBody>
      </p:sp>
      <p:sp>
        <p:nvSpPr>
          <p:cNvPr id="3" name="Text 1"/>
          <p:cNvSpPr txBox="1"/>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C8551A"/>
                </a:solidFill>
                <a:latin typeface="Calibri" pitchFamily="34" charset="0"/>
                <a:ea typeface="Calibri" pitchFamily="34" charset="-122"/>
                <a:cs typeface="Calibri" pitchFamily="34" charset="-120"/>
              </a:rPr>
              <a:t>EXPERIMENTS E1.1–E1.3 · ISOTROPY, NOT SIMILARITY TRAINING</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GPT-2's collapsed space: unreadable by cosine, rescued to 102.6% of bge by a free linear transform</a:t>
            </a:r>
            <a:endParaRPr lang="en-US" sz="2700" dirty="0"/>
          </a:p>
        </p:txBody>
      </p:sp>
      <p:pic>
        <p:nvPicPr>
          <p:cNvPr id="5" name="Image 0" descr="/home/claude/deck/img/flow_e13.png">    </p:cNvPr>
          <p:cNvPicPr>
            <a:picLocks noChangeAspect="1"/>
          </p:cNvPicPr>
          <p:nvPr/>
        </p:nvPicPr>
        <p:blipFill>
          <a:blip r:embed="rId1"/>
          <a:srcRect l="0" r="0" t="0" b="0"/>
          <a:stretch/>
        </p:blipFill>
        <p:spPr>
          <a:xfrm>
            <a:off x="548640" y="1508760"/>
            <a:ext cx="6035040" cy="3246120"/>
          </a:xfrm>
          <a:prstGeom prst="rect">
            <a:avLst/>
          </a:prstGeom>
        </p:spPr>
      </p:pic>
      <p:sp>
        <p:nvSpPr>
          <p:cNvPr id="6" name="Shape 3"/>
          <p:cNvSpPr/>
          <p:nvPr/>
        </p:nvSpPr>
        <p:spPr>
          <a:xfrm>
            <a:off x="6858000" y="1508760"/>
            <a:ext cx="4754880" cy="3246120"/>
          </a:xfrm>
          <a:prstGeom prst="roundRect">
            <a:avLst>
              <a:gd name="adj" fmla="val 2254"/>
            </a:avLst>
          </a:prstGeom>
          <a:solidFill>
            <a:srgbClr val="EEF3FF"/>
          </a:solidFill>
          <a:ln w="12700">
            <a:solidFill>
              <a:srgbClr val="EEF3FF"/>
            </a:solidFill>
            <a:prstDash val="solid"/>
          </a:ln>
        </p:spPr>
      </p:sp>
      <p:sp>
        <p:nvSpPr>
          <p:cNvPr id="7" name="Text 4"/>
          <p:cNvSpPr txBox="1"/>
          <p:nvPr/>
        </p:nvSpPr>
        <p:spPr>
          <a:xfrm>
            <a:off x="7022592" y="1618488"/>
            <a:ext cx="4425696"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How it was tested</a:t>
            </a:r>
            <a:endParaRPr lang="en-US" sz="1300" dirty="0"/>
          </a:p>
        </p:txBody>
      </p:sp>
      <p:sp>
        <p:nvSpPr>
          <p:cNvPr id="8" name="Text 5"/>
          <p:cNvSpPr txBox="1"/>
          <p:nvPr/>
        </p:nvSpPr>
        <p:spPr>
          <a:xfrm>
            <a:off x="7022592" y="2011680"/>
            <a:ext cx="4425696" cy="265176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E1.1: replace bge-m3 with GPT-2 mean-pooled captions as the target, all else identical (9.1 rows/dim). E1.2: six label-free arms — raw, centered, all-but-top-k (k=1,3,10), whitened — fitted on train rows only, validated on a synthetic control. E1.3: two encoders C.11 never saw (BERT masked-LM, SBERT contrastive) run under the identical protocol, with predictions written in the notebook BEFORE the numbers existed.</a:t>
            </a:r>
            <a:endParaRPr lang="en-US" sz="1100" dirty="0"/>
          </a:p>
        </p:txBody>
      </p:sp>
      <p:sp>
        <p:nvSpPr>
          <p:cNvPr id="9" name="Text 6"/>
          <p:cNvSpPr txBox="1"/>
          <p:nvPr/>
        </p:nvSpPr>
        <p:spPr>
          <a:xfrm>
            <a:off x="548640" y="4892040"/>
            <a:ext cx="11064240" cy="1600200"/>
          </a:xfrm>
          <a:prstGeom prst="rect">
            <a:avLst/>
          </a:prstGeom>
          <a:noFill/>
          <a:ln/>
        </p:spPr>
        <p:txBody>
          <a:bodyPr wrap="square" lIns="0" tIns="0" rIns="0" bIns="0" rtlCol="0" anchor="t"/>
          <a:lstStyle/>
          <a:p>
            <a:pPr marL="177800" indent="-177800">
              <a:spcAft>
                <a:spcPts val="400"/>
              </a:spcAft>
              <a:buSzPct val="100000"/>
              <a:buChar char="•"/>
            </a:pPr>
            <a:r>
              <a:rPr lang="en-US" sz="1000" dirty="0">
                <a:solidFill>
                  <a:srgbClr val="1F2937"/>
                </a:solidFill>
                <a:latin typeface="Calibri" pitchFamily="34" charset="0"/>
                <a:ea typeface="Calibri" pitchFamily="34" charset="-122"/>
                <a:cs typeface="Calibri" pitchFamily="34" charset="-120"/>
              </a:rPr>
              <a:t>Measured — GPT-2 eff.rank 6.5 of 768, pair-cosine +0.999 → cosine reads 1.000 while R@1 is 0.130. Whitening (x → S^−1/2(x−μ)) lifts R@1 to 0.478 = 102.6% of an encoder trained contrastively on 1.2B pairs. Isotropy is a dial: eff.rank vs R@1 correlate at ρ +0.94.</a:t>
            </a:r>
            <a:endParaRPr lang="en-US" sz="1000" dirty="0"/>
          </a:p>
          <a:p>
            <a:pPr marL="177800" indent="-177800">
              <a:spcAft>
                <a:spcPts val="400"/>
              </a:spcAft>
              <a:buSzPct val="100000"/>
              <a:buChar char="•"/>
            </a:pPr>
            <a:r>
              <a:rPr lang="en-US" sz="1000" dirty="0">
                <a:solidFill>
                  <a:srgbClr val="1F2937"/>
                </a:solidFill>
                <a:latin typeface="Calibri" pitchFamily="34" charset="0"/>
                <a:ea typeface="Calibri" pitchFamily="34" charset="-122"/>
                <a:cs typeface="Calibri" pitchFamily="34" charset="-120"/>
              </a:rPr>
              <a:t>Failure → sharper finding: prediction 1 (raw R@1 orders by target eff.rank) confirmed at rank-corr +1.00 (6.5/65/93 → 0.160/0.362/0.510). Prediction 2 (whitening collapses the ladder) only PARTIAL — whitening lifts every arm but a 0.110 spread remains.</a:t>
            </a:r>
            <a:endParaRPr lang="en-US" sz="1000" dirty="0"/>
          </a:p>
          <a:p>
            <a:pPr marL="177800" indent="-177800">
              <a:spcAft>
                <a:spcPts val="400"/>
              </a:spcAft>
              <a:buSzPct val="100000"/>
              <a:buChar char="•"/>
            </a:pPr>
            <a:r>
              <a:rPr lang="en-US" sz="1000" dirty="0">
                <a:solidFill>
                  <a:srgbClr val="1F2937"/>
                </a:solidFill>
                <a:latin typeface="Calibri" pitchFamily="34" charset="0"/>
                <a:ea typeface="Calibri" pitchFamily="34" charset="-122"/>
                <a:cs typeface="Calibri" pitchFamily="34" charset="-120"/>
              </a:rPr>
              <a:t>Proved: isotropy is NECESSARY, not sufficient. A label-free linear map supplies the coordinate frame; contrastive training adds the semantic arrangement that survives whitening.</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38560" y="6446520"/>
            <a:ext cx="54864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22</a:t>
            </a:r>
            <a:endParaRPr lang="en-US" sz="900" dirty="0"/>
          </a:p>
        </p:txBody>
      </p:sp>
      <p:sp>
        <p:nvSpPr>
          <p:cNvPr id="3" name="Text 1"/>
          <p:cNvSpPr txBox="1"/>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C8551A"/>
                </a:solidFill>
                <a:latin typeface="Calibri" pitchFamily="34" charset="0"/>
                <a:ea typeface="Calibri" pitchFamily="34" charset="-122"/>
                <a:cs typeface="Calibri" pitchFamily="34" charset="-120"/>
              </a:rPr>
              <a:t>EXPERIMENT C.12 · REMOVING THE LAST SUPERVISION</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Can the correspondence be found with NO paired examples — from shape alone?</a:t>
            </a:r>
            <a:endParaRPr lang="en-US" sz="2700" dirty="0"/>
          </a:p>
        </p:txBody>
      </p:sp>
      <p:sp>
        <p:nvSpPr>
          <p:cNvPr id="5" name="Text 3"/>
          <p:cNvSpPr txBox="1"/>
          <p:nvPr/>
        </p:nvSpPr>
        <p:spPr>
          <a:xfrm>
            <a:off x="548640" y="1600200"/>
            <a:ext cx="3566160" cy="685800"/>
          </a:xfrm>
          <a:prstGeom prst="rect">
            <a:avLst/>
          </a:prstGeom>
          <a:noFill/>
          <a:ln/>
        </p:spPr>
        <p:txBody>
          <a:bodyPr wrap="square" lIns="0" tIns="0" rIns="0" bIns="0" rtlCol="0" anchor="ctr"/>
          <a:lstStyle/>
          <a:p>
            <a:pPr algn="ctr" indent="0" marL="0">
              <a:buNone/>
            </a:pPr>
            <a:r>
              <a:rPr lang="en-US" sz="3600" b="1" dirty="0">
                <a:solidFill>
                  <a:srgbClr val="1E2761"/>
                </a:solidFill>
                <a:latin typeface="Cambria" pitchFamily="34" charset="0"/>
                <a:ea typeface="Cambria" pitchFamily="34" charset="-122"/>
                <a:cs typeface="Cambria" pitchFamily="34" charset="-120"/>
              </a:rPr>
              <a:t>39.7%</a:t>
            </a:r>
            <a:endParaRPr lang="en-US" sz="3600" dirty="0"/>
          </a:p>
        </p:txBody>
      </p:sp>
      <p:sp>
        <p:nvSpPr>
          <p:cNvPr id="6" name="Text 4"/>
          <p:cNvSpPr txBox="1"/>
          <p:nvPr/>
        </p:nvSpPr>
        <p:spPr>
          <a:xfrm>
            <a:off x="548640" y="2258568"/>
            <a:ext cx="3566160" cy="457200"/>
          </a:xfrm>
          <a:prstGeom prst="rect">
            <a:avLst/>
          </a:prstGeom>
          <a:noFill/>
          <a:ln/>
        </p:spPr>
        <p:txBody>
          <a:bodyPr wrap="square" lIns="0" tIns="0" rIns="0" bIns="0" rtlCol="0" anchor="ctr"/>
          <a:lstStyle/>
          <a:p>
            <a:pPr algn="ctr" indent="0" marL="0">
              <a:buNone/>
            </a:pPr>
            <a:r>
              <a:rPr lang="en-US" sz="1050" dirty="0">
                <a:solidFill>
                  <a:srgbClr val="5B6472"/>
                </a:solidFill>
                <a:latin typeface="Calibri" pitchFamily="34" charset="0"/>
                <a:ea typeface="Calibri" pitchFamily="34" charset="-122"/>
                <a:cs typeface="Calibri" pitchFamily="34" charset="-120"/>
              </a:rPr>
              <a:t>exact matches recovered with zero pairs</a:t>
            </a:r>
            <a:endParaRPr lang="en-US" sz="1050" dirty="0"/>
          </a:p>
        </p:txBody>
      </p:sp>
      <p:sp>
        <p:nvSpPr>
          <p:cNvPr id="7" name="Text 5"/>
          <p:cNvSpPr txBox="1"/>
          <p:nvPr/>
        </p:nvSpPr>
        <p:spPr>
          <a:xfrm>
            <a:off x="4297680" y="1600200"/>
            <a:ext cx="3566160" cy="685800"/>
          </a:xfrm>
          <a:prstGeom prst="rect">
            <a:avLst/>
          </a:prstGeom>
          <a:noFill/>
          <a:ln/>
        </p:spPr>
        <p:txBody>
          <a:bodyPr wrap="square" lIns="0" tIns="0" rIns="0" bIns="0" rtlCol="0" anchor="ctr"/>
          <a:lstStyle/>
          <a:p>
            <a:pPr algn="ctr" indent="0" marL="0">
              <a:buNone/>
            </a:pPr>
            <a:r>
              <a:rPr lang="en-US" sz="3600" b="1" dirty="0">
                <a:solidFill>
                  <a:srgbClr val="1E2761"/>
                </a:solidFill>
                <a:latin typeface="Cambria" pitchFamily="34" charset="0"/>
                <a:ea typeface="Cambria" pitchFamily="34" charset="-122"/>
                <a:cs typeface="Cambria" pitchFamily="34" charset="-120"/>
              </a:rPr>
              <a:t>595×</a:t>
            </a:r>
            <a:endParaRPr lang="en-US" sz="3600" dirty="0"/>
          </a:p>
        </p:txBody>
      </p:sp>
      <p:sp>
        <p:nvSpPr>
          <p:cNvPr id="8" name="Text 6"/>
          <p:cNvSpPr txBox="1"/>
          <p:nvPr/>
        </p:nvSpPr>
        <p:spPr>
          <a:xfrm>
            <a:off x="4297680" y="2258568"/>
            <a:ext cx="3566160" cy="457200"/>
          </a:xfrm>
          <a:prstGeom prst="rect">
            <a:avLst/>
          </a:prstGeom>
          <a:noFill/>
          <a:ln/>
        </p:spPr>
        <p:txBody>
          <a:bodyPr wrap="square" lIns="0" tIns="0" rIns="0" bIns="0" rtlCol="0" anchor="ctr"/>
          <a:lstStyle/>
          <a:p>
            <a:pPr algn="ctr" indent="0" marL="0">
              <a:buNone/>
            </a:pPr>
            <a:r>
              <a:rPr lang="en-US" sz="1050" dirty="0">
                <a:solidFill>
                  <a:srgbClr val="5B6472"/>
                </a:solidFill>
                <a:latin typeface="Calibri" pitchFamily="34" charset="0"/>
                <a:ea typeface="Calibri" pitchFamily="34" charset="-122"/>
                <a:cs typeface="Calibri" pitchFamily="34" charset="-120"/>
              </a:rPr>
              <a:t>chance (1/1,500 = 0.067%)</a:t>
            </a:r>
            <a:endParaRPr lang="en-US" sz="1050" dirty="0"/>
          </a:p>
        </p:txBody>
      </p:sp>
      <p:sp>
        <p:nvSpPr>
          <p:cNvPr id="9" name="Text 7"/>
          <p:cNvSpPr txBox="1"/>
          <p:nvPr/>
        </p:nvSpPr>
        <p:spPr>
          <a:xfrm>
            <a:off x="8046720" y="1600200"/>
            <a:ext cx="3566160" cy="685800"/>
          </a:xfrm>
          <a:prstGeom prst="rect">
            <a:avLst/>
          </a:prstGeom>
          <a:noFill/>
          <a:ln/>
        </p:spPr>
        <p:txBody>
          <a:bodyPr wrap="square" lIns="0" tIns="0" rIns="0" bIns="0" rtlCol="0" anchor="ctr"/>
          <a:lstStyle/>
          <a:p>
            <a:pPr algn="ctr" indent="0" marL="0">
              <a:buNone/>
            </a:pPr>
            <a:r>
              <a:rPr lang="en-US" sz="3600" b="1" dirty="0">
                <a:solidFill>
                  <a:srgbClr val="B91C1C"/>
                </a:solidFill>
                <a:latin typeface="Cambria" pitchFamily="34" charset="0"/>
                <a:ea typeface="Cambria" pitchFamily="34" charset="-122"/>
                <a:cs typeface="Cambria" pitchFamily="34" charset="-120"/>
              </a:rPr>
              <a:t>0.1%</a:t>
            </a:r>
            <a:endParaRPr lang="en-US" sz="3600" dirty="0"/>
          </a:p>
        </p:txBody>
      </p:sp>
      <p:sp>
        <p:nvSpPr>
          <p:cNvPr id="10" name="Text 8"/>
          <p:cNvSpPr txBox="1"/>
          <p:nvPr/>
        </p:nvSpPr>
        <p:spPr>
          <a:xfrm>
            <a:off x="8046720" y="2258568"/>
            <a:ext cx="3566160" cy="457200"/>
          </a:xfrm>
          <a:prstGeom prst="rect">
            <a:avLst/>
          </a:prstGeom>
          <a:noFill/>
          <a:ln/>
        </p:spPr>
        <p:txBody>
          <a:bodyPr wrap="square" lIns="0" tIns="0" rIns="0" bIns="0" rtlCol="0" anchor="ctr"/>
          <a:lstStyle/>
          <a:p>
            <a:pPr algn="ctr" indent="0" marL="0">
              <a:buNone/>
            </a:pPr>
            <a:r>
              <a:rPr lang="en-US" sz="1050" dirty="0">
                <a:solidFill>
                  <a:srgbClr val="5B6472"/>
                </a:solidFill>
                <a:latin typeface="Calibri" pitchFamily="34" charset="0"/>
                <a:ea typeface="Calibri" pitchFamily="34" charset="-122"/>
                <a:cs typeface="Calibri" pitchFamily="34" charset="-120"/>
              </a:rPr>
              <a:t>after whitening — the sharpest negative</a:t>
            </a:r>
            <a:endParaRPr lang="en-US" sz="1050" dirty="0"/>
          </a:p>
        </p:txBody>
      </p:sp>
      <p:sp>
        <p:nvSpPr>
          <p:cNvPr id="11" name="Shape 9"/>
          <p:cNvSpPr/>
          <p:nvPr/>
        </p:nvSpPr>
        <p:spPr>
          <a:xfrm>
            <a:off x="548640" y="3108960"/>
            <a:ext cx="5394960" cy="1874520"/>
          </a:xfrm>
          <a:prstGeom prst="roundRect">
            <a:avLst>
              <a:gd name="adj" fmla="val 3902"/>
            </a:avLst>
          </a:prstGeom>
          <a:solidFill>
            <a:srgbClr val="EEF3FF"/>
          </a:solidFill>
          <a:ln w="12700">
            <a:solidFill>
              <a:srgbClr val="EEF3FF"/>
            </a:solidFill>
            <a:prstDash val="solid"/>
          </a:ln>
        </p:spPr>
      </p:sp>
      <p:sp>
        <p:nvSpPr>
          <p:cNvPr id="12" name="Text 10"/>
          <p:cNvSpPr txBox="1"/>
          <p:nvPr/>
        </p:nvSpPr>
        <p:spPr>
          <a:xfrm>
            <a:off x="713232" y="3218688"/>
            <a:ext cx="5065776"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How it was done</a:t>
            </a:r>
            <a:endParaRPr lang="en-US" sz="1300" dirty="0"/>
          </a:p>
        </p:txBody>
      </p:sp>
      <p:sp>
        <p:nvSpPr>
          <p:cNvPr id="13" name="Text 11"/>
          <p:cNvSpPr txBox="1"/>
          <p:nvPr/>
        </p:nvSpPr>
        <p:spPr>
          <a:xfrm>
            <a:off x="713232" y="3611880"/>
            <a:ext cx="5065776" cy="128016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Two sets of 1,500 vectors of the same images (MobileCLIP, SigLIP), one side shuffled and the true permutation sealed until scoring. Entropic Gromov–Wasserstein matches distance-structure to distance-structure using only each space's own internal distance matrix; then CSLS self-learning. ε swept per run (optimum moves with N).</a:t>
            </a:r>
            <a:endParaRPr lang="en-US" sz="1100" dirty="0"/>
          </a:p>
        </p:txBody>
      </p:sp>
      <p:sp>
        <p:nvSpPr>
          <p:cNvPr id="14" name="Shape 12"/>
          <p:cNvSpPr/>
          <p:nvPr/>
        </p:nvSpPr>
        <p:spPr>
          <a:xfrm>
            <a:off x="6217920" y="3108960"/>
            <a:ext cx="5394960" cy="1874520"/>
          </a:xfrm>
          <a:prstGeom prst="roundRect">
            <a:avLst>
              <a:gd name="adj" fmla="val 3902"/>
            </a:avLst>
          </a:prstGeom>
          <a:solidFill>
            <a:srgbClr val="EEF7F3"/>
          </a:solidFill>
          <a:ln w="12700">
            <a:solidFill>
              <a:srgbClr val="EEF7F3"/>
            </a:solidFill>
            <a:prstDash val="solid"/>
          </a:ln>
        </p:spPr>
      </p:sp>
      <p:sp>
        <p:nvSpPr>
          <p:cNvPr id="15" name="Text 13"/>
          <p:cNvSpPr txBox="1"/>
          <p:nvPr/>
        </p:nvSpPr>
        <p:spPr>
          <a:xfrm>
            <a:off x="6382512" y="3218688"/>
            <a:ext cx="5065776"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Measured · proved · the two negatives</a:t>
            </a:r>
            <a:endParaRPr lang="en-US" sz="1300" dirty="0"/>
          </a:p>
        </p:txBody>
      </p:sp>
      <p:sp>
        <p:nvSpPr>
          <p:cNvPr id="16" name="Text 14"/>
          <p:cNvSpPr txBox="1"/>
          <p:nvPr/>
        </p:nvSpPr>
        <p:spPr>
          <a:xfrm>
            <a:off x="6382512" y="3611880"/>
            <a:ext cx="5065776" cy="128016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Measured: 39.7% exact matches; a map fitted from that assignment reaches R@1 0.252 (40% of ceiling), verification AUC 0.906. Proved: the correspondence is partially SELF-IDENTIFYING from geometry. Kept negatives: iterative refinement degraded monotonically (converging on its own errors); whitening — which RESCUES cosine in E1.2 — collapses matching to chance here.</a:t>
            </a:r>
            <a:endParaRPr lang="en-US" sz="1100" dirty="0"/>
          </a:p>
        </p:txBody>
      </p:sp>
      <p:sp>
        <p:nvSpPr>
          <p:cNvPr id="17" name="Shape 15"/>
          <p:cNvSpPr/>
          <p:nvPr/>
        </p:nvSpPr>
        <p:spPr>
          <a:xfrm>
            <a:off x="548640" y="5074920"/>
            <a:ext cx="11064240" cy="1234440"/>
          </a:xfrm>
          <a:prstGeom prst="roundRect">
            <a:avLst>
              <a:gd name="adj" fmla="val 4444"/>
            </a:avLst>
          </a:prstGeom>
          <a:solidFill>
            <a:srgbClr val="F5F7FB"/>
          </a:solidFill>
          <a:ln w="12700">
            <a:solidFill>
              <a:srgbClr val="D6DCE8"/>
            </a:solidFill>
            <a:prstDash val="solid"/>
          </a:ln>
        </p:spPr>
      </p:sp>
      <p:sp>
        <p:nvSpPr>
          <p:cNvPr id="18" name="Text 16"/>
          <p:cNvSpPr txBox="1"/>
          <p:nvPr/>
        </p:nvSpPr>
        <p:spPr>
          <a:xfrm>
            <a:off x="685800" y="5148072"/>
            <a:ext cx="10789920" cy="274320"/>
          </a:xfrm>
          <a:prstGeom prst="rect">
            <a:avLst/>
          </a:prstGeom>
          <a:noFill/>
          <a:ln/>
        </p:spPr>
        <p:txBody>
          <a:bodyPr wrap="square" lIns="0" tIns="0" rIns="0" bIns="0" rtlCol="0" anchor="ctr"/>
          <a:lstStyle/>
          <a:p>
            <a:pPr indent="0" marL="0">
              <a:buNone/>
            </a:pPr>
            <a:r>
              <a:rPr lang="en-US" sz="1000" b="1" dirty="0">
                <a:solidFill>
                  <a:srgbClr val="C8551A"/>
                </a:solidFill>
                <a:latin typeface="Calibri" pitchFamily="34" charset="0"/>
                <a:ea typeface="Calibri" pitchFamily="34" charset="-122"/>
                <a:cs typeface="Calibri" pitchFamily="34" charset="-120"/>
              </a:rPr>
              <a:t>the short math</a:t>
            </a:r>
            <a:endParaRPr lang="en-US" sz="1000" dirty="0"/>
          </a:p>
        </p:txBody>
      </p:sp>
      <p:sp>
        <p:nvSpPr>
          <p:cNvPr id="19" name="Text 17"/>
          <p:cNvSpPr txBox="1"/>
          <p:nvPr/>
        </p:nvSpPr>
        <p:spPr>
          <a:xfrm>
            <a:off x="685800" y="5422392"/>
            <a:ext cx="10789920" cy="822960"/>
          </a:xfrm>
          <a:prstGeom prst="rect">
            <a:avLst/>
          </a:prstGeom>
          <a:noFill/>
          <a:ln/>
        </p:spPr>
        <p:txBody>
          <a:bodyPr wrap="square" lIns="0" tIns="0" rIns="0" bIns="0" rtlCol="0" anchor="t"/>
          <a:lstStyle/>
          <a:p>
            <a:pPr indent="0" marL="0">
              <a:buNone/>
            </a:pPr>
            <a:r>
              <a:rPr lang="en-US" sz="1000" dirty="0">
                <a:solidFill>
                  <a:srgbClr val="1F2937"/>
                </a:solidFill>
                <a:latin typeface="Courier New" pitchFamily="34" charset="0"/>
                <a:ea typeface="Courier New" pitchFamily="34" charset="-122"/>
                <a:cs typeface="Courier New" pitchFamily="34" charset="-120"/>
              </a:rPr>
              <a:t>GW(C_A,C_B) = min_T  sum |C_A(i,k) - C_B(j,l)|^2 T_ij T_kl</a:t>
            </a:r>
            <a:endParaRPr lang="en-US" sz="1000" dirty="0"/>
          </a:p>
          <a:p>
            <a:pPr indent="0" marL="0">
              <a:buNone/>
            </a:pPr>
            <a:r>
              <a:rPr lang="en-US" sz="1000" dirty="0">
                <a:solidFill>
                  <a:srgbClr val="1F2937"/>
                </a:solidFill>
                <a:latin typeface="Courier New" pitchFamily="34" charset="0"/>
                <a:ea typeface="Courier New" pitchFamily="34" charset="-122"/>
                <a:cs typeface="Courier New" pitchFamily="34" charset="-120"/>
              </a:rPr>
              <a:t>C_A,C_B = intra-space distance matrices; T = soft matching</a:t>
            </a:r>
            <a:endParaRPr lang="en-US" sz="1000" dirty="0"/>
          </a:p>
          <a:p>
            <a:pPr indent="0" marL="0">
              <a:buNone/>
            </a:pPr>
            <a:r>
              <a:rPr lang="en-US" sz="1000" dirty="0">
                <a:solidFill>
                  <a:srgbClr val="1F2937"/>
                </a:solidFill>
                <a:latin typeface="Courier New" pitchFamily="34" charset="0"/>
                <a:ea typeface="Courier New" pitchFamily="34" charset="-122"/>
                <a:cs typeface="Courier New" pitchFamily="34" charset="-120"/>
              </a:rPr>
              <a:t>cat reading: 'the cat far from every airplane, near every sofa-cat'</a:t>
            </a:r>
            <a:endParaRPr lang="en-US" sz="1000" dirty="0"/>
          </a:p>
          <a:p>
            <a:pPr indent="0" marL="0">
              <a:buNone/>
            </a:pPr>
            <a:r>
              <a:rPr lang="en-US" sz="1000" dirty="0">
                <a:solidFill>
                  <a:srgbClr val="1F2937"/>
                </a:solidFill>
                <a:latin typeface="Courier New" pitchFamily="34" charset="0"/>
                <a:ea typeface="Courier New" pitchFamily="34" charset="-122"/>
                <a:cs typeface="Courier New" pitchFamily="34" charset="-120"/>
              </a:rPr>
              <a:t>is identifiable in BOTH spaces by that pattern alone -&gt; matched, no pairing</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731520" y="2011680"/>
            <a:ext cx="10698480" cy="548640"/>
          </a:xfrm>
          <a:prstGeom prst="rect">
            <a:avLst/>
          </a:prstGeom>
          <a:noFill/>
          <a:ln/>
        </p:spPr>
        <p:txBody>
          <a:bodyPr wrap="square" lIns="0" tIns="0" rIns="0" bIns="0" rtlCol="0" anchor="ctr"/>
          <a:lstStyle/>
          <a:p>
            <a:pPr indent="0" marL="0">
              <a:buNone/>
            </a:pPr>
            <a:r>
              <a:rPr lang="en-US" sz="1800" b="1" spc="600" kern="0" dirty="0">
                <a:solidFill>
                  <a:srgbClr val="CADCFC"/>
                </a:solidFill>
                <a:latin typeface="Calibri" pitchFamily="34" charset="0"/>
                <a:ea typeface="Calibri" pitchFamily="34" charset="-122"/>
                <a:cs typeface="Calibri" pitchFamily="34" charset="-120"/>
              </a:rPr>
              <a:t>PART II</a:t>
            </a:r>
            <a:endParaRPr lang="en-US" sz="1800" dirty="0"/>
          </a:p>
        </p:txBody>
      </p:sp>
      <p:sp>
        <p:nvSpPr>
          <p:cNvPr id="3" name="Text 1"/>
          <p:cNvSpPr txBox="1"/>
          <p:nvPr/>
        </p:nvSpPr>
        <p:spPr>
          <a:xfrm>
            <a:off x="731520" y="2606040"/>
            <a:ext cx="1069848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Many encoders in one space</a:t>
            </a:r>
            <a:endParaRPr lang="en-US" sz="4000" dirty="0"/>
          </a:p>
        </p:txBody>
      </p:sp>
      <p:sp>
        <p:nvSpPr>
          <p:cNvPr id="4" name="Text 2"/>
          <p:cNvSpPr txBox="1"/>
          <p:nvPr/>
        </p:nvSpPr>
        <p:spPr>
          <a:xfrm>
            <a:off x="731520" y="3749040"/>
            <a:ext cx="10058400" cy="109728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Series G and K — build one 512-d hub so a component trained on ONE encoder serves encoders it never saw. The constructive form of the thesis, and engineered solution #2.</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38560" y="6446520"/>
            <a:ext cx="54864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24</a:t>
            </a:r>
            <a:endParaRPr lang="en-US" sz="900" dirty="0"/>
          </a:p>
        </p:txBody>
      </p:sp>
      <p:sp>
        <p:nvSpPr>
          <p:cNvPr id="3" name="Text 1"/>
          <p:cNvSpPr txBox="1"/>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C8551A"/>
                </a:solidFill>
                <a:latin typeface="Calibri" pitchFamily="34" charset="0"/>
                <a:ea typeface="Calibri" pitchFamily="34" charset="-122"/>
                <a:cs typeface="Calibri" pitchFamily="34" charset="-120"/>
              </a:rPr>
              <a:t>THE HUB (SERIES G) · ENGINEERED SOLUTION #2</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Seven encoders, one 512-d coordinate system: N maps instead of N(N−1)</a:t>
            </a:r>
            <a:endParaRPr lang="en-US" sz="2700" dirty="0"/>
          </a:p>
        </p:txBody>
      </p:sp>
      <p:pic>
        <p:nvPicPr>
          <p:cNvPr id="5" name="Image 0" descr="/home/claude/deck/img/hub_arch.png">    </p:cNvPr>
          <p:cNvPicPr>
            <a:picLocks noChangeAspect="1"/>
          </p:cNvPicPr>
          <p:nvPr/>
        </p:nvPicPr>
        <p:blipFill>
          <a:blip r:embed="rId1"/>
          <a:srcRect l="0" r="0" t="0" b="0"/>
          <a:stretch/>
        </p:blipFill>
        <p:spPr>
          <a:xfrm>
            <a:off x="548640" y="1508760"/>
            <a:ext cx="7132320" cy="4800600"/>
          </a:xfrm>
          <a:prstGeom prst="rect">
            <a:avLst/>
          </a:prstGeom>
        </p:spPr>
      </p:pic>
      <p:sp>
        <p:nvSpPr>
          <p:cNvPr id="6" name="Shape 3"/>
          <p:cNvSpPr/>
          <p:nvPr/>
        </p:nvSpPr>
        <p:spPr>
          <a:xfrm>
            <a:off x="7863840" y="1508760"/>
            <a:ext cx="3749040" cy="2697480"/>
          </a:xfrm>
          <a:prstGeom prst="roundRect">
            <a:avLst>
              <a:gd name="adj" fmla="val 2712"/>
            </a:avLst>
          </a:prstGeom>
          <a:solidFill>
            <a:srgbClr val="EEF3FF"/>
          </a:solidFill>
          <a:ln w="12700">
            <a:solidFill>
              <a:srgbClr val="EEF3FF"/>
            </a:solidFill>
            <a:prstDash val="solid"/>
          </a:ln>
        </p:spPr>
      </p:sp>
      <p:sp>
        <p:nvSpPr>
          <p:cNvPr id="7" name="Text 4"/>
          <p:cNvSpPr txBox="1"/>
          <p:nvPr/>
        </p:nvSpPr>
        <p:spPr>
          <a:xfrm>
            <a:off x="8028432" y="1618488"/>
            <a:ext cx="3419856"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How it is built (no training)</a:t>
            </a:r>
            <a:endParaRPr lang="en-US" sz="1300" dirty="0"/>
          </a:p>
        </p:txBody>
      </p:sp>
      <p:sp>
        <p:nvSpPr>
          <p:cNvPr id="8" name="Text 5"/>
          <p:cNvSpPr txBox="1"/>
          <p:nvPr/>
        </p:nvSpPr>
        <p:spPr>
          <a:xfrm>
            <a:off x="8028432" y="2011680"/>
            <a:ext cx="3419856" cy="210312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1 · z-score each cached space. 2 · concatenate per item (8,533 rows × 6,144 dims for five spaces). 3 · PCA, keep 512 directions. 4 · whiten → H, unit variance per direction. That basis IS the hub, then frozen. One closed-form ridge map per encoder INTO the hub; one caption head OUT of it (hub → bge-m3), trained on DINOv2-small's hub coordinates only.</a:t>
            </a:r>
            <a:endParaRPr lang="en-US" sz="1100" dirty="0"/>
          </a:p>
        </p:txBody>
      </p:sp>
      <p:sp>
        <p:nvSpPr>
          <p:cNvPr id="9" name="Shape 6"/>
          <p:cNvSpPr/>
          <p:nvPr/>
        </p:nvSpPr>
        <p:spPr>
          <a:xfrm>
            <a:off x="7863840" y="4343400"/>
            <a:ext cx="3749040" cy="1965960"/>
          </a:xfrm>
          <a:prstGeom prst="roundRect">
            <a:avLst>
              <a:gd name="adj" fmla="val 2791"/>
            </a:avLst>
          </a:prstGeom>
          <a:solidFill>
            <a:srgbClr val="F5F7FB"/>
          </a:solidFill>
          <a:ln w="12700">
            <a:solidFill>
              <a:srgbClr val="D6DCE8"/>
            </a:solidFill>
            <a:prstDash val="solid"/>
          </a:ln>
        </p:spPr>
      </p:sp>
      <p:sp>
        <p:nvSpPr>
          <p:cNvPr id="10" name="Text 7"/>
          <p:cNvSpPr txBox="1"/>
          <p:nvPr/>
        </p:nvSpPr>
        <p:spPr>
          <a:xfrm>
            <a:off x="8001000" y="4416552"/>
            <a:ext cx="3474720" cy="274320"/>
          </a:xfrm>
          <a:prstGeom prst="rect">
            <a:avLst/>
          </a:prstGeom>
          <a:noFill/>
          <a:ln/>
        </p:spPr>
        <p:txBody>
          <a:bodyPr wrap="square" lIns="0" tIns="0" rIns="0" bIns="0" rtlCol="0" anchor="ctr"/>
          <a:lstStyle/>
          <a:p>
            <a:pPr indent="0" marL="0">
              <a:buNone/>
            </a:pPr>
            <a:r>
              <a:rPr lang="en-US" sz="1000" b="1" dirty="0">
                <a:solidFill>
                  <a:srgbClr val="C8551A"/>
                </a:solidFill>
                <a:latin typeface="Calibri" pitchFamily="34" charset="0"/>
                <a:ea typeface="Calibri" pitchFamily="34" charset="-122"/>
                <a:cs typeface="Calibri" pitchFamily="34" charset="-120"/>
              </a:rPr>
              <a:t>the short math</a:t>
            </a:r>
            <a:endParaRPr lang="en-US" sz="1000" dirty="0"/>
          </a:p>
        </p:txBody>
      </p:sp>
      <p:sp>
        <p:nvSpPr>
          <p:cNvPr id="11" name="Text 8"/>
          <p:cNvSpPr txBox="1"/>
          <p:nvPr/>
        </p:nvSpPr>
        <p:spPr>
          <a:xfrm>
            <a:off x="8001000" y="4690872"/>
            <a:ext cx="3474720" cy="1554480"/>
          </a:xfrm>
          <a:prstGeom prst="rect">
            <a:avLst/>
          </a:prstGeom>
          <a:noFill/>
          <a:ln/>
        </p:spPr>
        <p:txBody>
          <a:bodyPr wrap="square" lIns="0" tIns="0" rIns="0" bIns="0" rtlCol="0" anchor="t"/>
          <a:lstStyle/>
          <a:p>
            <a:pPr indent="0" marL="0">
              <a:buNone/>
            </a:pPr>
            <a:r>
              <a:rPr lang="en-US" sz="1000" dirty="0">
                <a:solidFill>
                  <a:srgbClr val="1F2937"/>
                </a:solidFill>
                <a:latin typeface="Courier New" pitchFamily="34" charset="0"/>
                <a:ea typeface="Courier New" pitchFamily="34" charset="-122"/>
                <a:cs typeface="Courier New" pitchFamily="34" charset="-120"/>
              </a:rPr>
              <a:t>Z = [X~_1 | ... | X~_k];  Z = U S V^T</a:t>
            </a:r>
            <a:endParaRPr lang="en-US" sz="1000" dirty="0"/>
          </a:p>
          <a:p>
            <a:pPr indent="0" marL="0">
              <a:buNone/>
            </a:pPr>
            <a:r>
              <a:rPr lang="en-US" sz="1000" dirty="0">
                <a:solidFill>
                  <a:srgbClr val="1F2937"/>
                </a:solidFill>
                <a:latin typeface="Courier New" pitchFamily="34" charset="0"/>
                <a:ea typeface="Courier New" pitchFamily="34" charset="-122"/>
                <a:cs typeface="Courier New" pitchFamily="34" charset="-120"/>
              </a:rPr>
              <a:t>H = Z V_512 S_512^-1   (8533 x 512)</a:t>
            </a:r>
            <a:endParaRPr lang="en-US" sz="1000" dirty="0"/>
          </a:p>
          <a:p>
            <a:pPr indent="0" marL="0">
              <a:buNone/>
            </a:pPr>
            <a:r>
              <a:rPr lang="en-US" sz="1000" dirty="0">
                <a:solidFill>
                  <a:srgbClr val="1F2937"/>
                </a:solidFill>
                <a:latin typeface="Courier New" pitchFamily="34" charset="0"/>
                <a:ea typeface="Courier New" pitchFamily="34" charset="-122"/>
                <a:cs typeface="Courier New" pitchFamily="34" charset="-120"/>
              </a:rPr>
              <a:t>W_k = (X_k^T X_k + aI)^-1 X_k^T H</a:t>
            </a:r>
            <a:endParaRPr lang="en-US" sz="1000" dirty="0"/>
          </a:p>
          <a:p>
            <a:pPr indent="0" marL="0">
              <a:buNone/>
            </a:pPr>
            <a:r>
              <a:rPr lang="en-US" sz="1000" dirty="0">
                <a:solidFill>
                  <a:srgbClr val="1F2937"/>
                </a:solidFill>
                <a:latin typeface="Courier New" pitchFamily="34" charset="0"/>
                <a:ea typeface="Courier New" pitchFamily="34" charset="-122"/>
                <a:cs typeface="Courier New" pitchFamily="34" charset="-120"/>
              </a:rPr>
              <a:t>add a model = one solve of W_new;</a:t>
            </a:r>
            <a:endParaRPr lang="en-US" sz="1000" dirty="0"/>
          </a:p>
          <a:p>
            <a:pPr indent="0" marL="0">
              <a:buNone/>
            </a:pPr>
            <a:r>
              <a:rPr lang="en-US" sz="1000" dirty="0">
                <a:solidFill>
                  <a:srgbClr val="1F2937"/>
                </a:solidFill>
                <a:latin typeface="Courier New" pitchFamily="34" charset="0"/>
                <a:ea typeface="Courier New" pitchFamily="34" charset="-122"/>
                <a:cs typeface="Courier New" pitchFamily="34" charset="-120"/>
              </a:rPr>
              <a:t>  hub &amp; head untouched</a:t>
            </a:r>
            <a:endParaRPr lang="en-US" sz="1000" dirty="0"/>
          </a:p>
          <a:p>
            <a:pPr indent="0" marL="0">
              <a:buNone/>
            </a:pPr>
            <a:r>
              <a:rPr lang="en-US" sz="1000" dirty="0">
                <a:solidFill>
                  <a:srgbClr val="1F2937"/>
                </a:solidFill>
                <a:latin typeface="Courier New" pitchFamily="34" charset="0"/>
                <a:ea typeface="Courier New" pitchFamily="34" charset="-122"/>
                <a:cs typeface="Courier New" pitchFamily="34" charset="-120"/>
              </a:rPr>
              <a:t>rule: hub_width &lt; dim(source)  (E.8)</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38560" y="6446520"/>
            <a:ext cx="54864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25</a:t>
            </a:r>
            <a:endParaRPr lang="en-US" sz="900" dirty="0"/>
          </a:p>
        </p:txBody>
      </p:sp>
      <p:sp>
        <p:nvSpPr>
          <p:cNvPr id="3" name="Text 1"/>
          <p:cNvSpPr txBox="1"/>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C8551A"/>
                </a:solidFill>
                <a:latin typeface="Calibri" pitchFamily="34" charset="0"/>
                <a:ea typeface="Calibri" pitchFamily="34" charset="-122"/>
                <a:cs typeface="Calibri" pitchFamily="34" charset="-120"/>
              </a:rPr>
              <a:t>THE HUB · THE DEMO</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One head trained once on one encoder, applied unchanged to encoders it never saw</a:t>
            </a:r>
            <a:endParaRPr lang="en-US" sz="27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6126480" cy="914400"/>
        </p:xfrm>
        <a:graphic>
          <a:graphicData uri="http://schemas.openxmlformats.org/drawingml/2006/table">
            <a:tbl>
              <a:tblPr/>
              <a:tblGrid>
                <a:gridCol w="1691640"/>
                <a:gridCol w="2103120"/>
                <a:gridCol w="685800"/>
                <a:gridCol w="1645920"/>
              </a:tblGrid>
              <a:tr h="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recipient encoder</a:t>
                      </a:r>
                      <a:endParaRPr lang="en-US" sz="1050" dirty="0">
                        <a:latin typeface="Calibri" charset="0"/>
                        <a:ea typeface="Calibri" charset="0"/>
                        <a:cs typeface="Calibri" charset="0"/>
                      </a:endParaRPr>
                    </a:p>
                  </a:txBody>
                  <a:tcPr marL="45720" marR="45720" marT="45720" marB="45720" anchor="ctr">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relation to the head</a:t>
                      </a:r>
                      <a:endParaRPr lang="en-US" sz="1050" dirty="0">
                        <a:latin typeface="Calibri" charset="0"/>
                        <a:ea typeface="Calibri" charset="0"/>
                        <a:cs typeface="Calibri" charset="0"/>
                      </a:endParaRPr>
                    </a:p>
                  </a:txBody>
                  <a:tcPr marL="45720" marR="45720" marT="45720" marB="45720" anchor="ctr">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R@1</a:t>
                      </a:r>
                      <a:endParaRPr lang="en-US" sz="1050" dirty="0">
                        <a:latin typeface="Calibri" charset="0"/>
                        <a:ea typeface="Calibri" charset="0"/>
                        <a:cs typeface="Calibri" charset="0"/>
                      </a:endParaRPr>
                    </a:p>
                  </a:txBody>
                  <a:tcPr marL="45720" marR="45720" marT="45720" marB="45720" anchor="ctr">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1E2761"/>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 of native head</a:t>
                      </a:r>
                      <a:endParaRPr lang="en-US" sz="1050" dirty="0">
                        <a:latin typeface="Calibri" charset="0"/>
                        <a:ea typeface="Calibri" charset="0"/>
                        <a:cs typeface="Calibri" charset="0"/>
                      </a:endParaRPr>
                    </a:p>
                  </a:txBody>
                  <a:tcPr marL="45720" marR="45720" marT="45720" marB="45720" anchor="ctr">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1E2761"/>
                    </a:solidFill>
                  </a:tcPr>
                </a:tc>
              </a:tr>
              <a:tr h="0">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DINOv2-base</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sibling — never seen</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0.445</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96.5%</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DINOv2-large</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sibling — never seen</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0.473</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92.9% (entry map at 4.2 rows/dim — conservative)</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r>
              <a:tr h="0">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SigLIP 2</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independent lineage — never seen</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0.557</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94.2% (reproduced to the decimal)</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r>
              <a:tr h="0">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ConvNeXt-base</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convnet + fully supervised — never seen</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96.7% — ABOVE the family band</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r>
              <a:tr h="0">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random-map control</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the number that makes it mean anything</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0.003</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latin typeface="Calibri" pitchFamily="34" charset="0"/>
                          <a:ea typeface="Calibri" pitchFamily="34" charset="-122"/>
                          <a:cs typeface="Calibri" pitchFamily="34" charset="-120"/>
                        </a:rPr>
                        <a:t>chance = 0.001</a:t>
                      </a:r>
                      <a:endParaRPr lang="en-US" sz="10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r>
            </a:tbl>
          </a:graphicData>
        </a:graphic>
      </p:graphicFrame>
      <p:pic>
        <p:nvPicPr>
          <p:cNvPr id="6" name="Image 0" descr="/home/claude/deck/img/auc_hub_seven.png">    </p:cNvPr>
          <p:cNvPicPr>
            <a:picLocks noChangeAspect="1"/>
          </p:cNvPicPr>
          <p:nvPr/>
        </p:nvPicPr>
        <p:blipFill>
          <a:blip r:embed="rId1"/>
          <a:srcRect l="0" r="0" t="0" b="0"/>
          <a:stretch/>
        </p:blipFill>
        <p:spPr>
          <a:xfrm>
            <a:off x="6858000" y="1508760"/>
            <a:ext cx="4754880" cy="2331720"/>
          </a:xfrm>
          <a:prstGeom prst="rect">
            <a:avLst/>
          </a:prstGeom>
        </p:spPr>
      </p:pic>
      <p:pic>
        <p:nvPicPr>
          <p:cNvPr id="7" name="Image 1" descr="/home/claude/deck/img/siglip_zero_shot_vs_native_ratio.png">    </p:cNvPr>
          <p:cNvPicPr>
            <a:picLocks noChangeAspect="1"/>
          </p:cNvPicPr>
          <p:nvPr/>
        </p:nvPicPr>
        <p:blipFill>
          <a:blip r:embed="rId2"/>
          <a:srcRect l="0" r="0" t="0" b="0"/>
          <a:stretch/>
        </p:blipFill>
        <p:spPr>
          <a:xfrm>
            <a:off x="6858000" y="3931920"/>
            <a:ext cx="4754880" cy="2331720"/>
          </a:xfrm>
          <a:prstGeom prst="rect">
            <a:avLst/>
          </a:prstGeom>
        </p:spPr>
      </p:pic>
      <p:sp>
        <p:nvSpPr>
          <p:cNvPr id="8" name="Text 3"/>
          <p:cNvSpPr txBox="1"/>
          <p:nvPr/>
        </p:nvSpPr>
        <p:spPr>
          <a:xfrm>
            <a:off x="548640" y="3977640"/>
            <a:ext cx="6126480" cy="2194560"/>
          </a:xfrm>
          <a:prstGeom prst="rect">
            <a:avLst/>
          </a:prstGeom>
          <a:noFill/>
          <a:ln/>
        </p:spPr>
        <p:txBody>
          <a:bodyPr wrap="square" lIns="0" tIns="0" rIns="0" bIns="0" rtlCol="0" anchor="t"/>
          <a:lstStyle/>
          <a:p>
            <a:pPr marL="177800" indent="-177800">
              <a:spcAft>
                <a:spcPts val="500"/>
              </a:spcAft>
              <a:buSzPct val="100000"/>
              <a:buChar char="•"/>
            </a:pPr>
            <a:r>
              <a:rPr lang="en-US" sz="1000" dirty="0">
                <a:solidFill>
                  <a:srgbClr val="1F2937"/>
                </a:solidFill>
                <a:latin typeface="Calibri" pitchFamily="34" charset="0"/>
                <a:ea typeface="Calibri" pitchFamily="34" charset="-122"/>
                <a:cs typeface="Calibri" pitchFamily="34" charset="-120"/>
              </a:rPr>
              <a:t>Zero-shot means the HEAD — the entry map is one closed-form solve on cached vectors. Adding a model = fitting ONE entry map; hub, head and every other map untouched.</a:t>
            </a:r>
            <a:endParaRPr lang="en-US" sz="1000" dirty="0"/>
          </a:p>
          <a:p>
            <a:pPr marL="177800" indent="-177800">
              <a:spcAft>
                <a:spcPts val="500"/>
              </a:spcAft>
              <a:buSzPct val="100000"/>
              <a:buChar char="•"/>
            </a:pPr>
            <a:r>
              <a:rPr lang="en-US" sz="1000" dirty="0">
                <a:solidFill>
                  <a:srgbClr val="1F2937"/>
                </a:solidFill>
                <a:latin typeface="Calibri" pitchFamily="34" charset="0"/>
                <a:ea typeface="Calibri" pitchFamily="34" charset="-122"/>
                <a:cs typeface="Calibri" pitchFamily="34" charset="-120"/>
              </a:rPr>
              <a:t>All 42 directed pairs through the shared hub reach 103.6% of hubs built per pair. Sharing costs nothing. Seven-encoder hub: R@1 0.451, verification AUC 0.986 — unchanged from five (CI includes zero).</a:t>
            </a:r>
            <a:endParaRPr lang="en-US" sz="1000" dirty="0"/>
          </a:p>
          <a:p>
            <a:pPr marL="177800" indent="-177800">
              <a:spcAft>
                <a:spcPts val="500"/>
              </a:spcAft>
              <a:buSzPct val="100000"/>
              <a:buChar char="•"/>
            </a:pPr>
            <a:r>
              <a:rPr lang="en-US" sz="1000" dirty="0">
                <a:solidFill>
                  <a:srgbClr val="1F2937"/>
                </a:solidFill>
                <a:latin typeface="Calibri" pitchFamily="34" charset="0"/>
                <a:ea typeface="Calibri" pitchFamily="34" charset="-122"/>
                <a:cs typeface="Calibri" pitchFamily="34" charset="-120"/>
              </a:rPr>
              <a:t>Cat reading: query ‘a cat on chair’ encoded by GPT-2 → hub → head lands on the img_base cat at +0.45 and on the dog-sofa at +0.00.</a:t>
            </a:r>
            <a:endParaRPr lang="en-US" sz="1000" dirty="0"/>
          </a:p>
        </p:txBody>
      </p:sp>
      <p:sp>
        <p:nvSpPr>
          <p:cNvPr id="9" name="Text 4">
            <a:hlinkClick r:id="rId3" tooltip=""/>
          </p:cNvPr>
          <p:cNvSpPr txBox="1"/>
          <p:nvPr/>
        </p:nvSpPr>
        <p:spPr>
          <a:xfrm>
            <a:off x="548640" y="6263640"/>
            <a:ext cx="6126480" cy="292608"/>
          </a:xfrm>
          <a:prstGeom prst="rect">
            <a:avLst/>
          </a:prstGeom>
          <a:noFill/>
          <a:ln/>
        </p:spPr>
        <p:txBody>
          <a:bodyPr wrap="square" lIns="0" tIns="0" rIns="0" bIns="0" rtlCol="0" anchor="ctr"/>
          <a:lstStyle/>
          <a:p>
            <a:pPr indent="0" marL="0">
              <a:buNone/>
            </a:pPr>
            <a:r>
              <a:rPr lang="en-US" sz="1200" u="sng" dirty="0">
                <a:solidFill>
                  <a:srgbClr val="0F766E"/>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 Demo notebooks G1 / G2 — Drive: convergence_experiment</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38560" y="6446520"/>
            <a:ext cx="54864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26</a:t>
            </a:r>
            <a:endParaRPr lang="en-US" sz="900" dirty="0"/>
          </a:p>
        </p:txBody>
      </p:sp>
      <p:sp>
        <p:nvSpPr>
          <p:cNvPr id="3" name="Text 1"/>
          <p:cNvSpPr txBox="1"/>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C8551A"/>
                </a:solidFill>
                <a:latin typeface="Calibri" pitchFamily="34" charset="0"/>
                <a:ea typeface="Calibri" pitchFamily="34" charset="-122"/>
                <a:cs typeface="Calibri" pitchFamily="34" charset="-120"/>
              </a:rPr>
              <a:t>FINDING · SIMILARITY</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What is actually shared: local structure, not global — on three independent metrics</a:t>
            </a:r>
            <a:endParaRPr lang="en-US" sz="2700" dirty="0"/>
          </a:p>
        </p:txBody>
      </p:sp>
      <p:pic>
        <p:nvPicPr>
          <p:cNvPr id="5" name="Image 0" descr="/home/claude/deck/img/similarity_explained.png">    </p:cNvPr>
          <p:cNvPicPr>
            <a:picLocks noChangeAspect="1"/>
          </p:cNvPicPr>
          <p:nvPr/>
        </p:nvPicPr>
        <p:blipFill>
          <a:blip r:embed="rId1"/>
          <a:srcRect l="0" r="0" t="0" b="0"/>
          <a:stretch/>
        </p:blipFill>
        <p:spPr>
          <a:xfrm>
            <a:off x="548640" y="1508760"/>
            <a:ext cx="11064240" cy="2834640"/>
          </a:xfrm>
          <a:prstGeom prst="rect">
            <a:avLst/>
          </a:prstGeom>
        </p:spPr>
      </p:pic>
      <p:pic>
        <p:nvPicPr>
          <p:cNvPr id="6" name="Image 1" descr="/home/claude/deck/img/knn_decay.png">    </p:cNvPr>
          <p:cNvPicPr>
            <a:picLocks noChangeAspect="1"/>
          </p:cNvPicPr>
          <p:nvPr/>
        </p:nvPicPr>
        <p:blipFill>
          <a:blip r:embed="rId2"/>
          <a:srcRect l="0" r="0" t="0" b="0"/>
          <a:stretch/>
        </p:blipFill>
        <p:spPr>
          <a:xfrm>
            <a:off x="548640" y="4434840"/>
            <a:ext cx="4114800" cy="1965960"/>
          </a:xfrm>
          <a:prstGeom prst="rect">
            <a:avLst/>
          </a:prstGeom>
        </p:spPr>
      </p:pic>
      <p:pic>
        <p:nvPicPr>
          <p:cNvPr id="7" name="Image 2" descr="/home/claude/deck/img/scale_shape_agreement.png">    </p:cNvPr>
          <p:cNvPicPr>
            <a:picLocks noChangeAspect="1"/>
          </p:cNvPicPr>
          <p:nvPr/>
        </p:nvPicPr>
        <p:blipFill>
          <a:blip r:embed="rId3"/>
          <a:srcRect l="0" r="0" t="0" b="0"/>
          <a:stretch/>
        </p:blipFill>
        <p:spPr>
          <a:xfrm>
            <a:off x="4800600" y="4434840"/>
            <a:ext cx="4114800" cy="1965960"/>
          </a:xfrm>
          <a:prstGeom prst="rect">
            <a:avLst/>
          </a:prstGeom>
        </p:spPr>
      </p:pic>
      <p:sp>
        <p:nvSpPr>
          <p:cNvPr id="8" name="Text 3"/>
          <p:cNvSpPr txBox="1"/>
          <p:nvPr/>
        </p:nvSpPr>
        <p:spPr>
          <a:xfrm>
            <a:off x="9098280" y="4434840"/>
            <a:ext cx="2514600" cy="2011680"/>
          </a:xfrm>
          <a:prstGeom prst="rect">
            <a:avLst/>
          </a:prstGeom>
          <a:noFill/>
          <a:ln/>
        </p:spPr>
        <p:txBody>
          <a:bodyPr wrap="square" lIns="0" tIns="0" rIns="0" bIns="0" rtlCol="0" anchor="t"/>
          <a:lstStyle/>
          <a:p>
            <a:pPr marL="177800" indent="-177800">
              <a:spcAft>
                <a:spcPts val="500"/>
              </a:spcAft>
              <a:buSzPct val="100000"/>
              <a:buChar char="•"/>
            </a:pPr>
            <a:r>
              <a:rPr lang="en-US" sz="950" dirty="0">
                <a:solidFill>
                  <a:srgbClr val="1F2937"/>
                </a:solidFill>
                <a:latin typeface="Calibri" pitchFamily="34" charset="0"/>
                <a:ea typeface="Calibri" pitchFamily="34" charset="-122"/>
                <a:cs typeface="Calibri" pitchFamily="34" charset="-120"/>
              </a:rPr>
              <a:t>raw cosine ≈ 0 — coordinates never agree.</a:t>
            </a:r>
            <a:endParaRPr lang="en-US" sz="950" dirty="0"/>
          </a:p>
          <a:p>
            <a:pPr marL="177800" indent="-177800">
              <a:spcAft>
                <a:spcPts val="500"/>
              </a:spcAft>
              <a:buSzPct val="100000"/>
              <a:buChar char="•"/>
            </a:pPr>
            <a:r>
              <a:rPr lang="en-US" sz="950" dirty="0">
                <a:solidFill>
                  <a:srgbClr val="1F2937"/>
                </a:solidFill>
                <a:latin typeface="Calibri" pitchFamily="34" charset="0"/>
                <a:ea typeface="Calibri" pitchFamily="34" charset="-122"/>
                <a:cs typeface="Calibri" pitchFamily="34" charset="-120"/>
              </a:rPr>
              <a:t>shape agrees: ρ +0.681; 67% of 10-NN shared (27× chance).</a:t>
            </a:r>
            <a:endParaRPr lang="en-US" sz="950" dirty="0"/>
          </a:p>
          <a:p>
            <a:pPr marL="177800" indent="-177800">
              <a:spcAft>
                <a:spcPts val="500"/>
              </a:spcAft>
              <a:buSzPct val="100000"/>
              <a:buChar char="•"/>
            </a:pPr>
            <a:r>
              <a:rPr lang="en-US" sz="950" dirty="0">
                <a:solidFill>
                  <a:srgbClr val="1F2937"/>
                </a:solidFill>
                <a:latin typeface="Calibri" pitchFamily="34" charset="0"/>
                <a:ea typeface="Calibri" pitchFamily="34" charset="-122"/>
                <a:cs typeface="Calibri" pitchFamily="34" charset="-120"/>
              </a:rPr>
              <a:t>strongest at small k, decays to chance by k=500 — every pair, on k-NN, CKNNA and ρ.</a:t>
            </a:r>
            <a:endParaRPr lang="en-US" sz="950" dirty="0"/>
          </a:p>
          <a:p>
            <a:pPr marL="177800" indent="-177800">
              <a:spcAft>
                <a:spcPts val="500"/>
              </a:spcAft>
              <a:buSzPct val="100000"/>
              <a:buChar char="•"/>
            </a:pPr>
            <a:r>
              <a:rPr lang="en-US" sz="950" dirty="0">
                <a:solidFill>
                  <a:srgbClr val="1F2937"/>
                </a:solidFill>
                <a:latin typeface="Calibri" pitchFamily="34" charset="0"/>
                <a:ea typeface="Calibri" pitchFamily="34" charset="-122"/>
                <a:cs typeface="Calibri" pitchFamily="34" charset="-120"/>
              </a:rPr>
              <a:t>‘Same world’ = the same LOCAL arrangement of meaning.</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38560" y="6446520"/>
            <a:ext cx="54864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27</a:t>
            </a:r>
            <a:endParaRPr lang="en-US" sz="900" dirty="0"/>
          </a:p>
        </p:txBody>
      </p:sp>
      <p:sp>
        <p:nvSpPr>
          <p:cNvPr id="3" name="Text 1"/>
          <p:cNvSpPr txBox="1"/>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C8551A"/>
                </a:solidFill>
                <a:latin typeface="Calibri" pitchFamily="34" charset="0"/>
                <a:ea typeface="Calibri" pitchFamily="34" charset="-122"/>
                <a:cs typeface="Calibri" pitchFamily="34" charset="-120"/>
              </a:rPr>
              <a:t>FINDING · GEOMETRY</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Objective beats lineage beats modality — what decides how much two spaces agree</a:t>
            </a:r>
            <a:endParaRPr lang="en-US" sz="2700" dirty="0"/>
          </a:p>
        </p:txBody>
      </p:sp>
      <p:pic>
        <p:nvPicPr>
          <p:cNvPr id="5" name="Image 0" descr="/home/claude/deck/img/shape_order.png">    </p:cNvPr>
          <p:cNvPicPr>
            <a:picLocks noChangeAspect="1"/>
          </p:cNvPicPr>
          <p:nvPr/>
        </p:nvPicPr>
        <p:blipFill>
          <a:blip r:embed="rId1"/>
          <a:srcRect l="0" r="0" t="0" b="0"/>
          <a:stretch/>
        </p:blipFill>
        <p:spPr>
          <a:xfrm>
            <a:off x="548640" y="1508760"/>
            <a:ext cx="5669280" cy="3200400"/>
          </a:xfrm>
          <a:prstGeom prst="rect">
            <a:avLst/>
          </a:prstGeom>
        </p:spPr>
      </p:pic>
      <p:pic>
        <p:nvPicPr>
          <p:cNvPr id="6" name="Image 1" descr="/home/claude/deck/img/encoder_map.png">    </p:cNvPr>
          <p:cNvPicPr>
            <a:picLocks noChangeAspect="1"/>
          </p:cNvPicPr>
          <p:nvPr/>
        </p:nvPicPr>
        <p:blipFill>
          <a:blip r:embed="rId2"/>
          <a:srcRect l="0" r="0" t="0" b="0"/>
          <a:stretch/>
        </p:blipFill>
        <p:spPr>
          <a:xfrm>
            <a:off x="6309360" y="1508760"/>
            <a:ext cx="5303520" cy="2743200"/>
          </a:xfrm>
          <a:prstGeom prst="rect">
            <a:avLst/>
          </a:prstGeom>
        </p:spPr>
      </p:pic>
      <p:sp>
        <p:nvSpPr>
          <p:cNvPr id="7" name="Text 3"/>
          <p:cNvSpPr txBox="1"/>
          <p:nvPr/>
        </p:nvSpPr>
        <p:spPr>
          <a:xfrm>
            <a:off x="548640" y="4846320"/>
            <a:ext cx="1828800" cy="685800"/>
          </a:xfrm>
          <a:prstGeom prst="rect">
            <a:avLst/>
          </a:prstGeom>
          <a:noFill/>
          <a:ln/>
        </p:spPr>
        <p:txBody>
          <a:bodyPr wrap="square" lIns="0" tIns="0" rIns="0" bIns="0" rtlCol="0" anchor="ctr"/>
          <a:lstStyle/>
          <a:p>
            <a:pPr algn="ctr" indent="0" marL="0">
              <a:buNone/>
            </a:pPr>
            <a:r>
              <a:rPr lang="en-US" sz="3600" b="1" dirty="0">
                <a:solidFill>
                  <a:srgbClr val="1E2761"/>
                </a:solidFill>
                <a:latin typeface="Cambria" pitchFamily="34" charset="0"/>
                <a:ea typeface="Cambria" pitchFamily="34" charset="-122"/>
                <a:cs typeface="Cambria" pitchFamily="34" charset="-120"/>
              </a:rPr>
              <a:t>+53×</a:t>
            </a:r>
            <a:endParaRPr lang="en-US" sz="3600" dirty="0"/>
          </a:p>
        </p:txBody>
      </p:sp>
      <p:sp>
        <p:nvSpPr>
          <p:cNvPr id="8" name="Text 4"/>
          <p:cNvSpPr txBox="1"/>
          <p:nvPr/>
        </p:nvSpPr>
        <p:spPr>
          <a:xfrm>
            <a:off x="548640" y="5504688"/>
            <a:ext cx="1828800" cy="457200"/>
          </a:xfrm>
          <a:prstGeom prst="rect">
            <a:avLst/>
          </a:prstGeom>
          <a:noFill/>
          <a:ln/>
        </p:spPr>
        <p:txBody>
          <a:bodyPr wrap="square" lIns="0" tIns="0" rIns="0" bIns="0" rtlCol="0" anchor="ctr"/>
          <a:lstStyle/>
          <a:p>
            <a:pPr algn="ctr" indent="0" marL="0">
              <a:buNone/>
            </a:pPr>
            <a:r>
              <a:rPr lang="en-US" sz="1050" dirty="0">
                <a:solidFill>
                  <a:srgbClr val="5B6472"/>
                </a:solidFill>
                <a:latin typeface="Calibri" pitchFamily="34" charset="0"/>
                <a:ea typeface="Calibri" pitchFamily="34" charset="-122"/>
                <a:cs typeface="Calibri" pitchFamily="34" charset="-120"/>
              </a:rPr>
              <a:t>shared OBJECTIVE</a:t>
            </a:r>
            <a:endParaRPr lang="en-US" sz="1050" dirty="0"/>
          </a:p>
        </p:txBody>
      </p:sp>
      <p:sp>
        <p:nvSpPr>
          <p:cNvPr id="9" name="Text 5"/>
          <p:cNvSpPr txBox="1"/>
          <p:nvPr/>
        </p:nvSpPr>
        <p:spPr>
          <a:xfrm>
            <a:off x="2377440" y="4846320"/>
            <a:ext cx="1828800" cy="685800"/>
          </a:xfrm>
          <a:prstGeom prst="rect">
            <a:avLst/>
          </a:prstGeom>
          <a:noFill/>
          <a:ln/>
        </p:spPr>
        <p:txBody>
          <a:bodyPr wrap="square" lIns="0" tIns="0" rIns="0" bIns="0" rtlCol="0" anchor="ctr"/>
          <a:lstStyle/>
          <a:p>
            <a:pPr algn="ctr" indent="0" marL="0">
              <a:buNone/>
            </a:pPr>
            <a:r>
              <a:rPr lang="en-US" sz="3600" b="1" dirty="0">
                <a:solidFill>
                  <a:srgbClr val="1E2761"/>
                </a:solidFill>
                <a:latin typeface="Cambria" pitchFamily="34" charset="0"/>
                <a:ea typeface="Cambria" pitchFamily="34" charset="-122"/>
                <a:cs typeface="Cambria" pitchFamily="34" charset="-120"/>
              </a:rPr>
              <a:t>+44×</a:t>
            </a:r>
            <a:endParaRPr lang="en-US" sz="3600" dirty="0"/>
          </a:p>
        </p:txBody>
      </p:sp>
      <p:sp>
        <p:nvSpPr>
          <p:cNvPr id="10" name="Text 6"/>
          <p:cNvSpPr txBox="1"/>
          <p:nvPr/>
        </p:nvSpPr>
        <p:spPr>
          <a:xfrm>
            <a:off x="2377440" y="5504688"/>
            <a:ext cx="1828800" cy="457200"/>
          </a:xfrm>
          <a:prstGeom prst="rect">
            <a:avLst/>
          </a:prstGeom>
          <a:noFill/>
          <a:ln/>
        </p:spPr>
        <p:txBody>
          <a:bodyPr wrap="square" lIns="0" tIns="0" rIns="0" bIns="0" rtlCol="0" anchor="ctr"/>
          <a:lstStyle/>
          <a:p>
            <a:pPr algn="ctr" indent="0" marL="0">
              <a:buNone/>
            </a:pPr>
            <a:r>
              <a:rPr lang="en-US" sz="1050" dirty="0">
                <a:solidFill>
                  <a:srgbClr val="5B6472"/>
                </a:solidFill>
                <a:latin typeface="Calibri" pitchFamily="34" charset="0"/>
                <a:ea typeface="Calibri" pitchFamily="34" charset="-122"/>
                <a:cs typeface="Calibri" pitchFamily="34" charset="-120"/>
              </a:rPr>
              <a:t>shared LINEAGE</a:t>
            </a:r>
            <a:endParaRPr lang="en-US" sz="1050" dirty="0"/>
          </a:p>
        </p:txBody>
      </p:sp>
      <p:sp>
        <p:nvSpPr>
          <p:cNvPr id="11" name="Text 7"/>
          <p:cNvSpPr txBox="1"/>
          <p:nvPr/>
        </p:nvSpPr>
        <p:spPr>
          <a:xfrm>
            <a:off x="4206240" y="4846320"/>
            <a:ext cx="1828800" cy="685800"/>
          </a:xfrm>
          <a:prstGeom prst="rect">
            <a:avLst/>
          </a:prstGeom>
          <a:noFill/>
          <a:ln/>
        </p:spPr>
        <p:txBody>
          <a:bodyPr wrap="square" lIns="0" tIns="0" rIns="0" bIns="0" rtlCol="0" anchor="ctr"/>
          <a:lstStyle/>
          <a:p>
            <a:pPr algn="ctr" indent="0" marL="0">
              <a:buNone/>
            </a:pPr>
            <a:r>
              <a:rPr lang="en-US" sz="3600" b="1" dirty="0">
                <a:solidFill>
                  <a:srgbClr val="1E2761"/>
                </a:solidFill>
                <a:latin typeface="Cambria" pitchFamily="34" charset="0"/>
                <a:ea typeface="Cambria" pitchFamily="34" charset="-122"/>
                <a:cs typeface="Cambria" pitchFamily="34" charset="-120"/>
              </a:rPr>
              <a:t>+29×</a:t>
            </a:r>
            <a:endParaRPr lang="en-US" sz="3600" dirty="0"/>
          </a:p>
        </p:txBody>
      </p:sp>
      <p:sp>
        <p:nvSpPr>
          <p:cNvPr id="12" name="Text 8"/>
          <p:cNvSpPr txBox="1"/>
          <p:nvPr/>
        </p:nvSpPr>
        <p:spPr>
          <a:xfrm>
            <a:off x="4206240" y="5504688"/>
            <a:ext cx="1828800" cy="457200"/>
          </a:xfrm>
          <a:prstGeom prst="rect">
            <a:avLst/>
          </a:prstGeom>
          <a:noFill/>
          <a:ln/>
        </p:spPr>
        <p:txBody>
          <a:bodyPr wrap="square" lIns="0" tIns="0" rIns="0" bIns="0" rtlCol="0" anchor="ctr"/>
          <a:lstStyle/>
          <a:p>
            <a:pPr algn="ctr" indent="0" marL="0">
              <a:buNone/>
            </a:pPr>
            <a:r>
              <a:rPr lang="en-US" sz="1050" dirty="0">
                <a:solidFill>
                  <a:srgbClr val="5B6472"/>
                </a:solidFill>
                <a:latin typeface="Calibri" pitchFamily="34" charset="0"/>
                <a:ea typeface="Calibri" pitchFamily="34" charset="-122"/>
                <a:cs typeface="Calibri" pitchFamily="34" charset="-120"/>
              </a:rPr>
              <a:t>shared MODALITY</a:t>
            </a:r>
            <a:endParaRPr lang="en-US" sz="1050" dirty="0"/>
          </a:p>
        </p:txBody>
      </p:sp>
      <p:sp>
        <p:nvSpPr>
          <p:cNvPr id="13" name="Text 9"/>
          <p:cNvSpPr txBox="1"/>
          <p:nvPr/>
        </p:nvSpPr>
        <p:spPr>
          <a:xfrm>
            <a:off x="6309360" y="4434840"/>
            <a:ext cx="5303520" cy="1920240"/>
          </a:xfrm>
          <a:prstGeom prst="rect">
            <a:avLst/>
          </a:prstGeom>
          <a:noFill/>
          <a:ln/>
        </p:spPr>
        <p:txBody>
          <a:bodyPr wrap="square" lIns="0" tIns="0" rIns="0" bIns="0" rtlCol="0" anchor="t"/>
          <a:lstStyle/>
          <a:p>
            <a:pPr marL="177800" indent="-177800">
              <a:spcAft>
                <a:spcPts val="500"/>
              </a:spcAft>
              <a:buSzPct val="100000"/>
              <a:buChar char="•"/>
            </a:pPr>
            <a:r>
              <a:rPr lang="en-US" sz="1050" dirty="0">
                <a:solidFill>
                  <a:srgbClr val="1F2937"/>
                </a:solidFill>
                <a:latin typeface="Calibri" pitchFamily="34" charset="0"/>
                <a:ea typeface="Calibri" pitchFamily="34" charset="-122"/>
                <a:cs typeface="Calibri" pitchFamily="34" charset="-120"/>
              </a:rPr>
              <a:t>Top pair: bge–SBERT ρ +0.76 — shares an objective and NO ancestry; beats img–img (0.56) with shared ViT lineage.</a:t>
            </a:r>
            <a:endParaRPr lang="en-US" sz="1050" dirty="0"/>
          </a:p>
          <a:p>
            <a:pPr marL="177800" indent="-177800">
              <a:spcAft>
                <a:spcPts val="500"/>
              </a:spcAft>
              <a:buSzPct val="100000"/>
              <a:buChar char="•"/>
            </a:pPr>
            <a:r>
              <a:rPr lang="en-US" sz="1050" dirty="0">
                <a:solidFill>
                  <a:srgbClr val="1F2937"/>
                </a:solidFill>
                <a:latin typeface="Calibri" pitchFamily="34" charset="0"/>
                <a:ea typeface="Calibri" pitchFamily="34" charset="-122"/>
                <a:cs typeface="Calibri" pitchFamily="34" charset="-120"/>
              </a:rPr>
              <a:t>Cross-modal ≈ +0.29 on every pair. ConvNeXt has the LOWEST raw shape agreement (0.33–0.40) yet the HIGHEST transfer (96.7%) — raw shape does not predict transfer.</a:t>
            </a:r>
            <a:endParaRPr lang="en-US" sz="1050" dirty="0"/>
          </a:p>
          <a:p>
            <a:pPr marL="177800" indent="-177800">
              <a:spcAft>
                <a:spcPts val="500"/>
              </a:spcAft>
              <a:buSzPct val="100000"/>
              <a:buChar char="•"/>
            </a:pPr>
            <a:r>
              <a:rPr lang="en-US" sz="1050" dirty="0">
                <a:solidFill>
                  <a:srgbClr val="1F2937"/>
                </a:solidFill>
                <a:latin typeface="Calibri" pitchFamily="34" charset="0"/>
                <a:ea typeface="Calibri" pitchFamily="34" charset="-122"/>
                <a:cs typeface="Calibri" pitchFamily="34" charset="-120"/>
              </a:rPr>
              <a:t>MDS map (right): distance = −log(shape agreement), no map fitted. Encoders cluster by training OBJECTIVE, not modality.</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38560" y="6446520"/>
            <a:ext cx="54864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28</a:t>
            </a:r>
            <a:endParaRPr lang="en-US" sz="900" dirty="0"/>
          </a:p>
        </p:txBody>
      </p:sp>
      <p:sp>
        <p:nvSpPr>
          <p:cNvPr id="3" name="Text 1"/>
          <p:cNvSpPr txBox="1"/>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C8551A"/>
                </a:solidFill>
                <a:latin typeface="Calibri" pitchFamily="34" charset="0"/>
                <a:ea typeface="Calibri" pitchFamily="34" charset="-122"/>
                <a:cs typeface="Calibri" pitchFamily="34" charset="-120"/>
              </a:rPr>
              <a:t>FINDINGS · HONESTY AND METHOD</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G10: what the hub is made of matters — and the width cliff, falsification as a first-class result</a:t>
            </a:r>
            <a:endParaRPr lang="en-US" sz="2700" dirty="0"/>
          </a:p>
        </p:txBody>
      </p:sp>
      <p:pic>
        <p:nvPicPr>
          <p:cNvPr id="5" name="Image 0" descr="/home/claude/deck/img/g10.png">    </p:cNvPr>
          <p:cNvPicPr>
            <a:picLocks noChangeAspect="1"/>
          </p:cNvPicPr>
          <p:nvPr/>
        </p:nvPicPr>
        <p:blipFill>
          <a:blip r:embed="rId1"/>
          <a:srcRect l="0" r="0" t="0" b="0"/>
          <a:stretch/>
        </p:blipFill>
        <p:spPr>
          <a:xfrm>
            <a:off x="548640" y="1508760"/>
            <a:ext cx="5394960" cy="2651760"/>
          </a:xfrm>
          <a:prstGeom prst="rect">
            <a:avLst/>
          </a:prstGeom>
        </p:spPr>
      </p:pic>
      <p:pic>
        <p:nvPicPr>
          <p:cNvPr id="6" name="Image 1" descr="/home/claude/deck/img/g16_cliff.png">    </p:cNvPr>
          <p:cNvPicPr>
            <a:picLocks noChangeAspect="1"/>
          </p:cNvPicPr>
          <p:nvPr/>
        </p:nvPicPr>
        <p:blipFill>
          <a:blip r:embed="rId2"/>
          <a:srcRect l="0" r="0" t="0" b="0"/>
          <a:stretch/>
        </p:blipFill>
        <p:spPr>
          <a:xfrm>
            <a:off x="6217920" y="1508760"/>
            <a:ext cx="5394960" cy="2651760"/>
          </a:xfrm>
          <a:prstGeom prst="rect">
            <a:avLst/>
          </a:prstGeom>
        </p:spPr>
      </p:pic>
      <p:sp>
        <p:nvSpPr>
          <p:cNvPr id="7" name="Shape 3"/>
          <p:cNvSpPr/>
          <p:nvPr/>
        </p:nvSpPr>
        <p:spPr>
          <a:xfrm>
            <a:off x="548640" y="4297680"/>
            <a:ext cx="5394960" cy="2057400"/>
          </a:xfrm>
          <a:prstGeom prst="roundRect">
            <a:avLst>
              <a:gd name="adj" fmla="val 3556"/>
            </a:avLst>
          </a:prstGeom>
          <a:solidFill>
            <a:srgbClr val="EEF3FF"/>
          </a:solidFill>
          <a:ln w="12700">
            <a:solidFill>
              <a:srgbClr val="EEF3FF"/>
            </a:solidFill>
            <a:prstDash val="solid"/>
          </a:ln>
        </p:spPr>
      </p:sp>
      <p:sp>
        <p:nvSpPr>
          <p:cNvPr id="8" name="Text 4"/>
          <p:cNvSpPr txBox="1"/>
          <p:nvPr/>
        </p:nvSpPr>
        <p:spPr>
          <a:xfrm>
            <a:off x="713232" y="4407408"/>
            <a:ext cx="5065776"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G10 — declared before anyone else finds it</a:t>
            </a:r>
            <a:endParaRPr lang="en-US" sz="1300" dirty="0"/>
          </a:p>
        </p:txBody>
      </p:sp>
      <p:sp>
        <p:nvSpPr>
          <p:cNvPr id="9" name="Text 5"/>
          <p:cNvSpPr txBox="1"/>
          <p:nvPr/>
        </p:nvSpPr>
        <p:spPr>
          <a:xfrm>
            <a:off x="713232" y="4800600"/>
            <a:ext cx="5065776" cy="146304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Which text space sits IN the hub moves transfer by 6.1 pts at fixed count and 11.2 pts presence-vs-absence — even though every text space can linearly reach only 2–5% of the hub. Reachability does not predict influence. The head's own target inside the hub is worth +3.0 pts beyond any text member. Not leakage (all held-out) — a real dependency, measured and reported.</a:t>
            </a:r>
            <a:endParaRPr lang="en-US" sz="1100" dirty="0"/>
          </a:p>
        </p:txBody>
      </p:sp>
      <p:sp>
        <p:nvSpPr>
          <p:cNvPr id="10" name="Shape 6"/>
          <p:cNvSpPr/>
          <p:nvPr/>
        </p:nvSpPr>
        <p:spPr>
          <a:xfrm>
            <a:off x="6217920" y="4297680"/>
            <a:ext cx="5394960" cy="2057400"/>
          </a:xfrm>
          <a:prstGeom prst="roundRect">
            <a:avLst>
              <a:gd name="adj" fmla="val 3556"/>
            </a:avLst>
          </a:prstGeom>
          <a:solidFill>
            <a:srgbClr val="FFF4EC"/>
          </a:solidFill>
          <a:ln w="12700">
            <a:solidFill>
              <a:srgbClr val="FFF4EC"/>
            </a:solidFill>
            <a:prstDash val="solid"/>
          </a:ln>
        </p:spPr>
      </p:sp>
      <p:sp>
        <p:nvSpPr>
          <p:cNvPr id="11" name="Text 7"/>
          <p:cNvSpPr txBox="1"/>
          <p:nvPr/>
        </p:nvSpPr>
        <p:spPr>
          <a:xfrm>
            <a:off x="6382512" y="4407408"/>
            <a:ext cx="5065776"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The width cliff — G8–G16</a:t>
            </a:r>
            <a:endParaRPr lang="en-US" sz="1300" dirty="0"/>
          </a:p>
        </p:txBody>
      </p:sp>
      <p:sp>
        <p:nvSpPr>
          <p:cNvPr id="12" name="Text 8"/>
          <p:cNvSpPr txBox="1"/>
          <p:nvPr/>
        </p:nvSpPr>
        <p:spPr>
          <a:xfrm>
            <a:off x="6382512" y="4800600"/>
            <a:ext cx="5065776" cy="146304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Transfer collapses when hub width reaches 768. Seven mechanisms falsified on pre-registered criteria (one of our own tests was wrong — recorded). The eighth predicted the location out of sample: 768 is the source encoder's ALGEBRAIC rank; the last singular value falls 10.79 → 0.0054 and least squares divides by it. A step (0.894 at k=760 → 0.009 at 768), not a decline. Verdict: numerical artifact. Rule: hub_width &lt; dim(source); truncation or head α=1e3 repairs it.</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38560" y="6446520"/>
            <a:ext cx="54864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29</a:t>
            </a:r>
            <a:endParaRPr lang="en-US" sz="900" dirty="0"/>
          </a:p>
        </p:txBody>
      </p:sp>
      <p:sp>
        <p:nvSpPr>
          <p:cNvPr id="3" name="Text 1"/>
          <p:cNvSpPr txBox="1"/>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C8551A"/>
                </a:solidFill>
                <a:latin typeface="Calibri" pitchFamily="34" charset="0"/>
                <a:ea typeface="Calibri" pitchFamily="34" charset="-122"/>
                <a:cs typeface="Calibri" pitchFamily="34" charset="-120"/>
              </a:rPr>
              <a:t>ROBUSTNESS · THE LEDGER</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K1–K3 reproduce and bound; 11 explanations tested and recorded false — two of them our own</a:t>
            </a:r>
            <a:endParaRPr lang="en-US" sz="27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822960"/>
                <a:gridCol w="2834640"/>
                <a:gridCol w="3200400"/>
                <a:gridCol w="4206240"/>
              </a:tblGrid>
              <a:tr h="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notebook</a:t>
                      </a:r>
                      <a:endParaRPr lang="en-US" sz="950" dirty="0">
                        <a:latin typeface="Calibri" charset="0"/>
                        <a:ea typeface="Calibri" charset="0"/>
                        <a:cs typeface="Calibri" charset="0"/>
                      </a:endParaRPr>
                    </a:p>
                  </a:txBody>
                  <a:tcPr marL="45720" marR="45720" marT="45720" marB="45720" anchor="ctr">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1E2761"/>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question</a:t>
                      </a:r>
                      <a:endParaRPr lang="en-US" sz="950" dirty="0">
                        <a:latin typeface="Calibri" charset="0"/>
                        <a:ea typeface="Calibri" charset="0"/>
                        <a:cs typeface="Calibri" charset="0"/>
                      </a:endParaRPr>
                    </a:p>
                  </a:txBody>
                  <a:tcPr marL="45720" marR="45720" marT="45720" marB="45720" anchor="ctr">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1E2761"/>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how</a:t>
                      </a:r>
                      <a:endParaRPr lang="en-US" sz="950" dirty="0">
                        <a:latin typeface="Calibri" charset="0"/>
                        <a:ea typeface="Calibri" charset="0"/>
                        <a:cs typeface="Calibri" charset="0"/>
                      </a:endParaRPr>
                    </a:p>
                  </a:txBody>
                  <a:tcPr marL="45720" marR="45720" marT="45720" marB="45720" anchor="ctr">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1E2761"/>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45720" marR="45720" marT="45720" marB="45720" anchor="ctr">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1E2761"/>
                    </a:solidFill>
                  </a:tcPr>
                </a:tc>
              </a:tr>
              <a:tr h="0">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K1</a:t>
                      </a:r>
                      <a:endParaRPr lang="en-US" sz="9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does raw Procrustes reproduce C.13.7 after the VM died?</a:t>
                      </a:r>
                      <a:endParaRPr lang="en-US" sz="9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similarity Procrustes, all 21 pairs, no hub</a:t>
                      </a:r>
                      <a:endParaRPr lang="en-US" sz="9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ordering reproduces; rotation 0.281 vs ridge 0.667 — rotation not enough</a:t>
                      </a:r>
                      <a:endParaRPr lang="en-US" sz="9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K2</a:t>
                      </a:r>
                      <a:endParaRPr lang="en-US" sz="9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does the hub damage any single space's neighbourhoods?</a:t>
                      </a:r>
                      <a:endParaRPr lang="en-US" sz="9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G7 re-run; stratify degenerate GPT-2 BEFORE averaging</a:t>
                      </a:r>
                      <a:endParaRPr lang="en-US" sz="9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healthy spaces neutral (SBERT 0.135); GPT-2 reproduces; Spearman +0.891</a:t>
                      </a:r>
                      <a:endParaRPr lang="en-US" sz="9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r>
              <a:tr h="0">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K3</a:t>
                      </a:r>
                      <a:endParaRPr lang="en-US" sz="9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is ‘no effect’ a real null or low power?</a:t>
                      </a:r>
                      <a:endParaRPr lang="en-US" sz="9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cluster bootstrap over ENCODERS; SESOI 0.050</a:t>
                      </a:r>
                      <a:endParaRPr lang="en-US" sz="9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95% CI −0.038–0.024 — a bounded, demonstrated null</a:t>
                      </a:r>
                      <a:endParaRPr lang="en-US" sz="9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D.5</a:t>
                      </a:r>
                      <a:endParaRPr lang="en-US" sz="9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have the artifacts themselves been checked?</a:t>
                      </a:r>
                      <a:endParaRPr lang="en-US" sz="9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47 automated checks: power, row alignment, geometry, cache keys</a:t>
                      </a:r>
                      <a:endParaRPr lang="en-US" sz="9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no hard failures; every fit 5.9–9.8 rows/dim</a:t>
                      </a:r>
                      <a:endParaRPr lang="en-US" sz="9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r>
            </a:tbl>
          </a:graphicData>
        </a:graphic>
      </p:graphicFrame>
      <p:sp>
        <p:nvSpPr>
          <p:cNvPr id="6" name="Shape 3"/>
          <p:cNvSpPr/>
          <p:nvPr/>
        </p:nvSpPr>
        <p:spPr>
          <a:xfrm>
            <a:off x="548640" y="4434840"/>
            <a:ext cx="5394960" cy="1874520"/>
          </a:xfrm>
          <a:prstGeom prst="roundRect">
            <a:avLst>
              <a:gd name="adj" fmla="val 3902"/>
            </a:avLst>
          </a:prstGeom>
          <a:solidFill>
            <a:srgbClr val="EEF3FF"/>
          </a:solidFill>
          <a:ln w="12700">
            <a:solidFill>
              <a:srgbClr val="EEF3FF"/>
            </a:solidFill>
            <a:prstDash val="solid"/>
          </a:ln>
        </p:spPr>
      </p:sp>
      <p:sp>
        <p:nvSpPr>
          <p:cNvPr id="7" name="Text 4"/>
          <p:cNvSpPr txBox="1"/>
          <p:nvPr/>
        </p:nvSpPr>
        <p:spPr>
          <a:xfrm>
            <a:off x="713232" y="4544568"/>
            <a:ext cx="5065776"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Self-corrections reached by measurement</a:t>
            </a:r>
            <a:endParaRPr lang="en-US" sz="1300" dirty="0"/>
          </a:p>
        </p:txBody>
      </p:sp>
      <p:sp>
        <p:nvSpPr>
          <p:cNvPr id="8" name="Text 5"/>
          <p:cNvSpPr txBox="1"/>
          <p:nvPr/>
        </p:nvSpPr>
        <p:spPr>
          <a:xfrm>
            <a:off x="713232" y="4937760"/>
            <a:ext cx="5065776" cy="128016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Run-1 starvation (5.9 rows/dim) → the ≥5 rule and power gate · synthetic hot-diagonal figure → replaced with the real matrix · mismatched E1 ceiling 55.2% → 40.9% · wrong teacher checkpoint (SigLIP 1 vs 2), now an automated check · premature ‘gate passed’ refuted by F5 · G13 entropy-vs-algebraic rank.</a:t>
            </a:r>
            <a:endParaRPr lang="en-US" sz="1100" dirty="0"/>
          </a:p>
        </p:txBody>
      </p:sp>
      <p:sp>
        <p:nvSpPr>
          <p:cNvPr id="9" name="Shape 6"/>
          <p:cNvSpPr/>
          <p:nvPr/>
        </p:nvSpPr>
        <p:spPr>
          <a:xfrm>
            <a:off x="6217920" y="4434840"/>
            <a:ext cx="5394960" cy="1874520"/>
          </a:xfrm>
          <a:prstGeom prst="roundRect">
            <a:avLst>
              <a:gd name="adj" fmla="val 3902"/>
            </a:avLst>
          </a:prstGeom>
          <a:solidFill>
            <a:srgbClr val="EEF7F3"/>
          </a:solidFill>
          <a:ln w="12700">
            <a:solidFill>
              <a:srgbClr val="EEF7F3"/>
            </a:solidFill>
            <a:prstDash val="solid"/>
          </a:ln>
        </p:spPr>
      </p:sp>
      <p:sp>
        <p:nvSpPr>
          <p:cNvPr id="10" name="Text 7"/>
          <p:cNvSpPr txBox="1"/>
          <p:nvPr/>
        </p:nvSpPr>
        <p:spPr>
          <a:xfrm>
            <a:off x="6382512" y="4544568"/>
            <a:ext cx="5065776"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Why the negatives are load-bearing</a:t>
            </a:r>
            <a:endParaRPr lang="en-US" sz="1300" dirty="0"/>
          </a:p>
        </p:txBody>
      </p:sp>
      <p:sp>
        <p:nvSpPr>
          <p:cNvPr id="11" name="Text 8"/>
          <p:cNvSpPr txBox="1"/>
          <p:nvPr/>
        </p:nvSpPr>
        <p:spPr>
          <a:xfrm>
            <a:off x="6382512" y="4937760"/>
            <a:ext cx="5065776" cy="128016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ICP converging on its own errors, whitening destroying discovery, the width cliff — each measured, each explaining the boundary it marks. A claim that survived a test which could have killed it is worth more than one never exposed to one. Full ledger: Final_Project_Report.pdf (11 entries).</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38560" y="6446520"/>
            <a:ext cx="54864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30</a:t>
            </a:r>
            <a:endParaRPr lang="en-US" sz="900" dirty="0"/>
          </a:p>
        </p:txBody>
      </p:sp>
      <p:sp>
        <p:nvSpPr>
          <p:cNvPr id="3" name="Text 1"/>
          <p:cNvSpPr txBox="1"/>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C8551A"/>
                </a:solidFill>
                <a:latin typeface="Calibri" pitchFamily="34" charset="0"/>
                <a:ea typeface="Calibri" pitchFamily="34" charset="-122"/>
                <a:cs typeface="Calibri" pitchFamily="34" charset="-120"/>
              </a:rPr>
              <a:t>TO DO · THE BIG-MODEL TESTS COME FIRST</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What remains, in order of value — the tests that need more compute than this project had</a:t>
            </a:r>
            <a:endParaRPr lang="en-US" sz="27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914400"/>
        </p:xfrm>
        <a:graphic>
          <a:graphicData uri="http://schemas.openxmlformats.org/drawingml/2006/table">
            <a:tbl>
              <a:tblPr/>
              <a:tblGrid>
                <a:gridCol w="2651760"/>
                <a:gridCol w="3383280"/>
                <a:gridCol w="1920240"/>
                <a:gridCol w="3108960"/>
              </a:tblGrid>
              <a:tr h="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next test</a:t>
                      </a:r>
                      <a:endParaRPr lang="en-US" sz="950" dirty="0">
                        <a:latin typeface="Calibri" charset="0"/>
                        <a:ea typeface="Calibri" charset="0"/>
                        <a:cs typeface="Calibri" charset="0"/>
                      </a:endParaRPr>
                    </a:p>
                  </a:txBody>
                  <a:tcPr marL="45720" marR="45720" marT="45720" marB="45720" anchor="ctr">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1E2761"/>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the question</a:t>
                      </a:r>
                      <a:endParaRPr lang="en-US" sz="950" dirty="0">
                        <a:latin typeface="Calibri" charset="0"/>
                        <a:ea typeface="Calibri" charset="0"/>
                        <a:cs typeface="Calibri" charset="0"/>
                      </a:endParaRPr>
                    </a:p>
                  </a:txBody>
                  <a:tcPr marL="45720" marR="45720" marT="45720" marB="45720" anchor="ctr">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1E2761"/>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cost</a:t>
                      </a:r>
                      <a:endParaRPr lang="en-US" sz="950" dirty="0">
                        <a:latin typeface="Calibri" charset="0"/>
                        <a:ea typeface="Calibri" charset="0"/>
                        <a:cs typeface="Calibri" charset="0"/>
                      </a:endParaRPr>
                    </a:p>
                  </a:txBody>
                  <a:tcPr marL="45720" marR="45720" marT="45720" marB="45720" anchor="ctr">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1E2761"/>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why it matters / status</a:t>
                      </a:r>
                      <a:endParaRPr lang="en-US" sz="950" dirty="0">
                        <a:latin typeface="Calibri" charset="0"/>
                        <a:ea typeface="Calibri" charset="0"/>
                        <a:cs typeface="Calibri" charset="0"/>
                      </a:endParaRPr>
                    </a:p>
                  </a:txBody>
                  <a:tcPr marL="45720" marR="45720" marT="45720" marB="45720" anchor="ctr">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1E2761"/>
                    </a:solidFill>
                  </a:tcPr>
                </a:tc>
              </a:tr>
              <a:tr h="0">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1 · Scale the text side (7B+)</a:t>
                      </a:r>
                      <a:endParaRPr lang="en-US" sz="9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does a large text encoder push transfer and shape agreement higher, as PRH's ladder predicts?</a:t>
                      </a:r>
                      <a:endParaRPr lang="en-US" sz="9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medium — one solve + one encoding pass</a:t>
                      </a:r>
                      <a:endParaRPr lang="en-US" sz="9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the caveat an examiner raises first; Qwen-4B already FELL (0.307) — first run when a GPU is free</a:t>
                      </a:r>
                      <a:endParaRPr lang="en-US" sz="9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2 · Experts vs one large model (B1)</a:t>
                      </a:r>
                      <a:endParaRPr lang="en-US" sz="9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do K small experts in a shared hub match one big encoder at matched parameters?</a:t>
                      </a:r>
                      <a:endParaRPr lang="en-US" sz="9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medium</a:t>
                      </a:r>
                      <a:endParaRPr lang="en-US" sz="9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turns the engineering argument into a benchmark outsiders care about; pre-registered, not run</a:t>
                      </a:r>
                      <a:endParaRPr lang="en-US" sz="9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r>
              <a:tr h="0">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3 · Re-estimate the hub on a larger corpus</a:t>
                      </a:r>
                      <a:endParaRPr lang="en-US" sz="9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hub PCA sits at γ = d/n = 0.63; does transfer hold at γ 0.22 (35,133 items)?</a:t>
                      </a:r>
                      <a:endParaRPr lang="en-US" sz="9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high — every number re-measured</a:t>
                      </a:r>
                      <a:endParaRPr lang="en-US" sz="9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the only change that improves the FOUNDATION; lifts img_large from 4.2 to 16.7 rows/dim</a:t>
                      </a:r>
                      <a:endParaRPr lang="en-US" sz="9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4 · Rebuild the hub WITH DINOv2-giant as a member</a:t>
                      </a:r>
                      <a:endParaRPr lang="en-US" sz="9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does a hub built around a wider image encoder transfer better?</a:t>
                      </a:r>
                      <a:endParaRPr lang="en-US" sz="9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blocked until #3 (γ = 1.26 now, rank-deficient)</a:t>
                      </a:r>
                      <a:endParaRPr lang="en-US" sz="9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giant stops being a held-out test; depends on the corpus row</a:t>
                      </a:r>
                      <a:endParaRPr lang="en-US" sz="9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r>
              <a:tr h="0">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5 · Reverse-direction transfer</a:t>
                      </a:r>
                      <a:endParaRPr lang="en-US" sz="9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does the hub carry information TOWARD an image space? ConvNeXt as TARGET</a:t>
                      </a:r>
                      <a:endParaRPr lang="en-US" sz="9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medium</a:t>
                      </a:r>
                      <a:endParaRPr lang="en-US" sz="9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source/target roles independent on text (G10); untested for images</a:t>
                      </a:r>
                      <a:endParaRPr lang="en-US" sz="9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FFFFF"/>
                    </a:solidFill>
                  </a:tcPr>
                </a:tc>
              </a:tr>
              <a:tr h="0">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6 · Other languages &amp; domains · non-linear hubs</a:t>
                      </a:r>
                      <a:endParaRPr lang="en-US" sz="9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does any of this survive outside COCO English? can a neighbourhood-preserving embedding beat whitened PCA?</a:t>
                      </a:r>
                      <a:endParaRPr lang="en-US" sz="9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high / medium</a:t>
                      </a:r>
                      <a:endParaRPr lang="en-US" sz="9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c>
                  <a:txBody>
                    <a:bodyPr/>
                    <a:lstStyle/>
                    <a:p>
                      <a:pPr indent="0" marL="0">
                        <a:buNone/>
                      </a:pPr>
                      <a:r>
                        <a:rPr lang="en-US" sz="950" dirty="0">
                          <a:solidFill>
                            <a:srgbClr val="1F2937"/>
                          </a:solidFill>
                          <a:latin typeface="Calibri" pitchFamily="34" charset="0"/>
                          <a:ea typeface="Calibri" pitchFamily="34" charset="-122"/>
                          <a:cs typeface="Calibri" pitchFamily="34" charset="-120"/>
                        </a:rPr>
                        <a:t>the broadest stated limit; the natural sequel, ruled out here by the no-training rule</a:t>
                      </a:r>
                      <a:endParaRPr lang="en-US" sz="950" dirty="0">
                        <a:latin typeface="Calibri" charset="0"/>
                        <a:ea typeface="Calibri" charset="0"/>
                        <a:cs typeface="Calibri" charset="0"/>
                      </a:endParaRPr>
                    </a:p>
                  </a:txBody>
                  <a:tcPr marL="45720" marR="45720" marT="45720" marB="45720" anchor="t">
                    <a:lnL w="6350" cap="flat" cmpd="sng" algn="ctr">
                      <a:solidFill>
                        <a:srgbClr val="D6DCE8"/>
                      </a:solidFill>
                      <a:prstDash val="solid"/>
                      <a:round/>
                      <a:headEnd type="none" w="med" len="med"/>
                      <a:tailEnd type="none" w="med" len="med"/>
                    </a:lnL>
                    <a:lnR w="6350" cap="flat" cmpd="sng" algn="ctr">
                      <a:solidFill>
                        <a:srgbClr val="D6DCE8"/>
                      </a:solidFill>
                      <a:prstDash val="solid"/>
                      <a:round/>
                      <a:headEnd type="none" w="med" len="med"/>
                      <a:tailEnd type="none" w="med" len="med"/>
                    </a:lnR>
                    <a:lnT w="6350" cap="flat" cmpd="sng" algn="ctr">
                      <a:solidFill>
                        <a:srgbClr val="D6DCE8"/>
                      </a:solidFill>
                      <a:prstDash val="solid"/>
                      <a:round/>
                      <a:headEnd type="none" w="med" len="med"/>
                      <a:tailEnd type="none" w="med" len="med"/>
                    </a:lnT>
                    <a:lnB w="6350" cap="flat" cmpd="sng" algn="ctr">
                      <a:solidFill>
                        <a:srgbClr val="D6DCE8"/>
                      </a:solidFill>
                      <a:prstDash val="solid"/>
                      <a:round/>
                      <a:headEnd type="none" w="med" len="med"/>
                      <a:tailEnd type="none" w="med" len="med"/>
                    </a:lnB>
                    <a:solidFill>
                      <a:srgbClr val="F5F7FB"/>
                    </a:solidFill>
                  </a:tcPr>
                </a:tc>
              </a:tr>
            </a:tbl>
          </a:graphicData>
        </a:graphic>
      </p:graphicFrame>
      <p:sp>
        <p:nvSpPr>
          <p:cNvPr id="6" name="Text 3"/>
          <p:cNvSpPr txBox="1"/>
          <p:nvPr/>
        </p:nvSpPr>
        <p:spPr>
          <a:xfrm>
            <a:off x="548640" y="5989320"/>
            <a:ext cx="11064240" cy="365760"/>
          </a:xfrm>
          <a:prstGeom prst="rect">
            <a:avLst/>
          </a:prstGeom>
          <a:noFill/>
          <a:ln/>
        </p:spPr>
        <p:txBody>
          <a:bodyPr wrap="square" lIns="0" tIns="0" rIns="0" bIns="0" rtlCol="0" anchor="ctr"/>
          <a:lstStyle/>
          <a:p>
            <a:pPr indent="0" marL="0">
              <a:buNone/>
            </a:pPr>
            <a:r>
              <a:rPr lang="en-US" sz="950" i="1" dirty="0">
                <a:solidFill>
                  <a:srgbClr val="5B6472"/>
                </a:solidFill>
                <a:latin typeface="Calibri" pitchFamily="34" charset="0"/>
                <a:ea typeface="Calibri" pitchFamily="34" charset="-122"/>
                <a:cs typeface="Calibri" pitchFamily="34" charset="-120"/>
              </a:rPr>
              <a:t>Atlas §9; Defense_Brief.pdf §8 (scale caveat, prepared answer); Viva_Presentation_2 slide 20.</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38560" y="6446520"/>
            <a:ext cx="548640" cy="274320"/>
          </a:xfrm>
          <a:prstGeom prst="rect">
            <a:avLst/>
          </a:prstGeom>
          <a:noFill/>
          <a:ln/>
        </p:spPr>
        <p:txBody>
          <a:bodyPr wrap="square" lIns="0" tIns="0" rIns="0" bIns="0" rtlCol="0" anchor="ctr"/>
          <a:lstStyle/>
          <a:p>
            <a:pPr algn="r" indent="0" marL="0">
              <a:buNone/>
            </a:pPr>
            <a:r>
              <a:rPr lang="en-US" sz="900" dirty="0">
                <a:solidFill>
                  <a:srgbClr val="5B6472"/>
                </a:solidFill>
                <a:latin typeface="Calibri" pitchFamily="34" charset="0"/>
                <a:ea typeface="Calibri" pitchFamily="34" charset="-122"/>
                <a:cs typeface="Calibri" pitchFamily="34" charset="-120"/>
              </a:rPr>
              <a:t>31</a:t>
            </a:r>
            <a:endParaRPr lang="en-US" sz="900" dirty="0"/>
          </a:p>
        </p:txBody>
      </p:sp>
      <p:sp>
        <p:nvSpPr>
          <p:cNvPr id="3" name="Text 1"/>
          <p:cNvSpPr txBox="1"/>
          <p:nvPr/>
        </p:nvSpPr>
        <p:spPr>
          <a:xfrm>
            <a:off x="548640" y="292608"/>
            <a:ext cx="11064240" cy="274320"/>
          </a:xfrm>
          <a:prstGeom prst="rect">
            <a:avLst/>
          </a:prstGeom>
          <a:noFill/>
          <a:ln/>
        </p:spPr>
        <p:txBody>
          <a:bodyPr wrap="square" lIns="0" tIns="0" rIns="0" bIns="0" rtlCol="0" anchor="ctr"/>
          <a:lstStyle/>
          <a:p>
            <a:pPr indent="0" marL="0">
              <a:buNone/>
            </a:pPr>
            <a:r>
              <a:rPr lang="en-US" sz="1100" b="1" spc="200" kern="0" dirty="0">
                <a:solidFill>
                  <a:srgbClr val="C8551A"/>
                </a:solidFill>
                <a:latin typeface="Calibri" pitchFamily="34" charset="0"/>
                <a:ea typeface="Calibri" pitchFamily="34" charset="-122"/>
                <a:cs typeface="Calibri" pitchFamily="34" charset="-120"/>
              </a:rPr>
              <a:t>RESOURCES AND LINKS</a:t>
            </a:r>
            <a:endParaRPr lang="en-US" sz="1100" dirty="0"/>
          </a:p>
        </p:txBody>
      </p:sp>
      <p:sp>
        <p:nvSpPr>
          <p:cNvPr id="4" name="Text 2"/>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2700" b="1" dirty="0">
                <a:solidFill>
                  <a:srgbClr val="1E2761"/>
                </a:solidFill>
                <a:latin typeface="Cambria" pitchFamily="34" charset="0"/>
                <a:ea typeface="Cambria" pitchFamily="34" charset="-122"/>
                <a:cs typeface="Cambria" pitchFamily="34" charset="-120"/>
              </a:rPr>
              <a:t>Where every number lives — documents, notebooks, demos, data</a:t>
            </a:r>
            <a:endParaRPr lang="en-US" sz="2700" dirty="0"/>
          </a:p>
        </p:txBody>
      </p:sp>
      <p:sp>
        <p:nvSpPr>
          <p:cNvPr id="5" name="Text 3"/>
          <p:cNvSpPr txBox="1"/>
          <p:nvPr/>
        </p:nvSpPr>
        <p:spPr>
          <a:xfrm>
            <a:off x="548640" y="1508760"/>
            <a:ext cx="4297680" cy="22860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Final_Project_Report.pdf (74 pp)</a:t>
            </a:r>
            <a:endParaRPr lang="en-US" sz="1050" dirty="0"/>
          </a:p>
        </p:txBody>
      </p:sp>
      <p:sp>
        <p:nvSpPr>
          <p:cNvPr id="6" name="Text 4"/>
          <p:cNvSpPr txBox="1"/>
          <p:nvPr/>
        </p:nvSpPr>
        <p:spPr>
          <a:xfrm>
            <a:off x="548640" y="1719072"/>
            <a:ext cx="4297680" cy="246888"/>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source of truth: all tables, appendices C–E, falsification ledger, generator notebook per figure</a:t>
            </a:r>
            <a:endParaRPr lang="en-US" sz="900" dirty="0"/>
          </a:p>
        </p:txBody>
      </p:sp>
      <p:sp>
        <p:nvSpPr>
          <p:cNvPr id="7" name="Text 5"/>
          <p:cNvSpPr txBox="1"/>
          <p:nvPr/>
        </p:nvSpPr>
        <p:spPr>
          <a:xfrm>
            <a:off x="548640" y="1965960"/>
            <a:ext cx="4297680" cy="22860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Project_Atlas.pdf</a:t>
            </a:r>
            <a:endParaRPr lang="en-US" sz="1050" dirty="0"/>
          </a:p>
        </p:txBody>
      </p:sp>
      <p:sp>
        <p:nvSpPr>
          <p:cNvPr id="8" name="Text 6"/>
          <p:cNvSpPr txBox="1"/>
          <p:nvPr/>
        </p:nvSpPr>
        <p:spPr>
          <a:xfrm>
            <a:off x="548640" y="2176272"/>
            <a:ext cx="4297680" cy="246888"/>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the story with the math: five levels of similarity, metrics reference, hub rationale, next steps</a:t>
            </a:r>
            <a:endParaRPr lang="en-US" sz="900" dirty="0"/>
          </a:p>
        </p:txBody>
      </p:sp>
      <p:sp>
        <p:nvSpPr>
          <p:cNvPr id="9" name="Text 7"/>
          <p:cNvSpPr txBox="1"/>
          <p:nvPr/>
        </p:nvSpPr>
        <p:spPr>
          <a:xfrm>
            <a:off x="548640" y="2423160"/>
            <a:ext cx="4297680" cy="22860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Experiment_Summary.pdf · Results_Summary.pdf</a:t>
            </a:r>
            <a:endParaRPr lang="en-US" sz="1050" dirty="0"/>
          </a:p>
        </p:txBody>
      </p:sp>
      <p:sp>
        <p:nvSpPr>
          <p:cNvPr id="10" name="Text 8"/>
          <p:cNvSpPr txBox="1"/>
          <p:nvPr/>
        </p:nvSpPr>
        <p:spPr>
          <a:xfrm>
            <a:off x="548640" y="2633472"/>
            <a:ext cx="4297680" cy="246888"/>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encoders · experiments · measurements; every outcome in one place with controls</a:t>
            </a:r>
            <a:endParaRPr lang="en-US" sz="900" dirty="0"/>
          </a:p>
        </p:txBody>
      </p:sp>
      <p:sp>
        <p:nvSpPr>
          <p:cNvPr id="11" name="Text 9"/>
          <p:cNvSpPr txBox="1"/>
          <p:nvPr/>
        </p:nvSpPr>
        <p:spPr>
          <a:xfrm>
            <a:off x="548640" y="2880360"/>
            <a:ext cx="4297680" cy="22860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Similarity_Methods_Master_Table.pdf</a:t>
            </a:r>
            <a:endParaRPr lang="en-US" sz="1050" dirty="0"/>
          </a:p>
        </p:txBody>
      </p:sp>
      <p:sp>
        <p:nvSpPr>
          <p:cNvPr id="12" name="Text 10"/>
          <p:cNvSpPr txBox="1"/>
          <p:nvPr/>
        </p:nvSpPr>
        <p:spPr>
          <a:xfrm>
            <a:off x="548640" y="3090672"/>
            <a:ext cx="4297680" cy="246888"/>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one row per instrument: math, where run, obstacles, result, implication</a:t>
            </a:r>
            <a:endParaRPr lang="en-US" sz="900" dirty="0"/>
          </a:p>
        </p:txBody>
      </p:sp>
      <p:sp>
        <p:nvSpPr>
          <p:cNvPr id="13" name="Text 11"/>
          <p:cNvSpPr txBox="1"/>
          <p:nvPr/>
        </p:nvSpPr>
        <p:spPr>
          <a:xfrm>
            <a:off x="548640" y="3337560"/>
            <a:ext cx="4297680" cy="22860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Math_and_Terms.pdf · Linear_Maps_Ridge_and_SVD_Study_Guide.pdf</a:t>
            </a:r>
            <a:endParaRPr lang="en-US" sz="1050" dirty="0"/>
          </a:p>
        </p:txBody>
      </p:sp>
      <p:sp>
        <p:nvSpPr>
          <p:cNvPr id="14" name="Text 12"/>
          <p:cNvSpPr txBox="1"/>
          <p:nvPr/>
        </p:nvSpPr>
        <p:spPr>
          <a:xfrm>
            <a:off x="548640" y="3547872"/>
            <a:ext cx="4297680" cy="246888"/>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ridge, SVD, whitening — the math behind entry maps and the hub</a:t>
            </a:r>
            <a:endParaRPr lang="en-US" sz="900" dirty="0"/>
          </a:p>
        </p:txBody>
      </p:sp>
      <p:sp>
        <p:nvSpPr>
          <p:cNvPr id="15" name="Text 13"/>
          <p:cNvSpPr txBox="1"/>
          <p:nvPr/>
        </p:nvSpPr>
        <p:spPr>
          <a:xfrm>
            <a:off x="548640" y="3794760"/>
            <a:ext cx="4297680" cy="22860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PCA_Cat_Dog_All_Graph_States.pdf</a:t>
            </a:r>
            <a:endParaRPr lang="en-US" sz="1050" dirty="0"/>
          </a:p>
        </p:txBody>
      </p:sp>
      <p:sp>
        <p:nvSpPr>
          <p:cNvPr id="16" name="Text 14"/>
          <p:cNvSpPr txBox="1"/>
          <p:nvPr/>
        </p:nvSpPr>
        <p:spPr>
          <a:xfrm>
            <a:off x="548640" y="4005072"/>
            <a:ext cx="4297680" cy="246888"/>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PCA, eigenvectors, whitening step by step on cats and dogs</a:t>
            </a:r>
            <a:endParaRPr lang="en-US" sz="900" dirty="0"/>
          </a:p>
        </p:txBody>
      </p:sp>
      <p:sp>
        <p:nvSpPr>
          <p:cNvPr id="17" name="Text 15"/>
          <p:cNvSpPr txBox="1"/>
          <p:nvPr/>
        </p:nvSpPr>
        <p:spPr>
          <a:xfrm>
            <a:off x="548640" y="4251960"/>
            <a:ext cx="4297680" cy="22860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Shared_Hub_Chat_Summary.pdf · Hub_Scores_Summary.pdf</a:t>
            </a:r>
            <a:endParaRPr lang="en-US" sz="1050" dirty="0"/>
          </a:p>
        </p:txBody>
      </p:sp>
      <p:sp>
        <p:nvSpPr>
          <p:cNvPr id="18" name="Text 16"/>
          <p:cNvSpPr txBox="1"/>
          <p:nvPr/>
        </p:nvSpPr>
        <p:spPr>
          <a:xfrm>
            <a:off x="548640" y="4462272"/>
            <a:ext cx="4297680" cy="246888"/>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hub training, transfer and retrieval walked through with paired cat/dog items</a:t>
            </a:r>
            <a:endParaRPr lang="en-US" sz="900" dirty="0"/>
          </a:p>
        </p:txBody>
      </p:sp>
      <p:sp>
        <p:nvSpPr>
          <p:cNvPr id="19" name="Text 17"/>
          <p:cNvSpPr txBox="1"/>
          <p:nvPr/>
        </p:nvSpPr>
        <p:spPr>
          <a:xfrm>
            <a:off x="548640" y="4709160"/>
            <a:ext cx="4297680" cy="22860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Defense_Brief.pdf · Mock_Viva.pdf · Technical_Cheat_Sheet.pdf</a:t>
            </a:r>
            <a:endParaRPr lang="en-US" sz="1050" dirty="0"/>
          </a:p>
        </p:txBody>
      </p:sp>
      <p:sp>
        <p:nvSpPr>
          <p:cNvPr id="20" name="Text 18"/>
          <p:cNvSpPr txBox="1"/>
          <p:nvPr/>
        </p:nvSpPr>
        <p:spPr>
          <a:xfrm>
            <a:off x="548640" y="4919472"/>
            <a:ext cx="4297680" cy="246888"/>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hard questions with answers; scale caveat; target-choice objection</a:t>
            </a:r>
            <a:endParaRPr lang="en-US" sz="900" dirty="0"/>
          </a:p>
        </p:txBody>
      </p:sp>
      <p:sp>
        <p:nvSpPr>
          <p:cNvPr id="21" name="Text 19"/>
          <p:cNvSpPr txBox="1"/>
          <p:nvPr/>
        </p:nvSpPr>
        <p:spPr>
          <a:xfrm>
            <a:off x="548640" y="5166360"/>
            <a:ext cx="4297680" cy="22860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B5_Sandbox_Practical_Report.pdf</a:t>
            </a:r>
            <a:endParaRPr lang="en-US" sz="1050" dirty="0"/>
          </a:p>
        </p:txBody>
      </p:sp>
      <p:sp>
        <p:nvSpPr>
          <p:cNvPr id="22" name="Text 20"/>
          <p:cNvSpPr txBox="1"/>
          <p:nvPr/>
        </p:nvSpPr>
        <p:spPr>
          <a:xfrm>
            <a:off x="548640" y="5376672"/>
            <a:ext cx="4297680" cy="246888"/>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the phone pipeline on real photos, eleven free-text queries</a:t>
            </a:r>
            <a:endParaRPr lang="en-US" sz="900" dirty="0"/>
          </a:p>
        </p:txBody>
      </p:sp>
      <p:sp>
        <p:nvSpPr>
          <p:cNvPr id="23" name="Text 21"/>
          <p:cNvSpPr txBox="1"/>
          <p:nvPr/>
        </p:nvSpPr>
        <p:spPr>
          <a:xfrm>
            <a:off x="548640" y="5623560"/>
            <a:ext cx="4297680" cy="228600"/>
          </a:xfrm>
          <a:prstGeom prst="rect">
            <a:avLst/>
          </a:prstGeom>
          <a:noFill/>
          <a:ln/>
        </p:spPr>
        <p:txBody>
          <a:bodyPr wrap="square" lIns="0" tIns="0" rIns="0" bIns="0" rtlCol="0" anchor="ctr"/>
          <a:lstStyle/>
          <a:p>
            <a:pPr indent="0" marL="0">
              <a:buNone/>
            </a:pPr>
            <a:r>
              <a:rPr lang="en-US" sz="1050" b="1" dirty="0">
                <a:solidFill>
                  <a:srgbClr val="1E2761"/>
                </a:solidFill>
                <a:latin typeface="Calibri" pitchFamily="34" charset="0"/>
                <a:ea typeface="Calibri" pitchFamily="34" charset="-122"/>
                <a:cs typeface="Calibri" pitchFamily="34" charset="-120"/>
              </a:rPr>
              <a:t>Vector_Similarity_Handbook.pdf · Status_Report.pdf</a:t>
            </a:r>
            <a:endParaRPr lang="en-US" sz="1050" dirty="0"/>
          </a:p>
        </p:txBody>
      </p:sp>
      <p:sp>
        <p:nvSpPr>
          <p:cNvPr id="24" name="Text 22"/>
          <p:cNvSpPr txBox="1"/>
          <p:nvPr/>
        </p:nvSpPr>
        <p:spPr>
          <a:xfrm>
            <a:off x="548640" y="5833872"/>
            <a:ext cx="4297680" cy="246888"/>
          </a:xfrm>
          <a:prstGeom prst="rect">
            <a:avLst/>
          </a:prstGeom>
          <a:noFill/>
          <a:ln/>
        </p:spPr>
        <p:txBody>
          <a:bodyPr wrap="square" lIns="0" tIns="0" rIns="0" bIns="0" rtlCol="0" anchor="ctr"/>
          <a:lstStyle/>
          <a:p>
            <a:pPr indent="0" marL="0">
              <a:buNone/>
            </a:pPr>
            <a:r>
              <a:rPr lang="en-US" sz="900" dirty="0">
                <a:solidFill>
                  <a:srgbClr val="5B6472"/>
                </a:solidFill>
                <a:latin typeface="Calibri" pitchFamily="34" charset="0"/>
                <a:ea typeface="Calibri" pitchFamily="34" charset="-122"/>
                <a:cs typeface="Calibri" pitchFamily="34" charset="-120"/>
              </a:rPr>
              <a:t>the concepts end to end; status by experiment</a:t>
            </a:r>
            <a:endParaRPr lang="en-US" sz="900" dirty="0"/>
          </a:p>
        </p:txBody>
      </p:sp>
      <p:sp>
        <p:nvSpPr>
          <p:cNvPr id="25" name="Shape 23"/>
          <p:cNvSpPr/>
          <p:nvPr/>
        </p:nvSpPr>
        <p:spPr>
          <a:xfrm>
            <a:off x="5120640" y="1508760"/>
            <a:ext cx="6492240" cy="2148840"/>
          </a:xfrm>
          <a:prstGeom prst="roundRect">
            <a:avLst>
              <a:gd name="adj" fmla="val 3404"/>
            </a:avLst>
          </a:prstGeom>
          <a:solidFill>
            <a:srgbClr val="EEF3FF"/>
          </a:solidFill>
          <a:ln w="12700">
            <a:solidFill>
              <a:srgbClr val="EEF3FF"/>
            </a:solidFill>
            <a:prstDash val="solid"/>
          </a:ln>
        </p:spPr>
      </p:sp>
      <p:sp>
        <p:nvSpPr>
          <p:cNvPr id="26" name="Text 24"/>
          <p:cNvSpPr txBox="1"/>
          <p:nvPr/>
        </p:nvSpPr>
        <p:spPr>
          <a:xfrm>
            <a:off x="5285232" y="1618488"/>
            <a:ext cx="6163056"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Notebooks and demos (Google Colab, 25 notebooks A1–K3)</a:t>
            </a:r>
            <a:endParaRPr lang="en-US" sz="1300" dirty="0"/>
          </a:p>
        </p:txBody>
      </p:sp>
      <p:sp>
        <p:nvSpPr>
          <p:cNvPr id="27" name="Text 25"/>
          <p:cNvSpPr txBox="1"/>
          <p:nvPr/>
        </p:nvSpPr>
        <p:spPr>
          <a:xfrm>
            <a:off x="5285232" y="2011680"/>
            <a:ext cx="6163056" cy="155448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A1–A3 layer convergence · B1–B10 adapter, retrieval, membership, quantization; B5 sandbox · C1.1 Gromov–Wasserstein · E1–E3 cross-modal, capacity sweep, E2 interactive demo (image → captions, text → images) · F1–F5 MLP control and refit · G0 rebuild-exact, G1 hub build, G2 LIVE DEMO, G3–G16 · K1–K3 · V1 diagnostic battery. Colab T4/L4 for the one-time encoding pass; everything else CPU.</a:t>
            </a:r>
            <a:endParaRPr lang="en-US" sz="1100" dirty="0"/>
          </a:p>
        </p:txBody>
      </p:sp>
      <p:sp>
        <p:nvSpPr>
          <p:cNvPr id="28" name="Text 26">
            <a:hlinkClick r:id="rId1" tooltip=""/>
          </p:cNvPr>
          <p:cNvSpPr txBox="1"/>
          <p:nvPr/>
        </p:nvSpPr>
        <p:spPr>
          <a:xfrm>
            <a:off x="5303520" y="3794760"/>
            <a:ext cx="6400800" cy="292608"/>
          </a:xfrm>
          <a:prstGeom prst="rect">
            <a:avLst/>
          </a:prstGeom>
          <a:noFill/>
          <a:ln/>
        </p:spPr>
        <p:txBody>
          <a:bodyPr wrap="square" lIns="0" tIns="0" rIns="0" bIns="0" rtlCol="0" anchor="ctr"/>
          <a:lstStyle/>
          <a:p>
            <a:pPr indent="0" marL="0">
              <a:buNone/>
            </a:pPr>
            <a:r>
              <a:rPr lang="en-US" sz="1200" u="sng" dirty="0">
                <a:solidFill>
                  <a:srgbClr val="0F766E"/>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 Drive: convergence_experiment (notebooks + caches pairs.npz, adapter.npz, hub_rebuilt.npz)</a:t>
            </a:r>
            <a:endParaRPr lang="en-US" sz="1200" dirty="0"/>
          </a:p>
        </p:txBody>
      </p:sp>
      <p:sp>
        <p:nvSpPr>
          <p:cNvPr id="29" name="Text 27">
            <a:hlinkClick r:id="rId2" tooltip=""/>
          </p:cNvPr>
          <p:cNvSpPr txBox="1"/>
          <p:nvPr/>
        </p:nvSpPr>
        <p:spPr>
          <a:xfrm>
            <a:off x="5303520" y="4160520"/>
            <a:ext cx="6400800" cy="292608"/>
          </a:xfrm>
          <a:prstGeom prst="rect">
            <a:avLst/>
          </a:prstGeom>
          <a:noFill/>
          <a:ln/>
        </p:spPr>
        <p:txBody>
          <a:bodyPr wrap="square" lIns="0" tIns="0" rIns="0" bIns="0" rtlCol="0" anchor="ctr"/>
          <a:lstStyle/>
          <a:p>
            <a:pPr indent="0" marL="0">
              <a:buNone/>
            </a:pPr>
            <a:r>
              <a:rPr lang="en-US" sz="1200" u="sng" dirty="0">
                <a:solidFill>
                  <a:srgbClr val="0F766E"/>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 Drive: figs_for_claude (all figures)</a:t>
            </a:r>
            <a:endParaRPr lang="en-US" sz="1200" dirty="0"/>
          </a:p>
        </p:txBody>
      </p:sp>
      <p:sp>
        <p:nvSpPr>
          <p:cNvPr id="30" name="Shape 28"/>
          <p:cNvSpPr/>
          <p:nvPr/>
        </p:nvSpPr>
        <p:spPr>
          <a:xfrm>
            <a:off x="5120640" y="4617720"/>
            <a:ext cx="6492240" cy="1691640"/>
          </a:xfrm>
          <a:prstGeom prst="roundRect">
            <a:avLst>
              <a:gd name="adj" fmla="val 4324"/>
            </a:avLst>
          </a:prstGeom>
          <a:solidFill>
            <a:srgbClr val="EEF7F3"/>
          </a:solidFill>
          <a:ln w="12700">
            <a:solidFill>
              <a:srgbClr val="EEF7F3"/>
            </a:solidFill>
            <a:prstDash val="solid"/>
          </a:ln>
        </p:spPr>
      </p:sp>
      <p:sp>
        <p:nvSpPr>
          <p:cNvPr id="31" name="Text 29"/>
          <p:cNvSpPr txBox="1"/>
          <p:nvPr/>
        </p:nvSpPr>
        <p:spPr>
          <a:xfrm>
            <a:off x="5285232" y="4727448"/>
            <a:ext cx="6163056" cy="3657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Data and artifacts</a:t>
            </a:r>
            <a:endParaRPr lang="en-US" sz="1300" dirty="0"/>
          </a:p>
        </p:txBody>
      </p:sp>
      <p:sp>
        <p:nvSpPr>
          <p:cNvPr id="32" name="Text 30"/>
          <p:cNvSpPr txBox="1"/>
          <p:nvPr/>
        </p:nvSpPr>
        <p:spPr>
          <a:xfrm>
            <a:off x="5285232" y="5120640"/>
            <a:ext cx="6163056" cy="1097280"/>
          </a:xfrm>
          <a:prstGeom prst="rect">
            <a:avLst/>
          </a:prstGeom>
          <a:noFill/>
          <a:ln/>
        </p:spPr>
        <p:txBody>
          <a:bodyPr wrap="square" lIns="0" tIns="0" rIns="0" bIns="0" rtlCol="0" anchor="t"/>
          <a:lstStyle/>
          <a:p>
            <a:pPr indent="0" marL="0">
              <a:buNone/>
            </a:pPr>
            <a:r>
              <a:rPr lang="en-US" sz="1100" dirty="0">
                <a:solidFill>
                  <a:srgbClr val="1F2937"/>
                </a:solidFill>
                <a:latin typeface="Calibri" pitchFamily="34" charset="0"/>
                <a:ea typeface="Calibri" pitchFamily="34" charset="-122"/>
                <a:cs typeface="Calibri" pitchFamily="34" charset="-120"/>
              </a:rPr>
              <a:t>COCO train2017 / val2017 rows: 9,533 hub items; 8,000 for the E-series (train2017); 4,000 for Experiment B (val2017); 10,000 WikiText passages for Experiment A. Caches: pairs.npz, adapter.npz (W 512×768, fp16 Core ML 0.79 MB), hub_rebuilt.npz, a ConvNeXt cache. Shared Qdrant index for the phone→server demo. Sources: Huh et al. 2024 (PRH, CKNNA), Lenc &amp; Vedaldi 2015, Bansal et al. 2021, Moschella et al. 2023.</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731520" y="822960"/>
            <a:ext cx="10698480" cy="365760"/>
          </a:xfrm>
          <a:prstGeom prst="rect">
            <a:avLst/>
          </a:prstGeom>
          <a:noFill/>
          <a:ln/>
        </p:spPr>
        <p:txBody>
          <a:bodyPr wrap="square" lIns="0" tIns="0" rIns="0" bIns="0" rtlCol="0" anchor="ctr"/>
          <a:lstStyle/>
          <a:p>
            <a:pPr indent="0" marL="0">
              <a:buNone/>
            </a:pPr>
            <a:r>
              <a:rPr lang="en-US" sz="1200" b="1" spc="300" kern="0" dirty="0">
                <a:solidFill>
                  <a:srgbClr val="CADCFC"/>
                </a:solidFill>
                <a:latin typeface="Calibri" pitchFamily="34" charset="0"/>
                <a:ea typeface="Calibri" pitchFamily="34" charset="-122"/>
                <a:cs typeface="Calibri" pitchFamily="34" charset="-120"/>
              </a:rPr>
              <a:t>THE PROJECT IN ONE PARAGRAPH</a:t>
            </a:r>
            <a:endParaRPr lang="en-US" sz="1200" dirty="0"/>
          </a:p>
        </p:txBody>
      </p:sp>
      <p:sp>
        <p:nvSpPr>
          <p:cNvPr id="3" name="Text 1"/>
          <p:cNvSpPr txBox="1"/>
          <p:nvPr/>
        </p:nvSpPr>
        <p:spPr>
          <a:xfrm>
            <a:off x="731520" y="1280160"/>
            <a:ext cx="10698480" cy="2377440"/>
          </a:xfrm>
          <a:prstGeom prst="rect">
            <a:avLst/>
          </a:prstGeom>
          <a:noFill/>
          <a:ln/>
        </p:spPr>
        <p:txBody>
          <a:bodyPr wrap="square" lIns="0" tIns="0" rIns="0" bIns="0" rtlCol="0" anchor="ctr"/>
          <a:lstStyle/>
          <a:p>
            <a:pPr indent="0" marL="0">
              <a:buNone/>
            </a:pPr>
            <a:r>
              <a:rPr lang="en-US" sz="2200" dirty="0">
                <a:solidFill>
                  <a:srgbClr val="FFFFFF"/>
                </a:solidFill>
                <a:latin typeface="Cambria" pitchFamily="34" charset="0"/>
                <a:ea typeface="Cambria" pitchFamily="34" charset="-122"/>
                <a:cs typeface="Cambria" pitchFamily="34" charset="-120"/>
              </a:rPr>
              <a:t>Two models never share coordinates — raw agreement is exactly chance. But they describe the same world, and the translation between them is a single matrix small enough to fit on a phone. What they share most strongly is LOCAL: they agree about what is near what, and diverge about the shape of the whole. The coordinate frame that makes structure readable is cheap; the arrangement of meaning across directions is what training actually buys.</a:t>
            </a:r>
            <a:endParaRPr lang="en-US" sz="2200" dirty="0"/>
          </a:p>
        </p:txBody>
      </p:sp>
      <p:sp>
        <p:nvSpPr>
          <p:cNvPr id="4" name="Text 2"/>
          <p:cNvSpPr txBox="1"/>
          <p:nvPr/>
        </p:nvSpPr>
        <p:spPr>
          <a:xfrm>
            <a:off x="731520" y="3840480"/>
            <a:ext cx="10698480" cy="1188720"/>
          </a:xfrm>
          <a:prstGeom prst="rect">
            <a:avLst/>
          </a:prstGeom>
          <a:noFill/>
          <a:ln/>
        </p:spPr>
        <p:txBody>
          <a:bodyPr wrap="square" lIns="0" tIns="0" rIns="0" bIns="0" rtlCol="0" anchor="ctr"/>
          <a:lstStyle/>
          <a:p>
            <a:pPr indent="0" marL="0">
              <a:buNone/>
            </a:pPr>
            <a:r>
              <a:rPr lang="en-US" sz="1500" i="1" dirty="0">
                <a:solidFill>
                  <a:srgbClr val="CADCFC"/>
                </a:solidFill>
                <a:latin typeface="Calibri" pitchFamily="34" charset="0"/>
                <a:ea typeface="Calibri" pitchFamily="34" charset="-122"/>
                <a:cs typeface="Calibri" pitchFamily="34" charset="-120"/>
              </a:rPr>
              <a:t>Huh et al. showed alignment rises with scale and correlates with capability. I took the hypothesis as given and asked what is actually shared, whether one matrix can carry it, and where it fails — and the answers are local structure, yes at 96.7 percent, and at the source encoder's rank.</a:t>
            </a:r>
            <a:endParaRPr lang="en-US" sz="1500" dirty="0"/>
          </a:p>
        </p:txBody>
      </p:sp>
      <p:sp>
        <p:nvSpPr>
          <p:cNvPr id="5" name="Text 3"/>
          <p:cNvSpPr txBox="1"/>
          <p:nvPr/>
        </p:nvSpPr>
        <p:spPr>
          <a:xfrm>
            <a:off x="731520" y="5303520"/>
            <a:ext cx="10698480" cy="7315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Science: a subset of PRH proved, narrowed to its defensible form.    Engineering: two small-expert systems that run without a GPU.    Method: 11 falsified explanations kept on the record.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Representation Convergence — the whole project on slides</dc:title>
  <dc:subject>PptxGenJS Presentation</dc:subject>
  <dc:creator>PptxGenJS</dc:creator>
  <cp:lastModifiedBy>PptxGenJS</cp:lastModifiedBy>
  <cp:revision>1</cp:revision>
  <dcterms:created xsi:type="dcterms:W3CDTF">2026-09-17T07:01:59Z</dcterms:created>
  <dcterms:modified xsi:type="dcterms:W3CDTF">2026-09-17T07:01:59Z</dcterms:modified>
</cp:coreProperties>
</file>