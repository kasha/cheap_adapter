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c42dbe12f454c85" /><Relationship Type="http://schemas.openxmlformats.org/officeDocument/2006/relationships/extended-properties" Target="/docProps/app.xml" Id="Rb0b860d706634422" /><Relationship Type="http://schemas.openxmlformats.org/officeDocument/2006/relationships/officeDocument" Target="/ppt/presentation.xml" Id="R594e072ab3ec4253" /></Relationships>
</file>

<file path=ppt/presentation.xml><?xml version="1.0" encoding="utf-8"?>
<p:presentation xmlns:p="http://schemas.openxmlformats.org/presentationml/2006/main">
  <p:sldMasterIdLst>
    <p:sldMasterId xmlns:r="http://schemas.openxmlformats.org/officeDocument/2006/relationships" id="2147483648" r:id="R2293fe85d08f4f17"/>
  </p:sldMasterIdLst>
  <p:notesMasterIdLst>
    <p:notesMasterId xmlns:r="http://schemas.openxmlformats.org/officeDocument/2006/relationships" r:id="Re71102a639484a2e"/>
  </p:notesMasterIdLst>
  <p:sldIdLst>
    <p:sldId xmlns:r="http://schemas.openxmlformats.org/officeDocument/2006/relationships" id="256" r:id="R1e3a559b89704073"/>
    <p:sldId xmlns:r="http://schemas.openxmlformats.org/officeDocument/2006/relationships" id="257" r:id="R28a18732617343aa"/>
    <p:sldId xmlns:r="http://schemas.openxmlformats.org/officeDocument/2006/relationships" id="258" r:id="R4c6b3011d2eb4492"/>
    <p:sldId xmlns:r="http://schemas.openxmlformats.org/officeDocument/2006/relationships" id="259" r:id="Rbcf88b6119b64d5f"/>
    <p:sldId xmlns:r="http://schemas.openxmlformats.org/officeDocument/2006/relationships" id="260" r:id="R063fe43765144869"/>
    <p:sldId xmlns:r="http://schemas.openxmlformats.org/officeDocument/2006/relationships" id="261" r:id="Rec4cb911e2fd4d44"/>
    <p:sldId xmlns:r="http://schemas.openxmlformats.org/officeDocument/2006/relationships" id="262" r:id="R817effeb82814e4c"/>
    <p:sldId xmlns:r="http://schemas.openxmlformats.org/officeDocument/2006/relationships" id="263" r:id="Rb8c11cb48d604317"/>
    <p:sldId xmlns:r="http://schemas.openxmlformats.org/officeDocument/2006/relationships" id="264" r:id="R6748e18a49624fd1"/>
    <p:sldId xmlns:r="http://schemas.openxmlformats.org/officeDocument/2006/relationships" id="265" r:id="R98b4656b68af43a4"/>
    <p:sldId xmlns:r="http://schemas.openxmlformats.org/officeDocument/2006/relationships" id="266" r:id="R2ad47cf9cafc4d7c"/>
    <p:sldId xmlns:r="http://schemas.openxmlformats.org/officeDocument/2006/relationships" id="267" r:id="R756af8c5e75e463b"/>
    <p:sldId xmlns:r="http://schemas.openxmlformats.org/officeDocument/2006/relationships" id="268" r:id="Re0c8e1a0d2664efb"/>
    <p:sldId xmlns:r="http://schemas.openxmlformats.org/officeDocument/2006/relationships" id="269" r:id="R1b9f5e9c3e094d41"/>
    <p:sldId xmlns:r="http://schemas.openxmlformats.org/officeDocument/2006/relationships" id="270" r:id="R74cdf446e08542a0"/>
    <p:sldId xmlns:r="http://schemas.openxmlformats.org/officeDocument/2006/relationships" id="271" r:id="Rc507da64bd204e60"/>
    <p:sldId xmlns:r="http://schemas.openxmlformats.org/officeDocument/2006/relationships" id="272" r:id="R50a323a0dba141f5"/>
    <p:sldId xmlns:r="http://schemas.openxmlformats.org/officeDocument/2006/relationships" id="273" r:id="R7da87ab6181e4054"/>
    <p:sldId xmlns:r="http://schemas.openxmlformats.org/officeDocument/2006/relationships" id="274" r:id="Re22533417a9a468b"/>
    <p:sldId xmlns:r="http://schemas.openxmlformats.org/officeDocument/2006/relationships" id="275" r:id="R3a77a7e8558d44a2"/>
    <p:sldId xmlns:r="http://schemas.openxmlformats.org/officeDocument/2006/relationships" id="276" r:id="R5ea641e152c64f7d"/>
    <p:sldId xmlns:r="http://schemas.openxmlformats.org/officeDocument/2006/relationships" id="277" r:id="R8456935820a94cb1"/>
    <p:sldId xmlns:r="http://schemas.openxmlformats.org/officeDocument/2006/relationships" id="278" r:id="R235f1a37c84543b0"/>
    <p:sldId xmlns:r="http://schemas.openxmlformats.org/officeDocument/2006/relationships" id="279" r:id="R116e0770ab5f48f9"/>
    <p:sldId xmlns:r="http://schemas.openxmlformats.org/officeDocument/2006/relationships" id="280" r:id="Rf0123f97c4a2449b"/>
    <p:sldId xmlns:r="http://schemas.openxmlformats.org/officeDocument/2006/relationships" id="281" r:id="R152ca365a725454f"/>
    <p:sldId xmlns:r="http://schemas.openxmlformats.org/officeDocument/2006/relationships" id="282" r:id="R466f4cab520143e4"/>
    <p:sldId xmlns:r="http://schemas.openxmlformats.org/officeDocument/2006/relationships" id="283" r:id="R9f8e538c78984fbc"/>
    <p:sldId xmlns:r="http://schemas.openxmlformats.org/officeDocument/2006/relationships" id="284" r:id="R862a1fc3919c4398"/>
    <p:sldId xmlns:r="http://schemas.openxmlformats.org/officeDocument/2006/relationships" id="285" r:id="Rcef90f6e22a544f5"/>
    <p:sldId xmlns:r="http://schemas.openxmlformats.org/officeDocument/2006/relationships" id="286" r:id="R30869a62be684fe1"/>
    <p:sldId xmlns:r="http://schemas.openxmlformats.org/officeDocument/2006/relationships" id="287" r:id="Rc9e1b31209b242ae"/>
    <p:sldId xmlns:r="http://schemas.openxmlformats.org/officeDocument/2006/relationships" id="288" r:id="R766ff148e6e14920"/>
    <p:sldId xmlns:r="http://schemas.openxmlformats.org/officeDocument/2006/relationships" id="289" r:id="Rc8389f9e277d427e"/>
    <p:sldId xmlns:r="http://schemas.openxmlformats.org/officeDocument/2006/relationships" id="290" r:id="R8a06baac7ff84c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79284d85b246db" /><Relationship Type="http://schemas.openxmlformats.org/officeDocument/2006/relationships/slideMaster" Target="/ppt/slideMasters/slideMaster1.xml" Id="R2293fe85d08f4f17" /><Relationship Type="http://schemas.openxmlformats.org/officeDocument/2006/relationships/notesMaster" Target="/ppt/notesMasters/notesMaster1.xml" Id="Re71102a639484a2e" /><Relationship Type="http://schemas.openxmlformats.org/officeDocument/2006/relationships/presProps" Target="/ppt/presProps.xml" Id="R7fae510b15e74d22" /><Relationship Type="http://schemas.openxmlformats.org/officeDocument/2006/relationships/tableStyles" Target="/ppt/tableStyles.xml" Id="R2224df2593c94c82" /><Relationship Type="http://schemas.openxmlformats.org/officeDocument/2006/relationships/slide" Target="/ppt/slides/slide1.xml" Id="R1e3a559b89704073" /><Relationship Type="http://schemas.openxmlformats.org/officeDocument/2006/relationships/slide" Target="/ppt/slides/slide2.xml" Id="R28a18732617343aa" /><Relationship Type="http://schemas.openxmlformats.org/officeDocument/2006/relationships/slide" Target="/ppt/slides/slide3.xml" Id="R4c6b3011d2eb4492" /><Relationship Type="http://schemas.openxmlformats.org/officeDocument/2006/relationships/slide" Target="/ppt/slides/slide4.xml" Id="Rbcf88b6119b64d5f" /><Relationship Type="http://schemas.openxmlformats.org/officeDocument/2006/relationships/slide" Target="/ppt/slides/slide5.xml" Id="R063fe43765144869" /><Relationship Type="http://schemas.openxmlformats.org/officeDocument/2006/relationships/slide" Target="/ppt/slides/slide6.xml" Id="Rec4cb911e2fd4d44" /><Relationship Type="http://schemas.openxmlformats.org/officeDocument/2006/relationships/slide" Target="/ppt/slides/slide7.xml" Id="R817effeb82814e4c" /><Relationship Type="http://schemas.openxmlformats.org/officeDocument/2006/relationships/slide" Target="/ppt/slides/slide8.xml" Id="Rb8c11cb48d604317" /><Relationship Type="http://schemas.openxmlformats.org/officeDocument/2006/relationships/slide" Target="/ppt/slides/slide9.xml" Id="R6748e18a49624fd1" /><Relationship Type="http://schemas.openxmlformats.org/officeDocument/2006/relationships/slide" Target="/ppt/slides/slide10.xml" Id="R98b4656b68af43a4" /><Relationship Type="http://schemas.openxmlformats.org/officeDocument/2006/relationships/slide" Target="/ppt/slides/slide11.xml" Id="R2ad47cf9cafc4d7c" /><Relationship Type="http://schemas.openxmlformats.org/officeDocument/2006/relationships/slide" Target="/ppt/slides/slide12.xml" Id="R756af8c5e75e463b" /><Relationship Type="http://schemas.openxmlformats.org/officeDocument/2006/relationships/slide" Target="/ppt/slides/slide13.xml" Id="Re0c8e1a0d2664efb" /><Relationship Type="http://schemas.openxmlformats.org/officeDocument/2006/relationships/slide" Target="/ppt/slides/slide14.xml" Id="R1b9f5e9c3e094d41" /><Relationship Type="http://schemas.openxmlformats.org/officeDocument/2006/relationships/slide" Target="/ppt/slides/slide15.xml" Id="R74cdf446e08542a0" /><Relationship Type="http://schemas.openxmlformats.org/officeDocument/2006/relationships/slide" Target="/ppt/slides/slide16.xml" Id="Rc507da64bd204e60" /><Relationship Type="http://schemas.openxmlformats.org/officeDocument/2006/relationships/slide" Target="/ppt/slides/slide17.xml" Id="R50a323a0dba141f5" /><Relationship Type="http://schemas.openxmlformats.org/officeDocument/2006/relationships/slide" Target="/ppt/slides/slide18.xml" Id="R7da87ab6181e4054" /><Relationship Type="http://schemas.openxmlformats.org/officeDocument/2006/relationships/slide" Target="/ppt/slides/slide19.xml" Id="Re22533417a9a468b" /><Relationship Type="http://schemas.openxmlformats.org/officeDocument/2006/relationships/slide" Target="/ppt/slides/slide20.xml" Id="R3a77a7e8558d44a2" /><Relationship Type="http://schemas.openxmlformats.org/officeDocument/2006/relationships/slide" Target="/ppt/slides/slide21.xml" Id="R5ea641e152c64f7d" /><Relationship Type="http://schemas.openxmlformats.org/officeDocument/2006/relationships/slide" Target="/ppt/slides/slide22.xml" Id="R8456935820a94cb1" /><Relationship Type="http://schemas.openxmlformats.org/officeDocument/2006/relationships/slide" Target="/ppt/slides/slide23.xml" Id="R235f1a37c84543b0" /><Relationship Type="http://schemas.openxmlformats.org/officeDocument/2006/relationships/slide" Target="/ppt/slides/slide24.xml" Id="R116e0770ab5f48f9" /><Relationship Type="http://schemas.openxmlformats.org/officeDocument/2006/relationships/slide" Target="/ppt/slides/slide25.xml" Id="Rf0123f97c4a2449b" /><Relationship Type="http://schemas.openxmlformats.org/officeDocument/2006/relationships/slide" Target="/ppt/slides/slide26.xml" Id="R152ca365a725454f" /><Relationship Type="http://schemas.openxmlformats.org/officeDocument/2006/relationships/slide" Target="/ppt/slides/slide27.xml" Id="R466f4cab520143e4" /><Relationship Type="http://schemas.openxmlformats.org/officeDocument/2006/relationships/slide" Target="/ppt/slides/slide28.xml" Id="R9f8e538c78984fbc" /><Relationship Type="http://schemas.openxmlformats.org/officeDocument/2006/relationships/slide" Target="/ppt/slides/slide29.xml" Id="R862a1fc3919c4398" /><Relationship Type="http://schemas.openxmlformats.org/officeDocument/2006/relationships/slide" Target="/ppt/slides/slide30.xml" Id="Rcef90f6e22a544f5" /><Relationship Type="http://schemas.openxmlformats.org/officeDocument/2006/relationships/slide" Target="/ppt/slides/slide31.xml" Id="R30869a62be684fe1" /><Relationship Type="http://schemas.openxmlformats.org/officeDocument/2006/relationships/slide" Target="/ppt/slides/slide32.xml" Id="Rc9e1b31209b242ae" /><Relationship Type="http://schemas.openxmlformats.org/officeDocument/2006/relationships/slide" Target="/ppt/slides/slide33.xml" Id="R766ff148e6e14920" /><Relationship Type="http://schemas.openxmlformats.org/officeDocument/2006/relationships/slide" Target="/ppt/slides/slide34.xml" Id="Rc8389f9e277d427e" /><Relationship Type="http://schemas.openxmlformats.org/officeDocument/2006/relationships/slide" Target="/ppt/slides/slide35.xml" Id="R8a06baac7ff84c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f3739f71b24f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2d691b06e54f13" /><Relationship Type="http://schemas.openxmlformats.org/officeDocument/2006/relationships/notesMaster" Target="/ppt/notesMasters/notesMaster1.xml" Id="R6ad4bb23432840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6e393b1dfe4380" /><Relationship Type="http://schemas.openxmlformats.org/officeDocument/2006/relationships/notesMaster" Target="/ppt/notesMasters/notesMaster1.xml" Id="Ra9b71fde41fa46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7bff8f795243d6" /><Relationship Type="http://schemas.openxmlformats.org/officeDocument/2006/relationships/notesMaster" Target="/ppt/notesMasters/notesMaster1.xml" Id="R1bbe8815b9074a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754d2254c244b9" /><Relationship Type="http://schemas.openxmlformats.org/officeDocument/2006/relationships/notesMaster" Target="/ppt/notesMasters/notesMaster1.xml" Id="R0b18675d4ae846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57d079d166491d" /><Relationship Type="http://schemas.openxmlformats.org/officeDocument/2006/relationships/notesMaster" Target="/ppt/notesMasters/notesMaster1.xml" Id="R806844e74b1a4a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ee293f11d54184" /><Relationship Type="http://schemas.openxmlformats.org/officeDocument/2006/relationships/notesMaster" Target="/ppt/notesMasters/notesMaster1.xml" Id="R411f21ba83e446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cd43184a904807" /><Relationship Type="http://schemas.openxmlformats.org/officeDocument/2006/relationships/notesMaster" Target="/ppt/notesMasters/notesMaster1.xml" Id="R1fa9c3e529d345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c6259312124dcd" /><Relationship Type="http://schemas.openxmlformats.org/officeDocument/2006/relationships/notesMaster" Target="/ppt/notesMasters/notesMaster1.xml" Id="R0d932e1fca294f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86dc7970ed46be" /><Relationship Type="http://schemas.openxmlformats.org/officeDocument/2006/relationships/notesMaster" Target="/ppt/notesMasters/notesMaster1.xml" Id="R3033fb2593df4c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c66fd916d24fdb" /><Relationship Type="http://schemas.openxmlformats.org/officeDocument/2006/relationships/notesMaster" Target="/ppt/notesMasters/notesMaster1.xml" Id="R0aaa2434d5154d4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5d632774af441c" /><Relationship Type="http://schemas.openxmlformats.org/officeDocument/2006/relationships/notesMaster" Target="/ppt/notesMasters/notesMaster1.xml" Id="R509769014c144fc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be067fe034647cc" /><Relationship Type="http://schemas.openxmlformats.org/officeDocument/2006/relationships/notesMaster" Target="/ppt/notesMasters/notesMaster1.xml" Id="R8bea4711b2144d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c8aebfdde3f4c3a" /><Relationship Type="http://schemas.openxmlformats.org/officeDocument/2006/relationships/notesMaster" Target="/ppt/notesMasters/notesMaster1.xml" Id="Ra519dad8c48941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98cc74ee280470f" /><Relationship Type="http://schemas.openxmlformats.org/officeDocument/2006/relationships/notesMaster" Target="/ppt/notesMasters/notesMaster1.xml" Id="R139f3b579c8a438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7f6feb4bc274744" /><Relationship Type="http://schemas.openxmlformats.org/officeDocument/2006/relationships/notesMaster" Target="/ppt/notesMasters/notesMaster1.xml" Id="R2aa46f8c4d0a4a9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bdc39201721472b" /><Relationship Type="http://schemas.openxmlformats.org/officeDocument/2006/relationships/notesMaster" Target="/ppt/notesMasters/notesMaster1.xml" Id="R948bb1d02dc848b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db26b17139a4ad9" /><Relationship Type="http://schemas.openxmlformats.org/officeDocument/2006/relationships/notesMaster" Target="/ppt/notesMasters/notesMaster1.xml" Id="R4fa5a6278669477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116954bd36e4c1e" /><Relationship Type="http://schemas.openxmlformats.org/officeDocument/2006/relationships/notesMaster" Target="/ppt/notesMasters/notesMaster1.xml" Id="R7870a0789a8c41b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1d572c553c9438a" /><Relationship Type="http://schemas.openxmlformats.org/officeDocument/2006/relationships/notesMaster" Target="/ppt/notesMasters/notesMaster1.xml" Id="R738b08143e9847a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a0cd56134b54599" /><Relationship Type="http://schemas.openxmlformats.org/officeDocument/2006/relationships/notesMaster" Target="/ppt/notesMasters/notesMaster1.xml" Id="R097e4b6096e8421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d9328242bfb475a" /><Relationship Type="http://schemas.openxmlformats.org/officeDocument/2006/relationships/notesMaster" Target="/ppt/notesMasters/notesMaster1.xml" Id="R0953a5e5625c415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48d9420ef22458a" /><Relationship Type="http://schemas.openxmlformats.org/officeDocument/2006/relationships/notesMaster" Target="/ppt/notesMasters/notesMaster1.xml" Id="R9e71e96b4cd840f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55926456bf34b1c" /><Relationship Type="http://schemas.openxmlformats.org/officeDocument/2006/relationships/notesMaster" Target="/ppt/notesMasters/notesMaster1.xml" Id="Raf1bfb739c7047f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3e607f7eb7f48ec" /><Relationship Type="http://schemas.openxmlformats.org/officeDocument/2006/relationships/notesMaster" Target="/ppt/notesMasters/notesMaster1.xml" Id="R07d456154ef44e7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996b2eb4dd64b56" /><Relationship Type="http://schemas.openxmlformats.org/officeDocument/2006/relationships/notesMaster" Target="/ppt/notesMasters/notesMaster1.xml" Id="R3ab09661401e411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d3106575e4742d9" /><Relationship Type="http://schemas.openxmlformats.org/officeDocument/2006/relationships/notesMaster" Target="/ppt/notesMasters/notesMaster1.xml" Id="Rd9f23ec635b14a1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ff716c1d001412a" /><Relationship Type="http://schemas.openxmlformats.org/officeDocument/2006/relationships/notesMaster" Target="/ppt/notesMasters/notesMaster1.xml" Id="R3adf35d522dc4f7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2bf07e583fb43c6" /><Relationship Type="http://schemas.openxmlformats.org/officeDocument/2006/relationships/notesMaster" Target="/ppt/notesMasters/notesMaster1.xml" Id="Rf34f51534957404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1d445748d5042f1" /><Relationship Type="http://schemas.openxmlformats.org/officeDocument/2006/relationships/notesMaster" Target="/ppt/notesMasters/notesMaster1.xml" Id="R798b08f1cf234bf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4c3d4f13a8145c3" /><Relationship Type="http://schemas.openxmlformats.org/officeDocument/2006/relationships/notesMaster" Target="/ppt/notesMasters/notesMaster1.xml" Id="R6b61faacf5c7413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2157263e58a492c" /><Relationship Type="http://schemas.openxmlformats.org/officeDocument/2006/relationships/notesMaster" Target="/ppt/notesMasters/notesMaster1.xml" Id="Rc8b4811f57ce428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769176a205645a2" /><Relationship Type="http://schemas.openxmlformats.org/officeDocument/2006/relationships/notesMaster" Target="/ppt/notesMasters/notesMaster1.xml" Id="R499a131bf8b9496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fb2a04970b84ea4" /><Relationship Type="http://schemas.openxmlformats.org/officeDocument/2006/relationships/notesMaster" Target="/ppt/notesMasters/notesMaster1.xml" Id="Ra7fe12826a35473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0ec68b0b5094dcd" /><Relationship Type="http://schemas.openxmlformats.org/officeDocument/2006/relationships/notesMaster" Target="/ppt/notesMasters/notesMaster1.xml" Id="R346d9787ee754f1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1c5c555fe3d4c1b" /><Relationship Type="http://schemas.openxmlformats.org/officeDocument/2006/relationships/notesMaster" Target="/ppt/notesMasters/notesMaster1.xml" Id="R7dc7a1e5a8174a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 – 0:30 (30 seconds)</a:t>
            </a:r>
          </a:p>
          <a:p xmlns:a="http://schemas.openxmlformats.org/drawingml/2006/main">
            <a:r>
              <a:t/>
            </a:r>
          </a:p>
          <a:p xmlns:a="http://schemas.openxmlformats.org/drawingml/2006/main">
            <a:r>
              <a:t>My question began as an engineering problem: can independently developed models share a search system without retraining their encoders? I tested a bounded part of the Platonic Representation Hypothesis and built two systems from the result. I will follow the actual logic of the work: Experiment A on language representations, Experiment B on a phone-to-server adapter, and then the shared hub. The scientific conclusion concerns recoverable structure, especially local relationships. The engineering conclusion concerns useful interoperability under specific measured conditions.</a:t>
            </a:r>
          </a:p>
          <a:p xmlns:a="http://schemas.openxmlformats.org/drawingml/2006/main">
            <a:r>
              <a:t/>
            </a:r>
          </a:p>
          <a:p xmlns:a="http://schemas.openxmlformats.org/drawingml/2006/main">
            <a:r>
              <a:t>Sources: Liad Kashanovsky  •  AI Expert Project  •  September 2026</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 – 1:00 (30 seconds)</a:t>
            </a:r>
          </a:p>
          <a:p xmlns:a="http://schemas.openxmlformats.org/drawingml/2006/main">
            <a:r>
              <a:t/>
            </a:r>
          </a:p>
          <a:p xmlns:a="http://schemas.openxmlformats.org/drawingml/2006/main">
            <a:r>
              <a:t>PRH proposes that learned representations increasingly agree about the structure of the world, including across modalities. I narrowed this to testable questions: are relationships shared before fitting a map, can a simple fitted map recover them on held-out items, and can a downstream component reuse the result? Compute, memory and project time favored smaller pretrained encoders, cached embeddings and closed-form maps. The report specifies Google Colab with a T4 sufficient for the original A/B sequence. Cached vectors let later linear solves run on CPU. That makes controlled experiments feasible on modest hardware. It also matches the deployment goal: a phone should not need the server encoder. This is evidence about a subset of PRH, not proof of a universal representation.</a:t>
            </a:r>
          </a:p>
          <a:p xmlns:a="http://schemas.openxmlformats.org/drawingml/2006/main">
            <a:r>
              <a:t/>
            </a:r>
          </a:p>
          <a:p xmlns:a="http://schemas.openxmlformats.org/drawingml/2006/main">
            <a:r>
              <a:t>Sources: Huh et al., ICML 2024; Final Project Report §§1–3, E.16</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 1:45 (45 seconds)</a:t>
            </a:r>
          </a:p>
          <a:p xmlns:a="http://schemas.openxmlformats.org/drawingml/2006/main">
            <a:r>
              <a:t/>
            </a:r>
          </a:p>
          <a:p xmlns:a="http://schemas.openxmlformats.org/drawingml/2006/main">
            <a:r>
              <a:t>A modality is the kind of input, such as pixels or text. An objective is the learning task, such as next-token prediction or matching image-caption pairs. An encoder maps an input to a vector. Those numbers are coordinates in that encoder’s representation space. Structure means relationships among many items: which cats are near which dogs, and which are far from airplanes. Two encoders can preserve some relationships while using different coordinates. We therefore compare relational geometry or fit a map. Raw vectors from unrelated encoders are not directly comparable, and cosine is undefined when their dimensions differ.</a:t>
            </a:r>
          </a:p>
          <a:p xmlns:a="http://schemas.openxmlformats.org/drawingml/2006/main">
            <a:r>
              <a:t/>
            </a:r>
          </a:p>
          <a:p xmlns:a="http://schemas.openxmlformats.org/drawingml/2006/main">
            <a:r>
              <a:t>Sources: Supplied cat–dog illustration; model cards; Project Atlas §1</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 – 2:45 (60 seconds)</a:t>
            </a:r>
          </a:p>
          <a:p xmlns:a="http://schemas.openxmlformats.org/drawingml/2006/main">
            <a:r>
              <a:t/>
            </a:r>
          </a:p>
          <a:p xmlns:a="http://schemas.openxmlformats.org/drawingml/2006/main">
            <a:r>
              <a:t>WikiText-103 contains English Wikipedia passages. COCO supplies everyday photographs with human-written captions. The pretrained networks learned from their creators’ corpora. My datasets are used to extract representations and fit or evaluate mappings; I did not pretrain those encoders. Experiment A uses WikiText-103 passages. Experiment B uses COCO val2017 with one caption per image. The hub uses aligned COCO image rows with five caption embeddings averaged into one text anchor. All transforms must be fitted using training rows only. Closed-form ridge is still supervised fitting, even though it has no gradient loop. Distillation follow-ups train a separate head on teacher targets. They do not modify the pretrained backbone unless the gated unfreezing experiment is run.</a:t>
            </a:r>
          </a:p>
          <a:p xmlns:a="http://schemas.openxmlformats.org/drawingml/2006/main">
            <a:r>
              <a:t/>
            </a:r>
          </a:p>
          <a:p xmlns:a="http://schemas.openxmlformats.org/drawingml/2006/main">
            <a:r>
              <a:t>Sources: Report §§3–4, C.9, E.10, E.15; Results Summary, cached vectors and splits</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 – 3:45 (60 seconds)</a:t>
            </a:r>
          </a:p>
          <a:p xmlns:a="http://schemas.openxmlformats.org/drawingml/2006/main">
            <a:r>
              <a:t/>
            </a:r>
          </a:p>
          <a:p xmlns:a="http://schemas.openxmlformats.org/drawingml/2006/main">
            <a:r>
              <a:t>Experiment A compares GPT-2, about 124 million parameters, and Pythia-160M. Both predict the next token, but they come from different model families and pretraining corpora. Each passage goes through both frozen models. Masked mean pooling yields one 768-dimensional vector per layer. A random-weight Pythia control keeps the architecture and input while removing learned weights. CKA asks whether the relational patterns agree; ridge stitching asks how much target variance a linear map predicts on held-out passages. Shared objective and overlapping real-world knowledge remain part of the scope; different labs do not prove that all pretraining content was disjoint.</a:t>
            </a:r>
          </a:p>
          <a:p xmlns:a="http://schemas.openxmlformats.org/drawingml/2006/main">
            <a:r>
              <a:t/>
            </a:r>
          </a:p>
          <a:p xmlns:a="http://schemas.openxmlformats.org/drawingml/2006/main">
            <a:r>
              <a:t>Sources: Report §3; GPT-2 and Pythia model provenance</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 – 5:00 (75 seconds)</a:t>
            </a:r>
          </a:p>
          <a:p xmlns:a="http://schemas.openxmlformats.org/drawingml/2006/main">
            <a:r>
              <a:t/>
            </a:r>
          </a:p>
          <a:p xmlns:a="http://schemas.openxmlformats.org/drawingml/2006/main">
            <a:r>
              <a:t>The chart shows selected matched layers, not every layer. At layer eleven, held-out R squared reaches 0.797 for the trained pair versus 0.090 for the random control. R squared measures variance explained in the target representation, including magnitude. The full-matrix mean CKA is 0.359 versus 0.067 for the random comparison, so learned weights matter. The first small-sample run fell below the stitching target; increasing from 1646 usable passages to 10000 raised mean trained R squared from 0.434 to 0.737. Later diagnostics found global CKA dominated by shared components, so I do not claim a perfect one-to-one layer identity.</a:t>
            </a:r>
          </a:p>
          <a:p xmlns:a="http://schemas.openxmlformats.org/drawingml/2006/main">
            <a:r>
              <a:t/>
            </a:r>
          </a:p>
          <a:p xmlns:a="http://schemas.openxmlformats.org/drawingml/2006/main">
            <a:r>
              <a:t>Sources: Report §3, Table 3; Status Report, A2/A3 diagnostic caveats</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 – 6:00 (60 seconds)</a:t>
            </a:r>
          </a:p>
          <a:p xmlns:a="http://schemas.openxmlformats.org/drawingml/2006/main">
            <a:r>
              <a:t/>
            </a:r>
          </a:p>
          <a:p xmlns:a="http://schemas.openxmlformats.org/drawingml/2006/main">
            <a:r>
              <a:t>The first engineering system solves a concrete compatibility problem. The phone produces a 512-dimensional MobileCLIP image vector; the server search space uses 768-dimensional SigLIP 2 vectors. I fit one matrix on paired embeddings of the same training images, normalize its output, and index those adapted vectors alongside native SigLIP image vectors. Text queries use the native SigLIP text encoder. The adapter therefore translates image vectors between encoders. The overall search crosses modalities, but the fitted bridge itself is image-to-image. Only a compact adapter joins the phone model. Native encoders remain frozen.</a:t>
            </a:r>
          </a:p>
          <a:p xmlns:a="http://schemas.openxmlformats.org/drawingml/2006/main">
            <a:r>
              <a:t/>
            </a:r>
          </a:p>
          <a:p xmlns:a="http://schemas.openxmlformats.org/drawingml/2006/main">
            <a:r>
              <a:t>Sources: Report §4; MobileCLIP-S1 and SigLIP 2 model cards</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 – 7:15 (75 seconds)</a:t>
            </a:r>
          </a:p>
          <a:p xmlns:a="http://schemas.openxmlformats.org/drawingml/2006/main">
            <a:r>
              <a:t/>
            </a:r>
          </a:p>
          <a:p xmlns:a="http://schemas.openxmlformats.org/drawingml/2006/main">
            <a:r>
              <a:t>Recall at K is the fraction of queries for which the correct image appears in the first K results. The linear adapter reaches 0.557 at one, 0.843 at five, and 0.918 at ten. The native SigLIP comparison is 0.630, 0.885 and 0.944. Dividing gives 88.4, 95.3 and 97.2 percent retention. Thus the results-grid use case is stronger than the exact top-one use case. The top-one gate of ninety percent retention was missed. The raw no-adapter condition remains at chance. The numeric vector fit has R squared 0.592 and cosine 0.900; these measure different aspects and are not contradictory.</a:t>
            </a:r>
          </a:p>
          <a:p xmlns:a="http://schemas.openxmlformats.org/drawingml/2006/main">
            <a:r>
              <a:t/>
            </a:r>
          </a:p>
          <a:p xmlns:a="http://schemas.openxmlformats.org/drawingml/2006/main">
            <a:r>
              <a:t>Sources: Report §4, Tables 4–5; 1,000 candidates, one-caption query protocol</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7:15 – 8:00 (45 seconds)</a:t>
            </a:r>
          </a:p>
          <a:p xmlns:a="http://schemas.openxmlformats.org/drawingml/2006/main">
            <a:r>
              <a:t/>
            </a:r>
          </a:p>
          <a:p xmlns:a="http://schemas.openxmlformats.org/drawingml/2006/main">
            <a:r>
              <a:t>The package contains 512 times 768 coefficients. At two bytes per coefficient, that is 786432 bytes, about 0.79 decimal megabytes, plus minor packaging overhead. Its computation is a matrix multiplication and normalization. The small vision encoder still has a real inference cost; the map does not make that free. The reported prototype supports local indexing while sending embeddings rather than raw photos to the shared system. I do not treat embeddings as a privacy guarantee. The demo reports 39 milliseconds for its path and a simulated network comparison, not a controlled phone battery benchmark. MLP controls found no meaningful gain; that supports this design choice without proving every possible nonlinear model would fail.</a:t>
            </a:r>
          </a:p>
          <a:p xmlns:a="http://schemas.openxmlformats.org/drawingml/2006/main">
            <a:r>
              <a:t/>
            </a:r>
          </a:p>
          <a:p xmlns:a="http://schemas.openxmlformats.org/drawingml/2006/main">
            <a:r>
              <a:t>Sources: Report §§4.4–4.6; Results Summary, F1–F5; Apple MobileCLIP repository</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8:00 – 8:45 (45 seconds)</a:t>
            </a:r>
          </a:p>
          <a:p xmlns:a="http://schemas.openxmlformats.org/drawingml/2006/main">
            <a:r>
              <a:t/>
            </a:r>
          </a:p>
          <a:p xmlns:a="http://schemas.openxmlformats.org/drawingml/2006/main">
            <a:r>
              <a:t>The next scientific step separates the modalities more strongly. DINOv2 learned visual representations without caption supervision in its loss. bge is a text retrieval encoder. I pair their outputs by COCO image identity and fit a linear map. This adds supervised correspondence at the mapping stage even though neither pretrained model changes. For the original DINOv2-base condition using its 768-dimensional CLS feature, absolute Recall at one is 0.358 among one thousand candidates. The matched SigLIP reference is 0.875, giving 40.9 percent of that reference. The result supports a usable but incomplete relationship across modalities. It is distinct from Experiment A and from the later shared-hub transfer scores.</a:t>
            </a:r>
          </a:p>
          <a:p xmlns:a="http://schemas.openxmlformats.org/drawingml/2006/main">
            <a:r>
              <a:t/>
            </a:r>
          </a:p>
          <a:p xmlns:a="http://schemas.openxmlformats.org/drawingml/2006/main">
            <a:r>
              <a:t>Sources: Report C.9 and E-series; E1 single-caption versus five-caption treatment</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8:45 – 10:00 (75 seconds)</a:t>
            </a:r>
          </a:p>
          <a:p xmlns:a="http://schemas.openxmlformats.org/drawingml/2006/main">
            <a:r>
              <a:t/>
            </a:r>
          </a:p>
          <a:p xmlns:a="http://schemas.openxmlformats.org/drawingml/2006/main">
            <a:r>
              <a:t>The second engineering system creates a common 512-dimensional coordinate system. First collect embeddings for the same fitting items. The later protocol audit specifies one scalar rescaling per space, followed by concatenation, PCA truncation, and whitening of retained directions. This corrects earlier shorthand that implied independent z-scoring of every column. The published four-space hub concatenates three DINO encoders and bge for 5376 dimensions. The intermediate five-space version adds GPT-2; seven spaces also add BERT and SBERT. A member helps define the hub basis. An encoder added later can simply receive an entry map. These are different operations.</a:t>
            </a:r>
          </a:p>
          <a:p xmlns:a="http://schemas.openxmlformats.org/drawingml/2006/main">
            <a:r>
              <a:t/>
            </a:r>
          </a:p>
          <a:p xmlns:a="http://schemas.openxmlformats.org/drawingml/2006/main">
            <a:r>
              <a:t>Sources: Report C.13 and E.14; published 4-space, intermediate 5-space, extended 7-space</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10:00 – 11:15 (75 seconds)</a:t>
            </a:r>
          </a:p>
          <a:p xmlns:a="http://schemas.openxmlformats.org/drawingml/2006/main">
            <a:r>
              <a:t/>
            </a:r>
          </a:p>
          <a:p xmlns:a="http://schemas.openxmlformats.org/drawingml/2006/main">
            <a:r>
              <a:t>There are three distinct fitted components. Hub construction defines H. Each entry map learns X_k W_k approximately H. Then the caption head learns from H_small, which is DINO-small’s predicted hub coordinates, to actual bge caption embeddings. H and H_small have the same coordinate frame but need not have identical values. During a query, run only the selected encoder, its entry map and the output head. A cat image produces a predicted bge vector and cosine ranking retrieves a caption. The caption head was trained on DINO-small’s route; its usefulness through another route is an empirical transfer result. The hub is not divided into encoder-specific compartments.</a:t>
            </a:r>
          </a:p>
          <a:p xmlns:a="http://schemas.openxmlformats.org/drawingml/2006/main">
            <a:r>
              <a:t/>
            </a:r>
          </a:p>
          <a:p xmlns:a="http://schemas.openxmlformats.org/drawingml/2006/main">
            <a:r>
              <a:t>Sources: Report C.13; Frozen_Hub_Caption_Transfer_Corrected.pdf</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11:15 – 12:15 (60 seconds)</a:t>
            </a:r>
          </a:p>
          <a:p xmlns:a="http://schemas.openxmlformats.org/drawingml/2006/main">
            <a:r>
              <a:t/>
            </a:r>
          </a:p>
          <a:p xmlns:a="http://schemas.openxmlformats.org/drawingml/2006/main">
            <a:r>
              <a:t>A held-out encoder did not define the hub or train the caption head. For ConvNeXt, fit one entry map from its training-item embeddings to the existing H, then reuse the frozen head. The reported published retention is 96.7 percent of a head fitted for ConvNeXt itself. This is not 96.7 percent retrieval accuracy. SigLIP retains 94.2 percent and supplies a separate lineage test. ConvNeXt changes architecture and supervision regime, although the broader objective and corpus factors remain confounded. Zero-shot refers to the head transfer, not to zero data for fitting the new entry map. The rebuilt protocol gives different levels and stays separate.</a:t>
            </a:r>
          </a:p>
          <a:p xmlns:a="http://schemas.openxmlformats.org/drawingml/2006/main">
            <a:r>
              <a:t/>
            </a:r>
          </a:p>
          <a:p xmlns:a="http://schemas.openxmlformats.org/drawingml/2006/main">
            <a:r>
              <a:t>Sources: Hub Scores Summary, published column; Report E.2 and G0-exact</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12:15 – 13:00 (45 seconds)</a:t>
            </a:r>
          </a:p>
          <a:p xmlns:a="http://schemas.openxmlformats.org/drawingml/2006/main">
            <a:r>
              <a:t/>
            </a:r>
          </a:p>
          <a:p xmlns:a="http://schemas.openxmlformats.org/drawingml/2006/main">
            <a:r>
              <a:t>A single similarity number cannot answer every scientific question. Cosine compares two vector directions within a compatible space. Spearman compares the ordering of distances computed separately inside two spaces. Neighborhood overlap asks whether the same nearby items appear in both lists. CKA compares centered similarity structures across a set of items. Ridge and Procrustes instead test what kind of fitted mapping succeeds. For a cat on a chair, agreement may mean another cat is nearby in both spaces even if its numeric coordinates differ. This motivates separating no-map geometry evidence from trained-map retrieval evidence and separating local agreement from global metric identity.</a:t>
            </a:r>
          </a:p>
          <a:p xmlns:a="http://schemas.openxmlformats.org/drawingml/2006/main">
            <a:r>
              <a:t/>
            </a:r>
          </a:p>
          <a:p xmlns:a="http://schemas.openxmlformats.org/drawingml/2006/main">
            <a:r>
              <a:t>Sources: Similarity_Methods_Master_Table.pdf; Report C.13</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13:00 – 14:15 (75 seconds)</a:t>
            </a:r>
          </a:p>
          <a:p xmlns:a="http://schemas.openxmlformats.org/drawingml/2006/main">
            <a:r>
              <a:t/>
            </a:r>
          </a:p>
          <a:p xmlns:a="http://schemas.openxmlformats.org/drawingml/2006/main">
            <a:r>
              <a:t>This is the principal geometry result. CKNNA restricts a centered alignment calculation to mutual nearest-neighbor relationships. Across the seven-encoder comparisons, all twenty-one unordered pairs score higher locally than at the global limit. The supplied figure also compares this literature metric with the project’s neighborhood measure, giving a Spearman pair-ranking correlation of 0.81. That correlation measures agreement between the two diagnostics, not direct encoder alignment. I avoid using the descending overlap-to-chance curve as the proof, because its maximum already shrinks with neighborhood size. The evidence supports shared local relations on these samples. It does not establish one universal globally identical manifold.</a:t>
            </a:r>
          </a:p>
          <a:p xmlns:a="http://schemas.openxmlformats.org/drawingml/2006/main">
            <a:r>
              <a:t/>
            </a:r>
          </a:p>
          <a:p xmlns:a="http://schemas.openxmlformats.org/drawingml/2006/main">
            <a:r>
              <a:t>Sources: Report C.13.8–C.13.10; supplied CKNNA.png</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14:15 – 15:00 (45 seconds)</a:t>
            </a:r>
          </a:p>
          <a:p xmlns:a="http://schemas.openxmlformats.org/drawingml/2006/main">
            <a:r>
              <a:t/>
            </a:r>
          </a:p>
          <a:p xmlns:a="http://schemas.openxmlformats.org/drawingml/2006/main">
            <a:r>
              <a:t>Readable means a fitted map can extract useful information from a source space. Writable means prediction into the target space supports the intended ranking. GPT-2 reaches 95.1 percent in the source diagnostic but only 24.8 percent as a target. These are normalized diagnostic scores, not accuracy. Its average pair cosine is near 0.999, so very small differences determine rankings. bge and SBERT work much better as targets under the reported protocol. The full-rank GPT-2 whitening experiment improves retrieval, but hub PCA whitening is a different operation. The comparison is an explanation of the directional failure, not a claim that GPT-2 can never support retrieval.</a:t>
            </a:r>
          </a:p>
          <a:p xmlns:a="http://schemas.openxmlformats.org/drawingml/2006/main">
            <a:r>
              <a:t/>
            </a:r>
          </a:p>
          <a:p xmlns:a="http://schemas.openxmlformats.org/drawingml/2006/main">
            <a:r>
              <a:t>Sources: Report C.13.3–C.13.4, C.11; supplied read/write diagnostics</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15:00 – 16:00 (60 seconds)</a:t>
            </a:r>
          </a:p>
          <a:p xmlns:a="http://schemas.openxmlformats.org/drawingml/2006/main">
            <a:r>
              <a:t/>
            </a:r>
          </a:p>
          <a:p xmlns:a="http://schemas.openxmlformats.org/drawingml/2006/main">
            <a:r>
              <a:t>The early small/base/large fitted-retrieval ladder improved. The later no-map geometry test asks a different question and extends to DINO giant and Qwen four billion. The best cross-modal Spearman values rise and then fall in both plotted ladders. DINO large has 0.418 and giant 0.339. Qwen 0.6B has 0.352 and Qwen 4B 0.307. These are best-pair statistics, so the counterpart can change. The findings reject the tested monotonic predictions at this scale, not the entire PRH. Giant’s fitted transfer score is inconclusive because the entry fit has only 2.8 rows per dimension. More paired data comes before interpreting that ratio.</a:t>
            </a:r>
          </a:p>
          <a:p xmlns:a="http://schemas.openxmlformats.org/drawingml/2006/main">
            <a:r>
              <a:t/>
            </a:r>
          </a:p>
          <a:p xmlns:a="http://schemas.openxmlformats.org/drawingml/2006/main">
            <a:r>
              <a:t>Sources: Report E.16, Table C12s; supplied scale_ladder_rho.png</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16:00 – 17:15 (75 seconds)</a:t>
            </a:r>
          </a:p>
          <a:p xmlns:a="http://schemas.openxmlformats.org/drawingml/2006/main">
            <a:r>
              <a:t/>
            </a:r>
          </a:p>
          <a:p xmlns:a="http://schemas.openxmlformats.org/drawingml/2006/main">
            <a:r>
              <a:t>Each control tests a specific alternative explanation. First, removing the adapter lowers verification AUC from 0.999 to 0.477. In the same G4 lineage run, fitted-map retrieval R@1 is 0.557 versus 0.003 for a random entry map, near the 0.001 chance rate. The seven-space score of 0.451 belongs to another run, so it is not paired with G4’s 0.003 here. Second, use matched averages: full-matrix CKA 0.359 versus 0.067, and mean stitching R squared 0.737 versus 0.173. At layer eleven alone, the comparison is 0.797 versus 0.090. Third, shuffling E1 correspondence changes R squared from 0.511 to minus 0.130, a gap of 0.641. Fourth, the native reference uses the same task and rows. Finally, ConvNeXt and SigLIP test head transfer beyond the construction family. ConvNeXt’s 96.7 percent sits slightly above the 93.8–96.5 percent ViT band in that run, but this is not a statistical claim that convolution is superior.</a:t>
            </a:r>
          </a:p>
          <a:p xmlns:a="http://schemas.openxmlformats.org/drawingml/2006/main">
            <a:r>
              <a:t/>
            </a:r>
          </a:p>
          <a:p xmlns:a="http://schemas.openxmlformats.org/drawingml/2006/main">
            <a:r>
              <a:t>Sources: Report §3, C.9, C.13.2, D.2, E.2; Results Summary(3)</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17:15 – 17:45 (30 seconds)</a:t>
            </a:r>
          </a:p>
          <a:p xmlns:a="http://schemas.openxmlformats.org/drawingml/2006/main">
            <a:r>
              <a:t/>
            </a:r>
          </a:p>
          <a:p xmlns:a="http://schemas.openxmlformats.org/drawingml/2006/main">
            <a:r>
              <a:t>Several negative results matter as much as the headline wins. Too few fitting rows initially understated language-model stitching. A nonlinear adapter did not improve the measured task meaningfully. The top-one retrieval gate remained missed. The hub-width cliff initially looked like a scientific limit; follow-up experiments traced it to an unstable near-null direction in the caption-head fit, and truncation or stronger head regularization repaired it. Finally, ratio metrics and shrinking chance-normalized bounds can mislead. I retain the direct measurements and narrow the claims: finite nonlinear controls cannot prove exact linearity, and a smaller normalization denominator does not establish conservative performance.</a:t>
            </a:r>
          </a:p>
          <a:p xmlns:a="http://schemas.openxmlformats.org/drawingml/2006/main">
            <a:r>
              <a:t/>
            </a:r>
          </a:p>
          <a:p xmlns:a="http://schemas.openxmlformats.org/drawingml/2006/main">
            <a:r>
              <a:t>Sources: Report §§3–4, C.13.9, E.8, E.13–E.17</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17:45 – 19:00 (75 seconds)</a:t>
            </a:r>
          </a:p>
          <a:p xmlns:a="http://schemas.openxmlformats.org/drawingml/2006/main">
            <a:r>
              <a:t/>
            </a:r>
          </a:p>
          <a:p xmlns:a="http://schemas.openxmlformats.org/drawingml/2006/main">
            <a:r>
              <a:t>The first priority is enough data for the larger encoders, with fixed image identities, valid splits, matched pooling, correct checkpoint metadata and stable regularization. The proposed 35133-item corpus, if four thousand are held out, leaves 31133 fitting items: roughly ten rows per dimension for DINO giant. It is a proposal, not completed evidence. Second, measure larger-model transfer and raw geometry independently and test more than one large family. Third, directly compare a selected set of small experts with a large encoder at matched latency, memory, energy and task quality. Device measurements and broader domains are necessary before claiming general deployment superiority.</a:t>
            </a:r>
          </a:p>
          <a:p xmlns:a="http://schemas.openxmlformats.org/drawingml/2006/main">
            <a:r>
              <a:t/>
            </a:r>
          </a:p>
          <a:p xmlns:a="http://schemas.openxmlformats.org/drawingml/2006/main">
            <a:r>
              <a:t>Sources: Report E.13–E.16; Project Atlas next tests; proposed validation plan</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19:00 – 20:00 (60 seconds)</a:t>
            </a:r>
          </a:p>
          <a:p xmlns:a="http://schemas.openxmlformats.org/drawingml/2006/main">
            <a:r>
              <a:t/>
            </a:r>
          </a:p>
          <a:p xmlns:a="http://schemas.openxmlformats.org/drawingml/2006/main">
            <a:r>
              <a:t>The science shows recoverable representational structure in specific independently developed models and strong evidence that agreement is local in the tested encoder set. It also finds limits: global equivalence is not established, bigger models do not uniformly improve raw alignment, and diagnostics depend on geometry and statistical power. The first engineering achievement is a compact mobile-to-server adapter with measured retrieval and Core ML export. The second is a common hub with reusable heads and one-map extensions to held-out encoders. The next claim to earn is efficiency against one large model under matched hardware and task conditions. The appendix contains the experiment inventory, models, formulas and sources.</a:t>
            </a:r>
          </a:p>
          <a:p xmlns:a="http://schemas.openxmlformats.org/drawingml/2006/main">
            <a:r>
              <a:t/>
            </a:r>
          </a:p>
          <a:p xmlns:a="http://schemas.openxmlformats.org/drawingml/2006/main">
            <a:r>
              <a:t>Sources: Report §§3–5, C.13, E.2, E.16; sources and full inventory follow</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Parameter counts are approximate and checkpoint-dependent. Stored feature dimensions describe this project. SBERT here is all-mpnet-base-v2, not a generic NLI-only BERT model. Its official card describes contrastive fine-tuning on over one billion pairs with mixed sources. Qwen maximum widths are 1024 and 2560, with configurable truncation. BERT used BooksCorpus and English Wikipedia, and SBERT all-mpnet uses mixed sentence-pair corpora after MPNet pretraining. The project uses dense bge vectors; bge itself has several retrieval objectives. These networks arrive pretrained and remain frozen in the main experiments.</a:t>
            </a:r>
          </a:p>
          <a:p xmlns:a="http://schemas.openxmlformats.org/drawingml/2006/main">
            <a:r>
              <a:t/>
            </a:r>
          </a:p>
          <a:p xmlns:a="http://schemas.openxmlformats.org/drawingml/2006/main">
            <a:r>
              <a:t>Sources: Report E.10; Status Report; official model cards linked in resources</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Use approximate model sizes as context, not to infer inference speed. MobileCLIP size is image tower only; combined image-text models have additional parameters. The DINO feature widths double native token width by concatenating CLS and mean patch tokens. DINO small/base/large share family ancestry and distillation history, so the cross-lineage SigLIP and cross-architecture ConvNeXt tests are important. DINOv2 pretraining uses LVD-142M images. SigLIP 2 uses WebLI image-text data, and MobileCLIP uses reinforced image-text training data. SigLIP 2 uses a richer recipe than a single contrastive label; refer to its model card.</a:t>
            </a:r>
          </a:p>
          <a:p xmlns:a="http://schemas.openxmlformats.org/drawingml/2006/main">
            <a:r>
              <a:t/>
            </a:r>
          </a:p>
          <a:p xmlns:a="http://schemas.openxmlformats.org/drawingml/2006/main">
            <a:r>
              <a:t>Sources: Report E.10; official DINOv2, MobileCLIP, SigLIP 2 model sources</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Self-supervision manufactures targets from the data, such as masked tokens or another crop. Pair supervision uses a known association such as image and caption. Supervised fitting includes ridge when corresponding targets are provided. Unsupervised here means the fitting procedure receives no item pairing, for example the Gromov-Wasserstein recovery condition. PCA estimates variance directions without labels. Whitening rescales retained directions. These terms describe a particular training stage and should not be used as an all-or-nothing label for a whole pipeline.</a:t>
            </a:r>
          </a:p>
          <a:p xmlns:a="http://schemas.openxmlformats.org/drawingml/2006/main">
            <a:r>
              <a:t/>
            </a:r>
          </a:p>
          <a:p xmlns:a="http://schemas.openxmlformats.org/drawingml/2006/main">
            <a:r>
              <a:t>Sources: Report E.10–E.14; official model cards</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No metric is interchangeable with another. R squared can be negative and includes magnitude errors. Cosine depends on compatible coordinate spaces and can saturate in anisotropic data. Spearman ignores distance magnitudes and retains only ordering. CKA is not invariant to arbitrary invertible transformations, and dimensionality can affect its null. CKNNA targets mutual local neighborhoods. The exact definition and null depend on the implementation.</a:t>
            </a:r>
          </a:p>
          <a:p xmlns:a="http://schemas.openxmlformats.org/drawingml/2006/main">
            <a:r>
              <a:t/>
            </a:r>
          </a:p>
          <a:p xmlns:a="http://schemas.openxmlformats.org/drawingml/2006/main">
            <a:r>
              <a:t>Sources: Report §§3–4, C.13; Similarity Methods Master Table</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Chance depends on the number of candidates. Verification, per-query ranking and global membership thresholding are different tasks, so their scores must not be merged. Native retention is a ratio of empirical performances rather than an accuracy or a strict ceiling. The five-rows-per-dimension floor is a project heuristic, not a universal theorem. A small bootstrap interval on dependent pair data needs a clustering scheme appropriate to the experimental units.</a:t>
            </a:r>
          </a:p>
          <a:p xmlns:a="http://schemas.openxmlformats.org/drawingml/2006/main">
            <a:r>
              <a:t/>
            </a:r>
          </a:p>
          <a:p xmlns:a="http://schemas.openxmlformats.org/drawingml/2006/main">
            <a:r>
              <a:t>Sources: Report D.2, E.5, E.13–E.16</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This is the reported inventory, not a claim of independently rerunning the notebooks. Stage labels drift between versions: B6 names a live demo in the report, while the status document groups B6–B10 as quantization tiers. The table retains both descriptions and does not invent unsupported stage-to-stage mappings.</a:t>
            </a:r>
          </a:p>
          <a:p xmlns:a="http://schemas.openxmlformats.org/drawingml/2006/main">
            <a:r>
              <a:t/>
            </a:r>
          </a:p>
          <a:p xmlns:a="http://schemas.openxmlformats.org/drawingml/2006/main">
            <a:r>
              <a:t>Sources: Report §§3–4 and D; Status Report, B6–B10</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E1 started with eight thousand pairs before the matched-size caches grew. F-series run-specific cosine levels differ between documents, so the main talk emphasizes no measured nonlinear gain and keeps each run’s reference intact. F5 reports improvement over the shipped map but not a clean universal pass of the top-one gate. F3/F4 remain gated and unrun, preserving frozen-backbone claims.</a:t>
            </a:r>
          </a:p>
          <a:p xmlns:a="http://schemas.openxmlformats.org/drawingml/2006/main">
            <a:r>
              <a:t/>
            </a:r>
          </a:p>
          <a:p xmlns:a="http://schemas.openxmlformats.org/drawingml/2006/main">
            <a:r>
              <a:t>Sources: Report C.9–C.12; Results Summary; Status Report</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G1 asks about composition through a hub compared with direct maps. G3 uses bespoke pair-specific hubs as the reference, so its retention is a different metric. G4 includes cross-lineage and cross-architecture extensions. G7 and K3 concern the effect of projection on local agreement, not whether every item neighborhood survives unchanged.</a:t>
            </a:r>
          </a:p>
          <a:p xmlns:a="http://schemas.openxmlformats.org/drawingml/2006/main">
            <a:r>
              <a:t/>
            </a:r>
          </a:p>
          <a:p xmlns:a="http://schemas.openxmlformats.org/drawingml/2006/main">
            <a:r>
              <a:t>Sources: Report C.13 and E.1–E.6; Results Summary</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The diagnostic sequence is part of the contribution. Several plausible explanations failed. The eventual mechanism localized instability to the caption head’s nearly null singular direction. Results after repair must be compared under the same protocol. K3’s small number of underlying encoders limits the generality of its bootstrap bound.</a:t>
            </a:r>
          </a:p>
          <a:p xmlns:a="http://schemas.openxmlformats.org/drawingml/2006/main">
            <a:r>
              <a:t/>
            </a:r>
          </a:p>
          <a:p xmlns:a="http://schemas.openxmlformats.org/drawingml/2006/main">
            <a:r>
              <a:t>Sources: Report E.3–E.8; Results Summary addenda</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Larger encoders have already been examined, but some adapter tests are underpowered. Treating all of this as future work would conceal the negative raw-geometry result; treating a degenerate 100% ratio as success would overstate the evidence. Qwen and bge differ in family and training recipe, so their comparison is not a pure controlled parameter-count experiment. A higher-dimensional concat can be rank deficient and still permit truncated PCA; the concern is estimation quality and sufficient data, not mathematical impossibility of any hub.</a:t>
            </a:r>
          </a:p>
          <a:p xmlns:a="http://schemas.openxmlformats.org/drawingml/2006/main">
            <a:r>
              <a:t/>
            </a:r>
          </a:p>
          <a:p xmlns:a="http://schemas.openxmlformats.org/drawingml/2006/main">
            <a:r>
              <a:t>Sources: Report E.16; Project Atlas next tests</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W is a matrix of learned coefficients, separate from the encoder’s pretrained weights. With row vectors, x has d input coordinates and xW has p output coordinates. Ridge learns W from paired input and target rows, with alpha controlling regularization. An intercept or centering step must match the implementation. Procrustes restricts the map to an orthogonal alignment; general ridge can also rescale directions. The singular value decomposition describes a linear map through orthogonal transforms and directional scaling. PCA and SVD are decompositions, not neural encoders. The two numerical fit scores below come from Experiment B, and the gap supports the need for a fuller linear alignment in that setting.</a:t>
            </a:r>
          </a:p>
          <a:p xmlns:a="http://schemas.openxmlformats.org/drawingml/2006/main">
            <a:r>
              <a:t/>
            </a:r>
          </a:p>
          <a:p xmlns:a="http://schemas.openxmlformats.org/drawingml/2006/main">
            <a:r>
              <a:t>Sources: Report §§3–4, C.13; Linear Maps Ridge and SVD Study Guide</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Matrices use row-vector convention. H is a reference learned from the paired training set. X_k is the feature matrix supplied to the entry pipeline; preprocessing and intercept details must match the notebook. Scalar balancing is separate from whitening the retained joint PCA directions. Ridge is supervised fitting, even though the solve is closed form.</a:t>
            </a:r>
          </a:p>
          <a:p xmlns:a="http://schemas.openxmlformats.org/drawingml/2006/main">
            <a:r>
              <a:t/>
            </a:r>
          </a:p>
          <a:p xmlns:a="http://schemas.openxmlformats.org/drawingml/2006/main">
            <a:r>
              <a:t>Sources: Report C.13, E.14; Frozen Hub Caption Transfer Corrected</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These are material distinctions, not cosmetic edits. Some uploaded illustrations describe older five-space constructions while the reproduced published transfer protocol uses four. Several source summaries overstate exact linearity and conservation of ratios. This deck keeps the measurements and corrects those interpretations. It also corrects generic NLI-only SBERT wording to the actual all-mpnet checkpoint. Underpowered fits are not guaranteed to make normalized scores conservative because numerator and denominator can both move.</a:t>
            </a:r>
          </a:p>
          <a:p xmlns:a="http://schemas.openxmlformats.org/drawingml/2006/main">
            <a:r>
              <a:t/>
            </a:r>
          </a:p>
          <a:p xmlns:a="http://schemas.openxmlformats.org/drawingml/2006/main">
            <a:r>
              <a:t>Sources: Report E.14–E.17; Results Summary; Status Report; official SBERT card</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These links supply the theoretical and model background. The project reports remain the source for the experimental numbers. The original notebooks and trained artifacts were not rerun or audited during creation of this deck. Full URLs are retained in these notes for convenient access.</a:t>
            </a:r>
          </a:p>
          <a:p xmlns:a="http://schemas.openxmlformats.org/drawingml/2006/main">
            <a:r>
              <a:t>Qwen 0.6B: https://huggingface.co/Qwen/Qwen3-Embedding-0.6B</a:t>
            </a:r>
          </a:p>
          <a:p xmlns:a="http://schemas.openxmlformats.org/drawingml/2006/main">
            <a:r>
              <a:t>Qwen 4B: https://huggingface.co/Qwen/Qwen3-Embedding-4B</a:t>
            </a:r>
          </a:p>
          <a:p xmlns:a="http://schemas.openxmlformats.org/drawingml/2006/main">
            <a:r>
              <a:t>PRH: https://proceedings.mlr.press/v235/huh24a.html</a:t>
            </a:r>
          </a:p>
          <a:p xmlns:a="http://schemas.openxmlformats.org/drawingml/2006/main">
            <a:r>
              <a:t>CKA: https://proceedings.mlr.press/v97/kornblith19a.html</a:t>
            </a:r>
          </a:p>
          <a:p xmlns:a="http://schemas.openxmlformats.org/drawingml/2006/main">
            <a:r>
              <a:t>COCO: https://cocodataset.org/</a:t>
            </a:r>
          </a:p>
          <a:p xmlns:a="http://schemas.openxmlformats.org/drawingml/2006/main">
            <a:r>
              <a:t>WikiText: https://huggingface.co/datasets/Salesforce/wikitext</a:t>
            </a:r>
          </a:p>
          <a:p xmlns:a="http://schemas.openxmlformats.org/drawingml/2006/main">
            <a:r>
              <a:t>MobileCLIP: https://github.com/apple-aiml-research/ml-mobileclip</a:t>
            </a:r>
          </a:p>
          <a:p xmlns:a="http://schemas.openxmlformats.org/drawingml/2006/main">
            <a:r>
              <a:t>DINOv2: https://github.com/facebookresearch/dinov2</a:t>
            </a:r>
          </a:p>
          <a:p xmlns:a="http://schemas.openxmlformats.org/drawingml/2006/main">
            <a:r>
              <a:t>Pythia: https://huggingface.co/EleutherAI/pythia-160m</a:t>
            </a:r>
          </a:p>
          <a:p xmlns:a="http://schemas.openxmlformats.org/drawingml/2006/main">
            <a:r>
              <a:t>SigLIP 2: https://huggingface.co/google/siglip2-base-patch16-224</a:t>
            </a:r>
          </a:p>
          <a:p xmlns:a="http://schemas.openxmlformats.org/drawingml/2006/main">
            <a:r>
              <a:t>bge: https://huggingface.co/BAAI/bge-m3</a:t>
            </a:r>
          </a:p>
          <a:p xmlns:a="http://schemas.openxmlformats.org/drawingml/2006/main">
            <a:r>
              <a:t>SBERT: https://huggingface.co/sentence-transformers/all-mpnet-base-v2</a:t>
            </a:r>
          </a:p>
          <a:p xmlns:a="http://schemas.openxmlformats.org/drawingml/2006/main">
            <a:r>
              <a:t/>
            </a:r>
          </a:p>
          <a:p xmlns:a="http://schemas.openxmlformats.org/drawingml/2006/main">
            <a:r>
              <a:t>Sources: Primary papers, official repositories and supplied project artifacts</a:t>
            </a:r>
          </a:p>
          <a:p xmlns:a="http://schemas.openxmlformats.org/drawingml/2006/main">
            <a:r>
              <a:t>Local source files refer to the uploaded project documents. Reported results have not been independently rerun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9da96f67fe46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9926c43b164747" /><Relationship Type="http://schemas.openxmlformats.org/officeDocument/2006/relationships/slideLayout" Target="/ppt/slideLayouts/slideLayout1.xml" Id="R8ffe086df37c4b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fe086df37c4b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cae255a8e0b43af" /><Relationship Type="http://schemas.openxmlformats.org/officeDocument/2006/relationships/notesSlide" Target="/ppt/notesSlides/notesSlide1.xml" Id="Rb778dd9fdcf546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1ace7d039c4795" /><Relationship Type="http://schemas.openxmlformats.org/officeDocument/2006/relationships/notesSlide" Target="/ppt/notesSlides/notesSlide2.xml" Id="R656b46173f9f44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1b0d0266974159" /><Relationship Type="http://schemas.openxmlformats.org/officeDocument/2006/relationships/image" Target="/ppt/media/image.png" Id="Rce34d4ac86fe4abe" /><Relationship Type="http://schemas.openxmlformats.org/officeDocument/2006/relationships/notesSlide" Target="/ppt/notesSlides/notesSlide3.xml" Id="R18dc48bf8ec247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aedf05e1674042" /><Relationship Type="http://schemas.openxmlformats.org/officeDocument/2006/relationships/notesSlide" Target="/ppt/notesSlides/notesSlide4.xml" Id="R0ee7bfb1a6184a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a99beaaa334fb1" /><Relationship Type="http://schemas.openxmlformats.org/officeDocument/2006/relationships/notesSlide" Target="/ppt/notesSlides/notesSlide5.xml" Id="Re165307abead49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e837cf1a24c4c33" /><Relationship Type="http://schemas.openxmlformats.org/officeDocument/2006/relationships/chart" Target="/ppt/slides/charts/chart1.xml" Id="Rbe3ffa7dcb434859" /><Relationship Type="http://schemas.openxmlformats.org/officeDocument/2006/relationships/notesSlide" Target="/ppt/notesSlides/notesSlide6.xml" Id="Rb0b47cdc4b854c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10de09514c44506" /><Relationship Type="http://schemas.openxmlformats.org/officeDocument/2006/relationships/notesSlide" Target="/ppt/notesSlides/notesSlide7.xml" Id="R7ab5edccee5843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b6411f016ef4a61" /><Relationship Type="http://schemas.openxmlformats.org/officeDocument/2006/relationships/chart" Target="/ppt/slides/charts/chart2.xml" Id="Rf253327c28104f64" /><Relationship Type="http://schemas.openxmlformats.org/officeDocument/2006/relationships/notesSlide" Target="/ppt/notesSlides/notesSlide8.xml" Id="R60fd4e86519643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c2be9ce95e54b67" /><Relationship Type="http://schemas.openxmlformats.org/officeDocument/2006/relationships/notesSlide" Target="/ppt/notesSlides/notesSlide9.xml" Id="R4e00455425664a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23178935f5d4f15" /><Relationship Type="http://schemas.openxmlformats.org/officeDocument/2006/relationships/notesSlide" Target="/ppt/notesSlides/notesSlide10.xml" Id="R275a51a545944e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28fbc2983494d7a" /><Relationship Type="http://schemas.openxmlformats.org/officeDocument/2006/relationships/notesSlide" Target="/ppt/notesSlides/notesSlide11.xml" Id="R6203ede0173749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8739f715f9a4763" /><Relationship Type="http://schemas.openxmlformats.org/officeDocument/2006/relationships/notesSlide" Target="/ppt/notesSlides/notesSlide12.xml" Id="R63331c80335347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11a3ce768404b65" /><Relationship Type="http://schemas.openxmlformats.org/officeDocument/2006/relationships/chart" Target="/ppt/slides/charts/chart3.xml" Id="R1628c1b5d47c4058" /><Relationship Type="http://schemas.openxmlformats.org/officeDocument/2006/relationships/notesSlide" Target="/ppt/notesSlides/notesSlide13.xml" Id="R733dde20be9545e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2bd5f5c8cf940ca" /><Relationship Type="http://schemas.openxmlformats.org/officeDocument/2006/relationships/notesSlide" Target="/ppt/notesSlides/notesSlide14.xml" Id="R3bf04d42d1a7409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127168628bb46d9" /><Relationship Type="http://schemas.openxmlformats.org/officeDocument/2006/relationships/image" Target="/ppt/media/image2.png" Id="R5d1cf31300324131" /><Relationship Type="http://schemas.openxmlformats.org/officeDocument/2006/relationships/notesSlide" Target="/ppt/notesSlides/notesSlide15.xml" Id="R02dd8aae3e5d46b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921b704fc4c4115" /><Relationship Type="http://schemas.openxmlformats.org/officeDocument/2006/relationships/notesSlide" Target="/ppt/notesSlides/notesSlide16.xml" Id="Rbdfc3d3271ad404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d2e96490b904856" /><Relationship Type="http://schemas.openxmlformats.org/officeDocument/2006/relationships/chart" Target="/ppt/slides/charts/chart4.xml" Id="R60a02ffe53254b2e" /><Relationship Type="http://schemas.openxmlformats.org/officeDocument/2006/relationships/chart" Target="/ppt/slides/charts/chart5.xml" Id="R8036554d7b90410b" /><Relationship Type="http://schemas.openxmlformats.org/officeDocument/2006/relationships/notesSlide" Target="/ppt/notesSlides/notesSlide17.xml" Id="R465503c92e714b0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d01355d2af7427b" /><Relationship Type="http://schemas.openxmlformats.org/officeDocument/2006/relationships/notesSlide" Target="/ppt/notesSlides/notesSlide18.xml" Id="R07e334252bbf4be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e778cf7ad1f40ec" /><Relationship Type="http://schemas.openxmlformats.org/officeDocument/2006/relationships/notesSlide" Target="/ppt/notesSlides/notesSlide19.xml" Id="Ra9dd10f20eb04ce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b1e2eeca61745a0" /><Relationship Type="http://schemas.openxmlformats.org/officeDocument/2006/relationships/notesSlide" Target="/ppt/notesSlides/notesSlide20.xml" Id="R135c0638618f43f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971889a56df4f02" /><Relationship Type="http://schemas.openxmlformats.org/officeDocument/2006/relationships/notesSlide" Target="/ppt/notesSlides/notesSlide21.xml" Id="Rfedd207a504e470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2e9c6d922e24000" /><Relationship Type="http://schemas.openxmlformats.org/officeDocument/2006/relationships/notesSlide" Target="/ppt/notesSlides/notesSlide22.xml" Id="R14d9a6426eb24c1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bbf1b24aef74297" /><Relationship Type="http://schemas.openxmlformats.org/officeDocument/2006/relationships/notesSlide" Target="/ppt/notesSlides/notesSlide23.xml" Id="Rd7f2938e03ce4ac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db9b50e406347e2" /><Relationship Type="http://schemas.openxmlformats.org/officeDocument/2006/relationships/notesSlide" Target="/ppt/notesSlides/notesSlide24.xml" Id="R581514642fe9440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7d540fac1324475" /><Relationship Type="http://schemas.openxmlformats.org/officeDocument/2006/relationships/notesSlide" Target="/ppt/notesSlides/notesSlide25.xml" Id="R79a31b2a09554e8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b8de8f86e59485a" /><Relationship Type="http://schemas.openxmlformats.org/officeDocument/2006/relationships/notesSlide" Target="/ppt/notesSlides/notesSlide26.xml" Id="Rc8d46863489d49b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1b154e43b5a4115" /><Relationship Type="http://schemas.openxmlformats.org/officeDocument/2006/relationships/notesSlide" Target="/ppt/notesSlides/notesSlide27.xml" Id="R2922d2548eac4a3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6c6f38ad3eb446e" /><Relationship Type="http://schemas.openxmlformats.org/officeDocument/2006/relationships/notesSlide" Target="/ppt/notesSlides/notesSlide28.xml" Id="R18a9277496fc4b6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adcaec40f4c4970" /><Relationship Type="http://schemas.openxmlformats.org/officeDocument/2006/relationships/notesSlide" Target="/ppt/notesSlides/notesSlide29.xml" Id="R1ab6eb59674742d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855e7dfb1554a02" /><Relationship Type="http://schemas.openxmlformats.org/officeDocument/2006/relationships/notesSlide" Target="/ppt/notesSlides/notesSlide30.xml" Id="R0e7b6bf9a6244c2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bf31929b5924a6f" /><Relationship Type="http://schemas.openxmlformats.org/officeDocument/2006/relationships/notesSlide" Target="/ppt/notesSlides/notesSlide31.xml" Id="Rf742aea1b4844a5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36260e541f74b3d" /><Relationship Type="http://schemas.openxmlformats.org/officeDocument/2006/relationships/notesSlide" Target="/ppt/notesSlides/notesSlide32.xml" Id="Rc9cb7888d5ba49a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f4377fb649c43b8" /><Relationship Type="http://schemas.openxmlformats.org/officeDocument/2006/relationships/notesSlide" Target="/ppt/notesSlides/notesSlide33.xml" Id="Rb2bbf28daad44a9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8b734daef3c45ca" /><Relationship Type="http://schemas.openxmlformats.org/officeDocument/2006/relationships/notesSlide" Target="/ppt/notesSlides/notesSlide34.xml" Id="Ra1e4d30ae3c84d5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278f104b85a4a38" /><Relationship Type="http://schemas.openxmlformats.org/officeDocument/2006/relationships/notesSlide" Target="/ppt/notesSlides/notesSlide35.xml" Id="Rc6a97501e11f4c4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Trained Pythia</c:v>
          </c:tx>
          <c:spPr>
            <a:ln xmlns:a="http://schemas.openxmlformats.org/drawingml/2006/main" w="28575">
              <a:solidFill>
                <a:srgbClr val="2965C0"/>
              </a:solidFill>
            </a:ln>
          </c:spPr>
          <c:marker>
            <c:symbol val="circle"/>
            <c:size val="7"/>
            <c:spPr>
              <a:solidFill xmlns:a="http://schemas.openxmlformats.org/drawingml/2006/main">
                <a:srgbClr val="2965C0"/>
              </a:solidFill>
            </c:spPr>
          </c:marker>
          <c:cat>
            <c:strRef>
              <c:f>'Chart Data'!$A$2:$A$8</c:f>
              <c:strCache>
                <c:ptCount val="7"/>
                <c:pt idx="0">
                  <c:v>L0</c:v>
                </c:pt>
                <c:pt idx="1">
                  <c:v>L1</c:v>
                </c:pt>
                <c:pt idx="2">
                  <c:v>L3</c:v>
                </c:pt>
                <c:pt idx="3">
                  <c:v>L5</c:v>
                </c:pt>
                <c:pt idx="4">
                  <c:v>L8</c:v>
                </c:pt>
                <c:pt idx="5">
                  <c:v>L10</c:v>
                </c:pt>
                <c:pt idx="6">
                  <c:v>L11</c:v>
                </c:pt>
              </c:strCache>
            </c:strRef>
          </c:cat>
          <c:val>
            <c:numRef>
              <c:f>'Chart Data'!$B$2:$B$8</c:f>
              <c:numCache>
                <c:formatCode>0.0</c:formatCode>
                <c:ptCount val="7"/>
                <c:pt idx="0">
                  <c:v>0.59</c:v>
                </c:pt>
                <c:pt idx="1">
                  <c:v>0.716</c:v>
                </c:pt>
                <c:pt idx="2">
                  <c:v>0.733</c:v>
                </c:pt>
                <c:pt idx="3">
                  <c:v>0.744</c:v>
                </c:pt>
                <c:pt idx="4">
                  <c:v>0.779</c:v>
                </c:pt>
                <c:pt idx="5">
                  <c:v>0.793</c:v>
                </c:pt>
                <c:pt idx="6">
                  <c:v>0.797</c:v>
                </c:pt>
              </c:numCache>
            </c:numRef>
          </c:val>
        </c:ser>
        <c:ser>
          <c:idx val="1"/>
          <c:order val="1"/>
          <c:tx>
            <c:v>Random Pythia</c:v>
          </c:tx>
          <c:spPr>
            <a:ln xmlns:a="http://schemas.openxmlformats.org/drawingml/2006/main" w="28575">
              <a:solidFill>
                <a:srgbClr val="9BA8B5"/>
              </a:solidFill>
            </a:ln>
          </c:spPr>
          <c:marker>
            <c:symbol val="square"/>
            <c:size val="7"/>
            <c:spPr>
              <a:solidFill xmlns:a="http://schemas.openxmlformats.org/drawingml/2006/main">
                <a:srgbClr val="9BA8B5"/>
              </a:solidFill>
            </c:spPr>
          </c:marker>
          <c:cat>
            <c:strRef>
              <c:f>'Chart Data'!$C$2:$C$8</c:f>
              <c:strCache>
                <c:ptCount val="7"/>
                <c:pt idx="0">
                  <c:v>L0</c:v>
                </c:pt>
                <c:pt idx="1">
                  <c:v>L1</c:v>
                </c:pt>
                <c:pt idx="2">
                  <c:v>L3</c:v>
                </c:pt>
                <c:pt idx="3">
                  <c:v>L5</c:v>
                </c:pt>
                <c:pt idx="4">
                  <c:v>L8</c:v>
                </c:pt>
                <c:pt idx="5">
                  <c:v>L10</c:v>
                </c:pt>
                <c:pt idx="6">
                  <c:v>L11</c:v>
                </c:pt>
              </c:strCache>
            </c:strRef>
          </c:cat>
          <c:val>
            <c:numRef>
              <c:f>'Chart Data'!$D$2:$D$8</c:f>
              <c:numCache>
                <c:formatCode>0.0</c:formatCode>
                <c:ptCount val="7"/>
                <c:pt idx="0">
                  <c:v>0.375</c:v>
                </c:pt>
                <c:pt idx="1">
                  <c:v>0.288</c:v>
                </c:pt>
                <c:pt idx="2">
                  <c:v>0.208</c:v>
                </c:pt>
                <c:pt idx="3">
                  <c:v>0.157</c:v>
                </c:pt>
                <c:pt idx="4">
                  <c:v>0.117</c:v>
                </c:pt>
                <c:pt idx="5">
                  <c:v>0.099</c:v>
                </c:pt>
                <c:pt idx="6">
                  <c:v>0.09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Matched layer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Held-out R²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Native SigLIP</c:v>
          </c:tx>
          <c:spPr>
            <a:solidFill xmlns:a="http://schemas.openxmlformats.org/drawingml/2006/main">
              <a:srgbClr val="9BB9D4"/>
            </a:solidFill>
          </c:spPr>
          <c:cat>
            <c:strRef>
              <c:f>'Chart Data'!$A$2:$A$4</c:f>
              <c:strCache>
                <c:ptCount val="3"/>
                <c:pt idx="0">
                  <c:v>R@1</c:v>
                </c:pt>
                <c:pt idx="1">
                  <c:v>R@5</c:v>
                </c:pt>
                <c:pt idx="2">
                  <c:v>R@10</c:v>
                </c:pt>
              </c:strCache>
            </c:strRef>
          </c:cat>
          <c:val>
            <c:numRef>
              <c:f>'Chart Data'!$B$2:$B$4</c:f>
              <c:numCache>
                <c:formatCode>0.000</c:formatCode>
                <c:ptCount val="3"/>
                <c:pt idx="0">
                  <c:v>0.63</c:v>
                </c:pt>
                <c:pt idx="1">
                  <c:v>0.885</c:v>
                </c:pt>
                <c:pt idx="2">
                  <c:v>0.944</c:v>
                </c:pt>
              </c:numCache>
            </c:numRef>
          </c:val>
        </c:ser>
        <c:ser>
          <c:idx val="1"/>
          <c:order val="1"/>
          <c:tx>
            <c:v>Adapted MobileCLIP</c:v>
          </c:tx>
          <c:spPr>
            <a:solidFill xmlns:a="http://schemas.openxmlformats.org/drawingml/2006/main">
              <a:srgbClr val="087F83"/>
            </a:solidFill>
          </c:spPr>
          <c:cat>
            <c:strRef>
              <c:f>'Chart Data'!$C$2:$C$4</c:f>
              <c:strCache>
                <c:ptCount val="3"/>
                <c:pt idx="0">
                  <c:v>R@1</c:v>
                </c:pt>
                <c:pt idx="1">
                  <c:v>R@5</c:v>
                </c:pt>
                <c:pt idx="2">
                  <c:v>R@10</c:v>
                </c:pt>
              </c:strCache>
            </c:strRef>
          </c:cat>
          <c:val>
            <c:numRef>
              <c:f>'Chart Data'!$D$2:$D$4</c:f>
              <c:numCache>
                <c:formatCode>0.000</c:formatCode>
                <c:ptCount val="3"/>
                <c:pt idx="0">
                  <c:v>0.557</c:v>
                </c:pt>
                <c:pt idx="1">
                  <c:v>0.843</c:v>
                </c:pt>
                <c:pt idx="2">
                  <c:v>0.918</c:v>
                </c:pt>
              </c:numCache>
            </c:numRef>
          </c:val>
        </c:ser>
        <c:ser>
          <c:idx val="2"/>
          <c:order val="2"/>
          <c:tx>
            <c:v>No adapter / chance</c:v>
          </c:tx>
          <c:spPr>
            <a:solidFill xmlns:a="http://schemas.openxmlformats.org/drawingml/2006/main">
              <a:srgbClr val="BEC7D0"/>
            </a:solidFill>
          </c:spPr>
          <c:cat>
            <c:strRef>
              <c:f>'Chart Data'!$E$2:$E$4</c:f>
              <c:strCache>
                <c:ptCount val="3"/>
                <c:pt idx="0">
                  <c:v>R@1</c:v>
                </c:pt>
                <c:pt idx="1">
                  <c:v>R@5</c:v>
                </c:pt>
                <c:pt idx="2">
                  <c:v>R@10</c:v>
                </c:pt>
              </c:strCache>
            </c:strRef>
          </c:cat>
          <c:val>
            <c:numRef>
              <c:f>'Chart Data'!$F$2:$F$4</c:f>
              <c:numCache>
                <c:formatCode>0.000</c:formatCode>
                <c:ptCount val="3"/>
                <c:pt idx="0">
                  <c:v>0.001</c:v>
                </c:pt>
                <c:pt idx="1">
                  <c:v>0.005</c:v>
                </c:pt>
                <c:pt idx="2">
                  <c:v>0.01</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crossAx val="48672768"/>
      </c:catAx>
      <c:valAx>
        <c:axId val="48672768"/>
        <c:scaling>
          <c:orientation val="minMax"/>
          <c:max val="1.05"/>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Recall: fraction of correct queries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Published retention</c:v>
          </c:tx>
          <c:spPr>
            <a:solidFill xmlns:a="http://schemas.openxmlformats.org/drawingml/2006/main">
              <a:srgbClr val="087F83"/>
            </a:solidFill>
          </c:spPr>
          <c:cat>
            <c:strRef>
              <c:f>'Chart Data'!$A$2:$A$5</c:f>
              <c:strCache>
                <c:ptCount val="4"/>
                <c:pt idx="0">
                  <c:v>DINO-base</c:v>
                </c:pt>
                <c:pt idx="1">
                  <c:v>DINO-large</c:v>
                </c:pt>
                <c:pt idx="2">
                  <c:v>SigLIP 2</c:v>
                </c:pt>
                <c:pt idx="3">
                  <c:v>ConvNeXt</c:v>
                </c:pt>
              </c:strCache>
            </c:strRef>
          </c:cat>
          <c:val>
            <c:numRef>
              <c:f>'Chart Data'!$B$2:$B$5</c:f>
              <c:numCache>
                <c:formatCode>0.0%</c:formatCode>
                <c:ptCount val="4"/>
                <c:pt idx="0">
                  <c:v>0.959</c:v>
                </c:pt>
                <c:pt idx="1">
                  <c:v>0.929</c:v>
                </c:pt>
                <c:pt idx="2">
                  <c:v>0.942</c:v>
                </c:pt>
                <c:pt idx="3">
                  <c:v>0.967</c:v>
                </c:pt>
              </c:numCache>
            </c:numRef>
          </c:val>
        </c:ser>
        <c:dLbls>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crossAx val="48672768"/>
      </c:catAx>
      <c:valAx>
        <c:axId val="48672768"/>
        <c:scaling>
          <c:orientation val="minMax"/>
          <c:max val="1.1"/>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Frozen R@1 / native R@1</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ser>
          <c:idx val="0"/>
          <c:order val="0"/>
          <c:tx>
            <c:v>DINOv2</c:v>
          </c:tx>
          <c:spPr>
            <a:ln xmlns:a="http://schemas.openxmlformats.org/drawingml/2006/main" w="28575">
              <a:solidFill>
                <a:srgbClr val="2965C0"/>
              </a:solidFill>
            </a:ln>
          </c:spPr>
          <c:marker>
            <c:symbol val="circle"/>
            <c:size val="8"/>
            <c:spPr>
              <a:solidFill xmlns:a="http://schemas.openxmlformats.org/drawingml/2006/main">
                <a:srgbClr val="2965C0"/>
              </a:solidFill>
            </c:spPr>
          </c:marker>
          <c:cat>
            <c:strRef>
              <c:f>'Chart Data'!$A$2:$A$5</c:f>
              <c:strCache>
                <c:ptCount val="4"/>
                <c:pt idx="0">
                  <c:v>Small
~22M</c:v>
                </c:pt>
                <c:pt idx="1">
                  <c:v>Base
~87M</c:v>
                </c:pt>
                <c:pt idx="2">
                  <c:v>Large
~304M</c:v>
                </c:pt>
                <c:pt idx="3">
                  <c:v>Giant
~1.14B</c:v>
                </c:pt>
              </c:strCache>
            </c:strRef>
          </c:cat>
          <c:val>
            <c:numRef>
              <c:f>'Chart Data'!$B$2:$B$5</c:f>
              <c:numCache>
                <c:formatCode>0.000</c:formatCode>
                <c:ptCount val="4"/>
                <c:pt idx="0">
                  <c:v>0.381</c:v>
                </c:pt>
                <c:pt idx="1">
                  <c:v>0.381</c:v>
                </c:pt>
                <c:pt idx="2">
                  <c:v>0.418</c:v>
                </c:pt>
                <c:pt idx="3">
                  <c:v>0.339</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crossAx val="48672768"/>
      </c:catAx>
      <c:valAx>
        <c:axId val="48672768"/>
        <c:scaling>
          <c:orientation val="minMax"/>
          <c:max val="0.5"/>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Best cross-modal Spearman ρ</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ser>
          <c:idx val="0"/>
          <c:order val="0"/>
          <c:tx>
            <c:v>Text encoders</c:v>
          </c:tx>
          <c:spPr>
            <a:ln xmlns:a="http://schemas.openxmlformats.org/drawingml/2006/main" w="28575">
              <a:solidFill>
                <a:srgbClr val="087F83"/>
              </a:solidFill>
            </a:ln>
          </c:spPr>
          <c:marker>
            <c:symbol val="triangle"/>
            <c:size val="8"/>
            <c:spPr>
              <a:solidFill xmlns:a="http://schemas.openxmlformats.org/drawingml/2006/main">
                <a:srgbClr val="087F83"/>
              </a:solidFill>
            </c:spPr>
          </c:marker>
          <c:cat>
            <c:strRef>
              <c:f>'Chart Data'!$A$2:$A$4</c:f>
              <c:strCache>
                <c:ptCount val="3"/>
                <c:pt idx="0">
                  <c:v>bge
~0.57B</c:v>
                </c:pt>
                <c:pt idx="1">
                  <c:v>Qwen
0.6B</c:v>
                </c:pt>
                <c:pt idx="2">
                  <c:v>Qwen
4B</c:v>
                </c:pt>
              </c:strCache>
            </c:strRef>
          </c:cat>
          <c:val>
            <c:numRef>
              <c:f>'Chart Data'!$B$2:$B$4</c:f>
              <c:numCache>
                <c:formatCode>0.000</c:formatCode>
                <c:ptCount val="3"/>
                <c:pt idx="0">
                  <c:v>0.32</c:v>
                </c:pt>
                <c:pt idx="1">
                  <c:v>0.352</c:v>
                </c:pt>
                <c:pt idx="2">
                  <c:v>0.307</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crossAx val="48672768"/>
      </c:catAx>
      <c:valAx>
        <c:axId val="48672768"/>
        <c:scaling>
          <c:orientation val="minMax"/>
          <c:max val="0.5"/>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Best cross-modal Spearman ρ</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910713-63B1-42A6-8EC2-1D54756A08E1}"/>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Shared representations, practical adapters</a:t>
            </a:r>
          </a:p>
        </p:txBody>
      </p:sp>
      <p:sp>
        <p:nvSpPr>
          <p:cNvPr id="2" name="">
            <a:extLst xmlns:a="http://schemas.openxmlformats.org/drawingml/2006/main">
              <a:ext uri="{FF2B5EF4-FFF2-40B4-BE49-F238E27FC236}">
                <a16:creationId xmlns:a16="http://schemas.microsoft.com/office/drawing/2014/main" id="{FCB55B3B-6647-40CF-9A8B-E288AE8CE6A8}"/>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Liad Kashanovsky  •  AI Expert Project  •  September 2026</a:t>
            </a:r>
          </a:p>
        </p:txBody>
      </p:sp>
      <p:sp>
        <p:nvSpPr>
          <p:cNvPr id="3" name="">
            <a:extLst xmlns:a="http://schemas.openxmlformats.org/drawingml/2006/main">
              <a:ext uri="{FF2B5EF4-FFF2-40B4-BE49-F238E27FC236}">
                <a16:creationId xmlns:a16="http://schemas.microsoft.com/office/drawing/2014/main" id="{658939A5-83AB-4FB6-BA5A-413555004255}"/>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68FFF889-2032-49B4-ADA0-F35EC623E1FB}"/>
              </a:ext>
            </a:extLst>
          </p:cNvPr>
          <p:cNvSpPr>
            <a:spLocks xmlns:a="http://schemas.openxmlformats.org/drawingml/2006/main" noGrp="1"/>
          </p:cNvSpPr>
          <p:nvPr/>
        </p:nvSpPr>
        <p:spPr>
          <a:xfrm xmlns:a="http://schemas.openxmlformats.org/drawingml/2006/main">
            <a:off x="571500" y="2095500"/>
            <a:ext cx="1047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42A45"/>
                </a:solidFill>
                <a:latin typeface="Arial"/>
                <a:ea typeface="Arial"/>
                <a:cs typeface="Arial"/>
              </a:defRPr>
            </a:pPr>
            <a:r>
              <a:rPr sz="3900" b="1">
                <a:solidFill>
                  <a:srgbClr val="142A45"/>
                </a:solidFill>
                <a:latin typeface="Arial"/>
                <a:ea typeface="Arial"/>
                <a:cs typeface="Arial"/>
              </a:rPr>
              <a:t>A bounded test of PRH</a:t>
            </a:r>
          </a:p>
          <a:p xmlns:a="http://schemas.openxmlformats.org/drawingml/2006/main">
            <a:pPr>
              <a:defRPr sz="3900" b="1">
                <a:solidFill>
                  <a:srgbClr val="142A45"/>
                </a:solidFill>
                <a:latin typeface="Arial"/>
                <a:ea typeface="Arial"/>
                <a:cs typeface="Arial"/>
              </a:defRPr>
            </a:pPr>
            <a:r>
              <a:rPr sz="3900" b="1">
                <a:solidFill>
                  <a:srgbClr val="142A45"/>
                </a:solidFill>
                <a:latin typeface="Arial"/>
                <a:ea typeface="Arial"/>
                <a:cs typeface="Arial"/>
              </a:rPr>
              <a:t>and two engineering implementations</a:t>
            </a:r>
          </a:p>
        </p:txBody>
      </p:sp>
      <p:sp>
        <p:nvSpPr>
          <p:cNvPr id="5" name="">
            <a:extLst xmlns:a="http://schemas.openxmlformats.org/drawingml/2006/main">
              <a:ext uri="{FF2B5EF4-FFF2-40B4-BE49-F238E27FC236}">
                <a16:creationId xmlns:a16="http://schemas.microsoft.com/office/drawing/2014/main" id="{A80F6A66-8787-4634-823E-30BBA8F6F10F}"/>
              </a:ext>
            </a:extLst>
          </p:cNvPr>
          <p:cNvSpPr>
            <a:spLocks xmlns:a="http://schemas.openxmlformats.org/drawingml/2006/main" noGrp="1"/>
          </p:cNvSpPr>
          <p:nvPr/>
        </p:nvSpPr>
        <p:spPr>
          <a:xfrm xmlns:a="http://schemas.openxmlformats.org/drawingml/2006/main">
            <a:off x="571500" y="4524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87F83"/>
                </a:solidFill>
                <a:latin typeface="Arial"/>
                <a:ea typeface="Arial"/>
                <a:cs typeface="Arial"/>
              </a:defRPr>
            </a:pPr>
            <a:r>
              <a:rPr sz="2175" b="0">
                <a:solidFill>
                  <a:srgbClr val="087F83"/>
                </a:solidFill>
                <a:latin typeface="Arial"/>
                <a:ea typeface="Arial"/>
                <a:cs typeface="Arial"/>
              </a:rPr>
              <a:t>Experiment A     Experiment B     Shared hub</a:t>
            </a:r>
          </a:p>
        </p:txBody>
      </p:sp>
      <p:sp>
        <p:nvSpPr>
          <p:cNvPr id="6" name="">
            <a:extLst xmlns:a="http://schemas.openxmlformats.org/drawingml/2006/main">
              <a:ext uri="{FF2B5EF4-FFF2-40B4-BE49-F238E27FC236}">
                <a16:creationId xmlns:a16="http://schemas.microsoft.com/office/drawing/2014/main" id="{32D89B02-3658-4B73-BE58-6FE02CF6C297}"/>
              </a:ext>
            </a:extLst>
          </p:cNvPr>
          <p:cNvSpPr>
            <a:spLocks xmlns:a="http://schemas.openxmlformats.org/drawingml/2006/main" noGrp="1"/>
          </p:cNvSpPr>
          <p:nvPr/>
        </p:nvSpPr>
        <p:spPr>
          <a:xfrm xmlns:a="http://schemas.openxmlformats.org/drawingml/2006/main">
            <a:off x="571500" y="5286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478"/>
                </a:solidFill>
                <a:latin typeface="Arial"/>
                <a:ea typeface="Arial"/>
                <a:cs typeface="Arial"/>
              </a:defRPr>
            </a:pPr>
            <a:r>
              <a:rPr sz="1725" b="0">
                <a:solidFill>
                  <a:srgbClr val="536478"/>
                </a:solidFill>
                <a:latin typeface="Arial"/>
                <a:ea typeface="Arial"/>
                <a:cs typeface="Arial"/>
              </a:rPr>
              <a:t>PRH = Platonic Representation Hypothesis · 20-minute talk</a:t>
            </a:r>
          </a:p>
        </p:txBody>
      </p:sp>
    </p:spTree>
    <p:extLst>
      <p:ext uri="{BB962C8B-B14F-4D97-AF65-F5344CB8AC3E}">
        <p14:creationId xmlns:p14="http://schemas.microsoft.com/office/powerpoint/2010/main" val="17298047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938588-7844-4629-A411-8E31BBF10B47}"/>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Research question and practical constraints</a:t>
            </a:r>
          </a:p>
        </p:txBody>
      </p:sp>
      <p:sp>
        <p:nvSpPr>
          <p:cNvPr id="2" name="">
            <a:extLst xmlns:a="http://schemas.openxmlformats.org/drawingml/2006/main">
              <a:ext uri="{FF2B5EF4-FFF2-40B4-BE49-F238E27FC236}">
                <a16:creationId xmlns:a16="http://schemas.microsoft.com/office/drawing/2014/main" id="{07A53ACB-2A33-4BDE-8E8B-D8E61A15E644}"/>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Huh et al., ICML 2024; Final Project Report §§1–3, E.16</a:t>
            </a:r>
          </a:p>
        </p:txBody>
      </p:sp>
      <p:sp>
        <p:nvSpPr>
          <p:cNvPr id="3" name="">
            <a:extLst xmlns:a="http://schemas.openxmlformats.org/drawingml/2006/main">
              <a:ext uri="{FF2B5EF4-FFF2-40B4-BE49-F238E27FC236}">
                <a16:creationId xmlns:a16="http://schemas.microsoft.com/office/drawing/2014/main" id="{09125135-7B00-4271-8E8F-5AF0759FB75A}"/>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EEF0E451-0F68-4079-9D6C-5835AAAF4D44}"/>
              </a:ext>
            </a:extLst>
          </p:cNvPr>
          <p:cNvSpPr>
            <a:spLocks xmlns:a="http://schemas.openxmlformats.org/drawingml/2006/main" noGrp="1"/>
          </p:cNvSpPr>
          <p:nvPr/>
        </p:nvSpPr>
        <p:spPr>
          <a:xfrm xmlns:a="http://schemas.openxmlformats.org/drawingml/2006/main">
            <a:off x="571500" y="15716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45"/>
                </a:solidFill>
                <a:latin typeface="Arial"/>
                <a:ea typeface="Arial"/>
                <a:cs typeface="Arial"/>
              </a:defRPr>
            </a:pPr>
            <a:r>
              <a:rPr sz="2100" b="0">
                <a:solidFill>
                  <a:srgbClr val="142A45"/>
                </a:solidFill>
                <a:latin typeface="Arial"/>
                <a:ea typeface="Arial"/>
                <a:cs typeface="Arial"/>
              </a:rPr>
              <a:t>Scientific scope: shared relations and useful linear mappings on held-out items.</a:t>
            </a:r>
          </a:p>
        </p:txBody>
      </p:sp>
      <p:sp>
        <p:nvSpPr>
          <p:cNvPr id="5" name="">
            <a:extLst xmlns:a="http://schemas.openxmlformats.org/drawingml/2006/main">
              <a:ext uri="{FF2B5EF4-FFF2-40B4-BE49-F238E27FC236}">
                <a16:creationId xmlns:a16="http://schemas.microsoft.com/office/drawing/2014/main" id="{BD87840E-334A-44DC-907D-1B5087989FDA}"/>
              </a:ext>
            </a:extLst>
          </p:cNvPr>
          <p:cNvSpPr>
            <a:spLocks xmlns:a="http://schemas.openxmlformats.org/drawingml/2006/main" noGrp="1"/>
          </p:cNvSpPr>
          <p:nvPr/>
        </p:nvSpPr>
        <p:spPr>
          <a:xfrm xmlns:a="http://schemas.openxmlformats.org/drawingml/2006/main">
            <a:off x="571500" y="2762250"/>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45"/>
                </a:solidFill>
                <a:latin typeface="Arial"/>
                <a:ea typeface="Arial"/>
                <a:cs typeface="Arial"/>
              </a:defRPr>
            </a:pPr>
            <a:r>
              <a:rPr sz="2100" b="0">
                <a:solidFill>
                  <a:srgbClr val="142A45"/>
                </a:solidFill>
                <a:latin typeface="Arial"/>
                <a:ea typeface="Arial"/>
                <a:cs typeface="Arial"/>
              </a:rPr>
              <a:t>Practical constraint: limited compute and device memory favor frozen, smaller encoders.</a:t>
            </a:r>
          </a:p>
        </p:txBody>
      </p:sp>
      <p:sp>
        <p:nvSpPr>
          <p:cNvPr id="6" name="">
            <a:extLst xmlns:a="http://schemas.openxmlformats.org/drawingml/2006/main">
              <a:ext uri="{FF2B5EF4-FFF2-40B4-BE49-F238E27FC236}">
                <a16:creationId xmlns:a16="http://schemas.microsoft.com/office/drawing/2014/main" id="{5DAADE70-5102-4FE9-908A-83FA2563E725}"/>
              </a:ext>
            </a:extLst>
          </p:cNvPr>
          <p:cNvSpPr>
            <a:spLocks xmlns:a="http://schemas.openxmlformats.org/drawingml/2006/main" noGrp="1"/>
          </p:cNvSpPr>
          <p:nvPr/>
        </p:nvSpPr>
        <p:spPr>
          <a:xfrm xmlns:a="http://schemas.openxmlformats.org/drawingml/2006/main">
            <a:off x="571500" y="395287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45"/>
                </a:solidFill>
                <a:latin typeface="Arial"/>
                <a:ea typeface="Arial"/>
                <a:cs typeface="Arial"/>
              </a:defRPr>
            </a:pPr>
            <a:r>
              <a:rPr sz="2100" b="0">
                <a:solidFill>
                  <a:srgbClr val="142A45"/>
                </a:solidFill>
                <a:latin typeface="Arial"/>
                <a:ea typeface="Arial"/>
                <a:cs typeface="Arial"/>
              </a:rPr>
              <a:t>Engineering goal: reuse a stronger search space while a weaker device runs its own encoder.</a:t>
            </a:r>
          </a:p>
        </p:txBody>
      </p:sp>
      <p:sp>
        <p:nvSpPr>
          <p:cNvPr id="7" name="">
            <a:extLst xmlns:a="http://schemas.openxmlformats.org/drawingml/2006/main">
              <a:ext uri="{FF2B5EF4-FFF2-40B4-BE49-F238E27FC236}">
                <a16:creationId xmlns:a16="http://schemas.microsoft.com/office/drawing/2014/main" id="{C42AAE3D-91A1-4ECE-8BC1-6092A3E7514B}"/>
              </a:ext>
            </a:extLst>
          </p:cNvPr>
          <p:cNvSpPr>
            <a:spLocks xmlns:a="http://schemas.openxmlformats.org/drawingml/2006/main" noGrp="1"/>
          </p:cNvSpPr>
          <p:nvPr/>
        </p:nvSpPr>
        <p:spPr>
          <a:xfrm xmlns:a="http://schemas.openxmlformats.org/drawingml/2006/main">
            <a:off x="571500" y="56483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Supported scope: selected models, datasets and metrics. Universal convergence remains open.</a:t>
            </a:r>
          </a:p>
        </p:txBody>
      </p:sp>
    </p:spTree>
    <p:extLst>
      <p:ext uri="{BB962C8B-B14F-4D97-AF65-F5344CB8AC3E}">
        <p14:creationId xmlns:p14="http://schemas.microsoft.com/office/powerpoint/2010/main" val="441452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967DA35-02BD-4316-A79C-F4AFEB6E7220}"/>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Modality, objective and representation space</a:t>
            </a:r>
          </a:p>
        </p:txBody>
      </p:sp>
      <p:sp>
        <p:nvSpPr>
          <p:cNvPr id="2" name="">
            <a:extLst xmlns:a="http://schemas.openxmlformats.org/drawingml/2006/main">
              <a:ext uri="{FF2B5EF4-FFF2-40B4-BE49-F238E27FC236}">
                <a16:creationId xmlns:a16="http://schemas.microsoft.com/office/drawing/2014/main" id="{EF8124C9-0886-45B9-9661-F09D98C4A806}"/>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Supplied cat–dog illustration; model cards; Project Atlas §1</a:t>
            </a:r>
          </a:p>
        </p:txBody>
      </p:sp>
      <p:sp>
        <p:nvSpPr>
          <p:cNvPr id="3" name="">
            <a:extLst xmlns:a="http://schemas.openxmlformats.org/drawingml/2006/main">
              <a:ext uri="{FF2B5EF4-FFF2-40B4-BE49-F238E27FC236}">
                <a16:creationId xmlns:a16="http://schemas.microsoft.com/office/drawing/2014/main" id="{7D6BE1E5-E8AB-46F3-92A3-63D210A6D73D}"/>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e34d4ac86fe4abe"/>
          <a:srcRect xmlns:a="http://schemas.openxmlformats.org/drawingml/2006/main" l="0" t="0" r="0" b="32000"/>
          <a:stretch xmlns:a="http://schemas.openxmlformats.org/drawingml/2006/main">
            <a:fillRect l="0" t="0" r="0" b="0"/>
          </a:stretch>
        </p:blipFill>
        <p:spPr>
          <a:xfrm xmlns:a="http://schemas.openxmlformats.org/drawingml/2006/main">
            <a:off x="571500" y="1952625"/>
            <a:ext cx="6762750" cy="2590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24AA1DE-289E-409C-A1F3-A31CCDBBF34E}"/>
              </a:ext>
            </a:extLst>
          </p:cNvPr>
          <p:cNvSpPr>
            <a:spLocks xmlns:a="http://schemas.openxmlformats.org/drawingml/2006/main" noGrp="1"/>
          </p:cNvSpPr>
          <p:nvPr/>
        </p:nvSpPr>
        <p:spPr>
          <a:xfrm xmlns:a="http://schemas.openxmlformats.org/drawingml/2006/main">
            <a:off x="571500" y="4953000"/>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83"/>
                </a:solidFill>
                <a:latin typeface="Arial"/>
                <a:ea typeface="Arial"/>
                <a:cs typeface="Arial"/>
              </a:defRPr>
            </a:pPr>
            <a:r>
              <a:rPr sz="1800" b="1">
                <a:solidFill>
                  <a:srgbClr val="087F83"/>
                </a:solidFill>
                <a:latin typeface="Arial"/>
                <a:ea typeface="Arial"/>
                <a:cs typeface="Arial"/>
              </a:rPr>
              <a:t>Shared structure means similar relationships among items.</a:t>
            </a:r>
          </a:p>
        </p:txBody>
      </p:sp>
      <p:sp>
        <p:nvSpPr>
          <p:cNvPr id="6" name="">
            <a:extLst xmlns:a="http://schemas.openxmlformats.org/drawingml/2006/main">
              <a:ext uri="{FF2B5EF4-FFF2-40B4-BE49-F238E27FC236}">
                <a16:creationId xmlns:a16="http://schemas.microsoft.com/office/drawing/2014/main" id="{BBB1CA6B-8ADC-4D84-9C5F-6ACF593ED94D}"/>
              </a:ext>
            </a:extLst>
          </p:cNvPr>
          <p:cNvSpPr>
            <a:spLocks xmlns:a="http://schemas.openxmlformats.org/drawingml/2006/main" noGrp="1"/>
          </p:cNvSpPr>
          <p:nvPr/>
        </p:nvSpPr>
        <p:spPr>
          <a:xfrm xmlns:a="http://schemas.openxmlformats.org/drawingml/2006/main">
            <a:off x="7620000" y="161925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A45"/>
                </a:solidFill>
                <a:latin typeface="Arial"/>
                <a:ea typeface="Arial"/>
                <a:cs typeface="Arial"/>
              </a:defRPr>
            </a:pPr>
            <a:r>
              <a:rPr sz="1875" b="0">
                <a:solidFill>
                  <a:srgbClr val="142A45"/>
                </a:solidFill>
                <a:latin typeface="Arial"/>
                <a:ea typeface="Arial"/>
                <a:cs typeface="Arial"/>
              </a:rPr>
              <a:t>Modality = pixels or text</a:t>
            </a:r>
          </a:p>
        </p:txBody>
      </p:sp>
      <p:sp>
        <p:nvSpPr>
          <p:cNvPr id="7" name="">
            <a:extLst xmlns:a="http://schemas.openxmlformats.org/drawingml/2006/main">
              <a:ext uri="{FF2B5EF4-FFF2-40B4-BE49-F238E27FC236}">
                <a16:creationId xmlns:a16="http://schemas.microsoft.com/office/drawing/2014/main" id="{926FC9BD-9343-44A3-9022-DA735EAE7CF4}"/>
              </a:ext>
            </a:extLst>
          </p:cNvPr>
          <p:cNvSpPr>
            <a:spLocks xmlns:a="http://schemas.openxmlformats.org/drawingml/2006/main" noGrp="1"/>
          </p:cNvSpPr>
          <p:nvPr/>
        </p:nvSpPr>
        <p:spPr>
          <a:xfrm xmlns:a="http://schemas.openxmlformats.org/drawingml/2006/main">
            <a:off x="7620000" y="24765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A45"/>
                </a:solidFill>
                <a:latin typeface="Arial"/>
                <a:ea typeface="Arial"/>
                <a:cs typeface="Arial"/>
              </a:defRPr>
            </a:pPr>
            <a:r>
              <a:rPr sz="1875" b="0">
                <a:solidFill>
                  <a:srgbClr val="142A45"/>
                </a:solidFill>
                <a:latin typeface="Arial"/>
                <a:ea typeface="Arial"/>
                <a:cs typeface="Arial"/>
              </a:rPr>
              <a:t>Objective = what training rewards</a:t>
            </a:r>
          </a:p>
        </p:txBody>
      </p:sp>
      <p:sp>
        <p:nvSpPr>
          <p:cNvPr id="8" name="">
            <a:extLst xmlns:a="http://schemas.openxmlformats.org/drawingml/2006/main">
              <a:ext uri="{FF2B5EF4-FFF2-40B4-BE49-F238E27FC236}">
                <a16:creationId xmlns:a16="http://schemas.microsoft.com/office/drawing/2014/main" id="{0EE6F205-0415-4418-B99C-0E923F819F8A}"/>
              </a:ext>
            </a:extLst>
          </p:cNvPr>
          <p:cNvSpPr>
            <a:spLocks xmlns:a="http://schemas.openxmlformats.org/drawingml/2006/main" noGrp="1"/>
          </p:cNvSpPr>
          <p:nvPr/>
        </p:nvSpPr>
        <p:spPr>
          <a:xfrm xmlns:a="http://schemas.openxmlformats.org/drawingml/2006/main">
            <a:off x="7620000" y="333375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A45"/>
                </a:solidFill>
                <a:latin typeface="Arial"/>
                <a:ea typeface="Arial"/>
                <a:cs typeface="Arial"/>
              </a:defRPr>
            </a:pPr>
            <a:r>
              <a:rPr sz="1875" b="0">
                <a:solidFill>
                  <a:srgbClr val="142A45"/>
                </a:solidFill>
                <a:latin typeface="Arial"/>
                <a:ea typeface="Arial"/>
                <a:cs typeface="Arial"/>
              </a:rPr>
              <a:t>Embedding = numerical representation</a:t>
            </a:r>
          </a:p>
        </p:txBody>
      </p:sp>
      <p:sp>
        <p:nvSpPr>
          <p:cNvPr id="9" name="">
            <a:extLst xmlns:a="http://schemas.openxmlformats.org/drawingml/2006/main">
              <a:ext uri="{FF2B5EF4-FFF2-40B4-BE49-F238E27FC236}">
                <a16:creationId xmlns:a16="http://schemas.microsoft.com/office/drawing/2014/main" id="{80C62D24-BEED-432B-87CB-29C1876E1124}"/>
              </a:ext>
            </a:extLst>
          </p:cNvPr>
          <p:cNvSpPr>
            <a:spLocks xmlns:a="http://schemas.openxmlformats.org/drawingml/2006/main" noGrp="1"/>
          </p:cNvSpPr>
          <p:nvPr/>
        </p:nvSpPr>
        <p:spPr>
          <a:xfrm xmlns:a="http://schemas.openxmlformats.org/drawingml/2006/main">
            <a:off x="7620000" y="41910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A45"/>
                </a:solidFill>
                <a:latin typeface="Arial"/>
                <a:ea typeface="Arial"/>
                <a:cs typeface="Arial"/>
              </a:defRPr>
            </a:pPr>
            <a:r>
              <a:rPr sz="1875" b="0">
                <a:solidFill>
                  <a:srgbClr val="142A45"/>
                </a:solidFill>
                <a:latin typeface="Arial"/>
                <a:ea typeface="Arial"/>
                <a:cs typeface="Arial"/>
              </a:rPr>
              <a:t>Structure = relations among items</a:t>
            </a:r>
          </a:p>
        </p:txBody>
      </p:sp>
      <p:sp>
        <p:nvSpPr>
          <p:cNvPr id="10" name="">
            <a:extLst xmlns:a="http://schemas.openxmlformats.org/drawingml/2006/main">
              <a:ext uri="{FF2B5EF4-FFF2-40B4-BE49-F238E27FC236}">
                <a16:creationId xmlns:a16="http://schemas.microsoft.com/office/drawing/2014/main" id="{443DC6FD-5D2A-4974-85B9-BD111D5617A2}"/>
              </a:ext>
            </a:extLst>
          </p:cNvPr>
          <p:cNvSpPr>
            <a:spLocks xmlns:a="http://schemas.openxmlformats.org/drawingml/2006/main" noGrp="1"/>
          </p:cNvSpPr>
          <p:nvPr/>
        </p:nvSpPr>
        <p:spPr>
          <a:xfrm xmlns:a="http://schemas.openxmlformats.org/drawingml/2006/main">
            <a:off x="571500" y="56483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Cat–dog diagrams are explanatory schematics, not measured embeddings.</a:t>
            </a:r>
          </a:p>
        </p:txBody>
      </p:sp>
    </p:spTree>
    <p:extLst>
      <p:ext uri="{BB962C8B-B14F-4D97-AF65-F5344CB8AC3E}">
        <p14:creationId xmlns:p14="http://schemas.microsoft.com/office/powerpoint/2010/main" val="5650791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694C9D-1F82-4CBD-84FC-6733E152BA3C}"/>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Data and what this project actually fits</a:t>
            </a:r>
          </a:p>
        </p:txBody>
      </p:sp>
      <p:sp>
        <p:nvSpPr>
          <p:cNvPr id="2" name="">
            <a:extLst xmlns:a="http://schemas.openxmlformats.org/drawingml/2006/main">
              <a:ext uri="{FF2B5EF4-FFF2-40B4-BE49-F238E27FC236}">
                <a16:creationId xmlns:a16="http://schemas.microsoft.com/office/drawing/2014/main" id="{AFBC0985-DB56-4EF0-A5DF-27608CB9DCF0}"/>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§§3–4, C.9, E.10, E.15; Results Summary, cached vectors and splits</a:t>
            </a:r>
          </a:p>
        </p:txBody>
      </p:sp>
      <p:sp>
        <p:nvSpPr>
          <p:cNvPr id="3" name="">
            <a:extLst xmlns:a="http://schemas.openxmlformats.org/drawingml/2006/main">
              <a:ext uri="{FF2B5EF4-FFF2-40B4-BE49-F238E27FC236}">
                <a16:creationId xmlns:a16="http://schemas.microsoft.com/office/drawing/2014/main" id="{83DEF9B5-82D4-493D-A931-0ACA9B5A2768}"/>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4</a:t>
            </a:r>
          </a:p>
        </p:txBody>
      </p:sp>
      <p:graphicFrame>
        <p:nvGraphicFramePr>
          <p:cNvPr id="9" name=""/>
          <p:cNvGraphicFramePr/>
          <p:nvPr/>
        </p:nvGraphicFramePr>
        <p:xfrm>
          <a:off xmlns:a="http://schemas.openxmlformats.org/drawingml/2006/main" x="571500" y="1428750"/>
          <a:ext xmlns:a="http://schemas.openxmlformats.org/drawingml/2006/main" cx="11049000" cy="3810000"/>
        </p:xfrm>
        <a:graphic xmlns:a="http://schemas.openxmlformats.org/drawingml/2006/main">
          <a:graphicData uri="http://schemas.openxmlformats.org/drawingml/2006/table">
            <a:tbl>
              <a:tblPr/>
              <a:tblGrid>
                <a:gridCol w="1095375"/>
                <a:gridCol w="2619375"/>
                <a:gridCol w="2952750"/>
                <a:gridCol w="4381500"/>
              </a:tblGrid>
              <a:tr h="762000">
                <a:tc>
                  <a:txBody>
                    <a:bodyPr/>
                    <a:lstStyle/>
                    <a:p>
                      <a:r>
                        <a:rPr sz="1725" b="1">
                          <a:solidFill>
                            <a:srgbClr val="FFFFFF"/>
                          </a:solidFill>
                          <a:latin typeface="Arial"/>
                          <a:ea typeface="Arial"/>
                          <a:cs typeface="Arial"/>
                        </a:rPr>
                        <a:t>Study</a:t>
                      </a:r>
                    </a:p>
                  </a:txBody>
                  <a:tcPr marL="95250" marR="95250" marT="85725" marB="85725" anchor="ctr">
                    <a:solidFill>
                      <a:srgbClr val="142A45"/>
                    </a:solidFill>
                  </a:tcPr>
                </a:tc>
                <a:tc>
                  <a:txBody>
                    <a:bodyPr/>
                    <a:lstStyle/>
                    <a:p>
                      <a:r>
                        <a:rPr sz="1725" b="1">
                          <a:solidFill>
                            <a:srgbClr val="FFFFFF"/>
                          </a:solidFill>
                          <a:latin typeface="Arial"/>
                          <a:ea typeface="Arial"/>
                          <a:cs typeface="Arial"/>
                        </a:rPr>
                        <a:t>Data source</a:t>
                      </a:r>
                    </a:p>
                  </a:txBody>
                  <a:tcPr marL="95250" marR="95250" marT="85725" marB="85725" anchor="ctr">
                    <a:solidFill>
                      <a:srgbClr val="142A45"/>
                    </a:solidFill>
                  </a:tcPr>
                </a:tc>
                <a:tc>
                  <a:txBody>
                    <a:bodyPr/>
                    <a:lstStyle/>
                    <a:p>
                      <a:r>
                        <a:rPr sz="1725" b="1">
                          <a:solidFill>
                            <a:srgbClr val="FFFFFF"/>
                          </a:solidFill>
                          <a:latin typeface="Arial"/>
                          <a:ea typeface="Arial"/>
                          <a:cs typeface="Arial"/>
                        </a:rPr>
                        <a:t>Fit / evaluation</a:t>
                      </a:r>
                    </a:p>
                  </a:txBody>
                  <a:tcPr marL="95250" marR="95250" marT="85725" marB="85725" anchor="ctr">
                    <a:solidFill>
                      <a:srgbClr val="142A45"/>
                    </a:solidFill>
                  </a:tcPr>
                </a:tc>
                <a:tc>
                  <a:txBody>
                    <a:bodyPr/>
                    <a:lstStyle/>
                    <a:p>
                      <a:r>
                        <a:rPr sz="1725" b="1">
                          <a:solidFill>
                            <a:srgbClr val="FFFFFF"/>
                          </a:solidFill>
                          <a:latin typeface="Arial"/>
                          <a:ea typeface="Arial"/>
                          <a:cs typeface="Arial"/>
                        </a:rPr>
                        <a:t>Learned in this project</a:t>
                      </a:r>
                    </a:p>
                  </a:txBody>
                  <a:tcPr marL="95250" marR="95250" marT="85725" marB="85725" anchor="ctr">
                    <a:solidFill>
                      <a:srgbClr val="142A45"/>
                    </a:solidFill>
                  </a:tcPr>
                </a:tc>
              </a:tr>
              <a:tr h="762000">
                <a:tc>
                  <a:txBody>
                    <a:bodyPr/>
                    <a:lstStyle/>
                    <a:p>
                      <a:r>
                        <a:rPr sz="1725" b="0">
                          <a:solidFill>
                            <a:srgbClr val="142A45"/>
                          </a:solidFill>
                          <a:latin typeface="Arial"/>
                          <a:ea typeface="Arial"/>
                          <a:cs typeface="Arial"/>
                        </a:rPr>
                        <a:t>A</a:t>
                      </a:r>
                    </a:p>
                  </a:txBody>
                  <a:tcPr marL="95250" marR="95250" marT="85725" marB="85725" anchor="ctr">
                    <a:solidFill>
                      <a:srgbClr val="F1F5F8"/>
                    </a:solidFill>
                  </a:tcPr>
                </a:tc>
                <a:tc>
                  <a:txBody>
                    <a:bodyPr/>
                    <a:lstStyle/>
                    <a:p>
                      <a:r>
                        <a:rPr sz="1725" b="0">
                          <a:solidFill>
                            <a:srgbClr val="142A45"/>
                          </a:solidFill>
                          <a:latin typeface="Arial"/>
                          <a:ea typeface="Arial"/>
                          <a:cs typeface="Arial"/>
                        </a:rPr>
                        <a:t>WikiText-103: Wikipedia</a:t>
                      </a:r>
                    </a:p>
                  </a:txBody>
                  <a:tcPr marL="95250" marR="95250" marT="85725" marB="85725" anchor="ctr">
                    <a:solidFill>
                      <a:srgbClr val="F1F5F8"/>
                    </a:solidFill>
                  </a:tcPr>
                </a:tc>
                <a:tc>
                  <a:txBody>
                    <a:bodyPr/>
                    <a:lstStyle/>
                    <a:p>
                      <a:r>
                        <a:rPr sz="1725" b="0">
                          <a:solidFill>
                            <a:srgbClr val="142A45"/>
                          </a:solidFill>
                          <a:latin typeface="Arial"/>
                          <a:ea typeface="Arial"/>
                          <a:cs typeface="Arial"/>
                        </a:rPr>
                        <a:t>7,500 / 2,500 passages</a:t>
                      </a:r>
                    </a:p>
                  </a:txBody>
                  <a:tcPr marL="95250" marR="95250" marT="85725" marB="85725" anchor="ctr">
                    <a:solidFill>
                      <a:srgbClr val="F1F5F8"/>
                    </a:solidFill>
                  </a:tcPr>
                </a:tc>
                <a:tc>
                  <a:txBody>
                    <a:bodyPr/>
                    <a:lstStyle/>
                    <a:p>
                      <a:r>
                        <a:rPr sz="1725" b="0">
                          <a:solidFill>
                            <a:srgbClr val="142A45"/>
                          </a:solidFill>
                          <a:latin typeface="Arial"/>
                          <a:ea typeface="Arial"/>
                          <a:cs typeface="Arial"/>
                        </a:rPr>
                        <a:t>Layer-wise linear maps</a:t>
                      </a:r>
                    </a:p>
                  </a:txBody>
                  <a:tcPr marL="95250" marR="95250" marT="85725" marB="85725" anchor="ctr">
                    <a:solidFill>
                      <a:srgbClr val="F1F5F8"/>
                    </a:solidFill>
                  </a:tcPr>
                </a:tc>
              </a:tr>
              <a:tr h="762000">
                <a:tc>
                  <a:txBody>
                    <a:bodyPr/>
                    <a:lstStyle/>
                    <a:p>
                      <a:r>
                        <a:rPr sz="1725" b="0">
                          <a:solidFill>
                            <a:srgbClr val="142A45"/>
                          </a:solidFill>
                          <a:latin typeface="Arial"/>
                          <a:ea typeface="Arial"/>
                          <a:cs typeface="Arial"/>
                        </a:rPr>
                        <a:t>B</a:t>
                      </a:r>
                    </a:p>
                  </a:txBody>
                  <a:tcPr marL="95250" marR="95250" marT="85725" marB="85725" anchor="ctr">
                    <a:solidFill>
                      <a:srgbClr val="FFFFFF"/>
                    </a:solidFill>
                  </a:tcPr>
                </a:tc>
                <a:tc>
                  <a:txBody>
                    <a:bodyPr/>
                    <a:lstStyle/>
                    <a:p>
                      <a:r>
                        <a:rPr sz="1725" b="0">
                          <a:solidFill>
                            <a:srgbClr val="142A45"/>
                          </a:solidFill>
                          <a:latin typeface="Arial"/>
                          <a:ea typeface="Arial"/>
                          <a:cs typeface="Arial"/>
                        </a:rPr>
                        <a:t>COCO val2017</a:t>
                      </a:r>
                    </a:p>
                  </a:txBody>
                  <a:tcPr marL="95250" marR="95250" marT="85725" marB="85725" anchor="ctr">
                    <a:solidFill>
                      <a:srgbClr val="FFFFFF"/>
                    </a:solidFill>
                  </a:tcPr>
                </a:tc>
                <a:tc>
                  <a:txBody>
                    <a:bodyPr/>
                    <a:lstStyle/>
                    <a:p>
                      <a:r>
                        <a:rPr sz="1725" b="0">
                          <a:solidFill>
                            <a:srgbClr val="142A45"/>
                          </a:solidFill>
                          <a:latin typeface="Arial"/>
                          <a:ea typeface="Arial"/>
                          <a:cs typeface="Arial"/>
                        </a:rPr>
                        <a:t>3,000 / 1,000 images</a:t>
                      </a:r>
                    </a:p>
                  </a:txBody>
                  <a:tcPr marL="95250" marR="95250" marT="85725" marB="85725" anchor="ctr">
                    <a:solidFill>
                      <a:srgbClr val="FFFFFF"/>
                    </a:solidFill>
                  </a:tcPr>
                </a:tc>
                <a:tc>
                  <a:txBody>
                    <a:bodyPr/>
                    <a:lstStyle/>
                    <a:p>
                      <a:r>
                        <a:rPr sz="1725" b="0">
                          <a:solidFill>
                            <a:srgbClr val="142A45"/>
                          </a:solidFill>
                          <a:latin typeface="Arial"/>
                          <a:ea typeface="Arial"/>
                          <a:cs typeface="Arial"/>
                        </a:rPr>
                        <a:t>512 × 768 adapter</a:t>
                      </a:r>
                    </a:p>
                  </a:txBody>
                  <a:tcPr marL="95250" marR="95250" marT="85725" marB="85725" anchor="ctr">
                    <a:solidFill>
                      <a:srgbClr val="FFFFFF"/>
                    </a:solidFill>
                  </a:tcPr>
                </a:tc>
              </a:tr>
              <a:tr h="762000">
                <a:tc>
                  <a:txBody>
                    <a:bodyPr/>
                    <a:lstStyle/>
                    <a:p>
                      <a:r>
                        <a:rPr sz="1725" b="0">
                          <a:solidFill>
                            <a:srgbClr val="142A45"/>
                          </a:solidFill>
                          <a:latin typeface="Arial"/>
                          <a:ea typeface="Arial"/>
                          <a:cs typeface="Arial"/>
                        </a:rPr>
                        <a:t>Hub</a:t>
                      </a:r>
                    </a:p>
                  </a:txBody>
                  <a:tcPr marL="95250" marR="95250" marT="85725" marB="85725" anchor="ctr">
                    <a:solidFill>
                      <a:srgbClr val="F1F5F8"/>
                    </a:solidFill>
                  </a:tcPr>
                </a:tc>
                <a:tc>
                  <a:txBody>
                    <a:bodyPr/>
                    <a:lstStyle/>
                    <a:p>
                      <a:r>
                        <a:rPr sz="1725" b="0">
                          <a:solidFill>
                            <a:srgbClr val="142A45"/>
                          </a:solidFill>
                          <a:latin typeface="Arial"/>
                          <a:ea typeface="Arial"/>
                          <a:cs typeface="Arial"/>
                        </a:rPr>
                        <a:t>COCO train2017 caches</a:t>
                      </a:r>
                    </a:p>
                  </a:txBody>
                  <a:tcPr marL="95250" marR="95250" marT="85725" marB="85725" anchor="ctr">
                    <a:solidFill>
                      <a:srgbClr val="F1F5F8"/>
                    </a:solidFill>
                  </a:tcPr>
                </a:tc>
                <a:tc>
                  <a:txBody>
                    <a:bodyPr/>
                    <a:lstStyle/>
                    <a:p>
                      <a:r>
                        <a:rPr sz="1725" b="0">
                          <a:solidFill>
                            <a:srgbClr val="142A45"/>
                          </a:solidFill>
                          <a:latin typeface="Arial"/>
                          <a:ea typeface="Arial"/>
                          <a:cs typeface="Arial"/>
                        </a:rPr>
                        <a:t>8,533 / 1,000 items</a:t>
                      </a:r>
                    </a:p>
                  </a:txBody>
                  <a:tcPr marL="95250" marR="95250" marT="85725" marB="85725" anchor="ctr">
                    <a:solidFill>
                      <a:srgbClr val="F1F5F8"/>
                    </a:solidFill>
                  </a:tcPr>
                </a:tc>
                <a:tc>
                  <a:txBody>
                    <a:bodyPr/>
                    <a:lstStyle/>
                    <a:p>
                      <a:r>
                        <a:rPr sz="1725" b="0">
                          <a:solidFill>
                            <a:srgbClr val="142A45"/>
                          </a:solidFill>
                          <a:latin typeface="Arial"/>
                          <a:ea typeface="Arial"/>
                          <a:cs typeface="Arial"/>
                        </a:rPr>
                        <a:t>PCA, entry maps, caption head</a:t>
                      </a:r>
                    </a:p>
                  </a:txBody>
                  <a:tcPr marL="95250" marR="95250" marT="85725" marB="85725" anchor="ctr">
                    <a:solidFill>
                      <a:srgbClr val="F1F5F8"/>
                    </a:solidFill>
                  </a:tcPr>
                </a:tc>
              </a:tr>
              <a:tr h="762000">
                <a:tc>
                  <a:txBody>
                    <a:bodyPr/>
                    <a:lstStyle/>
                    <a:p>
                      <a:r>
                        <a:rPr sz="1725" b="0">
                          <a:solidFill>
                            <a:srgbClr val="142A45"/>
                          </a:solidFill>
                          <a:latin typeface="Arial"/>
                          <a:ea typeface="Arial"/>
                          <a:cs typeface="Arial"/>
                        </a:rPr>
                        <a:t>F follow-up</a:t>
                      </a:r>
                    </a:p>
                  </a:txBody>
                  <a:tcPr marL="95250" marR="95250" marT="85725" marB="85725" anchor="ctr">
                    <a:solidFill>
                      <a:srgbClr val="FFFFFF"/>
                    </a:solidFill>
                  </a:tcPr>
                </a:tc>
                <a:tc>
                  <a:txBody>
                    <a:bodyPr/>
                    <a:lstStyle/>
                    <a:p>
                      <a:r>
                        <a:rPr sz="1725" b="0">
                          <a:solidFill>
                            <a:srgbClr val="142A45"/>
                          </a:solidFill>
                          <a:latin typeface="Arial"/>
                          <a:ea typeface="Arial"/>
                          <a:cs typeface="Arial"/>
                        </a:rPr>
                        <a:t>Teacher image embeddings</a:t>
                      </a:r>
                    </a:p>
                  </a:txBody>
                  <a:tcPr marL="95250" marR="95250" marT="85725" marB="85725" anchor="ctr">
                    <a:solidFill>
                      <a:srgbClr val="FFFFFF"/>
                    </a:solidFill>
                  </a:tcPr>
                </a:tc>
                <a:tc>
                  <a:txBody>
                    <a:bodyPr/>
                    <a:lstStyle/>
                    <a:p>
                      <a:r>
                        <a:rPr sz="1725" b="0">
                          <a:solidFill>
                            <a:srgbClr val="142A45"/>
                          </a:solidFill>
                          <a:latin typeface="Arial"/>
                          <a:ea typeface="Arial"/>
                          <a:cs typeface="Arial"/>
                        </a:rPr>
                        <a:t>37,999 / 2,000 rows</a:t>
                      </a:r>
                    </a:p>
                  </a:txBody>
                  <a:tcPr marL="95250" marR="95250" marT="85725" marB="85725" anchor="ctr">
                    <a:solidFill>
                      <a:srgbClr val="FFFFFF"/>
                    </a:solidFill>
                  </a:tcPr>
                </a:tc>
                <a:tc>
                  <a:txBody>
                    <a:bodyPr/>
                    <a:lstStyle/>
                    <a:p>
                      <a:r>
                        <a:rPr sz="1725" b="0">
                          <a:solidFill>
                            <a:srgbClr val="142A45"/>
                          </a:solidFill>
                          <a:latin typeface="Arial"/>
                          <a:ea typeface="Arial"/>
                          <a:cs typeface="Arial"/>
                        </a:rPr>
                        <a:t>Ridge and separate MLP</a:t>
                      </a:r>
                    </a:p>
                  </a:txBody>
                  <a:tcPr marL="95250" marR="95250"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D1AFEC1-530B-4185-A180-1AF4EEAE2D3B}"/>
              </a:ext>
            </a:extLst>
          </p:cNvPr>
          <p:cNvSpPr>
            <a:spLocks xmlns:a="http://schemas.openxmlformats.org/drawingml/2006/main" noGrp="1"/>
          </p:cNvSpPr>
          <p:nvPr/>
        </p:nvSpPr>
        <p:spPr>
          <a:xfrm xmlns:a="http://schemas.openxmlformats.org/drawingml/2006/main">
            <a:off x="571500" y="56483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B uses one caption per image. Hub targets average five caption embeddings.</a:t>
            </a:r>
          </a:p>
        </p:txBody>
      </p:sp>
    </p:spTree>
    <p:extLst>
      <p:ext uri="{BB962C8B-B14F-4D97-AF65-F5344CB8AC3E}">
        <p14:creationId xmlns:p14="http://schemas.microsoft.com/office/powerpoint/2010/main" val="13978918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4016AF0-09D4-45C7-B4C4-870F2C2C7C2C}"/>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Experiment A: independent language models</a:t>
            </a:r>
          </a:p>
        </p:txBody>
      </p:sp>
      <p:sp>
        <p:nvSpPr>
          <p:cNvPr id="2" name="">
            <a:extLst xmlns:a="http://schemas.openxmlformats.org/drawingml/2006/main">
              <a:ext uri="{FF2B5EF4-FFF2-40B4-BE49-F238E27FC236}">
                <a16:creationId xmlns:a16="http://schemas.microsoft.com/office/drawing/2014/main" id="{3BFD581A-5974-41ED-B2B0-264ECFF55082}"/>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§3; GPT-2 and Pythia model provenance</a:t>
            </a:r>
          </a:p>
        </p:txBody>
      </p:sp>
      <p:sp>
        <p:nvSpPr>
          <p:cNvPr id="3" name="">
            <a:extLst xmlns:a="http://schemas.openxmlformats.org/drawingml/2006/main">
              <a:ext uri="{FF2B5EF4-FFF2-40B4-BE49-F238E27FC236}">
                <a16:creationId xmlns:a16="http://schemas.microsoft.com/office/drawing/2014/main" id="{0323ADF1-DF5A-43E5-94A6-8B8E788332EA}"/>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1D41D3CC-6CDA-4905-88EF-370511397C6F}"/>
              </a:ext>
            </a:extLst>
          </p:cNvPr>
          <p:cNvSpPr>
            <a:spLocks xmlns:a="http://schemas.openxmlformats.org/drawingml/2006/main" noGrp="1"/>
          </p:cNvSpPr>
          <p:nvPr/>
        </p:nvSpPr>
        <p:spPr>
          <a:xfrm xmlns:a="http://schemas.openxmlformats.org/drawingml/2006/main">
            <a:off x="571500" y="1524000"/>
            <a:ext cx="285750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3A9BB"/>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Same WikiText passage</a:t>
            </a:r>
          </a:p>
        </p:txBody>
      </p:sp>
      <p:sp>
        <p:nvSpPr>
          <p:cNvPr id="5" name="">
            <a:extLst xmlns:a="http://schemas.openxmlformats.org/drawingml/2006/main">
              <a:ext uri="{FF2B5EF4-FFF2-40B4-BE49-F238E27FC236}">
                <a16:creationId xmlns:a16="http://schemas.microsoft.com/office/drawing/2014/main" id="{815CE562-7175-4466-9A0D-680E563B8432}"/>
              </a:ext>
            </a:extLst>
          </p:cNvPr>
          <p:cNvSpPr>
            <a:spLocks xmlns:a="http://schemas.openxmlformats.org/drawingml/2006/main" noGrp="1"/>
          </p:cNvSpPr>
          <p:nvPr/>
        </p:nvSpPr>
        <p:spPr>
          <a:xfrm xmlns:a="http://schemas.openxmlformats.org/drawingml/2006/main">
            <a:off x="571500" y="3048000"/>
            <a:ext cx="285750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3A9BB"/>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GPT-2 · 124M</a:t>
            </a:r>
          </a:p>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WebText</a:t>
            </a:r>
          </a:p>
        </p:txBody>
      </p:sp>
      <p:sp>
        <p:nvSpPr>
          <p:cNvPr id="6" name="">
            <a:extLst xmlns:a="http://schemas.openxmlformats.org/drawingml/2006/main">
              <a:ext uri="{FF2B5EF4-FFF2-40B4-BE49-F238E27FC236}">
                <a16:creationId xmlns:a16="http://schemas.microsoft.com/office/drawing/2014/main" id="{9188765E-9AC3-4E70-A125-302FFF5E45CF}"/>
              </a:ext>
            </a:extLst>
          </p:cNvPr>
          <p:cNvSpPr>
            <a:spLocks xmlns:a="http://schemas.openxmlformats.org/drawingml/2006/main" noGrp="1"/>
          </p:cNvSpPr>
          <p:nvPr/>
        </p:nvSpPr>
        <p:spPr>
          <a:xfrm xmlns:a="http://schemas.openxmlformats.org/drawingml/2006/main">
            <a:off x="4286250" y="3048000"/>
            <a:ext cx="285750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3A9BB"/>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Pythia · 160M</a:t>
            </a:r>
          </a:p>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The Pile</a:t>
            </a:r>
          </a:p>
        </p:txBody>
      </p:sp>
      <p:sp>
        <p:nvSpPr>
          <p:cNvPr id="7" name="">
            <a:extLst xmlns:a="http://schemas.openxmlformats.org/drawingml/2006/main">
              <a:ext uri="{FF2B5EF4-FFF2-40B4-BE49-F238E27FC236}">
                <a16:creationId xmlns:a16="http://schemas.microsoft.com/office/drawing/2014/main" id="{9C99928A-DC88-4610-A7BF-2CA723445BF7}"/>
              </a:ext>
            </a:extLst>
          </p:cNvPr>
          <p:cNvSpPr>
            <a:spLocks xmlns:a="http://schemas.openxmlformats.org/drawingml/2006/main" noGrp="1"/>
          </p:cNvSpPr>
          <p:nvPr/>
        </p:nvSpPr>
        <p:spPr>
          <a:xfrm xmlns:a="http://schemas.openxmlformats.org/drawingml/2006/main">
            <a:off x="8001000" y="3048000"/>
            <a:ext cx="285750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3A9BB"/>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Random Pythia</a:t>
            </a:r>
          </a:p>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control</a:t>
            </a:r>
          </a:p>
        </p:txBody>
      </p:sp>
      <p:cxnSp>
        <p:nvCxnSpPr>
          <p:cNvPr id="20" name=""/>
          <p:cNvCxnSpPr>
            <a:stCxn xmlns:a="http://schemas.openxmlformats.org/drawingml/2006/main" id="4" idx="2"/>
            <a:endCxn xmlns:a="http://schemas.openxmlformats.org/drawingml/2006/main" id="5" idx="0"/>
          </p:cNvCxnSpPr>
          <p:nvPr/>
        </p:nvCxnSpPr>
        <p:spPr>
          <a:xfrm xmlns:a="http://schemas.openxmlformats.org/drawingml/2006/main">
            <a:off x="2000250" y="2333625"/>
            <a:ext cx="0" cy="714375"/>
          </a:xfrm>
          <a:prstGeom xmlns:a="http://schemas.openxmlformats.org/drawingml/2006/main" prst="straightConnector1">
            <a:avLst/>
          </a:prstGeom>
          <a:ln xmlns:a="http://schemas.openxmlformats.org/drawingml/2006/main" w="19050">
            <a:solidFill>
              <a:srgbClr val="087F83"/>
            </a:solidFill>
            <a:tailEnd type="triangle" w="sm" len="sm"/>
          </a:ln>
        </p:spPr>
      </p:cxnSp>
      <p:cxnSp>
        <p:nvCxnSpPr>
          <p:cNvPr id="21" name=""/>
          <p:cNvCxnSpPr>
            <a:stCxn xmlns:a="http://schemas.openxmlformats.org/drawingml/2006/main" id="4" idx="2"/>
            <a:endCxn xmlns:a="http://schemas.openxmlformats.org/drawingml/2006/main" id="6" idx="0"/>
          </p:cNvCxnSpPr>
          <p:nvPr/>
        </p:nvCxnSpPr>
        <p:spPr>
          <a:xfrm xmlns:a="http://schemas.openxmlformats.org/drawingml/2006/main">
            <a:off x="2000250" y="2333625"/>
            <a:ext cx="3714750" cy="714375"/>
          </a:xfrm>
          <a:prstGeom xmlns:a="http://schemas.openxmlformats.org/drawingml/2006/main" prst="bentConnector4">
            <a:avLst>
              <a:gd name="adj1" fmla="val 0"/>
              <a:gd name="adj2" fmla="val 50000"/>
            </a:avLst>
          </a:prstGeom>
          <a:ln xmlns:a="http://schemas.openxmlformats.org/drawingml/2006/main" w="19050">
            <a:solidFill>
              <a:srgbClr val="087F83"/>
            </a:solidFill>
            <a:tailEnd type="triangle" w="sm" len="sm"/>
          </a:ln>
        </p:spPr>
      </p:cxnSp>
      <p:cxnSp>
        <p:nvCxnSpPr>
          <p:cNvPr id="22" name=""/>
          <p:cNvCxnSpPr>
            <a:stCxn xmlns:a="http://schemas.openxmlformats.org/drawingml/2006/main" id="4" idx="2"/>
            <a:endCxn xmlns:a="http://schemas.openxmlformats.org/drawingml/2006/main" id="7" idx="0"/>
          </p:cNvCxnSpPr>
          <p:nvPr/>
        </p:nvCxnSpPr>
        <p:spPr>
          <a:xfrm xmlns:a="http://schemas.openxmlformats.org/drawingml/2006/main">
            <a:off x="2000250" y="2333625"/>
            <a:ext cx="7429500" cy="714375"/>
          </a:xfrm>
          <a:prstGeom xmlns:a="http://schemas.openxmlformats.org/drawingml/2006/main" prst="bentConnector4">
            <a:avLst>
              <a:gd name="adj1" fmla="val 0"/>
              <a:gd name="adj2" fmla="val 50000"/>
            </a:avLst>
          </a:prstGeom>
          <a:ln xmlns:a="http://schemas.openxmlformats.org/drawingml/2006/main" w="19050">
            <a:solidFill>
              <a:srgbClr val="087F83"/>
            </a:solidFill>
            <a:tailEnd type="triangle" w="sm" len="sm"/>
          </a:ln>
        </p:spPr>
      </p:cxnSp>
      <p:sp>
        <p:nvSpPr>
          <p:cNvPr id="11" name="">
            <a:extLst xmlns:a="http://schemas.openxmlformats.org/drawingml/2006/main">
              <a:ext uri="{FF2B5EF4-FFF2-40B4-BE49-F238E27FC236}">
                <a16:creationId xmlns:a16="http://schemas.microsoft.com/office/drawing/2014/main" id="{C2AB7CF0-E179-47A8-A094-A5DCAA57CAAA}"/>
              </a:ext>
            </a:extLst>
          </p:cNvPr>
          <p:cNvSpPr>
            <a:spLocks xmlns:a="http://schemas.openxmlformats.org/drawingml/2006/main" noGrp="1"/>
          </p:cNvSpPr>
          <p:nvPr/>
        </p:nvSpPr>
        <p:spPr>
          <a:xfrm xmlns:a="http://schemas.openxmlformats.org/drawingml/2006/main">
            <a:off x="571500" y="4333875"/>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Arial"/>
                <a:ea typeface="Arial"/>
                <a:cs typeface="Arial"/>
              </a:defRPr>
            </a:pPr>
            <a:r>
              <a:rPr sz="2175" b="1">
                <a:solidFill>
                  <a:srgbClr val="087F83"/>
                </a:solidFill>
                <a:latin typeface="Arial"/>
                <a:ea typeface="Arial"/>
                <a:cs typeface="Arial"/>
              </a:rPr>
              <a:t>13 states per model, each pooled to 768 coordinates</a:t>
            </a:r>
          </a:p>
        </p:txBody>
      </p:sp>
      <p:sp>
        <p:nvSpPr>
          <p:cNvPr id="12" name="">
            <a:extLst xmlns:a="http://schemas.openxmlformats.org/drawingml/2006/main">
              <a:ext uri="{FF2B5EF4-FFF2-40B4-BE49-F238E27FC236}">
                <a16:creationId xmlns:a16="http://schemas.microsoft.com/office/drawing/2014/main" id="{3B784EEF-D428-4052-8115-D5B4BE355B65}"/>
              </a:ext>
            </a:extLst>
          </p:cNvPr>
          <p:cNvSpPr>
            <a:spLocks xmlns:a="http://schemas.openxmlformats.org/drawingml/2006/main" noGrp="1"/>
          </p:cNvSpPr>
          <p:nvPr/>
        </p:nvSpPr>
        <p:spPr>
          <a:xfrm xmlns:a="http://schemas.openxmlformats.org/drawingml/2006/main">
            <a:off x="571500" y="51435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A45"/>
                </a:solidFill>
                <a:latin typeface="Arial"/>
                <a:ea typeface="Arial"/>
                <a:cs typeface="Arial"/>
              </a:defRPr>
            </a:pPr>
            <a:r>
              <a:rPr sz="2025" b="0">
                <a:solidFill>
                  <a:srgbClr val="142A45"/>
                </a:solidFill>
                <a:latin typeface="Arial"/>
                <a:ea typeface="Arial"/>
                <a:cs typeface="Arial"/>
              </a:rPr>
              <a:t>CKA (centered kernel alignment) compares relational structure. Ridge predicts coordinates.</a:t>
            </a:r>
          </a:p>
        </p:txBody>
      </p:sp>
    </p:spTree>
    <p:extLst>
      <p:ext uri="{BB962C8B-B14F-4D97-AF65-F5344CB8AC3E}">
        <p14:creationId xmlns:p14="http://schemas.microsoft.com/office/powerpoint/2010/main" val="10056446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DFADD5-ADFD-434A-9F41-4AF3E2A49984}"/>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Experiment A: learned structure exceeds control</a:t>
            </a:r>
          </a:p>
        </p:txBody>
      </p:sp>
      <p:sp>
        <p:nvSpPr>
          <p:cNvPr id="2" name="">
            <a:extLst xmlns:a="http://schemas.openxmlformats.org/drawingml/2006/main">
              <a:ext uri="{FF2B5EF4-FFF2-40B4-BE49-F238E27FC236}">
                <a16:creationId xmlns:a16="http://schemas.microsoft.com/office/drawing/2014/main" id="{8C75DBC1-C95E-403D-A000-B2844D5B963B}"/>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§3, Table 3; Status Report, A2/A3 diagnostic caveats</a:t>
            </a:r>
          </a:p>
        </p:txBody>
      </p:sp>
      <p:sp>
        <p:nvSpPr>
          <p:cNvPr id="3" name="">
            <a:extLst xmlns:a="http://schemas.openxmlformats.org/drawingml/2006/main">
              <a:ext uri="{FF2B5EF4-FFF2-40B4-BE49-F238E27FC236}">
                <a16:creationId xmlns:a16="http://schemas.microsoft.com/office/drawing/2014/main" id="{52CD695E-DB57-455D-86BF-058EC3A44505}"/>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6</a:t>
            </a:r>
          </a:p>
        </p:txBody>
      </p:sp>
      <p:graphicFrame>
        <p:nvGraphicFramePr>
          <p:cNvPr id="12" name="Chart"/>
          <p:cNvGraphicFramePr/>
          <p:nvPr/>
        </p:nvGraphicFramePr>
        <p:xfrm>
          <a:off xmlns:a="http://schemas.openxmlformats.org/drawingml/2006/main" x="571500" y="1476375"/>
          <a:ext xmlns:a="http://schemas.openxmlformats.org/drawingml/2006/main" cx="7239000" cy="3667125"/>
        </p:xfrm>
        <a:graphic xmlns:a="http://schemas.openxmlformats.org/drawingml/2006/main">
          <a:graphicData uri="http://schemas.openxmlformats.org/drawingml/2006/chart">
            <c:chart xmlns:r="http://schemas.openxmlformats.org/officeDocument/2006/relationships" xmlns:c="http://schemas.openxmlformats.org/drawingml/2006/chart" r:id="Rbe3ffa7dcb434859"/>
          </a:graphicData>
        </a:graphic>
      </p:graphicFrame>
      <p:sp>
        <p:nvSpPr>
          <p:cNvPr id="5" name="">
            <a:extLst xmlns:a="http://schemas.openxmlformats.org/drawingml/2006/main">
              <a:ext uri="{FF2B5EF4-FFF2-40B4-BE49-F238E27FC236}">
                <a16:creationId xmlns:a16="http://schemas.microsoft.com/office/drawing/2014/main" id="{2C74B3B9-07AB-423A-A087-40CC070C5A2E}"/>
              </a:ext>
            </a:extLst>
          </p:cNvPr>
          <p:cNvSpPr>
            <a:spLocks xmlns:a="http://schemas.openxmlformats.org/drawingml/2006/main" noGrp="1"/>
          </p:cNvSpPr>
          <p:nvPr/>
        </p:nvSpPr>
        <p:spPr>
          <a:xfrm xmlns:a="http://schemas.openxmlformats.org/drawingml/2006/main">
            <a:off x="8239125" y="176212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3"/>
                </a:solidFill>
                <a:latin typeface="Arial"/>
                <a:ea typeface="Arial"/>
                <a:cs typeface="Arial"/>
              </a:defRPr>
            </a:pPr>
            <a:r>
              <a:rPr sz="3000" b="1">
                <a:solidFill>
                  <a:srgbClr val="087F83"/>
                </a:solidFill>
                <a:latin typeface="Arial"/>
                <a:ea typeface="Arial"/>
                <a:cs typeface="Arial"/>
              </a:rPr>
              <a:t>R² = 0.797</a:t>
            </a:r>
          </a:p>
        </p:txBody>
      </p:sp>
      <p:sp>
        <p:nvSpPr>
          <p:cNvPr id="6" name="">
            <a:extLst xmlns:a="http://schemas.openxmlformats.org/drawingml/2006/main">
              <a:ext uri="{FF2B5EF4-FFF2-40B4-BE49-F238E27FC236}">
                <a16:creationId xmlns:a16="http://schemas.microsoft.com/office/drawing/2014/main" id="{7D94C637-2FE2-48A1-BEB8-5AE4823DBBCB}"/>
              </a:ext>
            </a:extLst>
          </p:cNvPr>
          <p:cNvSpPr>
            <a:spLocks xmlns:a="http://schemas.openxmlformats.org/drawingml/2006/main" noGrp="1"/>
          </p:cNvSpPr>
          <p:nvPr/>
        </p:nvSpPr>
        <p:spPr>
          <a:xfrm xmlns:a="http://schemas.openxmlformats.org/drawingml/2006/main">
            <a:off x="8239125" y="2476500"/>
            <a:ext cx="323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A45"/>
                </a:solidFill>
                <a:latin typeface="Arial"/>
                <a:ea typeface="Arial"/>
                <a:cs typeface="Arial"/>
              </a:defRPr>
            </a:pPr>
            <a:r>
              <a:rPr sz="1875" b="0">
                <a:solidFill>
                  <a:srgbClr val="142A45"/>
                </a:solidFill>
                <a:latin typeface="Arial"/>
                <a:ea typeface="Arial"/>
                <a:cs typeface="Arial"/>
              </a:rPr>
              <a:t>At L11, a linear map explains about 80% of target variance.</a:t>
            </a:r>
          </a:p>
        </p:txBody>
      </p:sp>
      <p:sp>
        <p:nvSpPr>
          <p:cNvPr id="7" name="">
            <a:extLst xmlns:a="http://schemas.openxmlformats.org/drawingml/2006/main">
              <a:ext uri="{FF2B5EF4-FFF2-40B4-BE49-F238E27FC236}">
                <a16:creationId xmlns:a16="http://schemas.microsoft.com/office/drawing/2014/main" id="{7482A254-629E-4C1C-9630-129DDF4C8709}"/>
              </a:ext>
            </a:extLst>
          </p:cNvPr>
          <p:cNvSpPr>
            <a:spLocks xmlns:a="http://schemas.openxmlformats.org/drawingml/2006/main" noGrp="1"/>
          </p:cNvSpPr>
          <p:nvPr/>
        </p:nvSpPr>
        <p:spPr>
          <a:xfrm xmlns:a="http://schemas.openxmlformats.org/drawingml/2006/main">
            <a:off x="8239125" y="3762375"/>
            <a:ext cx="3333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A45"/>
                </a:solidFill>
                <a:latin typeface="Arial"/>
                <a:ea typeface="Arial"/>
                <a:cs typeface="Arial"/>
              </a:defRPr>
            </a:pPr>
            <a:r>
              <a:rPr sz="1725" b="0">
                <a:solidFill>
                  <a:srgbClr val="142A45"/>
                </a:solidFill>
                <a:latin typeface="Arial"/>
                <a:ea typeface="Arial"/>
                <a:cs typeface="Arial"/>
              </a:rPr>
              <a:t>CKA: similarity-pattern agreement</a:t>
            </a:r>
          </a:p>
          <a:p xmlns:a="http://schemas.openxmlformats.org/drawingml/2006/main">
            <a:pPr>
              <a:defRPr sz="1725" b="0">
                <a:solidFill>
                  <a:srgbClr val="142A45"/>
                </a:solidFill>
                <a:latin typeface="Arial"/>
                <a:ea typeface="Arial"/>
                <a:cs typeface="Arial"/>
              </a:defRPr>
            </a:pPr>
            <a:r>
              <a:rPr sz="1725" b="0">
                <a:solidFill>
                  <a:srgbClr val="142A45"/>
                </a:solidFill>
                <a:latin typeface="Arial"/>
                <a:ea typeface="Arial"/>
                <a:cs typeface="Arial"/>
              </a:rPr>
              <a:t>Mean 0.359 trained</a:t>
            </a:r>
          </a:p>
          <a:p xmlns:a="http://schemas.openxmlformats.org/drawingml/2006/main">
            <a:pPr>
              <a:defRPr sz="1725" b="0">
                <a:solidFill>
                  <a:srgbClr val="142A45"/>
                </a:solidFill>
                <a:latin typeface="Arial"/>
                <a:ea typeface="Arial"/>
                <a:cs typeface="Arial"/>
              </a:defRPr>
            </a:pPr>
            <a:r>
              <a:rPr sz="1725" b="0">
                <a:solidFill>
                  <a:srgbClr val="142A45"/>
                </a:solidFill>
                <a:latin typeface="Arial"/>
                <a:ea typeface="Arial"/>
                <a:cs typeface="Arial"/>
              </a:rPr>
              <a:t>Mean 0.067 random</a:t>
            </a:r>
          </a:p>
        </p:txBody>
      </p:sp>
      <p:sp>
        <p:nvSpPr>
          <p:cNvPr id="8" name="">
            <a:extLst xmlns:a="http://schemas.openxmlformats.org/drawingml/2006/main">
              <a:ext uri="{FF2B5EF4-FFF2-40B4-BE49-F238E27FC236}">
                <a16:creationId xmlns:a16="http://schemas.microsoft.com/office/drawing/2014/main" id="{DAC06841-AC38-472E-98DE-EE7A16C24831}"/>
              </a:ext>
            </a:extLst>
          </p:cNvPr>
          <p:cNvSpPr>
            <a:spLocks xmlns:a="http://schemas.openxmlformats.org/drawingml/2006/main" noGrp="1"/>
          </p:cNvSpPr>
          <p:nvPr/>
        </p:nvSpPr>
        <p:spPr>
          <a:xfrm xmlns:a="http://schemas.openxmlformats.org/drawingml/2006/main">
            <a:off x="571500" y="56483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Measured alignment supports the restricted hypothesis on this model pair.</a:t>
            </a:r>
          </a:p>
        </p:txBody>
      </p:sp>
    </p:spTree>
    <p:extLst>
      <p:ext uri="{BB962C8B-B14F-4D97-AF65-F5344CB8AC3E}">
        <p14:creationId xmlns:p14="http://schemas.microsoft.com/office/powerpoint/2010/main" val="10927929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1AAC54A-9C65-40C6-9F9D-07DC08C72F99}"/>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Experiment B: one index for phone and server</a:t>
            </a:r>
          </a:p>
        </p:txBody>
      </p:sp>
      <p:sp>
        <p:nvSpPr>
          <p:cNvPr id="2" name="">
            <a:extLst xmlns:a="http://schemas.openxmlformats.org/drawingml/2006/main">
              <a:ext uri="{FF2B5EF4-FFF2-40B4-BE49-F238E27FC236}">
                <a16:creationId xmlns:a16="http://schemas.microsoft.com/office/drawing/2014/main" id="{8843C8FF-BC4D-40B2-9DAD-B125FC14F52A}"/>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§4; MobileCLIP-S1 and SigLIP 2 model cards</a:t>
            </a:r>
          </a:p>
        </p:txBody>
      </p:sp>
      <p:sp>
        <p:nvSpPr>
          <p:cNvPr id="3" name="">
            <a:extLst xmlns:a="http://schemas.openxmlformats.org/drawingml/2006/main">
              <a:ext uri="{FF2B5EF4-FFF2-40B4-BE49-F238E27FC236}">
                <a16:creationId xmlns:a16="http://schemas.microsoft.com/office/drawing/2014/main" id="{F2BDF8E0-41BE-4476-A4A9-5C949356408D}"/>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7</a:t>
            </a:r>
          </a:p>
        </p:txBody>
      </p:sp>
      <p:sp>
        <p:nvSpPr>
          <p:cNvPr id="4" name="">
            <a:extLst xmlns:a="http://schemas.openxmlformats.org/drawingml/2006/main">
              <a:ext uri="{FF2B5EF4-FFF2-40B4-BE49-F238E27FC236}">
                <a16:creationId xmlns:a16="http://schemas.microsoft.com/office/drawing/2014/main" id="{00D71B4F-3360-468C-B14A-3A6D3EAE54F9}"/>
              </a:ext>
            </a:extLst>
          </p:cNvPr>
          <p:cNvSpPr>
            <a:spLocks xmlns:a="http://schemas.openxmlformats.org/drawingml/2006/main" noGrp="1"/>
          </p:cNvSpPr>
          <p:nvPr/>
        </p:nvSpPr>
        <p:spPr>
          <a:xfrm xmlns:a="http://schemas.openxmlformats.org/drawingml/2006/main">
            <a:off x="571500" y="1666875"/>
            <a:ext cx="247650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3A9BB"/>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Cat / dog photo</a:t>
            </a:r>
          </a:p>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MobileCLIP-S1</a:t>
            </a:r>
          </a:p>
        </p:txBody>
      </p:sp>
      <p:sp>
        <p:nvSpPr>
          <p:cNvPr id="5" name="">
            <a:extLst xmlns:a="http://schemas.openxmlformats.org/drawingml/2006/main">
              <a:ext uri="{FF2B5EF4-FFF2-40B4-BE49-F238E27FC236}">
                <a16:creationId xmlns:a16="http://schemas.microsoft.com/office/drawing/2014/main" id="{DAA26700-B302-446F-8EB5-CA391C3A035D}"/>
              </a:ext>
            </a:extLst>
          </p:cNvPr>
          <p:cNvSpPr>
            <a:spLocks xmlns:a="http://schemas.openxmlformats.org/drawingml/2006/main" noGrp="1"/>
          </p:cNvSpPr>
          <p:nvPr/>
        </p:nvSpPr>
        <p:spPr>
          <a:xfrm xmlns:a="http://schemas.openxmlformats.org/drawingml/2006/main">
            <a:off x="4000500" y="1666875"/>
            <a:ext cx="304800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3A9BB"/>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512-vector × W</a:t>
            </a:r>
          </a:p>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W: 512 × 768</a:t>
            </a:r>
          </a:p>
        </p:txBody>
      </p:sp>
      <p:sp>
        <p:nvSpPr>
          <p:cNvPr id="6" name="">
            <a:extLst xmlns:a="http://schemas.openxmlformats.org/drawingml/2006/main">
              <a:ext uri="{FF2B5EF4-FFF2-40B4-BE49-F238E27FC236}">
                <a16:creationId xmlns:a16="http://schemas.microsoft.com/office/drawing/2014/main" id="{15BA975F-5AC9-428A-83C0-356D3FC59982}"/>
              </a:ext>
            </a:extLst>
          </p:cNvPr>
          <p:cNvSpPr>
            <a:spLocks xmlns:a="http://schemas.openxmlformats.org/drawingml/2006/main" noGrp="1"/>
          </p:cNvSpPr>
          <p:nvPr/>
        </p:nvSpPr>
        <p:spPr>
          <a:xfrm xmlns:a="http://schemas.openxmlformats.org/drawingml/2006/main">
            <a:off x="8239125" y="1666875"/>
            <a:ext cx="295275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3A9BB"/>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Normalize</a:t>
            </a:r>
          </a:p>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768-vector</a:t>
            </a:r>
          </a:p>
        </p:txBody>
      </p: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3048000" y="2071688"/>
            <a:ext cx="952500" cy="0"/>
          </a:xfrm>
          <a:prstGeom xmlns:a="http://schemas.openxmlformats.org/drawingml/2006/main" prst="straightConnector1">
            <a:avLst/>
          </a:prstGeom>
          <a:ln xmlns:a="http://schemas.openxmlformats.org/drawingml/2006/main" w="19050">
            <a:solidFill>
              <a:srgbClr val="087F83"/>
            </a:solidFill>
            <a:tailEnd type="triangle" w="sm" len="sm"/>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7048500" y="2071688"/>
            <a:ext cx="1190625" cy="0"/>
          </a:xfrm>
          <a:prstGeom xmlns:a="http://schemas.openxmlformats.org/drawingml/2006/main" prst="straightConnector1">
            <a:avLst/>
          </a:prstGeom>
          <a:ln xmlns:a="http://schemas.openxmlformats.org/drawingml/2006/main" w="19050">
            <a:solidFill>
              <a:srgbClr val="087F83"/>
            </a:solidFill>
            <a:tailEnd type="triangle" w="sm" len="sm"/>
          </a:ln>
        </p:spPr>
      </p:cxnSp>
      <p:sp>
        <p:nvSpPr>
          <p:cNvPr id="9" name="">
            <a:extLst xmlns:a="http://schemas.openxmlformats.org/drawingml/2006/main">
              <a:ext uri="{FF2B5EF4-FFF2-40B4-BE49-F238E27FC236}">
                <a16:creationId xmlns:a16="http://schemas.microsoft.com/office/drawing/2014/main" id="{F478FD95-B155-4E72-9B53-128356A3D003}"/>
              </a:ext>
            </a:extLst>
          </p:cNvPr>
          <p:cNvSpPr>
            <a:spLocks xmlns:a="http://schemas.openxmlformats.org/drawingml/2006/main" noGrp="1"/>
          </p:cNvSpPr>
          <p:nvPr/>
        </p:nvSpPr>
        <p:spPr>
          <a:xfrm xmlns:a="http://schemas.openxmlformats.org/drawingml/2006/main">
            <a:off x="571500" y="3667125"/>
            <a:ext cx="295275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3A9BB"/>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Native SigLIP image</a:t>
            </a:r>
          </a:p>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768-vector</a:t>
            </a:r>
          </a:p>
        </p:txBody>
      </p:sp>
      <p:sp>
        <p:nvSpPr>
          <p:cNvPr id="10" name="">
            <a:extLst xmlns:a="http://schemas.openxmlformats.org/drawingml/2006/main">
              <a:ext uri="{FF2B5EF4-FFF2-40B4-BE49-F238E27FC236}">
                <a16:creationId xmlns:a16="http://schemas.microsoft.com/office/drawing/2014/main" id="{E8333B36-21F8-4B73-9866-3730179B70F3}"/>
              </a:ext>
            </a:extLst>
          </p:cNvPr>
          <p:cNvSpPr>
            <a:spLocks xmlns:a="http://schemas.openxmlformats.org/drawingml/2006/main" noGrp="1"/>
          </p:cNvSpPr>
          <p:nvPr/>
        </p:nvSpPr>
        <p:spPr>
          <a:xfrm xmlns:a="http://schemas.openxmlformats.org/drawingml/2006/main">
            <a:off x="5048250" y="3667125"/>
            <a:ext cx="285750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3A9BB"/>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One shared index</a:t>
            </a:r>
          </a:p>
        </p:txBody>
      </p:sp>
      <p:cxnSp>
        <p:nvCxnSpPr>
          <p:cNvPr id="25" name=""/>
          <p:cNvCxnSpPr>
            <a:stCxn xmlns:a="http://schemas.openxmlformats.org/drawingml/2006/main" id="9" idx="3"/>
            <a:endCxn xmlns:a="http://schemas.openxmlformats.org/drawingml/2006/main" id="10" idx="1"/>
          </p:cNvCxnSpPr>
          <p:nvPr/>
        </p:nvCxnSpPr>
        <p:spPr>
          <a:xfrm xmlns:a="http://schemas.openxmlformats.org/drawingml/2006/main">
            <a:off x="3524250" y="4071938"/>
            <a:ext cx="1524000" cy="0"/>
          </a:xfrm>
          <a:prstGeom xmlns:a="http://schemas.openxmlformats.org/drawingml/2006/main" prst="straightConnector1">
            <a:avLst/>
          </a:prstGeom>
          <a:ln xmlns:a="http://schemas.openxmlformats.org/drawingml/2006/main" w="19050">
            <a:solidFill>
              <a:srgbClr val="087F83"/>
            </a:solidFill>
            <a:tailEnd type="triangle" w="sm" len="sm"/>
          </a:ln>
        </p:spPr>
      </p:cxnSp>
      <p:cxnSp>
        <p:nvCxnSpPr>
          <p:cNvPr id="26" name=""/>
          <p:cNvCxnSpPr>
            <a:stCxn xmlns:a="http://schemas.openxmlformats.org/drawingml/2006/main" id="6" idx="2"/>
            <a:endCxn xmlns:a="http://schemas.openxmlformats.org/drawingml/2006/main" id="10" idx="3"/>
          </p:cNvCxnSpPr>
          <p:nvPr/>
        </p:nvCxnSpPr>
        <p:spPr>
          <a:xfrm xmlns:a="http://schemas.openxmlformats.org/drawingml/2006/main" flipH="1">
            <a:off x="7905750" y="2476500"/>
            <a:ext cx="1809750" cy="1595438"/>
          </a:xfrm>
          <a:prstGeom xmlns:a="http://schemas.openxmlformats.org/drawingml/2006/main" prst="bentConnector5">
            <a:avLst>
              <a:gd name="adj1" fmla="val 0"/>
              <a:gd name="adj2" fmla="val 14328"/>
              <a:gd name="adj3" fmla="val 87368"/>
            </a:avLst>
          </a:prstGeom>
          <a:ln xmlns:a="http://schemas.openxmlformats.org/drawingml/2006/main" w="19050">
            <a:solidFill>
              <a:srgbClr val="087F83"/>
            </a:solidFill>
            <a:tailEnd type="triangle" w="sm" len="sm"/>
          </a:ln>
        </p:spPr>
      </p:cxnSp>
      <p:sp>
        <p:nvSpPr>
          <p:cNvPr id="13" name="">
            <a:extLst xmlns:a="http://schemas.openxmlformats.org/drawingml/2006/main">
              <a:ext uri="{FF2B5EF4-FFF2-40B4-BE49-F238E27FC236}">
                <a16:creationId xmlns:a16="http://schemas.microsoft.com/office/drawing/2014/main" id="{8E1AD867-CAA2-4CF1-AA35-9D8104B4369D}"/>
              </a:ext>
            </a:extLst>
          </p:cNvPr>
          <p:cNvSpPr>
            <a:spLocks xmlns:a="http://schemas.openxmlformats.org/drawingml/2006/main" noGrp="1"/>
          </p:cNvSpPr>
          <p:nvPr/>
        </p:nvSpPr>
        <p:spPr>
          <a:xfrm xmlns:a="http://schemas.openxmlformats.org/drawingml/2006/main">
            <a:off x="571500" y="50958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Query “a cat on a chair”: SigLIP text supplies the comparison vector.</a:t>
            </a:r>
          </a:p>
        </p:txBody>
      </p:sp>
      <p:sp>
        <p:nvSpPr>
          <p:cNvPr id="14" name="">
            <a:extLst xmlns:a="http://schemas.openxmlformats.org/drawingml/2006/main">
              <a:ext uri="{FF2B5EF4-FFF2-40B4-BE49-F238E27FC236}">
                <a16:creationId xmlns:a16="http://schemas.microsoft.com/office/drawing/2014/main" id="{228966F7-47E2-4F66-AFF4-A444A7942038}"/>
              </a:ext>
            </a:extLst>
          </p:cNvPr>
          <p:cNvSpPr>
            <a:spLocks xmlns:a="http://schemas.openxmlformats.org/drawingml/2006/main" noGrp="1"/>
          </p:cNvSpPr>
          <p:nvPr/>
        </p:nvSpPr>
        <p:spPr>
          <a:xfrm xmlns:a="http://schemas.openxmlformats.org/drawingml/2006/main">
            <a:off x="571500" y="56483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Fit: 3,000 paired images. Test: 1,000 held-out images.</a:t>
            </a:r>
          </a:p>
        </p:txBody>
      </p:sp>
    </p:spTree>
    <p:extLst>
      <p:ext uri="{BB962C8B-B14F-4D97-AF65-F5344CB8AC3E}">
        <p14:creationId xmlns:p14="http://schemas.microsoft.com/office/powerpoint/2010/main" val="20234114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97347B-96A5-44EC-B388-4FFD3C765736}"/>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Experiment B: retrieval quality and its cost</a:t>
            </a:r>
          </a:p>
        </p:txBody>
      </p:sp>
      <p:sp>
        <p:nvSpPr>
          <p:cNvPr id="2" name="">
            <a:extLst xmlns:a="http://schemas.openxmlformats.org/drawingml/2006/main">
              <a:ext uri="{FF2B5EF4-FFF2-40B4-BE49-F238E27FC236}">
                <a16:creationId xmlns:a16="http://schemas.microsoft.com/office/drawing/2014/main" id="{71E35442-B067-4F38-9EDD-52BD9A150872}"/>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§4, Tables 4–5; 1,000 candidates, one-caption query protocol</a:t>
            </a:r>
          </a:p>
        </p:txBody>
      </p:sp>
      <p:sp>
        <p:nvSpPr>
          <p:cNvPr id="3" name="">
            <a:extLst xmlns:a="http://schemas.openxmlformats.org/drawingml/2006/main">
              <a:ext uri="{FF2B5EF4-FFF2-40B4-BE49-F238E27FC236}">
                <a16:creationId xmlns:a16="http://schemas.microsoft.com/office/drawing/2014/main" id="{D197964E-7CAC-4EE6-92C4-3246B74AEA60}"/>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8</a:t>
            </a:r>
          </a:p>
        </p:txBody>
      </p:sp>
      <p:graphicFrame>
        <p:nvGraphicFramePr>
          <p:cNvPr id="12" name="Chart"/>
          <p:cNvGraphicFramePr/>
          <p:nvPr/>
        </p:nvGraphicFramePr>
        <p:xfrm>
          <a:off xmlns:a="http://schemas.openxmlformats.org/drawingml/2006/main" x="571500" y="1428750"/>
          <a:ext xmlns:a="http://schemas.openxmlformats.org/drawingml/2006/main" cx="7381875" cy="3905250"/>
        </p:xfrm>
        <a:graphic xmlns:a="http://schemas.openxmlformats.org/drawingml/2006/main">
          <a:graphicData uri="http://schemas.openxmlformats.org/drawingml/2006/chart">
            <c:chart xmlns:r="http://schemas.openxmlformats.org/officeDocument/2006/relationships" xmlns:c="http://schemas.openxmlformats.org/drawingml/2006/chart" r:id="Rf253327c28104f64"/>
          </a:graphicData>
        </a:graphic>
      </p:graphicFrame>
      <p:sp>
        <p:nvSpPr>
          <p:cNvPr id="5" name="">
            <a:extLst xmlns:a="http://schemas.openxmlformats.org/drawingml/2006/main">
              <a:ext uri="{FF2B5EF4-FFF2-40B4-BE49-F238E27FC236}">
                <a16:creationId xmlns:a16="http://schemas.microsoft.com/office/drawing/2014/main" id="{28DAA148-5DD3-4F55-BC75-4826BB4E1AAA}"/>
              </a:ext>
            </a:extLst>
          </p:cNvPr>
          <p:cNvSpPr>
            <a:spLocks xmlns:a="http://schemas.openxmlformats.org/drawingml/2006/main" noGrp="1"/>
          </p:cNvSpPr>
          <p:nvPr/>
        </p:nvSpPr>
        <p:spPr>
          <a:xfrm xmlns:a="http://schemas.openxmlformats.org/drawingml/2006/main">
            <a:off x="8477250" y="1666875"/>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087F83"/>
                </a:solidFill>
                <a:latin typeface="Arial"/>
                <a:ea typeface="Arial"/>
                <a:cs typeface="Arial"/>
              </a:defRPr>
            </a:pPr>
            <a:r>
              <a:rPr sz="4500" b="1">
                <a:solidFill>
                  <a:srgbClr val="087F83"/>
                </a:solidFill>
                <a:latin typeface="Arial"/>
                <a:ea typeface="Arial"/>
                <a:cs typeface="Arial"/>
              </a:rPr>
              <a:t>95.3%</a:t>
            </a:r>
          </a:p>
        </p:txBody>
      </p:sp>
      <p:sp>
        <p:nvSpPr>
          <p:cNvPr id="6" name="">
            <a:extLst xmlns:a="http://schemas.openxmlformats.org/drawingml/2006/main">
              <a:ext uri="{FF2B5EF4-FFF2-40B4-BE49-F238E27FC236}">
                <a16:creationId xmlns:a16="http://schemas.microsoft.com/office/drawing/2014/main" id="{FA09AB61-56BC-4F5A-964D-B567581FACA6}"/>
              </a:ext>
            </a:extLst>
          </p:cNvPr>
          <p:cNvSpPr>
            <a:spLocks xmlns:a="http://schemas.openxmlformats.org/drawingml/2006/main" noGrp="1"/>
          </p:cNvSpPr>
          <p:nvPr/>
        </p:nvSpPr>
        <p:spPr>
          <a:xfrm xmlns:a="http://schemas.openxmlformats.org/drawingml/2006/main">
            <a:off x="8477250" y="25717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45"/>
                </a:solidFill>
                <a:latin typeface="Arial"/>
                <a:ea typeface="Arial"/>
                <a:cs typeface="Arial"/>
              </a:defRPr>
            </a:pPr>
            <a:r>
              <a:rPr sz="2100" b="0">
                <a:solidFill>
                  <a:srgbClr val="142A45"/>
                </a:solidFill>
                <a:latin typeface="Arial"/>
                <a:ea typeface="Arial"/>
                <a:cs typeface="Arial"/>
              </a:rPr>
              <a:t>of native R@5</a:t>
            </a:r>
          </a:p>
          <a:p xmlns:a="http://schemas.openxmlformats.org/drawingml/2006/main">
            <a:pPr>
              <a:defRPr sz="2100" b="0">
                <a:solidFill>
                  <a:srgbClr val="142A45"/>
                </a:solidFill>
                <a:latin typeface="Arial"/>
                <a:ea typeface="Arial"/>
                <a:cs typeface="Arial"/>
              </a:defRPr>
            </a:pPr>
            <a:r>
              <a:rPr sz="2100" b="0">
                <a:solidFill>
                  <a:srgbClr val="142A45"/>
                </a:solidFill>
                <a:latin typeface="Arial"/>
                <a:ea typeface="Arial"/>
                <a:cs typeface="Arial"/>
              </a:rPr>
              <a:t>0.843 / 0.885</a:t>
            </a:r>
          </a:p>
        </p:txBody>
      </p:sp>
      <p:sp>
        <p:nvSpPr>
          <p:cNvPr id="7" name="">
            <a:extLst xmlns:a="http://schemas.openxmlformats.org/drawingml/2006/main">
              <a:ext uri="{FF2B5EF4-FFF2-40B4-BE49-F238E27FC236}">
                <a16:creationId xmlns:a16="http://schemas.microsoft.com/office/drawing/2014/main" id="{20574A22-C2D9-45D0-9490-8614C4157E22}"/>
              </a:ext>
            </a:extLst>
          </p:cNvPr>
          <p:cNvSpPr>
            <a:spLocks xmlns:a="http://schemas.openxmlformats.org/drawingml/2006/main" noGrp="1"/>
          </p:cNvSpPr>
          <p:nvPr/>
        </p:nvSpPr>
        <p:spPr>
          <a:xfrm xmlns:a="http://schemas.openxmlformats.org/drawingml/2006/main">
            <a:off x="8239125" y="4143375"/>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75E23"/>
                </a:solidFill>
                <a:latin typeface="Arial"/>
                <a:ea typeface="Arial"/>
                <a:cs typeface="Arial"/>
              </a:defRPr>
            </a:pPr>
            <a:r>
              <a:rPr sz="1875" b="0">
                <a:solidFill>
                  <a:srgbClr val="B75E23"/>
                </a:solidFill>
                <a:latin typeface="Arial"/>
                <a:ea typeface="Arial"/>
                <a:cs typeface="Arial"/>
              </a:rPr>
              <a:t>R@1 retention: 88.4%</a:t>
            </a:r>
          </a:p>
          <a:p xmlns:a="http://schemas.openxmlformats.org/drawingml/2006/main">
            <a:pPr>
              <a:defRPr sz="1875" b="0">
                <a:solidFill>
                  <a:srgbClr val="B75E23"/>
                </a:solidFill>
                <a:latin typeface="Arial"/>
                <a:ea typeface="Arial"/>
                <a:cs typeface="Arial"/>
              </a:defRPr>
            </a:pPr>
            <a:r>
              <a:rPr sz="1875" b="0">
                <a:solidFill>
                  <a:srgbClr val="B75E23"/>
                </a:solidFill>
                <a:latin typeface="Arial"/>
                <a:ea typeface="Arial"/>
                <a:cs typeface="Arial"/>
              </a:rPr>
              <a:t>Below the 90% gate</a:t>
            </a:r>
          </a:p>
        </p:txBody>
      </p:sp>
      <p:sp>
        <p:nvSpPr>
          <p:cNvPr id="8" name="">
            <a:extLst xmlns:a="http://schemas.openxmlformats.org/drawingml/2006/main">
              <a:ext uri="{FF2B5EF4-FFF2-40B4-BE49-F238E27FC236}">
                <a16:creationId xmlns:a16="http://schemas.microsoft.com/office/drawing/2014/main" id="{501620BE-EC8D-4F7B-AB03-D52B2621671B}"/>
              </a:ext>
            </a:extLst>
          </p:cNvPr>
          <p:cNvSpPr>
            <a:spLocks xmlns:a="http://schemas.openxmlformats.org/drawingml/2006/main" noGrp="1"/>
          </p:cNvSpPr>
          <p:nvPr/>
        </p:nvSpPr>
        <p:spPr>
          <a:xfrm xmlns:a="http://schemas.openxmlformats.org/drawingml/2006/main">
            <a:off x="571500" y="56483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R@5: the matching image appears among the first five results.</a:t>
            </a:r>
          </a:p>
        </p:txBody>
      </p:sp>
    </p:spTree>
    <p:extLst>
      <p:ext uri="{BB962C8B-B14F-4D97-AF65-F5344CB8AC3E}">
        <p14:creationId xmlns:p14="http://schemas.microsoft.com/office/powerpoint/2010/main" val="138713339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1E67DF-8D86-4D88-9DD4-46D1C0D42448}"/>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Small adapter, measurable deployment advantages</a:t>
            </a:r>
          </a:p>
        </p:txBody>
      </p:sp>
      <p:sp>
        <p:nvSpPr>
          <p:cNvPr id="2" name="">
            <a:extLst xmlns:a="http://schemas.openxmlformats.org/drawingml/2006/main">
              <a:ext uri="{FF2B5EF4-FFF2-40B4-BE49-F238E27FC236}">
                <a16:creationId xmlns:a16="http://schemas.microsoft.com/office/drawing/2014/main" id="{0A87B70D-831D-4A26-9F71-D1978730C575}"/>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§§4.4–4.6; Results Summary, F1–F5; Apple MobileCLIP repository</a:t>
            </a:r>
          </a:p>
        </p:txBody>
      </p:sp>
      <p:sp>
        <p:nvSpPr>
          <p:cNvPr id="3" name="">
            <a:extLst xmlns:a="http://schemas.openxmlformats.org/drawingml/2006/main">
              <a:ext uri="{FF2B5EF4-FFF2-40B4-BE49-F238E27FC236}">
                <a16:creationId xmlns:a16="http://schemas.microsoft.com/office/drawing/2014/main" id="{ACC94379-3A10-40F1-9703-6B12E91E5E73}"/>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9</a:t>
            </a:r>
          </a:p>
        </p:txBody>
      </p:sp>
      <p:sp>
        <p:nvSpPr>
          <p:cNvPr id="4" name="">
            <a:extLst xmlns:a="http://schemas.openxmlformats.org/drawingml/2006/main">
              <a:ext uri="{FF2B5EF4-FFF2-40B4-BE49-F238E27FC236}">
                <a16:creationId xmlns:a16="http://schemas.microsoft.com/office/drawing/2014/main" id="{DC06EDA0-828D-4492-A9C9-DE821485B577}"/>
              </a:ext>
            </a:extLst>
          </p:cNvPr>
          <p:cNvSpPr>
            <a:spLocks xmlns:a="http://schemas.openxmlformats.org/drawingml/2006/main" noGrp="1"/>
          </p:cNvSpPr>
          <p:nvPr/>
        </p:nvSpPr>
        <p:spPr>
          <a:xfrm xmlns:a="http://schemas.openxmlformats.org/drawingml/2006/main">
            <a:off x="571500" y="1524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45"/>
                </a:solidFill>
                <a:latin typeface="Arial"/>
                <a:ea typeface="Arial"/>
                <a:cs typeface="Arial"/>
              </a:defRPr>
            </a:pPr>
            <a:r>
              <a:rPr sz="2100" b="0">
                <a:solidFill>
                  <a:srgbClr val="142A45"/>
                </a:solidFill>
                <a:latin typeface="Arial"/>
                <a:ea typeface="Arial"/>
                <a:cs typeface="Arial"/>
              </a:rPr>
              <a:t>0.79 MB fp16 adapter: 393,216 coefficients; one matrix multiply plus normalization.</a:t>
            </a:r>
          </a:p>
        </p:txBody>
      </p:sp>
      <p:sp>
        <p:nvSpPr>
          <p:cNvPr id="5" name="">
            <a:extLst xmlns:a="http://schemas.openxmlformats.org/drawingml/2006/main">
              <a:ext uri="{FF2B5EF4-FFF2-40B4-BE49-F238E27FC236}">
                <a16:creationId xmlns:a16="http://schemas.microsoft.com/office/drawing/2014/main" id="{369A15CA-CE73-4137-BA3E-99B8EA34253D}"/>
              </a:ext>
            </a:extLst>
          </p:cNvPr>
          <p:cNvSpPr>
            <a:spLocks xmlns:a="http://schemas.openxmlformats.org/drawingml/2006/main" noGrp="1"/>
          </p:cNvSpPr>
          <p:nvPr/>
        </p:nvSpPr>
        <p:spPr>
          <a:xfrm xmlns:a="http://schemas.openxmlformats.org/drawingml/2006/main">
            <a:off x="571500" y="24765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45"/>
                </a:solidFill>
                <a:latin typeface="Arial"/>
                <a:ea typeface="Arial"/>
                <a:cs typeface="Arial"/>
              </a:defRPr>
            </a:pPr>
            <a:r>
              <a:rPr sz="2100" b="0">
                <a:solidFill>
                  <a:srgbClr val="142A45"/>
                </a:solidFill>
                <a:latin typeface="Arial"/>
                <a:ea typeface="Arial"/>
                <a:cs typeface="Arial"/>
              </a:rPr>
              <a:t>MobileCLIP-S1 vision tower: 21.5M parameters. Small enough to target constrained devices.</a:t>
            </a:r>
          </a:p>
        </p:txBody>
      </p:sp>
      <p:sp>
        <p:nvSpPr>
          <p:cNvPr id="6" name="">
            <a:extLst xmlns:a="http://schemas.openxmlformats.org/drawingml/2006/main">
              <a:ext uri="{FF2B5EF4-FFF2-40B4-BE49-F238E27FC236}">
                <a16:creationId xmlns:a16="http://schemas.microsoft.com/office/drawing/2014/main" id="{A494697B-765A-47DF-9B45-F2DC91276269}"/>
              </a:ext>
            </a:extLst>
          </p:cNvPr>
          <p:cNvSpPr>
            <a:spLocks xmlns:a="http://schemas.openxmlformats.org/drawingml/2006/main" noGrp="1"/>
          </p:cNvSpPr>
          <p:nvPr/>
        </p:nvSpPr>
        <p:spPr>
          <a:xfrm xmlns:a="http://schemas.openxmlformats.org/drawingml/2006/main">
            <a:off x="571500" y="34290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45"/>
                </a:solidFill>
                <a:latin typeface="Arial"/>
                <a:ea typeface="Arial"/>
                <a:cs typeface="Arial"/>
              </a:defRPr>
            </a:pPr>
            <a:r>
              <a:rPr sz="2100" b="0">
                <a:solidFill>
                  <a:srgbClr val="142A45"/>
                </a:solidFill>
                <a:latin typeface="Arial"/>
                <a:ea typeface="Arial"/>
                <a:cs typeface="Arial"/>
              </a:rPr>
              <a:t>Core ML export and shared Qdrant index: reuse one search space across device tiers.</a:t>
            </a:r>
          </a:p>
        </p:txBody>
      </p:sp>
      <p:sp>
        <p:nvSpPr>
          <p:cNvPr id="7" name="">
            <a:extLst xmlns:a="http://schemas.openxmlformats.org/drawingml/2006/main">
              <a:ext uri="{FF2B5EF4-FFF2-40B4-BE49-F238E27FC236}">
                <a16:creationId xmlns:a16="http://schemas.microsoft.com/office/drawing/2014/main" id="{FD533D16-4913-4065-BFC2-1C3C455B21F9}"/>
              </a:ext>
            </a:extLst>
          </p:cNvPr>
          <p:cNvSpPr>
            <a:spLocks xmlns:a="http://schemas.openxmlformats.org/drawingml/2006/main" noGrp="1"/>
          </p:cNvSpPr>
          <p:nvPr/>
        </p:nvSpPr>
        <p:spPr>
          <a:xfrm xmlns:a="http://schemas.openxmlformats.org/drawingml/2006/main">
            <a:off x="571500" y="438150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45"/>
                </a:solidFill>
                <a:latin typeface="Arial"/>
                <a:ea typeface="Arial"/>
                <a:cs typeface="Arial"/>
              </a:defRPr>
            </a:pPr>
            <a:r>
              <a:rPr sz="2100" b="0">
                <a:solidFill>
                  <a:srgbClr val="142A45"/>
                </a:solidFill>
                <a:latin typeface="Arial"/>
                <a:ea typeface="Arial"/>
                <a:cs typeface="Arial"/>
              </a:rPr>
              <a:t>Cosine measures direction agreement: MLP 0.903 versus ridge 0.900. Little measured gain.</a:t>
            </a:r>
          </a:p>
        </p:txBody>
      </p:sp>
      <p:sp>
        <p:nvSpPr>
          <p:cNvPr id="8" name="">
            <a:extLst xmlns:a="http://schemas.openxmlformats.org/drawingml/2006/main">
              <a:ext uri="{FF2B5EF4-FFF2-40B4-BE49-F238E27FC236}">
                <a16:creationId xmlns:a16="http://schemas.microsoft.com/office/drawing/2014/main" id="{556423AC-06F8-4EA3-86D4-79556D67C60C}"/>
              </a:ext>
            </a:extLst>
          </p:cNvPr>
          <p:cNvSpPr>
            <a:spLocks xmlns:a="http://schemas.openxmlformats.org/drawingml/2006/main" noGrp="1"/>
          </p:cNvSpPr>
          <p:nvPr/>
        </p:nvSpPr>
        <p:spPr>
          <a:xfrm xmlns:a="http://schemas.openxmlformats.org/drawingml/2006/main">
            <a:off x="571500" y="56483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Reported prototype timings are not device-wide latency, battery or privacy guarantees.</a:t>
            </a:r>
          </a:p>
        </p:txBody>
      </p:sp>
    </p:spTree>
    <p:extLst>
      <p:ext uri="{BB962C8B-B14F-4D97-AF65-F5344CB8AC3E}">
        <p14:creationId xmlns:p14="http://schemas.microsoft.com/office/powerpoint/2010/main" val="3714806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529670-F820-415B-A215-EEC8B9509EDE}"/>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Cross-modal test before the hub</a:t>
            </a:r>
          </a:p>
        </p:txBody>
      </p:sp>
      <p:sp>
        <p:nvSpPr>
          <p:cNvPr id="2" name="">
            <a:extLst xmlns:a="http://schemas.openxmlformats.org/drawingml/2006/main">
              <a:ext uri="{FF2B5EF4-FFF2-40B4-BE49-F238E27FC236}">
                <a16:creationId xmlns:a16="http://schemas.microsoft.com/office/drawing/2014/main" id="{D864A0D3-1736-4741-8FAD-E07B8FC2E56E}"/>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C.9 and E-series; E1 single-caption versus five-caption treatment</a:t>
            </a:r>
          </a:p>
        </p:txBody>
      </p:sp>
      <p:sp>
        <p:nvSpPr>
          <p:cNvPr id="3" name="">
            <a:extLst xmlns:a="http://schemas.openxmlformats.org/drawingml/2006/main">
              <a:ext uri="{FF2B5EF4-FFF2-40B4-BE49-F238E27FC236}">
                <a16:creationId xmlns:a16="http://schemas.microsoft.com/office/drawing/2014/main" id="{AC60E715-028D-4F1D-ADE0-87C53305BD34}"/>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C2717A25-0248-484E-898D-2802CEA6924D}"/>
              </a:ext>
            </a:extLst>
          </p:cNvPr>
          <p:cNvSpPr>
            <a:spLocks xmlns:a="http://schemas.openxmlformats.org/drawingml/2006/main" noGrp="1"/>
          </p:cNvSpPr>
          <p:nvPr/>
        </p:nvSpPr>
        <p:spPr>
          <a:xfrm xmlns:a="http://schemas.openxmlformats.org/drawingml/2006/main">
            <a:off x="571500" y="1524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A45"/>
                </a:solidFill>
                <a:latin typeface="Arial"/>
                <a:ea typeface="Arial"/>
                <a:cs typeface="Arial"/>
              </a:defRPr>
            </a:pPr>
            <a:r>
              <a:rPr sz="2250" b="0">
                <a:solidFill>
                  <a:srgbClr val="142A45"/>
                </a:solidFill>
                <a:latin typeface="Arial"/>
                <a:ea typeface="Arial"/>
                <a:cs typeface="Arial"/>
              </a:rPr>
              <a:t>Image: DINOv2 representation. Text: bge representation of matching captions.</a:t>
            </a:r>
          </a:p>
        </p:txBody>
      </p:sp>
      <p:sp>
        <p:nvSpPr>
          <p:cNvPr id="5" name="">
            <a:extLst xmlns:a="http://schemas.openxmlformats.org/drawingml/2006/main">
              <a:ext uri="{FF2B5EF4-FFF2-40B4-BE49-F238E27FC236}">
                <a16:creationId xmlns:a16="http://schemas.microsoft.com/office/drawing/2014/main" id="{5A2D96E1-762D-4BE8-9960-483CBBEA3584}"/>
              </a:ext>
            </a:extLst>
          </p:cNvPr>
          <p:cNvSpPr>
            <a:spLocks xmlns:a="http://schemas.openxmlformats.org/drawingml/2006/main" noGrp="1"/>
          </p:cNvSpPr>
          <p:nvPr/>
        </p:nvSpPr>
        <p:spPr>
          <a:xfrm xmlns:a="http://schemas.openxmlformats.org/drawingml/2006/main">
            <a:off x="571500" y="25717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A45"/>
                </a:solidFill>
                <a:latin typeface="Arial"/>
                <a:ea typeface="Arial"/>
                <a:cs typeface="Arial"/>
              </a:defRPr>
            </a:pPr>
            <a:r>
              <a:rPr sz="2250" b="0">
                <a:solidFill>
                  <a:srgbClr val="142A45"/>
                </a:solidFill>
                <a:latin typeface="Arial"/>
                <a:ea typeface="Arial"/>
                <a:cs typeface="Arial"/>
              </a:rPr>
              <a:t>Fit paired vectors with ridge while both pretrained encoders stay frozen.</a:t>
            </a:r>
          </a:p>
        </p:txBody>
      </p:sp>
      <p:sp>
        <p:nvSpPr>
          <p:cNvPr id="6" name="">
            <a:extLst xmlns:a="http://schemas.openxmlformats.org/drawingml/2006/main">
              <a:ext uri="{FF2B5EF4-FFF2-40B4-BE49-F238E27FC236}">
                <a16:creationId xmlns:a16="http://schemas.microsoft.com/office/drawing/2014/main" id="{B76D49B9-871C-4318-B17C-5D6E21B8AFC1}"/>
              </a:ext>
            </a:extLst>
          </p:cNvPr>
          <p:cNvSpPr>
            <a:spLocks xmlns:a="http://schemas.openxmlformats.org/drawingml/2006/main" noGrp="1"/>
          </p:cNvSpPr>
          <p:nvPr/>
        </p:nvSpPr>
        <p:spPr>
          <a:xfrm xmlns:a="http://schemas.openxmlformats.org/drawingml/2006/main">
            <a:off x="571500" y="36195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A45"/>
                </a:solidFill>
                <a:latin typeface="Arial"/>
                <a:ea typeface="Arial"/>
                <a:cs typeface="Arial"/>
              </a:defRPr>
            </a:pPr>
            <a:r>
              <a:rPr sz="2250" b="0">
                <a:solidFill>
                  <a:srgbClr val="142A45"/>
                </a:solidFill>
                <a:latin typeface="Arial"/>
                <a:ea typeface="Arial"/>
                <a:cs typeface="Arial"/>
              </a:rPr>
              <a:t>R@1 = 0.358: the correct target ranks first for 35.8% of 1,000 test queries.</a:t>
            </a:r>
          </a:p>
        </p:txBody>
      </p:sp>
      <p:sp>
        <p:nvSpPr>
          <p:cNvPr id="7" name="">
            <a:extLst xmlns:a="http://schemas.openxmlformats.org/drawingml/2006/main">
              <a:ext uri="{FF2B5EF4-FFF2-40B4-BE49-F238E27FC236}">
                <a16:creationId xmlns:a16="http://schemas.microsoft.com/office/drawing/2014/main" id="{A7A71ABD-9734-45EC-8E1C-A1AFE10DC9FA}"/>
              </a:ext>
            </a:extLst>
          </p:cNvPr>
          <p:cNvSpPr>
            <a:spLocks xmlns:a="http://schemas.openxmlformats.org/drawingml/2006/main" noGrp="1"/>
          </p:cNvSpPr>
          <p:nvPr/>
        </p:nvSpPr>
        <p:spPr>
          <a:xfrm xmlns:a="http://schemas.openxmlformats.org/drawingml/2006/main">
            <a:off x="571500" y="48577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83"/>
                </a:solidFill>
                <a:latin typeface="Arial"/>
                <a:ea typeface="Arial"/>
                <a:cs typeface="Arial"/>
              </a:defRPr>
            </a:pPr>
            <a:r>
              <a:rPr sz="2925" b="1">
                <a:solidFill>
                  <a:srgbClr val="087F83"/>
                </a:solidFill>
                <a:latin typeface="Arial"/>
                <a:ea typeface="Arial"/>
                <a:cs typeface="Arial"/>
              </a:rPr>
              <a:t>40.9% of matched reference</a:t>
            </a:r>
          </a:p>
        </p:txBody>
      </p:sp>
      <p:sp>
        <p:nvSpPr>
          <p:cNvPr id="8" name="">
            <a:extLst xmlns:a="http://schemas.openxmlformats.org/drawingml/2006/main">
              <a:ext uri="{FF2B5EF4-FFF2-40B4-BE49-F238E27FC236}">
                <a16:creationId xmlns:a16="http://schemas.microsoft.com/office/drawing/2014/main" id="{D6392EB2-2ACC-4635-B8DC-2717EF8DA255}"/>
              </a:ext>
            </a:extLst>
          </p:cNvPr>
          <p:cNvSpPr>
            <a:spLocks xmlns:a="http://schemas.openxmlformats.org/drawingml/2006/main" noGrp="1"/>
          </p:cNvSpPr>
          <p:nvPr/>
        </p:nvSpPr>
        <p:spPr>
          <a:xfrm xmlns:a="http://schemas.openxmlformats.org/drawingml/2006/main">
            <a:off x="571500" y="56483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0.358 / 0.875. Five-caption averaging applies to both method and reference.</a:t>
            </a:r>
          </a:p>
        </p:txBody>
      </p:sp>
    </p:spTree>
    <p:extLst>
      <p:ext uri="{BB962C8B-B14F-4D97-AF65-F5344CB8AC3E}">
        <p14:creationId xmlns:p14="http://schemas.microsoft.com/office/powerpoint/2010/main" val="7891150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FDCD9C-D9AD-4CE8-9389-A4168DDD4E73}"/>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Engineering system 2: the shared hub</a:t>
            </a:r>
          </a:p>
        </p:txBody>
      </p:sp>
      <p:sp>
        <p:nvSpPr>
          <p:cNvPr id="2" name="">
            <a:extLst xmlns:a="http://schemas.openxmlformats.org/drawingml/2006/main">
              <a:ext uri="{FF2B5EF4-FFF2-40B4-BE49-F238E27FC236}">
                <a16:creationId xmlns:a16="http://schemas.microsoft.com/office/drawing/2014/main" id="{12C79AA8-453F-42AD-A398-F9B97F419E7B}"/>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C.13 and E.14; published 4-space, intermediate 5-space, extended 7-space</a:t>
            </a:r>
          </a:p>
        </p:txBody>
      </p:sp>
      <p:sp>
        <p:nvSpPr>
          <p:cNvPr id="3" name="">
            <a:extLst xmlns:a="http://schemas.openxmlformats.org/drawingml/2006/main">
              <a:ext uri="{FF2B5EF4-FFF2-40B4-BE49-F238E27FC236}">
                <a16:creationId xmlns:a16="http://schemas.microsoft.com/office/drawing/2014/main" id="{493B23C3-4E79-40A3-8739-3DD9687CE0BF}"/>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11</a:t>
            </a:r>
          </a:p>
        </p:txBody>
      </p:sp>
      <p:graphicFrame>
        <p:nvGraphicFramePr>
          <p:cNvPr id="10" name=""/>
          <p:cNvGraphicFramePr/>
          <p:nvPr/>
        </p:nvGraphicFramePr>
        <p:xfrm>
          <a:off xmlns:a="http://schemas.openxmlformats.org/drawingml/2006/main" x="571500" y="1571625"/>
          <a:ext xmlns:a="http://schemas.openxmlformats.org/drawingml/2006/main" cx="11049000" cy="2381250"/>
        </p:xfrm>
        <a:graphic xmlns:a="http://schemas.openxmlformats.org/drawingml/2006/main">
          <a:graphicData uri="http://schemas.openxmlformats.org/drawingml/2006/table">
            <a:tbl>
              <a:tblPr/>
              <a:tblGrid>
                <a:gridCol w="2762250"/>
                <a:gridCol w="6000750"/>
                <a:gridCol w="2286000"/>
              </a:tblGrid>
              <a:tr h="595313">
                <a:tc>
                  <a:txBody>
                    <a:bodyPr/>
                    <a:lstStyle/>
                    <a:p>
                      <a:r>
                        <a:rPr sz="1875" b="1">
                          <a:solidFill>
                            <a:srgbClr val="FFFFFF"/>
                          </a:solidFill>
                          <a:latin typeface="Arial"/>
                          <a:ea typeface="Arial"/>
                          <a:cs typeface="Arial"/>
                        </a:rPr>
                        <a:t>Configuration</a:t>
                      </a:r>
                    </a:p>
                  </a:txBody>
                  <a:tcPr marL="95250" marR="95250" marT="85725" marB="85725" anchor="ctr">
                    <a:solidFill>
                      <a:srgbClr val="142A45"/>
                    </a:solidFill>
                  </a:tcPr>
                </a:tc>
                <a:tc>
                  <a:txBody>
                    <a:bodyPr/>
                    <a:lstStyle/>
                    <a:p>
                      <a:r>
                        <a:rPr sz="1875" b="1">
                          <a:solidFill>
                            <a:srgbClr val="FFFFFF"/>
                          </a:solidFill>
                          <a:latin typeface="Arial"/>
                          <a:ea typeface="Arial"/>
                          <a:cs typeface="Arial"/>
                        </a:rPr>
                        <a:t>Members defining the basis</a:t>
                      </a:r>
                    </a:p>
                  </a:txBody>
                  <a:tcPr marL="95250" marR="95250" marT="85725" marB="85725" anchor="ctr">
                    <a:solidFill>
                      <a:srgbClr val="142A45"/>
                    </a:solidFill>
                  </a:tcPr>
                </a:tc>
                <a:tc>
                  <a:txBody>
                    <a:bodyPr/>
                    <a:lstStyle/>
                    <a:p>
                      <a:r>
                        <a:rPr sz="1875" b="1">
                          <a:solidFill>
                            <a:srgbClr val="FFFFFF"/>
                          </a:solidFill>
                          <a:latin typeface="Arial"/>
                          <a:ea typeface="Arial"/>
                          <a:cs typeface="Arial"/>
                        </a:rPr>
                        <a:t>Concat width</a:t>
                      </a:r>
                    </a:p>
                  </a:txBody>
                  <a:tcPr marL="95250" marR="95250" marT="85725" marB="85725" anchor="ctr">
                    <a:solidFill>
                      <a:srgbClr val="142A45"/>
                    </a:solidFill>
                  </a:tcPr>
                </a:tc>
              </a:tr>
              <a:tr h="595313">
                <a:tc>
                  <a:txBody>
                    <a:bodyPr/>
                    <a:lstStyle/>
                    <a:p>
                      <a:r>
                        <a:rPr sz="1875" b="0">
                          <a:solidFill>
                            <a:srgbClr val="142A45"/>
                          </a:solidFill>
                          <a:latin typeface="Arial"/>
                          <a:ea typeface="Arial"/>
                          <a:cs typeface="Arial"/>
                        </a:rPr>
                        <a:t>Published 4-space</a:t>
                      </a:r>
                    </a:p>
                  </a:txBody>
                  <a:tcPr marL="95250" marR="95250" marT="85725" marB="85725" anchor="ctr">
                    <a:solidFill>
                      <a:srgbClr val="F1F5F8"/>
                    </a:solidFill>
                  </a:tcPr>
                </a:tc>
                <a:tc>
                  <a:txBody>
                    <a:bodyPr/>
                    <a:lstStyle/>
                    <a:p>
                      <a:r>
                        <a:rPr sz="1875" b="0">
                          <a:solidFill>
                            <a:srgbClr val="142A45"/>
                          </a:solidFill>
                          <a:latin typeface="Arial"/>
                          <a:ea typeface="Arial"/>
                          <a:cs typeface="Arial"/>
                        </a:rPr>
                        <a:t>DINO small/base/large + bge</a:t>
                      </a:r>
                    </a:p>
                  </a:txBody>
                  <a:tcPr marL="95250" marR="95250" marT="85725" marB="85725" anchor="ctr">
                    <a:solidFill>
                      <a:srgbClr val="F1F5F8"/>
                    </a:solidFill>
                  </a:tcPr>
                </a:tc>
                <a:tc>
                  <a:txBody>
                    <a:bodyPr/>
                    <a:lstStyle/>
                    <a:p>
                      <a:r>
                        <a:rPr sz="1875" b="0">
                          <a:solidFill>
                            <a:srgbClr val="142A45"/>
                          </a:solidFill>
                          <a:latin typeface="Arial"/>
                          <a:ea typeface="Arial"/>
                          <a:cs typeface="Arial"/>
                        </a:rPr>
                        <a:t>5,376</a:t>
                      </a:r>
                    </a:p>
                  </a:txBody>
                  <a:tcPr marL="95250" marR="95250" marT="85725" marB="85725" anchor="ctr">
                    <a:solidFill>
                      <a:srgbClr val="F1F5F8"/>
                    </a:solidFill>
                  </a:tcPr>
                </a:tc>
              </a:tr>
              <a:tr h="595313">
                <a:tc>
                  <a:txBody>
                    <a:bodyPr/>
                    <a:lstStyle/>
                    <a:p>
                      <a:r>
                        <a:rPr sz="1875" b="0">
                          <a:solidFill>
                            <a:srgbClr val="142A45"/>
                          </a:solidFill>
                          <a:latin typeface="Arial"/>
                          <a:ea typeface="Arial"/>
                          <a:cs typeface="Arial"/>
                        </a:rPr>
                        <a:t>Intermediate 5-space</a:t>
                      </a:r>
                    </a:p>
                  </a:txBody>
                  <a:tcPr marL="95250" marR="95250" marT="85725" marB="85725" anchor="ctr">
                    <a:solidFill>
                      <a:srgbClr val="FFFFFF"/>
                    </a:solidFill>
                  </a:tcPr>
                </a:tc>
                <a:tc>
                  <a:txBody>
                    <a:bodyPr/>
                    <a:lstStyle/>
                    <a:p>
                      <a:r>
                        <a:rPr sz="1875" b="0">
                          <a:solidFill>
                            <a:srgbClr val="142A45"/>
                          </a:solidFill>
                          <a:latin typeface="Arial"/>
                          <a:ea typeface="Arial"/>
                          <a:cs typeface="Arial"/>
                        </a:rPr>
                        <a:t>Four-space + GPT-2</a:t>
                      </a:r>
                    </a:p>
                  </a:txBody>
                  <a:tcPr marL="95250" marR="95250" marT="85725" marB="85725" anchor="ctr">
                    <a:solidFill>
                      <a:srgbClr val="FFFFFF"/>
                    </a:solidFill>
                  </a:tcPr>
                </a:tc>
                <a:tc>
                  <a:txBody>
                    <a:bodyPr/>
                    <a:lstStyle/>
                    <a:p>
                      <a:r>
                        <a:rPr sz="1875" b="0">
                          <a:solidFill>
                            <a:srgbClr val="142A45"/>
                          </a:solidFill>
                          <a:latin typeface="Arial"/>
                          <a:ea typeface="Arial"/>
                          <a:cs typeface="Arial"/>
                        </a:rPr>
                        <a:t>6,144</a:t>
                      </a:r>
                    </a:p>
                  </a:txBody>
                  <a:tcPr marL="95250" marR="95250" marT="85725" marB="85725" anchor="ctr">
                    <a:solidFill>
                      <a:srgbClr val="FFFFFF"/>
                    </a:solidFill>
                  </a:tcPr>
                </a:tc>
              </a:tr>
              <a:tr h="595313">
                <a:tc>
                  <a:txBody>
                    <a:bodyPr/>
                    <a:lstStyle/>
                    <a:p>
                      <a:r>
                        <a:rPr sz="1875" b="0">
                          <a:solidFill>
                            <a:srgbClr val="142A45"/>
                          </a:solidFill>
                          <a:latin typeface="Arial"/>
                          <a:ea typeface="Arial"/>
                          <a:cs typeface="Arial"/>
                        </a:rPr>
                        <a:t>Extended 7-space</a:t>
                      </a:r>
                    </a:p>
                  </a:txBody>
                  <a:tcPr marL="95250" marR="95250" marT="85725" marB="85725" anchor="ctr">
                    <a:solidFill>
                      <a:srgbClr val="F1F5F8"/>
                    </a:solidFill>
                  </a:tcPr>
                </a:tc>
                <a:tc>
                  <a:txBody>
                    <a:bodyPr/>
                    <a:lstStyle/>
                    <a:p>
                      <a:r>
                        <a:rPr sz="1875" b="0">
                          <a:solidFill>
                            <a:srgbClr val="142A45"/>
                          </a:solidFill>
                          <a:latin typeface="Arial"/>
                          <a:ea typeface="Arial"/>
                          <a:cs typeface="Arial"/>
                        </a:rPr>
                        <a:t>Five-space + BERT + SBERT</a:t>
                      </a:r>
                    </a:p>
                  </a:txBody>
                  <a:tcPr marL="95250" marR="95250" marT="85725" marB="85725" anchor="ctr">
                    <a:solidFill>
                      <a:srgbClr val="F1F5F8"/>
                    </a:solidFill>
                  </a:tcPr>
                </a:tc>
                <a:tc>
                  <a:txBody>
                    <a:bodyPr/>
                    <a:lstStyle/>
                    <a:p>
                      <a:r>
                        <a:rPr sz="1875" b="0">
                          <a:solidFill>
                            <a:srgbClr val="142A45"/>
                          </a:solidFill>
                          <a:latin typeface="Arial"/>
                          <a:ea typeface="Arial"/>
                          <a:cs typeface="Arial"/>
                        </a:rPr>
                        <a:t>7,680</a:t>
                      </a:r>
                    </a:p>
                  </a:txBody>
                  <a:tcPr marL="95250" marR="95250" marT="85725" marB="8572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16CD34A5-6CEA-4278-8802-C812F1730358}"/>
              </a:ext>
            </a:extLst>
          </p:cNvPr>
          <p:cNvSpPr>
            <a:spLocks xmlns:a="http://schemas.openxmlformats.org/drawingml/2006/main" noGrp="1"/>
          </p:cNvSpPr>
          <p:nvPr/>
        </p:nvSpPr>
        <p:spPr>
          <a:xfrm xmlns:a="http://schemas.openxmlformats.org/drawingml/2006/main">
            <a:off x="571500" y="433387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F83"/>
                </a:solidFill>
                <a:latin typeface="Arial"/>
                <a:ea typeface="Arial"/>
                <a:cs typeface="Arial"/>
              </a:defRPr>
            </a:pPr>
            <a:r>
              <a:rPr sz="2400" b="1">
                <a:solidFill>
                  <a:srgbClr val="087F83"/>
                </a:solidFill>
                <a:latin typeface="Arial"/>
                <a:ea typeface="Arial"/>
                <a:cs typeface="Arial"/>
              </a:rPr>
              <a:t>Scale each space · concatenate · PCA to 512 · whiten</a:t>
            </a:r>
          </a:p>
        </p:txBody>
      </p:sp>
      <p:sp>
        <p:nvSpPr>
          <p:cNvPr id="6" name="">
            <a:extLst xmlns:a="http://schemas.openxmlformats.org/drawingml/2006/main">
              <a:ext uri="{FF2B5EF4-FFF2-40B4-BE49-F238E27FC236}">
                <a16:creationId xmlns:a16="http://schemas.microsoft.com/office/drawing/2014/main" id="{BC361758-4811-41B3-AE1E-4C276C1AFAA5}"/>
              </a:ext>
            </a:extLst>
          </p:cNvPr>
          <p:cNvSpPr>
            <a:spLocks xmlns:a="http://schemas.openxmlformats.org/drawingml/2006/main" noGrp="1"/>
          </p:cNvSpPr>
          <p:nvPr/>
        </p:nvSpPr>
        <p:spPr>
          <a:xfrm xmlns:a="http://schemas.openxmlformats.org/drawingml/2006/main">
            <a:off x="571500" y="56483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Reference H comes from the fitted construction. Entry maps then learn to predict H.</a:t>
            </a:r>
          </a:p>
        </p:txBody>
      </p:sp>
    </p:spTree>
    <p:extLst>
      <p:ext uri="{BB962C8B-B14F-4D97-AF65-F5344CB8AC3E}">
        <p14:creationId xmlns:p14="http://schemas.microsoft.com/office/powerpoint/2010/main" val="88007836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7596321-CCE2-41CE-B378-474261F1CC83}"/>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Training references and prediction routes</a:t>
            </a:r>
          </a:p>
        </p:txBody>
      </p:sp>
      <p:sp>
        <p:nvSpPr>
          <p:cNvPr id="2" name="">
            <a:extLst xmlns:a="http://schemas.openxmlformats.org/drawingml/2006/main">
              <a:ext uri="{FF2B5EF4-FFF2-40B4-BE49-F238E27FC236}">
                <a16:creationId xmlns:a16="http://schemas.microsoft.com/office/drawing/2014/main" id="{6BD7D060-7E63-4A01-ACF5-20D8F98461C6}"/>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C.13; Frozen_Hub_Caption_Transfer_Corrected.pdf</a:t>
            </a:r>
          </a:p>
        </p:txBody>
      </p:sp>
      <p:sp>
        <p:nvSpPr>
          <p:cNvPr id="3" name="">
            <a:extLst xmlns:a="http://schemas.openxmlformats.org/drawingml/2006/main">
              <a:ext uri="{FF2B5EF4-FFF2-40B4-BE49-F238E27FC236}">
                <a16:creationId xmlns:a16="http://schemas.microsoft.com/office/drawing/2014/main" id="{D6201C43-878E-4716-BE22-5238036A5753}"/>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12</a:t>
            </a:r>
          </a:p>
        </p:txBody>
      </p:sp>
      <p:graphicFrame>
        <p:nvGraphicFramePr>
          <p:cNvPr id="16" name=""/>
          <p:cNvGraphicFramePr/>
          <p:nvPr/>
        </p:nvGraphicFramePr>
        <p:xfrm>
          <a:off xmlns:a="http://schemas.openxmlformats.org/drawingml/2006/main" x="571500" y="1428750"/>
          <a:ext xmlns:a="http://schemas.openxmlformats.org/drawingml/2006/main" cx="11049000" cy="2476500"/>
        </p:xfrm>
        <a:graphic xmlns:a="http://schemas.openxmlformats.org/drawingml/2006/main">
          <a:graphicData uri="http://schemas.openxmlformats.org/drawingml/2006/table">
            <a:tbl>
              <a:tblPr/>
              <a:tblGrid>
                <a:gridCol w="2571750"/>
                <a:gridCol w="4095750"/>
                <a:gridCol w="4381500"/>
              </a:tblGrid>
              <a:tr h="619125">
                <a:tc>
                  <a:txBody>
                    <a:bodyPr/>
                    <a:lstStyle/>
                    <a:p>
                      <a:r>
                        <a:rPr sz="1875" b="1">
                          <a:solidFill>
                            <a:srgbClr val="FFFFFF"/>
                          </a:solidFill>
                          <a:latin typeface="Arial"/>
                          <a:ea typeface="Arial"/>
                          <a:cs typeface="Arial"/>
                        </a:rPr>
                        <a:t>Fit</a:t>
                      </a:r>
                    </a:p>
                  </a:txBody>
                  <a:tcPr marL="95250" marR="95250" marT="85725" marB="85725" anchor="ctr">
                    <a:solidFill>
                      <a:srgbClr val="142A45"/>
                    </a:solidFill>
                  </a:tcPr>
                </a:tc>
                <a:tc>
                  <a:txBody>
                    <a:bodyPr/>
                    <a:lstStyle/>
                    <a:p>
                      <a:r>
                        <a:rPr sz="1875" b="1">
                          <a:solidFill>
                            <a:srgbClr val="FFFFFF"/>
                          </a:solidFill>
                          <a:latin typeface="Arial"/>
                          <a:ea typeface="Arial"/>
                          <a:cs typeface="Arial"/>
                        </a:rPr>
                        <a:t>Input</a:t>
                      </a:r>
                    </a:p>
                  </a:txBody>
                  <a:tcPr marL="95250" marR="95250" marT="85725" marB="85725" anchor="ctr">
                    <a:solidFill>
                      <a:srgbClr val="142A45"/>
                    </a:solidFill>
                  </a:tcPr>
                </a:tc>
                <a:tc>
                  <a:txBody>
                    <a:bodyPr/>
                    <a:lstStyle/>
                    <a:p>
                      <a:r>
                        <a:rPr sz="1875" b="1">
                          <a:solidFill>
                            <a:srgbClr val="FFFFFF"/>
                          </a:solidFill>
                          <a:latin typeface="Arial"/>
                          <a:ea typeface="Arial"/>
                          <a:cs typeface="Arial"/>
                        </a:rPr>
                        <a:t>Training reference / target</a:t>
                      </a:r>
                    </a:p>
                  </a:txBody>
                  <a:tcPr marL="95250" marR="95250" marT="85725" marB="85725" anchor="ctr">
                    <a:solidFill>
                      <a:srgbClr val="142A45"/>
                    </a:solidFill>
                  </a:tcPr>
                </a:tc>
              </a:tr>
              <a:tr h="619125">
                <a:tc>
                  <a:txBody>
                    <a:bodyPr/>
                    <a:lstStyle/>
                    <a:p>
                      <a:r>
                        <a:rPr sz="1875" b="0">
                          <a:solidFill>
                            <a:srgbClr val="142A45"/>
                          </a:solidFill>
                          <a:latin typeface="Arial"/>
                          <a:ea typeface="Arial"/>
                          <a:cs typeface="Arial"/>
                        </a:rPr>
                        <a:t>Hub basis</a:t>
                      </a:r>
                    </a:p>
                  </a:txBody>
                  <a:tcPr marL="95250" marR="95250" marT="85725" marB="85725" anchor="ctr">
                    <a:solidFill>
                      <a:srgbClr val="F1F5F8"/>
                    </a:solidFill>
                  </a:tcPr>
                </a:tc>
                <a:tc>
                  <a:txBody>
                    <a:bodyPr/>
                    <a:lstStyle/>
                    <a:p>
                      <a:r>
                        <a:rPr sz="1875" b="0">
                          <a:solidFill>
                            <a:srgbClr val="142A45"/>
                          </a:solidFill>
                          <a:latin typeface="Arial"/>
                          <a:ea typeface="Arial"/>
                          <a:cs typeface="Arial"/>
                        </a:rPr>
                        <a:t>Aligned member embeddings</a:t>
                      </a:r>
                    </a:p>
                  </a:txBody>
                  <a:tcPr marL="95250" marR="95250" marT="85725" marB="85725" anchor="ctr">
                    <a:solidFill>
                      <a:srgbClr val="F1F5F8"/>
                    </a:solidFill>
                  </a:tcPr>
                </a:tc>
                <a:tc>
                  <a:txBody>
                    <a:bodyPr/>
                    <a:lstStyle/>
                    <a:p>
                      <a:r>
                        <a:rPr sz="1875" b="0">
                          <a:solidFill>
                            <a:srgbClr val="142A45"/>
                          </a:solidFill>
                          <a:latin typeface="Arial"/>
                          <a:ea typeface="Arial"/>
                          <a:cs typeface="Arial"/>
                        </a:rPr>
                        <a:t>Data-derived PCA coordinates H</a:t>
                      </a:r>
                    </a:p>
                  </a:txBody>
                  <a:tcPr marL="95250" marR="95250" marT="85725" marB="85725" anchor="ctr">
                    <a:solidFill>
                      <a:srgbClr val="F1F5F8"/>
                    </a:solidFill>
                  </a:tcPr>
                </a:tc>
              </a:tr>
              <a:tr h="619125">
                <a:tc>
                  <a:txBody>
                    <a:bodyPr/>
                    <a:lstStyle/>
                    <a:p>
                      <a:r>
                        <a:rPr sz="1875" b="0">
                          <a:solidFill>
                            <a:srgbClr val="142A45"/>
                          </a:solidFill>
                          <a:latin typeface="Arial"/>
                          <a:ea typeface="Arial"/>
                          <a:cs typeface="Arial"/>
                        </a:rPr>
                        <a:t>Entry map W_k</a:t>
                      </a:r>
                    </a:p>
                  </a:txBody>
                  <a:tcPr marL="95250" marR="95250" marT="85725" marB="85725" anchor="ctr">
                    <a:solidFill>
                      <a:srgbClr val="FFFFFF"/>
                    </a:solidFill>
                  </a:tcPr>
                </a:tc>
                <a:tc>
                  <a:txBody>
                    <a:bodyPr/>
                    <a:lstStyle/>
                    <a:p>
                      <a:r>
                        <a:rPr sz="1875" b="0">
                          <a:solidFill>
                            <a:srgbClr val="142A45"/>
                          </a:solidFill>
                          <a:latin typeface="Arial"/>
                          <a:ea typeface="Arial"/>
                          <a:cs typeface="Arial"/>
                        </a:rPr>
                        <a:t>Encoder features X_k</a:t>
                      </a:r>
                    </a:p>
                  </a:txBody>
                  <a:tcPr marL="95250" marR="95250" marT="85725" marB="85725" anchor="ctr">
                    <a:solidFill>
                      <a:srgbClr val="FFFFFF"/>
                    </a:solidFill>
                  </a:tcPr>
                </a:tc>
                <a:tc>
                  <a:txBody>
                    <a:bodyPr/>
                    <a:lstStyle/>
                    <a:p>
                      <a:r>
                        <a:rPr sz="1875" b="0">
                          <a:solidFill>
                            <a:srgbClr val="142A45"/>
                          </a:solidFill>
                          <a:latin typeface="Arial"/>
                          <a:ea typeface="Arial"/>
                          <a:cs typeface="Arial"/>
                        </a:rPr>
                        <a:t>Reference hub coordinates H</a:t>
                      </a:r>
                    </a:p>
                  </a:txBody>
                  <a:tcPr marL="95250" marR="95250" marT="85725" marB="85725" anchor="ctr">
                    <a:solidFill>
                      <a:srgbClr val="FFFFFF"/>
                    </a:solidFill>
                  </a:tcPr>
                </a:tc>
              </a:tr>
              <a:tr h="619125">
                <a:tc>
                  <a:txBody>
                    <a:bodyPr/>
                    <a:lstStyle/>
                    <a:p>
                      <a:r>
                        <a:rPr sz="1875" b="0">
                          <a:solidFill>
                            <a:srgbClr val="142A45"/>
                          </a:solidFill>
                          <a:latin typeface="Arial"/>
                          <a:ea typeface="Arial"/>
                          <a:cs typeface="Arial"/>
                        </a:rPr>
                        <a:t>Caption head W_head</a:t>
                      </a:r>
                    </a:p>
                  </a:txBody>
                  <a:tcPr marL="95250" marR="95250" marT="85725" marB="85725" anchor="ctr">
                    <a:solidFill>
                      <a:srgbClr val="F1F5F8"/>
                    </a:solidFill>
                  </a:tcPr>
                </a:tc>
                <a:tc>
                  <a:txBody>
                    <a:bodyPr/>
                    <a:lstStyle/>
                    <a:p>
                      <a:r>
                        <a:rPr sz="1875" b="0">
                          <a:solidFill>
                            <a:srgbClr val="142A45"/>
                          </a:solidFill>
                          <a:latin typeface="Arial"/>
                          <a:ea typeface="Arial"/>
                          <a:cs typeface="Arial"/>
                        </a:rPr>
                        <a:t>H_small = X_small W_small</a:t>
                      </a:r>
                    </a:p>
                  </a:txBody>
                  <a:tcPr marL="95250" marR="95250" marT="85725" marB="85725" anchor="ctr">
                    <a:solidFill>
                      <a:srgbClr val="F1F5F8"/>
                    </a:solidFill>
                  </a:tcPr>
                </a:tc>
                <a:tc>
                  <a:txBody>
                    <a:bodyPr/>
                    <a:lstStyle/>
                    <a:p>
                      <a:r>
                        <a:rPr sz="1875" b="0">
                          <a:solidFill>
                            <a:srgbClr val="142A45"/>
                          </a:solidFill>
                          <a:latin typeface="Arial"/>
                          <a:ea typeface="Arial"/>
                          <a:cs typeface="Arial"/>
                        </a:rPr>
                        <a:t>Actual bge caption vectors T_bge</a:t>
                      </a:r>
                    </a:p>
                  </a:txBody>
                  <a:tcPr marL="95250" marR="95250" marT="85725" marB="8572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337470C9-4F8D-4E40-8D67-788BC15B39B2}"/>
              </a:ext>
            </a:extLst>
          </p:cNvPr>
          <p:cNvSpPr>
            <a:spLocks xmlns:a="http://schemas.openxmlformats.org/drawingml/2006/main" noGrp="1"/>
          </p:cNvSpPr>
          <p:nvPr/>
        </p:nvSpPr>
        <p:spPr>
          <a:xfrm xmlns:a="http://schemas.openxmlformats.org/drawingml/2006/main">
            <a:off x="571500" y="43053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3"/>
                </a:solidFill>
                <a:latin typeface="Arial"/>
                <a:ea typeface="Arial"/>
                <a:cs typeface="Arial"/>
              </a:defRPr>
            </a:pPr>
            <a:r>
              <a:rPr sz="2100" b="1">
                <a:solidFill>
                  <a:srgbClr val="087F83"/>
                </a:solidFill>
                <a:latin typeface="Arial"/>
                <a:ea typeface="Arial"/>
                <a:cs typeface="Arial"/>
              </a:rPr>
              <a:t>At prediction time</a:t>
            </a:r>
          </a:p>
        </p:txBody>
      </p:sp>
      <p:sp>
        <p:nvSpPr>
          <p:cNvPr id="6" name="">
            <a:extLst xmlns:a="http://schemas.openxmlformats.org/drawingml/2006/main">
              <a:ext uri="{FF2B5EF4-FFF2-40B4-BE49-F238E27FC236}">
                <a16:creationId xmlns:a16="http://schemas.microsoft.com/office/drawing/2014/main" id="{2BF48C3D-85AC-4D1F-BD18-1FA21FD8EA3A}"/>
              </a:ext>
            </a:extLst>
          </p:cNvPr>
          <p:cNvSpPr>
            <a:spLocks xmlns:a="http://schemas.openxmlformats.org/drawingml/2006/main" noGrp="1"/>
          </p:cNvSpPr>
          <p:nvPr/>
        </p:nvSpPr>
        <p:spPr>
          <a:xfrm xmlns:a="http://schemas.openxmlformats.org/drawingml/2006/main">
            <a:off x="571500" y="4905375"/>
            <a:ext cx="2238375" cy="762000"/>
          </a:xfrm>
          <a:prstGeom xmlns:a="http://schemas.openxmlformats.org/drawingml/2006/main" prst="rect">
            <a:avLst/>
          </a:prstGeom>
          <a:solidFill xmlns:a="http://schemas.openxmlformats.org/drawingml/2006/main">
            <a:srgbClr val="EAF1F6"/>
          </a:solidFill>
          <a:ln xmlns:a="http://schemas.openxmlformats.org/drawingml/2006/main" w="9525">
            <a:solidFill>
              <a:srgbClr val="93A9BB"/>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Cat image vector</a:t>
            </a:r>
          </a:p>
        </p:txBody>
      </p:sp>
      <p:sp>
        <p:nvSpPr>
          <p:cNvPr id="7" name="">
            <a:extLst xmlns:a="http://schemas.openxmlformats.org/drawingml/2006/main">
              <a:ext uri="{FF2B5EF4-FFF2-40B4-BE49-F238E27FC236}">
                <a16:creationId xmlns:a16="http://schemas.microsoft.com/office/drawing/2014/main" id="{6BE3ED6E-8541-473A-A38C-BFB009CA9443}"/>
              </a:ext>
            </a:extLst>
          </p:cNvPr>
          <p:cNvSpPr>
            <a:spLocks xmlns:a="http://schemas.openxmlformats.org/drawingml/2006/main" noGrp="1"/>
          </p:cNvSpPr>
          <p:nvPr/>
        </p:nvSpPr>
        <p:spPr>
          <a:xfrm xmlns:a="http://schemas.openxmlformats.org/drawingml/2006/main">
            <a:off x="3476625" y="4905375"/>
            <a:ext cx="2238375" cy="762000"/>
          </a:xfrm>
          <a:prstGeom xmlns:a="http://schemas.openxmlformats.org/drawingml/2006/main" prst="rect">
            <a:avLst/>
          </a:prstGeom>
          <a:solidFill xmlns:a="http://schemas.openxmlformats.org/drawingml/2006/main">
            <a:srgbClr val="EAF1F6"/>
          </a:solidFill>
          <a:ln xmlns:a="http://schemas.openxmlformats.org/drawingml/2006/main" w="9525">
            <a:solidFill>
              <a:srgbClr val="93A9BB"/>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W_k</a:t>
            </a:r>
          </a:p>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Predicted hub</a:t>
            </a:r>
          </a:p>
        </p:txBody>
      </p:sp>
      <p:sp>
        <p:nvSpPr>
          <p:cNvPr id="8" name="">
            <a:extLst xmlns:a="http://schemas.openxmlformats.org/drawingml/2006/main">
              <a:ext uri="{FF2B5EF4-FFF2-40B4-BE49-F238E27FC236}">
                <a16:creationId xmlns:a16="http://schemas.microsoft.com/office/drawing/2014/main" id="{0A51EBBA-B8E6-4D64-9D45-809F6E358104}"/>
              </a:ext>
            </a:extLst>
          </p:cNvPr>
          <p:cNvSpPr>
            <a:spLocks xmlns:a="http://schemas.openxmlformats.org/drawingml/2006/main" noGrp="1"/>
          </p:cNvSpPr>
          <p:nvPr/>
        </p:nvSpPr>
        <p:spPr>
          <a:xfrm xmlns:a="http://schemas.openxmlformats.org/drawingml/2006/main">
            <a:off x="6381750" y="4905375"/>
            <a:ext cx="2238375" cy="762000"/>
          </a:xfrm>
          <a:prstGeom xmlns:a="http://schemas.openxmlformats.org/drawingml/2006/main" prst="rect">
            <a:avLst/>
          </a:prstGeom>
          <a:solidFill xmlns:a="http://schemas.openxmlformats.org/drawingml/2006/main">
            <a:srgbClr val="EAF1F6"/>
          </a:solidFill>
          <a:ln xmlns:a="http://schemas.openxmlformats.org/drawingml/2006/main" w="9525">
            <a:solidFill>
              <a:srgbClr val="93A9BB"/>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W_head</a:t>
            </a:r>
          </a:p>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Predicted bge</a:t>
            </a:r>
          </a:p>
        </p:txBody>
      </p:sp>
      <p:sp>
        <p:nvSpPr>
          <p:cNvPr id="9" name="">
            <a:extLst xmlns:a="http://schemas.openxmlformats.org/drawingml/2006/main">
              <a:ext uri="{FF2B5EF4-FFF2-40B4-BE49-F238E27FC236}">
                <a16:creationId xmlns:a16="http://schemas.microsoft.com/office/drawing/2014/main" id="{C6E36BA9-A3E9-4E04-ADC0-22FA3FFE50E5}"/>
              </a:ext>
            </a:extLst>
          </p:cNvPr>
          <p:cNvSpPr>
            <a:spLocks xmlns:a="http://schemas.openxmlformats.org/drawingml/2006/main" noGrp="1"/>
          </p:cNvSpPr>
          <p:nvPr/>
        </p:nvSpPr>
        <p:spPr>
          <a:xfrm xmlns:a="http://schemas.openxmlformats.org/drawingml/2006/main">
            <a:off x="9286875" y="4905375"/>
            <a:ext cx="2333625" cy="762000"/>
          </a:xfrm>
          <a:prstGeom xmlns:a="http://schemas.openxmlformats.org/drawingml/2006/main" prst="rect">
            <a:avLst/>
          </a:prstGeom>
          <a:solidFill xmlns:a="http://schemas.openxmlformats.org/drawingml/2006/main">
            <a:srgbClr val="EAF1F6"/>
          </a:solidFill>
          <a:ln xmlns:a="http://schemas.openxmlformats.org/drawingml/2006/main" w="9525">
            <a:solidFill>
              <a:srgbClr val="93A9BB"/>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Rank captions</a:t>
            </a:r>
          </a:p>
          <a:p xmlns:a="http://schemas.openxmlformats.org/drawingml/2006/main">
            <a:pPr algn="ctr">
              <a:defRPr sz="1800" b="0">
                <a:solidFill>
                  <a:srgbClr val="142A45"/>
                </a:solidFill>
                <a:latin typeface="Arial"/>
                <a:ea typeface="Arial"/>
                <a:cs typeface="Arial"/>
              </a:defRPr>
            </a:pPr>
            <a:r>
              <a:rPr sz="1800" b="0">
                <a:solidFill>
                  <a:srgbClr val="142A45"/>
                </a:solidFill>
                <a:latin typeface="Arial"/>
                <a:ea typeface="Arial"/>
                <a:cs typeface="Arial"/>
              </a:rPr>
              <a:t>cat / dog / others</a:t>
            </a:r>
          </a:p>
        </p:txBody>
      </p: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2809875" y="5286375"/>
            <a:ext cx="666750" cy="0"/>
          </a:xfrm>
          <a:prstGeom xmlns:a="http://schemas.openxmlformats.org/drawingml/2006/main" prst="straightConnector1">
            <a:avLst/>
          </a:prstGeom>
          <a:ln xmlns:a="http://schemas.openxmlformats.org/drawingml/2006/main" w="19050">
            <a:solidFill>
              <a:srgbClr val="087F83"/>
            </a:solidFill>
            <a:tailEnd type="triangle" w="sm" len="sm"/>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5715000" y="5286375"/>
            <a:ext cx="666750" cy="0"/>
          </a:xfrm>
          <a:prstGeom xmlns:a="http://schemas.openxmlformats.org/drawingml/2006/main" prst="straightConnector1">
            <a:avLst/>
          </a:prstGeom>
          <a:ln xmlns:a="http://schemas.openxmlformats.org/drawingml/2006/main" w="19050">
            <a:solidFill>
              <a:srgbClr val="087F83"/>
            </a:solidFill>
            <a:tailEnd type="triangle" w="sm" len="sm"/>
          </a:ln>
        </p:spPr>
      </p:cxnSp>
      <p:cxnSp>
        <p:nvCxnSpPr>
          <p:cNvPr id="24" name=""/>
          <p:cNvCxnSpPr>
            <a:stCxn xmlns:a="http://schemas.openxmlformats.org/drawingml/2006/main" id="8" idx="3"/>
            <a:endCxn xmlns:a="http://schemas.openxmlformats.org/drawingml/2006/main" id="9" idx="1"/>
          </p:cNvCxnSpPr>
          <p:nvPr/>
        </p:nvCxnSpPr>
        <p:spPr>
          <a:xfrm xmlns:a="http://schemas.openxmlformats.org/drawingml/2006/main">
            <a:off x="8620125" y="5286375"/>
            <a:ext cx="666750" cy="0"/>
          </a:xfrm>
          <a:prstGeom xmlns:a="http://schemas.openxmlformats.org/drawingml/2006/main" prst="straightConnector1">
            <a:avLst/>
          </a:prstGeom>
          <a:ln xmlns:a="http://schemas.openxmlformats.org/drawingml/2006/main" w="19050">
            <a:solidFill>
              <a:srgbClr val="087F83"/>
            </a:solidFill>
            <a:tailEnd type="triangle" w="sm" len="sm"/>
          </a:ln>
        </p:spPr>
      </p:cxnSp>
    </p:spTree>
    <p:extLst>
      <p:ext uri="{BB962C8B-B14F-4D97-AF65-F5344CB8AC3E}">
        <p14:creationId xmlns:p14="http://schemas.microsoft.com/office/powerpoint/2010/main" val="42749747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A3981D-6CC7-4717-8558-06FB5A99295B}"/>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A frozen head transfers to new encoders</a:t>
            </a:r>
          </a:p>
        </p:txBody>
      </p:sp>
      <p:sp>
        <p:nvSpPr>
          <p:cNvPr id="2" name="">
            <a:extLst xmlns:a="http://schemas.openxmlformats.org/drawingml/2006/main">
              <a:ext uri="{FF2B5EF4-FFF2-40B4-BE49-F238E27FC236}">
                <a16:creationId xmlns:a16="http://schemas.microsoft.com/office/drawing/2014/main" id="{7C51B438-5E54-4B33-8F95-FCCD991A9BF1}"/>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Hub Scores Summary, published column; Report E.2 and G0-exact</a:t>
            </a:r>
          </a:p>
        </p:txBody>
      </p:sp>
      <p:sp>
        <p:nvSpPr>
          <p:cNvPr id="3" name="">
            <a:extLst xmlns:a="http://schemas.openxmlformats.org/drawingml/2006/main">
              <a:ext uri="{FF2B5EF4-FFF2-40B4-BE49-F238E27FC236}">
                <a16:creationId xmlns:a16="http://schemas.microsoft.com/office/drawing/2014/main" id="{0FC2F7D2-120C-4858-B43E-966012150D9D}"/>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13</a:t>
            </a:r>
          </a:p>
        </p:txBody>
      </p:sp>
      <p:graphicFrame>
        <p:nvGraphicFramePr>
          <p:cNvPr id="11" name="Chart"/>
          <p:cNvGraphicFramePr/>
          <p:nvPr/>
        </p:nvGraphicFramePr>
        <p:xfrm>
          <a:off xmlns:a="http://schemas.openxmlformats.org/drawingml/2006/main" x="571500" y="147637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1628c1b5d47c4058"/>
          </a:graphicData>
        </a:graphic>
      </p:graphicFrame>
      <p:sp>
        <p:nvSpPr>
          <p:cNvPr id="5" name="">
            <a:extLst xmlns:a="http://schemas.openxmlformats.org/drawingml/2006/main">
              <a:ext uri="{FF2B5EF4-FFF2-40B4-BE49-F238E27FC236}">
                <a16:creationId xmlns:a16="http://schemas.microsoft.com/office/drawing/2014/main" id="{E2C8EF33-526E-470F-B7BB-855422143E3F}"/>
              </a:ext>
            </a:extLst>
          </p:cNvPr>
          <p:cNvSpPr>
            <a:spLocks xmlns:a="http://schemas.openxmlformats.org/drawingml/2006/main" noGrp="1"/>
          </p:cNvSpPr>
          <p:nvPr/>
        </p:nvSpPr>
        <p:spPr>
          <a:xfrm xmlns:a="http://schemas.openxmlformats.org/drawingml/2006/main">
            <a:off x="8334375" y="1666875"/>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F83"/>
                </a:solidFill>
                <a:latin typeface="Arial"/>
                <a:ea typeface="Arial"/>
                <a:cs typeface="Arial"/>
              </a:defRPr>
            </a:pPr>
            <a:r>
              <a:rPr sz="2700" b="1">
                <a:solidFill>
                  <a:srgbClr val="087F83"/>
                </a:solidFill>
                <a:latin typeface="Arial"/>
                <a:ea typeface="Arial"/>
                <a:cs typeface="Arial"/>
              </a:rPr>
              <a:t>ConvNeXt: 96.7%</a:t>
            </a:r>
          </a:p>
        </p:txBody>
      </p:sp>
      <p:sp>
        <p:nvSpPr>
          <p:cNvPr id="6" name="">
            <a:extLst xmlns:a="http://schemas.openxmlformats.org/drawingml/2006/main">
              <a:ext uri="{FF2B5EF4-FFF2-40B4-BE49-F238E27FC236}">
                <a16:creationId xmlns:a16="http://schemas.microsoft.com/office/drawing/2014/main" id="{833528F4-5B65-4E24-8293-2A347177C9F7}"/>
              </a:ext>
            </a:extLst>
          </p:cNvPr>
          <p:cNvSpPr>
            <a:spLocks xmlns:a="http://schemas.openxmlformats.org/drawingml/2006/main" noGrp="1"/>
          </p:cNvSpPr>
          <p:nvPr/>
        </p:nvSpPr>
        <p:spPr>
          <a:xfrm xmlns:a="http://schemas.openxmlformats.org/drawingml/2006/main">
            <a:off x="8334375" y="2667000"/>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A45"/>
                </a:solidFill>
                <a:latin typeface="Arial"/>
                <a:ea typeface="Arial"/>
                <a:cs typeface="Arial"/>
              </a:defRPr>
            </a:pPr>
            <a:r>
              <a:rPr sz="2025" b="0">
                <a:solidFill>
                  <a:srgbClr val="142A45"/>
                </a:solidFill>
                <a:latin typeface="Arial"/>
                <a:ea typeface="Arial"/>
                <a:cs typeface="Arial"/>
              </a:rPr>
              <a:t>One new entry map.</a:t>
            </a:r>
          </a:p>
          <a:p xmlns:a="http://schemas.openxmlformats.org/drawingml/2006/main">
            <a:pPr>
              <a:defRPr sz="2025" b="0">
                <a:solidFill>
                  <a:srgbClr val="142A45"/>
                </a:solidFill>
                <a:latin typeface="Arial"/>
                <a:ea typeface="Arial"/>
                <a:cs typeface="Arial"/>
              </a:defRPr>
            </a:pPr>
            <a:r>
              <a:rPr sz="2025" b="0">
                <a:solidFill>
                  <a:srgbClr val="142A45"/>
                </a:solidFill>
                <a:latin typeface="Arial"/>
                <a:ea typeface="Arial"/>
                <a:cs typeface="Arial"/>
              </a:rPr>
              <a:t>Same frozen hub.</a:t>
            </a:r>
          </a:p>
          <a:p xmlns:a="http://schemas.openxmlformats.org/drawingml/2006/main">
            <a:pPr>
              <a:defRPr sz="2025" b="0">
                <a:solidFill>
                  <a:srgbClr val="142A45"/>
                </a:solidFill>
                <a:latin typeface="Arial"/>
                <a:ea typeface="Arial"/>
                <a:cs typeface="Arial"/>
              </a:defRPr>
            </a:pPr>
            <a:r>
              <a:rPr sz="2025" b="0">
                <a:solidFill>
                  <a:srgbClr val="142A45"/>
                </a:solidFill>
                <a:latin typeface="Arial"/>
                <a:ea typeface="Arial"/>
                <a:cs typeface="Arial"/>
              </a:rPr>
              <a:t>Same frozen caption head.</a:t>
            </a:r>
          </a:p>
        </p:txBody>
      </p:sp>
      <p:sp>
        <p:nvSpPr>
          <p:cNvPr id="7" name="">
            <a:extLst xmlns:a="http://schemas.openxmlformats.org/drawingml/2006/main">
              <a:ext uri="{FF2B5EF4-FFF2-40B4-BE49-F238E27FC236}">
                <a16:creationId xmlns:a16="http://schemas.microsoft.com/office/drawing/2014/main" id="{62D58CE0-3111-4296-B597-AF4CB67C0F39}"/>
              </a:ext>
            </a:extLst>
          </p:cNvPr>
          <p:cNvSpPr>
            <a:spLocks xmlns:a="http://schemas.openxmlformats.org/drawingml/2006/main" noGrp="1"/>
          </p:cNvSpPr>
          <p:nvPr/>
        </p:nvSpPr>
        <p:spPr>
          <a:xfrm xmlns:a="http://schemas.openxmlformats.org/drawingml/2006/main">
            <a:off x="571500" y="56483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Retention measures reusable-head performance relative to an encoder-specific head.</a:t>
            </a:r>
          </a:p>
        </p:txBody>
      </p:sp>
    </p:spTree>
    <p:extLst>
      <p:ext uri="{BB962C8B-B14F-4D97-AF65-F5344CB8AC3E}">
        <p14:creationId xmlns:p14="http://schemas.microsoft.com/office/powerpoint/2010/main" val="6973248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4E02E5E-1637-4E09-8CC2-F19ACC999BB5}"/>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Similarity has several meanings</a:t>
            </a:r>
          </a:p>
        </p:txBody>
      </p:sp>
      <p:sp>
        <p:nvSpPr>
          <p:cNvPr id="2" name="">
            <a:extLst xmlns:a="http://schemas.openxmlformats.org/drawingml/2006/main">
              <a:ext uri="{FF2B5EF4-FFF2-40B4-BE49-F238E27FC236}">
                <a16:creationId xmlns:a16="http://schemas.microsoft.com/office/drawing/2014/main" id="{8DC0B26A-1261-4DBC-BA35-5A53BF3362D0}"/>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Similarity_Methods_Master_Table.pdf; Report C.13</a:t>
            </a:r>
          </a:p>
        </p:txBody>
      </p:sp>
      <p:sp>
        <p:nvSpPr>
          <p:cNvPr id="3" name="">
            <a:extLst xmlns:a="http://schemas.openxmlformats.org/drawingml/2006/main">
              <a:ext uri="{FF2B5EF4-FFF2-40B4-BE49-F238E27FC236}">
                <a16:creationId xmlns:a16="http://schemas.microsoft.com/office/drawing/2014/main" id="{06BD3BBF-1872-44A3-B0C4-8EED616D1B7C}"/>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14</a:t>
            </a:r>
          </a:p>
        </p:txBody>
      </p:sp>
      <p:graphicFrame>
        <p:nvGraphicFramePr>
          <p:cNvPr id="9" name=""/>
          <p:cNvGraphicFramePr/>
          <p:nvPr/>
        </p:nvGraphicFramePr>
        <p:xfrm>
          <a:off xmlns:a="http://schemas.openxmlformats.org/drawingml/2006/main" x="571500" y="1476375"/>
          <a:ext xmlns:a="http://schemas.openxmlformats.org/drawingml/2006/main" cx="11049000" cy="4000500"/>
        </p:xfrm>
        <a:graphic xmlns:a="http://schemas.openxmlformats.org/drawingml/2006/main">
          <a:graphicData uri="http://schemas.openxmlformats.org/drawingml/2006/table">
            <a:tbl>
              <a:tblPr/>
              <a:tblGrid>
                <a:gridCol w="2571750"/>
                <a:gridCol w="6477000"/>
                <a:gridCol w="2000250"/>
              </a:tblGrid>
              <a:tr h="666750">
                <a:tc>
                  <a:txBody>
                    <a:bodyPr/>
                    <a:lstStyle/>
                    <a:p>
                      <a:r>
                        <a:rPr sz="1800" b="1">
                          <a:solidFill>
                            <a:srgbClr val="FFFFFF"/>
                          </a:solidFill>
                          <a:latin typeface="Arial"/>
                          <a:ea typeface="Arial"/>
                          <a:cs typeface="Arial"/>
                        </a:rPr>
                        <a:t>Measurement</a:t>
                      </a:r>
                    </a:p>
                  </a:txBody>
                  <a:tcPr marL="95250" marR="95250" marT="85725" marB="85725" anchor="ctr">
                    <a:solidFill>
                      <a:srgbClr val="142A45"/>
                    </a:solidFill>
                  </a:tcPr>
                </a:tc>
                <a:tc>
                  <a:txBody>
                    <a:bodyPr/>
                    <a:lstStyle/>
                    <a:p>
                      <a:r>
                        <a:rPr sz="1800" b="1">
                          <a:solidFill>
                            <a:srgbClr val="FFFFFF"/>
                          </a:solidFill>
                          <a:latin typeface="Arial"/>
                          <a:ea typeface="Arial"/>
                          <a:cs typeface="Arial"/>
                        </a:rPr>
                        <a:t>Cat–dog question</a:t>
                      </a:r>
                    </a:p>
                  </a:txBody>
                  <a:tcPr marL="95250" marR="95250" marT="85725" marB="85725" anchor="ctr">
                    <a:solidFill>
                      <a:srgbClr val="142A45"/>
                    </a:solidFill>
                  </a:tcPr>
                </a:tc>
                <a:tc>
                  <a:txBody>
                    <a:bodyPr/>
                    <a:lstStyle/>
                    <a:p>
                      <a:r>
                        <a:rPr sz="1800" b="1">
                          <a:solidFill>
                            <a:srgbClr val="FFFFFF"/>
                          </a:solidFill>
                          <a:latin typeface="Arial"/>
                          <a:ea typeface="Arial"/>
                          <a:cs typeface="Arial"/>
                        </a:rPr>
                        <a:t>Map fitted?</a:t>
                      </a:r>
                    </a:p>
                  </a:txBody>
                  <a:tcPr marL="95250" marR="95250" marT="85725" marB="85725" anchor="ctr">
                    <a:solidFill>
                      <a:srgbClr val="142A45"/>
                    </a:solidFill>
                  </a:tcPr>
                </a:tc>
              </a:tr>
              <a:tr h="666750">
                <a:tc>
                  <a:txBody>
                    <a:bodyPr/>
                    <a:lstStyle/>
                    <a:p>
                      <a:r>
                        <a:rPr sz="1800" b="0">
                          <a:solidFill>
                            <a:srgbClr val="142A45"/>
                          </a:solidFill>
                          <a:latin typeface="Arial"/>
                          <a:ea typeface="Arial"/>
                          <a:cs typeface="Arial"/>
                        </a:rPr>
                        <a:t>Cosine</a:t>
                      </a:r>
                    </a:p>
                  </a:txBody>
                  <a:tcPr marL="95250" marR="95250" marT="85725" marB="85725" anchor="ctr">
                    <a:solidFill>
                      <a:srgbClr val="F1F5F8"/>
                    </a:solidFill>
                  </a:tcPr>
                </a:tc>
                <a:tc>
                  <a:txBody>
                    <a:bodyPr/>
                    <a:lstStyle/>
                    <a:p>
                      <a:r>
                        <a:rPr sz="1800" b="0">
                          <a:solidFill>
                            <a:srgbClr val="142A45"/>
                          </a:solidFill>
                          <a:latin typeface="Arial"/>
                          <a:ea typeface="Arial"/>
                          <a:cs typeface="Arial"/>
                        </a:rPr>
                        <a:t>Do these compatible vectors point alike?</a:t>
                      </a:r>
                    </a:p>
                  </a:txBody>
                  <a:tcPr marL="95250" marR="95250" marT="85725" marB="85725" anchor="ctr">
                    <a:solidFill>
                      <a:srgbClr val="F1F5F8"/>
                    </a:solidFill>
                  </a:tcPr>
                </a:tc>
                <a:tc>
                  <a:txBody>
                    <a:bodyPr/>
                    <a:lstStyle/>
                    <a:p>
                      <a:r>
                        <a:rPr sz="1800" b="0">
                          <a:solidFill>
                            <a:srgbClr val="142A45"/>
                          </a:solidFill>
                          <a:latin typeface="Arial"/>
                          <a:ea typeface="Arial"/>
                          <a:cs typeface="Arial"/>
                        </a:rPr>
                        <a:t>No, or after mapping</a:t>
                      </a:r>
                    </a:p>
                  </a:txBody>
                  <a:tcPr marL="95250" marR="95250" marT="85725" marB="85725" anchor="ctr">
                    <a:solidFill>
                      <a:srgbClr val="F1F5F8"/>
                    </a:solidFill>
                  </a:tcPr>
                </a:tc>
              </a:tr>
              <a:tr h="666750">
                <a:tc>
                  <a:txBody>
                    <a:bodyPr/>
                    <a:lstStyle/>
                    <a:p>
                      <a:r>
                        <a:rPr sz="1800" b="0">
                          <a:solidFill>
                            <a:srgbClr val="142A45"/>
                          </a:solidFill>
                          <a:latin typeface="Arial"/>
                          <a:ea typeface="Arial"/>
                          <a:cs typeface="Arial"/>
                        </a:rPr>
                        <a:t>Spearman ρ</a:t>
                      </a:r>
                    </a:p>
                  </a:txBody>
                  <a:tcPr marL="95250" marR="95250" marT="85725" marB="85725" anchor="ctr">
                    <a:solidFill>
                      <a:srgbClr val="FFFFFF"/>
                    </a:solidFill>
                  </a:tcPr>
                </a:tc>
                <a:tc>
                  <a:txBody>
                    <a:bodyPr/>
                    <a:lstStyle/>
                    <a:p>
                      <a:r>
                        <a:rPr sz="1800" b="0">
                          <a:solidFill>
                            <a:srgbClr val="142A45"/>
                          </a:solidFill>
                          <a:latin typeface="Arial"/>
                          <a:ea typeface="Arial"/>
                          <a:cs typeface="Arial"/>
                        </a:rPr>
                        <a:t>Do both spaces rank item distances alike?</a:t>
                      </a:r>
                    </a:p>
                  </a:txBody>
                  <a:tcPr marL="95250" marR="95250" marT="85725" marB="85725" anchor="ctr">
                    <a:solidFill>
                      <a:srgbClr val="FFFFFF"/>
                    </a:solidFill>
                  </a:tcPr>
                </a:tc>
                <a:tc>
                  <a:txBody>
                    <a:bodyPr/>
                    <a:lstStyle/>
                    <a:p>
                      <a:r>
                        <a:rPr sz="1800" b="0">
                          <a:solidFill>
                            <a:srgbClr val="142A45"/>
                          </a:solidFill>
                          <a:latin typeface="Arial"/>
                          <a:ea typeface="Arial"/>
                          <a:cs typeface="Arial"/>
                        </a:rPr>
                        <a:t>No</a:t>
                      </a:r>
                    </a:p>
                  </a:txBody>
                  <a:tcPr marL="95250" marR="95250" marT="85725" marB="85725" anchor="ctr">
                    <a:solidFill>
                      <a:srgbClr val="FFFFFF"/>
                    </a:solidFill>
                  </a:tcPr>
                </a:tc>
              </a:tr>
              <a:tr h="666750">
                <a:tc>
                  <a:txBody>
                    <a:bodyPr/>
                    <a:lstStyle/>
                    <a:p>
                      <a:r>
                        <a:rPr sz="1800" b="0">
                          <a:solidFill>
                            <a:srgbClr val="142A45"/>
                          </a:solidFill>
                          <a:latin typeface="Arial"/>
                          <a:ea typeface="Arial"/>
                          <a:cs typeface="Arial"/>
                        </a:rPr>
                        <a:t>k-NN overlap</a:t>
                      </a:r>
                    </a:p>
                  </a:txBody>
                  <a:tcPr marL="95250" marR="95250" marT="85725" marB="85725" anchor="ctr">
                    <a:solidFill>
                      <a:srgbClr val="F1F5F8"/>
                    </a:solidFill>
                  </a:tcPr>
                </a:tc>
                <a:tc>
                  <a:txBody>
                    <a:bodyPr/>
                    <a:lstStyle/>
                    <a:p>
                      <a:r>
                        <a:rPr sz="1800" b="0">
                          <a:solidFill>
                            <a:srgbClr val="142A45"/>
                          </a:solidFill>
                          <a:latin typeface="Arial"/>
                          <a:ea typeface="Arial"/>
                          <a:cs typeface="Arial"/>
                        </a:rPr>
                        <a:t>Does this cat have the same neighbors?</a:t>
                      </a:r>
                    </a:p>
                  </a:txBody>
                  <a:tcPr marL="95250" marR="95250" marT="85725" marB="85725" anchor="ctr">
                    <a:solidFill>
                      <a:srgbClr val="F1F5F8"/>
                    </a:solidFill>
                  </a:tcPr>
                </a:tc>
                <a:tc>
                  <a:txBody>
                    <a:bodyPr/>
                    <a:lstStyle/>
                    <a:p>
                      <a:r>
                        <a:rPr sz="1800" b="0">
                          <a:solidFill>
                            <a:srgbClr val="142A45"/>
                          </a:solidFill>
                          <a:latin typeface="Arial"/>
                          <a:ea typeface="Arial"/>
                          <a:cs typeface="Arial"/>
                        </a:rPr>
                        <a:t>No</a:t>
                      </a:r>
                    </a:p>
                  </a:txBody>
                  <a:tcPr marL="95250" marR="95250" marT="85725" marB="85725" anchor="ctr">
                    <a:solidFill>
                      <a:srgbClr val="F1F5F8"/>
                    </a:solidFill>
                  </a:tcPr>
                </a:tc>
              </a:tr>
              <a:tr h="666750">
                <a:tc>
                  <a:txBody>
                    <a:bodyPr/>
                    <a:lstStyle/>
                    <a:p>
                      <a:r>
                        <a:rPr sz="1800" b="0">
                          <a:solidFill>
                            <a:srgbClr val="142A45"/>
                          </a:solidFill>
                          <a:latin typeface="Arial"/>
                          <a:ea typeface="Arial"/>
                          <a:cs typeface="Arial"/>
                        </a:rPr>
                        <a:t>CKA / CKNNA</a:t>
                      </a:r>
                    </a:p>
                  </a:txBody>
                  <a:tcPr marL="95250" marR="95250" marT="85725" marB="85725" anchor="ctr">
                    <a:solidFill>
                      <a:srgbClr val="FFFFFF"/>
                    </a:solidFill>
                  </a:tcPr>
                </a:tc>
                <a:tc>
                  <a:txBody>
                    <a:bodyPr/>
                    <a:lstStyle/>
                    <a:p>
                      <a:r>
                        <a:rPr sz="1800" b="0">
                          <a:solidFill>
                            <a:srgbClr val="142A45"/>
                          </a:solidFill>
                          <a:latin typeface="Arial"/>
                          <a:ea typeface="Arial"/>
                          <a:cs typeface="Arial"/>
                        </a:rPr>
                        <a:t>Do similarity patterns agree globally / locally?</a:t>
                      </a:r>
                    </a:p>
                  </a:txBody>
                  <a:tcPr marL="95250" marR="95250" marT="85725" marB="85725" anchor="ctr">
                    <a:solidFill>
                      <a:srgbClr val="FFFFFF"/>
                    </a:solidFill>
                  </a:tcPr>
                </a:tc>
                <a:tc>
                  <a:txBody>
                    <a:bodyPr/>
                    <a:lstStyle/>
                    <a:p>
                      <a:r>
                        <a:rPr sz="1800" b="0">
                          <a:solidFill>
                            <a:srgbClr val="142A45"/>
                          </a:solidFill>
                          <a:latin typeface="Arial"/>
                          <a:ea typeface="Arial"/>
                          <a:cs typeface="Arial"/>
                        </a:rPr>
                        <a:t>No</a:t>
                      </a:r>
                    </a:p>
                  </a:txBody>
                  <a:tcPr marL="95250" marR="95250" marT="85725" marB="85725" anchor="ctr">
                    <a:solidFill>
                      <a:srgbClr val="FFFFFF"/>
                    </a:solidFill>
                  </a:tcPr>
                </a:tc>
              </a:tr>
              <a:tr h="666750">
                <a:tc>
                  <a:txBody>
                    <a:bodyPr/>
                    <a:lstStyle/>
                    <a:p>
                      <a:r>
                        <a:rPr sz="1800" b="0">
                          <a:solidFill>
                            <a:srgbClr val="142A45"/>
                          </a:solidFill>
                          <a:latin typeface="Arial"/>
                          <a:ea typeface="Arial"/>
                          <a:cs typeface="Arial"/>
                        </a:rPr>
                        <a:t>Ridge / Procrustes</a:t>
                      </a:r>
                    </a:p>
                  </a:txBody>
                  <a:tcPr marL="95250" marR="95250" marT="85725" marB="85725" anchor="ctr">
                    <a:solidFill>
                      <a:srgbClr val="F1F5F8"/>
                    </a:solidFill>
                  </a:tcPr>
                </a:tc>
                <a:tc>
                  <a:txBody>
                    <a:bodyPr/>
                    <a:lstStyle/>
                    <a:p>
                      <a:r>
                        <a:rPr sz="1800" b="0">
                          <a:solidFill>
                            <a:srgbClr val="142A45"/>
                          </a:solidFill>
                          <a:latin typeface="Arial"/>
                          <a:ea typeface="Arial"/>
                          <a:cs typeface="Arial"/>
                        </a:rPr>
                        <a:t>Does a full linear map / rotation recover targets?</a:t>
                      </a:r>
                    </a:p>
                  </a:txBody>
                  <a:tcPr marL="95250" marR="95250" marT="85725" marB="85725" anchor="ctr">
                    <a:solidFill>
                      <a:srgbClr val="F1F5F8"/>
                    </a:solidFill>
                  </a:tcPr>
                </a:tc>
                <a:tc>
                  <a:txBody>
                    <a:bodyPr/>
                    <a:lstStyle/>
                    <a:p>
                      <a:r>
                        <a:rPr sz="1800" b="0">
                          <a:solidFill>
                            <a:srgbClr val="142A45"/>
                          </a:solidFill>
                          <a:latin typeface="Arial"/>
                          <a:ea typeface="Arial"/>
                          <a:cs typeface="Arial"/>
                        </a:rPr>
                        <a:t>Yes</a:t>
                      </a:r>
                    </a:p>
                  </a:txBody>
                  <a:tcPr marL="95250" marR="95250" marT="85725" marB="8572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E2B57DA4-1D32-48AE-861A-93DFF9F487F9}"/>
              </a:ext>
            </a:extLst>
          </p:cNvPr>
          <p:cNvSpPr>
            <a:spLocks xmlns:a="http://schemas.openxmlformats.org/drawingml/2006/main" noGrp="1"/>
          </p:cNvSpPr>
          <p:nvPr/>
        </p:nvSpPr>
        <p:spPr>
          <a:xfrm xmlns:a="http://schemas.openxmlformats.org/drawingml/2006/main">
            <a:off x="571500" y="56483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CKA = centered kernel alignment. CKNNA measures alignment of mutual-neighbor structure.</a:t>
            </a:r>
          </a:p>
        </p:txBody>
      </p:sp>
    </p:spTree>
    <p:extLst>
      <p:ext uri="{BB962C8B-B14F-4D97-AF65-F5344CB8AC3E}">
        <p14:creationId xmlns:p14="http://schemas.microsoft.com/office/powerpoint/2010/main" val="18915485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B6A687-9FFE-452E-8D6C-C93B145C7A9D}"/>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The strongest shared structure is local</a:t>
            </a:r>
          </a:p>
        </p:txBody>
      </p:sp>
      <p:sp>
        <p:nvSpPr>
          <p:cNvPr id="2" name="">
            <a:extLst xmlns:a="http://schemas.openxmlformats.org/drawingml/2006/main">
              <a:ext uri="{FF2B5EF4-FFF2-40B4-BE49-F238E27FC236}">
                <a16:creationId xmlns:a16="http://schemas.microsoft.com/office/drawing/2014/main" id="{0BF944FD-E517-4A13-9215-FE62FAF4D8A9}"/>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C.13.8–C.13.10; supplied CKNNA.png</a:t>
            </a:r>
          </a:p>
        </p:txBody>
      </p:sp>
      <p:sp>
        <p:nvSpPr>
          <p:cNvPr id="3" name="">
            <a:extLst xmlns:a="http://schemas.openxmlformats.org/drawingml/2006/main">
              <a:ext uri="{FF2B5EF4-FFF2-40B4-BE49-F238E27FC236}">
                <a16:creationId xmlns:a16="http://schemas.microsoft.com/office/drawing/2014/main" id="{BAA3D4F3-C130-4437-932E-4FA2C16B2344}"/>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d1cf31300324131"/>
          <a:stretch xmlns:a="http://schemas.openxmlformats.org/drawingml/2006/main"/>
        </p:blipFill>
        <p:spPr>
          <a:xfrm xmlns:a="http://schemas.openxmlformats.org/drawingml/2006/main">
            <a:off x="1272153" y="1524000"/>
            <a:ext cx="9647695"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2109A72-EBA6-475A-BB46-407BD6ED2610}"/>
              </a:ext>
            </a:extLst>
          </p:cNvPr>
          <p:cNvSpPr>
            <a:spLocks xmlns:a="http://schemas.openxmlformats.org/drawingml/2006/main" noGrp="1"/>
          </p:cNvSpPr>
          <p:nvPr/>
        </p:nvSpPr>
        <p:spPr>
          <a:xfrm xmlns:a="http://schemas.openxmlformats.org/drawingml/2006/main">
            <a:off x="571500" y="5114925"/>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F83"/>
                </a:solidFill>
                <a:latin typeface="Arial"/>
                <a:ea typeface="Arial"/>
                <a:cs typeface="Arial"/>
              </a:defRPr>
            </a:pPr>
            <a:r>
              <a:rPr sz="2550" b="1">
                <a:solidFill>
                  <a:srgbClr val="087F83"/>
                </a:solidFill>
                <a:latin typeface="Arial"/>
                <a:ea typeface="Arial"/>
                <a:cs typeface="Arial"/>
              </a:rPr>
              <a:t>21 / 21 pairs: local CKNNA exceeds the global limit</a:t>
            </a:r>
          </a:p>
        </p:txBody>
      </p:sp>
      <p:sp>
        <p:nvSpPr>
          <p:cNvPr id="6" name="">
            <a:extLst xmlns:a="http://schemas.openxmlformats.org/drawingml/2006/main">
              <a:ext uri="{FF2B5EF4-FFF2-40B4-BE49-F238E27FC236}">
                <a16:creationId xmlns:a16="http://schemas.microsoft.com/office/drawing/2014/main" id="{03A73C9A-5381-4057-94DD-96C92FC863BA}"/>
              </a:ext>
            </a:extLst>
          </p:cNvPr>
          <p:cNvSpPr>
            <a:spLocks xmlns:a="http://schemas.openxmlformats.org/drawingml/2006/main" noGrp="1"/>
          </p:cNvSpPr>
          <p:nvPr/>
        </p:nvSpPr>
        <p:spPr>
          <a:xfrm xmlns:a="http://schemas.openxmlformats.org/drawingml/2006/main">
            <a:off x="571500" y="57245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CKNNA compares local similarity structure. The falling overlap/chance curve alone is insufficient.</a:t>
            </a:r>
          </a:p>
        </p:txBody>
      </p:sp>
    </p:spTree>
    <p:extLst>
      <p:ext uri="{BB962C8B-B14F-4D97-AF65-F5344CB8AC3E}">
        <p14:creationId xmlns:p14="http://schemas.microsoft.com/office/powerpoint/2010/main" val="176736214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328EA3-C5D5-48B2-8477-490C4673E0F3}"/>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GPT-2 separates reading from writing</a:t>
            </a:r>
          </a:p>
        </p:txBody>
      </p:sp>
      <p:sp>
        <p:nvSpPr>
          <p:cNvPr id="2" name="">
            <a:extLst xmlns:a="http://schemas.openxmlformats.org/drawingml/2006/main">
              <a:ext uri="{FF2B5EF4-FFF2-40B4-BE49-F238E27FC236}">
                <a16:creationId xmlns:a16="http://schemas.microsoft.com/office/drawing/2014/main" id="{CD1C5668-E8C6-4C58-BCBB-9A97299E943D}"/>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C.13.3–C.13.4, C.11; supplied read/write diagnostics</a:t>
            </a:r>
          </a:p>
        </p:txBody>
      </p:sp>
      <p:sp>
        <p:nvSpPr>
          <p:cNvPr id="3" name="">
            <a:extLst xmlns:a="http://schemas.openxmlformats.org/drawingml/2006/main">
              <a:ext uri="{FF2B5EF4-FFF2-40B4-BE49-F238E27FC236}">
                <a16:creationId xmlns:a16="http://schemas.microsoft.com/office/drawing/2014/main" id="{22336AEA-B881-455B-ACFC-D0C3E5C72766}"/>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16</a:t>
            </a:r>
          </a:p>
        </p:txBody>
      </p:sp>
      <p:graphicFrame>
        <p:nvGraphicFramePr>
          <p:cNvPr id="10" name=""/>
          <p:cNvGraphicFramePr/>
          <p:nvPr/>
        </p:nvGraphicFramePr>
        <p:xfrm>
          <a:off xmlns:a="http://schemas.openxmlformats.org/drawingml/2006/main" x="571500" y="1571625"/>
          <a:ext xmlns:a="http://schemas.openxmlformats.org/drawingml/2006/main" cx="11049000" cy="2667000"/>
        </p:xfrm>
        <a:graphic xmlns:a="http://schemas.openxmlformats.org/drawingml/2006/main">
          <a:graphicData uri="http://schemas.openxmlformats.org/drawingml/2006/table">
            <a:tbl>
              <a:tblPr/>
              <a:tblGrid>
                <a:gridCol w="2286000"/>
                <a:gridCol w="1809750"/>
                <a:gridCol w="2000250"/>
                <a:gridCol w="4953000"/>
              </a:tblGrid>
              <a:tr h="666750">
                <a:tc>
                  <a:txBody>
                    <a:bodyPr/>
                    <a:lstStyle/>
                    <a:p>
                      <a:r>
                        <a:rPr sz="1875" b="1">
                          <a:solidFill>
                            <a:srgbClr val="FFFFFF"/>
                          </a:solidFill>
                          <a:latin typeface="Arial"/>
                          <a:ea typeface="Arial"/>
                          <a:cs typeface="Arial"/>
                        </a:rPr>
                        <a:t>Space</a:t>
                      </a:r>
                    </a:p>
                  </a:txBody>
                  <a:tcPr marL="95250" marR="95250" marT="85725" marB="85725" anchor="ctr">
                    <a:solidFill>
                      <a:srgbClr val="142A45"/>
                    </a:solidFill>
                  </a:tcPr>
                </a:tc>
                <a:tc>
                  <a:txBody>
                    <a:bodyPr/>
                    <a:lstStyle/>
                    <a:p>
                      <a:r>
                        <a:rPr sz="1875" b="1">
                          <a:solidFill>
                            <a:srgbClr val="FFFFFF"/>
                          </a:solidFill>
                          <a:latin typeface="Arial"/>
                          <a:ea typeface="Arial"/>
                          <a:cs typeface="Arial"/>
                        </a:rPr>
                        <a:t>Read out</a:t>
                      </a:r>
                    </a:p>
                  </a:txBody>
                  <a:tcPr marL="95250" marR="95250" marT="85725" marB="85725" anchor="ctr">
                    <a:solidFill>
                      <a:srgbClr val="142A45"/>
                    </a:solidFill>
                  </a:tcPr>
                </a:tc>
                <a:tc>
                  <a:txBody>
                    <a:bodyPr/>
                    <a:lstStyle/>
                    <a:p>
                      <a:r>
                        <a:rPr sz="1875" b="1">
                          <a:solidFill>
                            <a:srgbClr val="FFFFFF"/>
                          </a:solidFill>
                          <a:latin typeface="Arial"/>
                          <a:ea typeface="Arial"/>
                          <a:cs typeface="Arial"/>
                        </a:rPr>
                        <a:t>Write into</a:t>
                      </a:r>
                    </a:p>
                  </a:txBody>
                  <a:tcPr marL="95250" marR="95250" marT="85725" marB="85725" anchor="ctr">
                    <a:solidFill>
                      <a:srgbClr val="142A45"/>
                    </a:solidFill>
                  </a:tcPr>
                </a:tc>
                <a:tc>
                  <a:txBody>
                    <a:bodyPr/>
                    <a:lstStyle/>
                    <a:p>
                      <a:r>
                        <a:rPr sz="1875" b="1">
                          <a:solidFill>
                            <a:srgbClr val="FFFFFF"/>
                          </a:solidFill>
                          <a:latin typeface="Arial"/>
                          <a:ea typeface="Arial"/>
                          <a:cs typeface="Arial"/>
                        </a:rPr>
                        <a:t>Interpretation</a:t>
                      </a:r>
                    </a:p>
                  </a:txBody>
                  <a:tcPr marL="95250" marR="95250" marT="85725" marB="85725" anchor="ctr">
                    <a:solidFill>
                      <a:srgbClr val="142A45"/>
                    </a:solidFill>
                  </a:tcPr>
                </a:tc>
              </a:tr>
              <a:tr h="666750">
                <a:tc>
                  <a:txBody>
                    <a:bodyPr/>
                    <a:lstStyle/>
                    <a:p>
                      <a:r>
                        <a:rPr sz="1875" b="0">
                          <a:solidFill>
                            <a:srgbClr val="142A45"/>
                          </a:solidFill>
                          <a:latin typeface="Arial"/>
                          <a:ea typeface="Arial"/>
                          <a:cs typeface="Arial"/>
                        </a:rPr>
                        <a:t>GPT-2</a:t>
                      </a:r>
                    </a:p>
                  </a:txBody>
                  <a:tcPr marL="95250" marR="95250" marT="85725" marB="85725" anchor="ctr">
                    <a:solidFill>
                      <a:srgbClr val="F1F5F8"/>
                    </a:solidFill>
                  </a:tcPr>
                </a:tc>
                <a:tc>
                  <a:txBody>
                    <a:bodyPr/>
                    <a:lstStyle/>
                    <a:p>
                      <a:r>
                        <a:rPr sz="1875" b="0">
                          <a:solidFill>
                            <a:srgbClr val="142A45"/>
                          </a:solidFill>
                          <a:latin typeface="Arial"/>
                          <a:ea typeface="Arial"/>
                          <a:cs typeface="Arial"/>
                        </a:rPr>
                        <a:t>95.1%</a:t>
                      </a:r>
                    </a:p>
                  </a:txBody>
                  <a:tcPr marL="95250" marR="95250" marT="85725" marB="85725" anchor="ctr">
                    <a:solidFill>
                      <a:srgbClr val="F1F5F8"/>
                    </a:solidFill>
                  </a:tcPr>
                </a:tc>
                <a:tc>
                  <a:txBody>
                    <a:bodyPr/>
                    <a:lstStyle/>
                    <a:p>
                      <a:r>
                        <a:rPr sz="1875" b="0">
                          <a:solidFill>
                            <a:srgbClr val="142A45"/>
                          </a:solidFill>
                          <a:latin typeface="Arial"/>
                          <a:ea typeface="Arial"/>
                          <a:cs typeface="Arial"/>
                        </a:rPr>
                        <a:t>24.8%</a:t>
                      </a:r>
                    </a:p>
                  </a:txBody>
                  <a:tcPr marL="95250" marR="95250" marT="85725" marB="85725" anchor="ctr">
                    <a:solidFill>
                      <a:srgbClr val="F1F5F8"/>
                    </a:solidFill>
                  </a:tcPr>
                </a:tc>
                <a:tc>
                  <a:txBody>
                    <a:bodyPr/>
                    <a:lstStyle/>
                    <a:p>
                      <a:r>
                        <a:rPr sz="1875" b="0">
                          <a:solidFill>
                            <a:srgbClr val="142A45"/>
                          </a:solidFill>
                          <a:latin typeface="Arial"/>
                          <a:ea typeface="Arial"/>
                          <a:cs typeface="Arial"/>
                        </a:rPr>
                        <a:t>Recoverable content, fragile target ranking</a:t>
                      </a:r>
                    </a:p>
                  </a:txBody>
                  <a:tcPr marL="95250" marR="95250" marT="85725" marB="85725" anchor="ctr">
                    <a:solidFill>
                      <a:srgbClr val="F1F5F8"/>
                    </a:solidFill>
                  </a:tcPr>
                </a:tc>
              </a:tr>
              <a:tr h="666750">
                <a:tc>
                  <a:txBody>
                    <a:bodyPr/>
                    <a:lstStyle/>
                    <a:p>
                      <a:r>
                        <a:rPr sz="1875" b="0">
                          <a:solidFill>
                            <a:srgbClr val="142A45"/>
                          </a:solidFill>
                          <a:latin typeface="Arial"/>
                          <a:ea typeface="Arial"/>
                          <a:cs typeface="Arial"/>
                        </a:rPr>
                        <a:t>bge-m3</a:t>
                      </a:r>
                    </a:p>
                  </a:txBody>
                  <a:tcPr marL="95250" marR="95250" marT="85725" marB="85725" anchor="ctr">
                    <a:solidFill>
                      <a:srgbClr val="FFFFFF"/>
                    </a:solidFill>
                  </a:tcPr>
                </a:tc>
                <a:tc>
                  <a:txBody>
                    <a:bodyPr/>
                    <a:lstStyle/>
                    <a:p>
                      <a:r>
                        <a:rPr sz="1875" b="0">
                          <a:solidFill>
                            <a:srgbClr val="142A45"/>
                          </a:solidFill>
                          <a:latin typeface="Arial"/>
                          <a:ea typeface="Arial"/>
                          <a:cs typeface="Arial"/>
                        </a:rPr>
                        <a:t>98.1%*</a:t>
                      </a:r>
                    </a:p>
                  </a:txBody>
                  <a:tcPr marL="95250" marR="95250" marT="85725" marB="85725" anchor="ctr">
                    <a:solidFill>
                      <a:srgbClr val="FFFFFF"/>
                    </a:solidFill>
                  </a:tcPr>
                </a:tc>
                <a:tc>
                  <a:txBody>
                    <a:bodyPr/>
                    <a:lstStyle/>
                    <a:p>
                      <a:r>
                        <a:rPr sz="1875" b="0">
                          <a:solidFill>
                            <a:srgbClr val="142A45"/>
                          </a:solidFill>
                          <a:latin typeface="Arial"/>
                          <a:ea typeface="Arial"/>
                          <a:cs typeface="Arial"/>
                        </a:rPr>
                        <a:t>98.1%</a:t>
                      </a:r>
                    </a:p>
                  </a:txBody>
                  <a:tcPr marL="95250" marR="95250" marT="85725" marB="85725" anchor="ctr">
                    <a:solidFill>
                      <a:srgbClr val="FFFFFF"/>
                    </a:solidFill>
                  </a:tcPr>
                </a:tc>
                <a:tc>
                  <a:txBody>
                    <a:bodyPr/>
                    <a:lstStyle/>
                    <a:p>
                      <a:r>
                        <a:rPr sz="1875" b="0">
                          <a:solidFill>
                            <a:srgbClr val="142A45"/>
                          </a:solidFill>
                          <a:latin typeface="Arial"/>
                          <a:ea typeface="Arial"/>
                          <a:cs typeface="Arial"/>
                        </a:rPr>
                        <a:t>Useful caption target</a:t>
                      </a:r>
                    </a:p>
                  </a:txBody>
                  <a:tcPr marL="95250" marR="95250" marT="85725" marB="85725" anchor="ctr">
                    <a:solidFill>
                      <a:srgbClr val="FFFFFF"/>
                    </a:solidFill>
                  </a:tcPr>
                </a:tc>
              </a:tr>
              <a:tr h="666750">
                <a:tc>
                  <a:txBody>
                    <a:bodyPr/>
                    <a:lstStyle/>
                    <a:p>
                      <a:r>
                        <a:rPr sz="1875" b="0">
                          <a:solidFill>
                            <a:srgbClr val="142A45"/>
                          </a:solidFill>
                          <a:latin typeface="Arial"/>
                          <a:ea typeface="Arial"/>
                          <a:cs typeface="Arial"/>
                        </a:rPr>
                        <a:t>SBERT</a:t>
                      </a:r>
                    </a:p>
                  </a:txBody>
                  <a:tcPr marL="95250" marR="95250" marT="85725" marB="85725" anchor="ctr">
                    <a:solidFill>
                      <a:srgbClr val="F1F5F8"/>
                    </a:solidFill>
                  </a:tcPr>
                </a:tc>
                <a:tc>
                  <a:txBody>
                    <a:bodyPr/>
                    <a:lstStyle/>
                    <a:p>
                      <a:r>
                        <a:rPr sz="1875" b="0">
                          <a:solidFill>
                            <a:srgbClr val="142A45"/>
                          </a:solidFill>
                          <a:latin typeface="Arial"/>
                          <a:ea typeface="Arial"/>
                          <a:cs typeface="Arial"/>
                        </a:rPr>
                        <a:t>Not supplied</a:t>
                      </a:r>
                    </a:p>
                  </a:txBody>
                  <a:tcPr marL="95250" marR="95250" marT="85725" marB="85725" anchor="ctr">
                    <a:solidFill>
                      <a:srgbClr val="F1F5F8"/>
                    </a:solidFill>
                  </a:tcPr>
                </a:tc>
                <a:tc>
                  <a:txBody>
                    <a:bodyPr/>
                    <a:lstStyle/>
                    <a:p>
                      <a:r>
                        <a:rPr sz="1875" b="0">
                          <a:solidFill>
                            <a:srgbClr val="142A45"/>
                          </a:solidFill>
                          <a:latin typeface="Arial"/>
                          <a:ea typeface="Arial"/>
                          <a:cs typeface="Arial"/>
                        </a:rPr>
                        <a:t>101.0%</a:t>
                      </a:r>
                    </a:p>
                  </a:txBody>
                  <a:tcPr marL="95250" marR="95250" marT="85725" marB="85725" anchor="ctr">
                    <a:solidFill>
                      <a:srgbClr val="F1F5F8"/>
                    </a:solidFill>
                  </a:tcPr>
                </a:tc>
                <a:tc>
                  <a:txBody>
                    <a:bodyPr/>
                    <a:lstStyle/>
                    <a:p>
                      <a:r>
                        <a:rPr sz="1875" b="0">
                          <a:solidFill>
                            <a:srgbClr val="142A45"/>
                          </a:solidFill>
                          <a:latin typeface="Arial"/>
                          <a:ea typeface="Arial"/>
                          <a:cs typeface="Arial"/>
                        </a:rPr>
                        <a:t>Relative target score, not accuracy</a:t>
                      </a:r>
                    </a:p>
                  </a:txBody>
                  <a:tcPr marL="95250" marR="95250" marT="85725" marB="8572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41670F98-8EE5-4D02-9D2F-DFAD2CEB1010}"/>
              </a:ext>
            </a:extLst>
          </p:cNvPr>
          <p:cNvSpPr>
            <a:spLocks xmlns:a="http://schemas.openxmlformats.org/drawingml/2006/main" noGrp="1"/>
          </p:cNvSpPr>
          <p:nvPr/>
        </p:nvSpPr>
        <p:spPr>
          <a:xfrm xmlns:a="http://schemas.openxmlformats.org/drawingml/2006/main">
            <a:off x="571500" y="4619625"/>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3"/>
                </a:solidFill>
                <a:latin typeface="Arial"/>
                <a:ea typeface="Arial"/>
                <a:cs typeface="Arial"/>
              </a:defRPr>
            </a:pPr>
            <a:r>
              <a:rPr sz="2250" b="1">
                <a:solidFill>
                  <a:srgbClr val="087F83"/>
                </a:solidFill>
                <a:latin typeface="Arial"/>
                <a:ea typeface="Arial"/>
                <a:cs typeface="Arial"/>
              </a:rPr>
              <a:t>Read: source vector into hub. Write: hub prediction into a target space.</a:t>
            </a:r>
          </a:p>
        </p:txBody>
      </p:sp>
      <p:sp>
        <p:nvSpPr>
          <p:cNvPr id="6" name="">
            <a:extLst xmlns:a="http://schemas.openxmlformats.org/drawingml/2006/main">
              <a:ext uri="{FF2B5EF4-FFF2-40B4-BE49-F238E27FC236}">
                <a16:creationId xmlns:a16="http://schemas.microsoft.com/office/drawing/2014/main" id="{17617B3D-CD73-4CFF-89F0-2822B054C1B4}"/>
              </a:ext>
            </a:extLst>
          </p:cNvPr>
          <p:cNvSpPr>
            <a:spLocks xmlns:a="http://schemas.openxmlformats.org/drawingml/2006/main" noGrp="1"/>
          </p:cNvSpPr>
          <p:nvPr/>
        </p:nvSpPr>
        <p:spPr>
          <a:xfrm xmlns:a="http://schemas.openxmlformats.org/drawingml/2006/main">
            <a:off x="571500" y="56483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*bge read figure comes from the supplied discussion; diagnostics use their own references.</a:t>
            </a:r>
          </a:p>
        </p:txBody>
      </p:sp>
    </p:spTree>
    <p:extLst>
      <p:ext uri="{BB962C8B-B14F-4D97-AF65-F5344CB8AC3E}">
        <p14:creationId xmlns:p14="http://schemas.microsoft.com/office/powerpoint/2010/main" val="161259219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EC8653-E74D-438A-9DA8-6F02C9C38A36}"/>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Larger-model tests: progress and limits</a:t>
            </a:r>
          </a:p>
        </p:txBody>
      </p:sp>
      <p:sp>
        <p:nvSpPr>
          <p:cNvPr id="2" name="">
            <a:extLst xmlns:a="http://schemas.openxmlformats.org/drawingml/2006/main">
              <a:ext uri="{FF2B5EF4-FFF2-40B4-BE49-F238E27FC236}">
                <a16:creationId xmlns:a16="http://schemas.microsoft.com/office/drawing/2014/main" id="{642B57E3-286F-42A5-B4BA-A5C0569C7E9C}"/>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E.16, Table C12s; supplied scale_ladder_rho.png</a:t>
            </a:r>
          </a:p>
        </p:txBody>
      </p:sp>
      <p:sp>
        <p:nvSpPr>
          <p:cNvPr id="3" name="">
            <a:extLst xmlns:a="http://schemas.openxmlformats.org/drawingml/2006/main">
              <a:ext uri="{FF2B5EF4-FFF2-40B4-BE49-F238E27FC236}">
                <a16:creationId xmlns:a16="http://schemas.microsoft.com/office/drawing/2014/main" id="{4878B865-0FA9-435A-9A2D-9830C23206C2}"/>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17</a:t>
            </a:r>
          </a:p>
        </p:txBody>
      </p:sp>
      <p:graphicFrame>
        <p:nvGraphicFramePr>
          <p:cNvPr id="10" name="Chart"/>
          <p:cNvGraphicFramePr/>
          <p:nvPr/>
        </p:nvGraphicFramePr>
        <p:xfrm>
          <a:off xmlns:a="http://schemas.openxmlformats.org/drawingml/2006/main" x="571500" y="1619250"/>
          <a:ext xmlns:a="http://schemas.openxmlformats.org/drawingml/2006/main" cx="5334000" cy="3238500"/>
        </p:xfrm>
        <a:graphic xmlns:a="http://schemas.openxmlformats.org/drawingml/2006/main">
          <a:graphicData uri="http://schemas.openxmlformats.org/drawingml/2006/chart">
            <c:chart xmlns:r="http://schemas.openxmlformats.org/officeDocument/2006/relationships" xmlns:c="http://schemas.openxmlformats.org/drawingml/2006/chart" r:id="R60a02ffe53254b2e"/>
          </a:graphicData>
        </a:graphic>
      </p:graphicFrame>
      <p:graphicFrame>
        <p:nvGraphicFramePr>
          <p:cNvPr id="11" name="Chart"/>
          <p:cNvGraphicFramePr/>
          <p:nvPr/>
        </p:nvGraphicFramePr>
        <p:xfrm>
          <a:off xmlns:a="http://schemas.openxmlformats.org/drawingml/2006/main" x="6334125" y="1619250"/>
          <a:ext xmlns:a="http://schemas.openxmlformats.org/drawingml/2006/main" cx="5286375" cy="3238500"/>
        </p:xfrm>
        <a:graphic xmlns:a="http://schemas.openxmlformats.org/drawingml/2006/main">
          <a:graphicData uri="http://schemas.openxmlformats.org/drawingml/2006/chart">
            <c:chart xmlns:r="http://schemas.openxmlformats.org/officeDocument/2006/relationships" xmlns:c="http://schemas.openxmlformats.org/drawingml/2006/chart" r:id="R8036554d7b90410b"/>
          </a:graphicData>
        </a:graphic>
      </p:graphicFrame>
      <p:sp>
        <p:nvSpPr>
          <p:cNvPr id="6" name="">
            <a:extLst xmlns:a="http://schemas.openxmlformats.org/drawingml/2006/main">
              <a:ext uri="{FF2B5EF4-FFF2-40B4-BE49-F238E27FC236}">
                <a16:creationId xmlns:a16="http://schemas.microsoft.com/office/drawing/2014/main" id="{753419E5-CFB7-4C9F-A6DA-857EAD4288FE}"/>
              </a:ext>
            </a:extLst>
          </p:cNvPr>
          <p:cNvSpPr>
            <a:spLocks xmlns:a="http://schemas.openxmlformats.org/drawingml/2006/main" noGrp="1"/>
          </p:cNvSpPr>
          <p:nvPr/>
        </p:nvSpPr>
        <p:spPr>
          <a:xfrm xmlns:a="http://schemas.openxmlformats.org/drawingml/2006/main">
            <a:off x="571500" y="56483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ρ ranks pairwise distances with no fitted map. Bigger did not mean higher agreement here.</a:t>
            </a:r>
          </a:p>
        </p:txBody>
      </p:sp>
    </p:spTree>
    <p:extLst>
      <p:ext uri="{BB962C8B-B14F-4D97-AF65-F5344CB8AC3E}">
        <p14:creationId xmlns:p14="http://schemas.microsoft.com/office/powerpoint/2010/main" val="125755365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89C1BA-B9C6-4A2E-ABBB-550A979BA722}"/>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Six controls and the numbers they guard</a:t>
            </a:r>
          </a:p>
        </p:txBody>
      </p:sp>
      <p:sp>
        <p:nvSpPr>
          <p:cNvPr id="2" name="">
            <a:extLst xmlns:a="http://schemas.openxmlformats.org/drawingml/2006/main">
              <a:ext uri="{FF2B5EF4-FFF2-40B4-BE49-F238E27FC236}">
                <a16:creationId xmlns:a16="http://schemas.microsoft.com/office/drawing/2014/main" id="{F8A56ACB-24D7-40B8-AAEB-AE28B5510B2E}"/>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§3, C.9, C.13.2, D.2, E.2; Results Summary(3)</a:t>
            </a:r>
          </a:p>
        </p:txBody>
      </p:sp>
      <p:sp>
        <p:nvSpPr>
          <p:cNvPr id="3" name="">
            <a:extLst xmlns:a="http://schemas.openxmlformats.org/drawingml/2006/main">
              <a:ext uri="{FF2B5EF4-FFF2-40B4-BE49-F238E27FC236}">
                <a16:creationId xmlns:a16="http://schemas.microsoft.com/office/drawing/2014/main" id="{AFE85FDD-8719-4319-81B7-95DFB2B180A9}"/>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18</a:t>
            </a:r>
          </a:p>
        </p:txBody>
      </p:sp>
      <p:graphicFrame>
        <p:nvGraphicFramePr>
          <p:cNvPr id="9" name=""/>
          <p:cNvGraphicFramePr/>
          <p:nvPr/>
        </p:nvGraphicFramePr>
        <p:xfrm>
          <a:off xmlns:a="http://schemas.openxmlformats.org/drawingml/2006/main" x="571500" y="1381125"/>
          <a:ext xmlns:a="http://schemas.openxmlformats.org/drawingml/2006/main" cx="11049000" cy="4572000"/>
        </p:xfrm>
        <a:graphic xmlns:a="http://schemas.openxmlformats.org/drawingml/2006/main">
          <a:graphicData uri="http://schemas.openxmlformats.org/drawingml/2006/table">
            <a:tbl>
              <a:tblPr/>
              <a:tblGrid>
                <a:gridCol w="2095500"/>
                <a:gridCol w="2238375"/>
                <a:gridCol w="2381250"/>
                <a:gridCol w="4333875"/>
              </a:tblGrid>
              <a:tr h="653143">
                <a:tc>
                  <a:txBody>
                    <a:bodyPr/>
                    <a:lstStyle/>
                    <a:p>
                      <a:r>
                        <a:rPr sz="1575" b="1">
                          <a:solidFill>
                            <a:srgbClr val="FFFFFF"/>
                          </a:solidFill>
                          <a:latin typeface="Arial"/>
                          <a:ea typeface="Arial"/>
                          <a:cs typeface="Arial"/>
                        </a:rPr>
                        <a:t>Control</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Fitted result</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Control / reference</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What this checks</a:t>
                      </a:r>
                    </a:p>
                  </a:txBody>
                  <a:tcPr marL="95250" marR="95250" marT="85725" marB="85725" anchor="ctr">
                    <a:solidFill>
                      <a:srgbClr val="142A45"/>
                    </a:solidFill>
                  </a:tcPr>
                </a:tc>
              </a:tr>
              <a:tr h="653143">
                <a:tc>
                  <a:txBody>
                    <a:bodyPr/>
                    <a:lstStyle/>
                    <a:p>
                      <a:r>
                        <a:rPr sz="1575" b="0">
                          <a:solidFill>
                            <a:srgbClr val="142A45"/>
                          </a:solidFill>
                          <a:latin typeface="Arial"/>
                          <a:ea typeface="Arial"/>
                          <a:cs typeface="Arial"/>
                        </a:rPr>
                        <a:t>Random map / no adapter</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AUC .999</a:t>
                      </a:r>
                    </a:p>
                    <a:p>
                      <a:r>
                        <a:rPr sz="1575" b="0">
                          <a:solidFill>
                            <a:srgbClr val="142A45"/>
                          </a:solidFill>
                          <a:latin typeface="Arial"/>
                          <a:ea typeface="Arial"/>
                          <a:cs typeface="Arial"/>
                        </a:rPr>
                        <a:t>G4 R@1 .557</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AUC .477</a:t>
                      </a:r>
                    </a:p>
                    <a:p>
                      <a:r>
                        <a:rPr sz="1575" b="0">
                          <a:solidFill>
                            <a:srgbClr val="142A45"/>
                          </a:solidFill>
                          <a:latin typeface="Arial"/>
                          <a:ea typeface="Arial"/>
                          <a:cs typeface="Arial"/>
                        </a:rPr>
                        <a:t>G4 R@1 .003</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The learned bridge supplies useful information.</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Random model weights</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Mean CKA .359</a:t>
                      </a:r>
                    </a:p>
                    <a:p>
                      <a:r>
                        <a:rPr sz="1575" b="0">
                          <a:solidFill>
                            <a:srgbClr val="142A45"/>
                          </a:solidFill>
                          <a:latin typeface="Arial"/>
                          <a:ea typeface="Arial"/>
                          <a:cs typeface="Arial"/>
                        </a:rPr>
                        <a:t>Mean R² .737</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Mean CKA .067</a:t>
                      </a:r>
                    </a:p>
                    <a:p>
                      <a:r>
                        <a:rPr sz="1575" b="0">
                          <a:solidFill>
                            <a:srgbClr val="142A45"/>
                          </a:solidFill>
                          <a:latin typeface="Arial"/>
                          <a:ea typeface="Arial"/>
                          <a:cs typeface="Arial"/>
                        </a:rPr>
                        <a:t>Mean R² .173</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Learned representations exceed the random-weight comparison.</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Shuffle item pairing</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E1 R² .511</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Shuffled R² −.130</a:t>
                      </a:r>
                    </a:p>
                    <a:p>
                      <a:r>
                        <a:rPr sz="1575" b="0">
                          <a:solidFill>
                            <a:srgbClr val="142A45"/>
                          </a:solidFill>
                          <a:latin typeface="Arial"/>
                          <a:ea typeface="Arial"/>
                          <a:cs typeface="Arial"/>
                        </a:rPr>
                        <a:t>Gap .641</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Correct item correspondence matters to the fitted map.</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Matched native reference</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B R@5 .843</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Native R@5 .885</a:t>
                      </a:r>
                    </a:p>
                    <a:p>
                      <a:r>
                        <a:rPr sz="1575" b="0">
                          <a:solidFill>
                            <a:srgbClr val="142A45"/>
                          </a:solidFill>
                          <a:latin typeface="Arial"/>
                          <a:ea typeface="Arial"/>
                          <a:cs typeface="Arial"/>
                        </a:rPr>
                        <a:t>95.3% retention</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Task, rows and caption treatment must match.</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Held-out ConvNeXt</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R@1 retention 96.7%</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ViT band 93.8–96.5%</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Tests a supervised convnet outside the hub membership.</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Held-out SigLIP 2</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R@1 retention 94.2%</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Encoder-specific head</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Tests an unrelated lineage with the caption head frozen.</a:t>
                      </a:r>
                    </a:p>
                  </a:txBody>
                  <a:tcPr marL="95250" marR="95250"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E295AA7-C076-41DB-9DD7-E05C78363343}"/>
              </a:ext>
            </a:extLst>
          </p:cNvPr>
          <p:cNvSpPr>
            <a:spLocks xmlns:a="http://schemas.openxmlformats.org/drawingml/2006/main" noGrp="1"/>
          </p:cNvSpPr>
          <p:nvPr/>
        </p:nvSpPr>
        <p:spPr>
          <a:xfrm xmlns:a="http://schemas.openxmlformats.org/drawingml/2006/main">
            <a:off x="571500" y="600075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R² explains target variance. AUC separates pairs. R@K counts successful retrievals.</a:t>
            </a:r>
          </a:p>
        </p:txBody>
      </p:sp>
    </p:spTree>
    <p:extLst>
      <p:ext uri="{BB962C8B-B14F-4D97-AF65-F5344CB8AC3E}">
        <p14:creationId xmlns:p14="http://schemas.microsoft.com/office/powerpoint/2010/main" val="77717607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8765F7A-EDE8-400A-860D-3F3DCBD938C5}"/>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Failures sharpened the claims</a:t>
            </a:r>
          </a:p>
        </p:txBody>
      </p:sp>
      <p:sp>
        <p:nvSpPr>
          <p:cNvPr id="2" name="">
            <a:extLst xmlns:a="http://schemas.openxmlformats.org/drawingml/2006/main">
              <a:ext uri="{FF2B5EF4-FFF2-40B4-BE49-F238E27FC236}">
                <a16:creationId xmlns:a16="http://schemas.microsoft.com/office/drawing/2014/main" id="{B244C91E-FF7A-4BD5-91C9-AA298EC8A44B}"/>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§§3–4, C.13.9, E.8, E.13–E.17</a:t>
            </a:r>
          </a:p>
        </p:txBody>
      </p:sp>
      <p:sp>
        <p:nvSpPr>
          <p:cNvPr id="3" name="">
            <a:extLst xmlns:a="http://schemas.openxmlformats.org/drawingml/2006/main">
              <a:ext uri="{FF2B5EF4-FFF2-40B4-BE49-F238E27FC236}">
                <a16:creationId xmlns:a16="http://schemas.microsoft.com/office/drawing/2014/main" id="{E63193ED-D0EF-4DD0-A90F-FCA914C8823A}"/>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19</a:t>
            </a:r>
          </a:p>
        </p:txBody>
      </p:sp>
      <p:graphicFrame>
        <p:nvGraphicFramePr>
          <p:cNvPr id="8" name=""/>
          <p:cNvGraphicFramePr/>
          <p:nvPr/>
        </p:nvGraphicFramePr>
        <p:xfrm>
          <a:off xmlns:a="http://schemas.openxmlformats.org/drawingml/2006/main" x="571500" y="1476375"/>
          <a:ext xmlns:a="http://schemas.openxmlformats.org/drawingml/2006/main" cx="11049000" cy="4000500"/>
        </p:xfrm>
        <a:graphic xmlns:a="http://schemas.openxmlformats.org/drawingml/2006/main">
          <a:graphicData uri="http://schemas.openxmlformats.org/drawingml/2006/table">
            <a:tbl>
              <a:tblPr/>
              <a:tblGrid>
                <a:gridCol w="4381500"/>
                <a:gridCol w="6667500"/>
              </a:tblGrid>
              <a:tr h="666750">
                <a:tc>
                  <a:txBody>
                    <a:bodyPr/>
                    <a:lstStyle/>
                    <a:p>
                      <a:r>
                        <a:rPr sz="1800" b="1">
                          <a:solidFill>
                            <a:srgbClr val="FFFFFF"/>
                          </a:solidFill>
                          <a:latin typeface="Arial"/>
                          <a:ea typeface="Arial"/>
                          <a:cs typeface="Arial"/>
                        </a:rPr>
                        <a:t>Observation</a:t>
                      </a:r>
                    </a:p>
                  </a:txBody>
                  <a:tcPr marL="95250" marR="95250" marT="85725" marB="85725" anchor="ctr">
                    <a:solidFill>
                      <a:srgbClr val="142A45"/>
                    </a:solidFill>
                  </a:tcPr>
                </a:tc>
                <a:tc>
                  <a:txBody>
                    <a:bodyPr/>
                    <a:lstStyle/>
                    <a:p>
                      <a:r>
                        <a:rPr sz="1800" b="1">
                          <a:solidFill>
                            <a:srgbClr val="FFFFFF"/>
                          </a:solidFill>
                          <a:latin typeface="Arial"/>
                          <a:ea typeface="Arial"/>
                          <a:cs typeface="Arial"/>
                        </a:rPr>
                        <a:t>Lesson / correction</a:t>
                      </a:r>
                    </a:p>
                  </a:txBody>
                  <a:tcPr marL="95250" marR="95250" marT="85725" marB="85725" anchor="ctr">
                    <a:solidFill>
                      <a:srgbClr val="142A45"/>
                    </a:solidFill>
                  </a:tcPr>
                </a:tc>
              </a:tr>
              <a:tr h="666750">
                <a:tc>
                  <a:txBody>
                    <a:bodyPr/>
                    <a:lstStyle/>
                    <a:p>
                      <a:r>
                        <a:rPr sz="1800" b="0">
                          <a:solidFill>
                            <a:srgbClr val="142A45"/>
                          </a:solidFill>
                          <a:latin typeface="Arial"/>
                          <a:ea typeface="Arial"/>
                          <a:cs typeface="Arial"/>
                        </a:rPr>
                        <a:t>A: initial fit underpowered</a:t>
                      </a:r>
                    </a:p>
                  </a:txBody>
                  <a:tcPr marL="95250" marR="95250" marT="85725" marB="85725" anchor="ctr">
                    <a:solidFill>
                      <a:srgbClr val="F1F5F8"/>
                    </a:solidFill>
                  </a:tcPr>
                </a:tc>
                <a:tc>
                  <a:txBody>
                    <a:bodyPr/>
                    <a:lstStyle/>
                    <a:p>
                      <a:r>
                        <a:rPr sz="1800" b="0">
                          <a:solidFill>
                            <a:srgbClr val="142A45"/>
                          </a:solidFill>
                          <a:latin typeface="Arial"/>
                          <a:ea typeface="Arial"/>
                          <a:cs typeface="Arial"/>
                        </a:rPr>
                        <a:t>Increase paired rows before interpreting a failure.</a:t>
                      </a:r>
                    </a:p>
                  </a:txBody>
                  <a:tcPr marL="95250" marR="95250" marT="85725" marB="85725" anchor="ctr">
                    <a:solidFill>
                      <a:srgbClr val="F1F5F8"/>
                    </a:solidFill>
                  </a:tcPr>
                </a:tc>
              </a:tr>
              <a:tr h="666750">
                <a:tc>
                  <a:txBody>
                    <a:bodyPr/>
                    <a:lstStyle/>
                    <a:p>
                      <a:r>
                        <a:rPr sz="1800" b="0">
                          <a:solidFill>
                            <a:srgbClr val="142A45"/>
                          </a:solidFill>
                          <a:latin typeface="Arial"/>
                          <a:ea typeface="Arial"/>
                          <a:cs typeface="Arial"/>
                        </a:rPr>
                        <a:t>B: MLP did not improve R@1</a:t>
                      </a:r>
                    </a:p>
                  </a:txBody>
                  <a:tcPr marL="95250" marR="95250" marT="85725" marB="85725" anchor="ctr">
                    <a:solidFill>
                      <a:srgbClr val="FFFFFF"/>
                    </a:solidFill>
                  </a:tcPr>
                </a:tc>
                <a:tc>
                  <a:txBody>
                    <a:bodyPr/>
                    <a:lstStyle/>
                    <a:p>
                      <a:r>
                        <a:rPr sz="1800" b="0">
                          <a:solidFill>
                            <a:srgbClr val="142A45"/>
                          </a:solidFill>
                          <a:latin typeface="Arial"/>
                          <a:ea typeface="Arial"/>
                          <a:cs typeface="Arial"/>
                        </a:rPr>
                        <a:t>A linear map was sufficient in the tested controls.</a:t>
                      </a:r>
                    </a:p>
                  </a:txBody>
                  <a:tcPr marL="95250" marR="95250" marT="85725" marB="85725" anchor="ctr">
                    <a:solidFill>
                      <a:srgbClr val="FFFFFF"/>
                    </a:solidFill>
                  </a:tcPr>
                </a:tc>
              </a:tr>
              <a:tr h="666750">
                <a:tc>
                  <a:txBody>
                    <a:bodyPr/>
                    <a:lstStyle/>
                    <a:p>
                      <a:r>
                        <a:rPr sz="1800" b="0">
                          <a:solidFill>
                            <a:srgbClr val="142A45"/>
                          </a:solidFill>
                          <a:latin typeface="Arial"/>
                          <a:ea typeface="Arial"/>
                          <a:cs typeface="Arial"/>
                        </a:rPr>
                        <a:t>B: 88.4% retention at R@1</a:t>
                      </a:r>
                    </a:p>
                  </a:txBody>
                  <a:tcPr marL="95250" marR="95250" marT="85725" marB="85725" anchor="ctr">
                    <a:solidFill>
                      <a:srgbClr val="F1F5F8"/>
                    </a:solidFill>
                  </a:tcPr>
                </a:tc>
                <a:tc>
                  <a:txBody>
                    <a:bodyPr/>
                    <a:lstStyle/>
                    <a:p>
                      <a:r>
                        <a:rPr sz="1800" b="0">
                          <a:solidFill>
                            <a:srgbClr val="142A45"/>
                          </a:solidFill>
                          <a:latin typeface="Arial"/>
                          <a:ea typeface="Arial"/>
                          <a:cs typeface="Arial"/>
                        </a:rPr>
                        <a:t>Report the missed 90% gate.</a:t>
                      </a:r>
                    </a:p>
                  </a:txBody>
                  <a:tcPr marL="95250" marR="95250" marT="85725" marB="85725" anchor="ctr">
                    <a:solidFill>
                      <a:srgbClr val="F1F5F8"/>
                    </a:solidFill>
                  </a:tcPr>
                </a:tc>
              </a:tr>
              <a:tr h="666750">
                <a:tc>
                  <a:txBody>
                    <a:bodyPr/>
                    <a:lstStyle/>
                    <a:p>
                      <a:r>
                        <a:rPr sz="1800" b="0">
                          <a:solidFill>
                            <a:srgbClr val="142A45"/>
                          </a:solidFill>
                          <a:latin typeface="Arial"/>
                          <a:ea typeface="Arial"/>
                          <a:cs typeface="Arial"/>
                        </a:rPr>
                        <a:t>Hub: width cliff</a:t>
                      </a:r>
                    </a:p>
                  </a:txBody>
                  <a:tcPr marL="95250" marR="95250" marT="85725" marB="85725" anchor="ctr">
                    <a:solidFill>
                      <a:srgbClr val="FFFFFF"/>
                    </a:solidFill>
                  </a:tcPr>
                </a:tc>
                <a:tc>
                  <a:txBody>
                    <a:bodyPr/>
                    <a:lstStyle/>
                    <a:p>
                      <a:r>
                        <a:rPr sz="1800" b="0">
                          <a:solidFill>
                            <a:srgbClr val="142A45"/>
                          </a:solidFill>
                          <a:latin typeface="Arial"/>
                          <a:ea typeface="Arial"/>
                          <a:cs typeface="Arial"/>
                        </a:rPr>
                        <a:t>Near-null head-fit direction; regularization or truncation repairs it.</a:t>
                      </a:r>
                    </a:p>
                  </a:txBody>
                  <a:tcPr marL="95250" marR="95250" marT="85725" marB="85725" anchor="ctr">
                    <a:solidFill>
                      <a:srgbClr val="FFFFFF"/>
                    </a:solidFill>
                  </a:tcPr>
                </a:tc>
              </a:tr>
              <a:tr h="666750">
                <a:tc>
                  <a:txBody>
                    <a:bodyPr/>
                    <a:lstStyle/>
                    <a:p>
                      <a:r>
                        <a:rPr sz="1800" b="0">
                          <a:solidFill>
                            <a:srgbClr val="142A45"/>
                          </a:solidFill>
                          <a:latin typeface="Arial"/>
                          <a:ea typeface="Arial"/>
                          <a:cs typeface="Arial"/>
                        </a:rPr>
                        <a:t>Metric traps</a:t>
                      </a:r>
                    </a:p>
                  </a:txBody>
                  <a:tcPr marL="95250" marR="95250" marT="85725" marB="85725" anchor="ctr">
                    <a:solidFill>
                      <a:srgbClr val="F1F5F8"/>
                    </a:solidFill>
                  </a:tcPr>
                </a:tc>
                <a:tc>
                  <a:txBody>
                    <a:bodyPr/>
                    <a:lstStyle/>
                    <a:p>
                      <a:r>
                        <a:rPr sz="1800" b="0">
                          <a:solidFill>
                            <a:srgbClr val="142A45"/>
                          </a:solidFill>
                          <a:latin typeface="Arial"/>
                          <a:ea typeface="Arial"/>
                          <a:cs typeface="Arial"/>
                        </a:rPr>
                        <a:t>Ratios, geometry and chance need matched interpretation.</a:t>
                      </a:r>
                    </a:p>
                  </a:txBody>
                  <a:tcPr marL="95250" marR="95250" marT="85725" marB="85725" anchor="ctr">
                    <a:solidFill>
                      <a:srgbClr val="F1F5F8"/>
                    </a:solidFill>
                  </a:tcPr>
                </a:tc>
              </a:tr>
            </a:tbl>
          </a:graphicData>
        </a:graphic>
      </p:graphicFrame>
    </p:spTree>
    <p:extLst>
      <p:ext uri="{BB962C8B-B14F-4D97-AF65-F5344CB8AC3E}">
        <p14:creationId xmlns:p14="http://schemas.microsoft.com/office/powerpoint/2010/main" val="189700663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70041A-BFDB-441F-9ABC-472BACD89D75}"/>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Next tests, in priority order</a:t>
            </a:r>
          </a:p>
        </p:txBody>
      </p:sp>
      <p:sp>
        <p:nvSpPr>
          <p:cNvPr id="2" name="">
            <a:extLst xmlns:a="http://schemas.openxmlformats.org/drawingml/2006/main">
              <a:ext uri="{FF2B5EF4-FFF2-40B4-BE49-F238E27FC236}">
                <a16:creationId xmlns:a16="http://schemas.microsoft.com/office/drawing/2014/main" id="{EFD89CC7-C661-4F20-8A49-AA830BAFC675}"/>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E.13–E.16; Project Atlas next tests; proposed validation plan</a:t>
            </a:r>
          </a:p>
        </p:txBody>
      </p:sp>
      <p:sp>
        <p:nvSpPr>
          <p:cNvPr id="3" name="">
            <a:extLst xmlns:a="http://schemas.openxmlformats.org/drawingml/2006/main">
              <a:ext uri="{FF2B5EF4-FFF2-40B4-BE49-F238E27FC236}">
                <a16:creationId xmlns:a16="http://schemas.microsoft.com/office/drawing/2014/main" id="{B8F50C97-6709-4396-A051-5FC412E6F813}"/>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20</a:t>
            </a:r>
          </a:p>
        </p:txBody>
      </p:sp>
      <p:graphicFrame>
        <p:nvGraphicFramePr>
          <p:cNvPr id="9" name=""/>
          <p:cNvGraphicFramePr/>
          <p:nvPr/>
        </p:nvGraphicFramePr>
        <p:xfrm>
          <a:off xmlns:a="http://schemas.openxmlformats.org/drawingml/2006/main" x="571500" y="1476375"/>
          <a:ext xmlns:a="http://schemas.openxmlformats.org/drawingml/2006/main" cx="11049000" cy="3714750"/>
        </p:xfrm>
        <a:graphic xmlns:a="http://schemas.openxmlformats.org/drawingml/2006/main">
          <a:graphicData uri="http://schemas.openxmlformats.org/drawingml/2006/table">
            <a:tbl>
              <a:tblPr/>
              <a:tblGrid>
                <a:gridCol w="1047750"/>
                <a:gridCol w="4953000"/>
                <a:gridCol w="5048250"/>
              </a:tblGrid>
              <a:tr h="742950">
                <a:tc>
                  <a:txBody>
                    <a:bodyPr/>
                    <a:lstStyle/>
                    <a:p>
                      <a:r>
                        <a:rPr sz="1800" b="1">
                          <a:solidFill>
                            <a:srgbClr val="FFFFFF"/>
                          </a:solidFill>
                          <a:latin typeface="Arial"/>
                          <a:ea typeface="Arial"/>
                          <a:cs typeface="Arial"/>
                        </a:rPr>
                        <a:t>Priority</a:t>
                      </a:r>
                    </a:p>
                  </a:txBody>
                  <a:tcPr marL="95250" marR="95250" marT="85725" marB="85725" anchor="ctr">
                    <a:solidFill>
                      <a:srgbClr val="142A45"/>
                    </a:solidFill>
                  </a:tcPr>
                </a:tc>
                <a:tc>
                  <a:txBody>
                    <a:bodyPr/>
                    <a:lstStyle/>
                    <a:p>
                      <a:r>
                        <a:rPr sz="1800" b="1">
                          <a:solidFill>
                            <a:srgbClr val="FFFFFF"/>
                          </a:solidFill>
                          <a:latin typeface="Arial"/>
                          <a:ea typeface="Arial"/>
                          <a:cs typeface="Arial"/>
                        </a:rPr>
                        <a:t>Test</a:t>
                      </a:r>
                    </a:p>
                  </a:txBody>
                  <a:tcPr marL="95250" marR="95250" marT="85725" marB="85725" anchor="ctr">
                    <a:solidFill>
                      <a:srgbClr val="142A45"/>
                    </a:solidFill>
                  </a:tcPr>
                </a:tc>
                <a:tc>
                  <a:txBody>
                    <a:bodyPr/>
                    <a:lstStyle/>
                    <a:p>
                      <a:r>
                        <a:rPr sz="1800" b="1">
                          <a:solidFill>
                            <a:srgbClr val="FFFFFF"/>
                          </a:solidFill>
                          <a:latin typeface="Arial"/>
                          <a:ea typeface="Arial"/>
                          <a:cs typeface="Arial"/>
                        </a:rPr>
                        <a:t>Success evidence</a:t>
                      </a:r>
                    </a:p>
                  </a:txBody>
                  <a:tcPr marL="95250" marR="95250" marT="85725" marB="85725" anchor="ctr">
                    <a:solidFill>
                      <a:srgbClr val="142A45"/>
                    </a:solidFill>
                  </a:tcPr>
                </a:tc>
              </a:tr>
              <a:tr h="742950">
                <a:tc>
                  <a:txBody>
                    <a:bodyPr/>
                    <a:lstStyle/>
                    <a:p>
                      <a:r>
                        <a:rPr sz="1800" b="0">
                          <a:solidFill>
                            <a:srgbClr val="142A45"/>
                          </a:solidFill>
                          <a:latin typeface="Arial"/>
                          <a:ea typeface="Arial"/>
                          <a:cs typeface="Arial"/>
                        </a:rPr>
                        <a:t>1</a:t>
                      </a:r>
                    </a:p>
                  </a:txBody>
                  <a:tcPr marL="95250" marR="95250" marT="85725" marB="85725" anchor="ctr">
                    <a:solidFill>
                      <a:srgbClr val="F1F5F8"/>
                    </a:solidFill>
                  </a:tcPr>
                </a:tc>
                <a:tc>
                  <a:txBody>
                    <a:bodyPr/>
                    <a:lstStyle/>
                    <a:p>
                      <a:r>
                        <a:rPr sz="1800" b="0">
                          <a:solidFill>
                            <a:srgbClr val="142A45"/>
                          </a:solidFill>
                          <a:latin typeface="Arial"/>
                          <a:ea typeface="Arial"/>
                          <a:cs typeface="Arial"/>
                        </a:rPr>
                        <a:t>Expand paired corpus; repeat giant / Qwen transfer</a:t>
                      </a:r>
                    </a:p>
                  </a:txBody>
                  <a:tcPr marL="95250" marR="95250" marT="85725" marB="85725" anchor="ctr">
                    <a:solidFill>
                      <a:srgbClr val="F1F5F8"/>
                    </a:solidFill>
                  </a:tcPr>
                </a:tc>
                <a:tc>
                  <a:txBody>
                    <a:bodyPr/>
                    <a:lstStyle/>
                    <a:p>
                      <a:r>
                        <a:rPr sz="1800" b="0">
                          <a:solidFill>
                            <a:srgbClr val="142A45"/>
                          </a:solidFill>
                          <a:latin typeface="Arial"/>
                          <a:ea typeface="Arial"/>
                          <a:cs typeface="Arial"/>
                        </a:rPr>
                        <a:t>Stable absolute R@K, intervals and non-degenerate references</a:t>
                      </a:r>
                    </a:p>
                  </a:txBody>
                  <a:tcPr marL="95250" marR="95250" marT="85725" marB="85725" anchor="ctr">
                    <a:solidFill>
                      <a:srgbClr val="F1F5F8"/>
                    </a:solidFill>
                  </a:tcPr>
                </a:tc>
              </a:tr>
              <a:tr h="742950">
                <a:tc>
                  <a:txBody>
                    <a:bodyPr/>
                    <a:lstStyle/>
                    <a:p>
                      <a:r>
                        <a:rPr sz="1800" b="0">
                          <a:solidFill>
                            <a:srgbClr val="142A45"/>
                          </a:solidFill>
                          <a:latin typeface="Arial"/>
                          <a:ea typeface="Arial"/>
                          <a:cs typeface="Arial"/>
                        </a:rPr>
                        <a:t>2</a:t>
                      </a:r>
                    </a:p>
                  </a:txBody>
                  <a:tcPr marL="95250" marR="95250" marT="85725" marB="85725" anchor="ctr">
                    <a:solidFill>
                      <a:srgbClr val="FFFFFF"/>
                    </a:solidFill>
                  </a:tcPr>
                </a:tc>
                <a:tc>
                  <a:txBody>
                    <a:bodyPr/>
                    <a:lstStyle/>
                    <a:p>
                      <a:r>
                        <a:rPr sz="1800" b="0">
                          <a:solidFill>
                            <a:srgbClr val="142A45"/>
                          </a:solidFill>
                          <a:latin typeface="Arial"/>
                          <a:ea typeface="Arial"/>
                          <a:cs typeface="Arial"/>
                        </a:rPr>
                        <a:t>Extend model scale with matched pooling and controls</a:t>
                      </a:r>
                    </a:p>
                  </a:txBody>
                  <a:tcPr marL="95250" marR="95250" marT="85725" marB="85725" anchor="ctr">
                    <a:solidFill>
                      <a:srgbClr val="FFFFFF"/>
                    </a:solidFill>
                  </a:tcPr>
                </a:tc>
                <a:tc>
                  <a:txBody>
                    <a:bodyPr/>
                    <a:lstStyle/>
                    <a:p>
                      <a:r>
                        <a:rPr sz="1800" b="0">
                          <a:solidFill>
                            <a:srgbClr val="142A45"/>
                          </a:solidFill>
                          <a:latin typeface="Arial"/>
                          <a:ea typeface="Arial"/>
                          <a:cs typeface="Arial"/>
                        </a:rPr>
                        <a:t>Raw geometry and transfer reported separately</a:t>
                      </a:r>
                    </a:p>
                  </a:txBody>
                  <a:tcPr marL="95250" marR="95250" marT="85725" marB="85725" anchor="ctr">
                    <a:solidFill>
                      <a:srgbClr val="FFFFFF"/>
                    </a:solidFill>
                  </a:tcPr>
                </a:tc>
              </a:tr>
              <a:tr h="742950">
                <a:tc>
                  <a:txBody>
                    <a:bodyPr/>
                    <a:lstStyle/>
                    <a:p>
                      <a:r>
                        <a:rPr sz="1800" b="0">
                          <a:solidFill>
                            <a:srgbClr val="142A45"/>
                          </a:solidFill>
                          <a:latin typeface="Arial"/>
                          <a:ea typeface="Arial"/>
                          <a:cs typeface="Arial"/>
                        </a:rPr>
                        <a:t>3</a:t>
                      </a:r>
                    </a:p>
                  </a:txBody>
                  <a:tcPr marL="95250" marR="95250" marT="85725" marB="85725" anchor="ctr">
                    <a:solidFill>
                      <a:srgbClr val="F1F5F8"/>
                    </a:solidFill>
                  </a:tcPr>
                </a:tc>
                <a:tc>
                  <a:txBody>
                    <a:bodyPr/>
                    <a:lstStyle/>
                    <a:p>
                      <a:r>
                        <a:rPr sz="1800" b="0">
                          <a:solidFill>
                            <a:srgbClr val="142A45"/>
                          </a:solidFill>
                          <a:latin typeface="Arial"/>
                          <a:ea typeface="Arial"/>
                          <a:cs typeface="Arial"/>
                        </a:rPr>
                        <a:t>Small experts versus a large encoder</a:t>
                      </a:r>
                    </a:p>
                  </a:txBody>
                  <a:tcPr marL="95250" marR="95250" marT="85725" marB="85725" anchor="ctr">
                    <a:solidFill>
                      <a:srgbClr val="F1F5F8"/>
                    </a:solidFill>
                  </a:tcPr>
                </a:tc>
                <a:tc>
                  <a:txBody>
                    <a:bodyPr/>
                    <a:lstStyle/>
                    <a:p>
                      <a:r>
                        <a:rPr sz="1800" b="0">
                          <a:solidFill>
                            <a:srgbClr val="142A45"/>
                          </a:solidFill>
                          <a:latin typeface="Arial"/>
                          <a:ea typeface="Arial"/>
                          <a:cs typeface="Arial"/>
                        </a:rPr>
                        <a:t>Matched task quality, device latency, RAM and energy</a:t>
                      </a:r>
                    </a:p>
                  </a:txBody>
                  <a:tcPr marL="95250" marR="95250" marT="85725" marB="85725" anchor="ctr">
                    <a:solidFill>
                      <a:srgbClr val="F1F5F8"/>
                    </a:solidFill>
                  </a:tcPr>
                </a:tc>
              </a:tr>
              <a:tr h="742950">
                <a:tc>
                  <a:txBody>
                    <a:bodyPr/>
                    <a:lstStyle/>
                    <a:p>
                      <a:r>
                        <a:rPr sz="1800" b="0">
                          <a:solidFill>
                            <a:srgbClr val="142A45"/>
                          </a:solidFill>
                          <a:latin typeface="Arial"/>
                          <a:ea typeface="Arial"/>
                          <a:cs typeface="Arial"/>
                        </a:rPr>
                        <a:t>4</a:t>
                      </a:r>
                    </a:p>
                  </a:txBody>
                  <a:tcPr marL="95250" marR="95250" marT="85725" marB="85725" anchor="ctr">
                    <a:solidFill>
                      <a:srgbClr val="FFFFFF"/>
                    </a:solidFill>
                  </a:tcPr>
                </a:tc>
                <a:tc>
                  <a:txBody>
                    <a:bodyPr/>
                    <a:lstStyle/>
                    <a:p>
                      <a:r>
                        <a:rPr sz="1800" b="0">
                          <a:solidFill>
                            <a:srgbClr val="142A45"/>
                          </a:solidFill>
                          <a:latin typeface="Arial"/>
                          <a:ea typeface="Arial"/>
                          <a:cs typeface="Arial"/>
                        </a:rPr>
                        <a:t>Domains, languages, image-target heads and mobile tests</a:t>
                      </a:r>
                    </a:p>
                  </a:txBody>
                  <a:tcPr marL="95250" marR="95250" marT="85725" marB="85725" anchor="ctr">
                    <a:solidFill>
                      <a:srgbClr val="FFFFFF"/>
                    </a:solidFill>
                  </a:tcPr>
                </a:tc>
                <a:tc>
                  <a:txBody>
                    <a:bodyPr/>
                    <a:lstStyle/>
                    <a:p>
                      <a:r>
                        <a:rPr sz="1800" b="0">
                          <a:solidFill>
                            <a:srgbClr val="142A45"/>
                          </a:solidFill>
                          <a:latin typeface="Arial"/>
                          <a:ea typeface="Arial"/>
                          <a:cs typeface="Arial"/>
                        </a:rPr>
                        <a:t>Transfer beyond COCO; actual device benchmarks</a:t>
                      </a:r>
                    </a:p>
                  </a:txBody>
                  <a:tcPr marL="95250" marR="95250"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CFC035D-19C5-4D28-8446-EEE0F0273C6D}"/>
              </a:ext>
            </a:extLst>
          </p:cNvPr>
          <p:cNvSpPr>
            <a:spLocks xmlns:a="http://schemas.openxmlformats.org/drawingml/2006/main" noGrp="1"/>
          </p:cNvSpPr>
          <p:nvPr/>
        </p:nvSpPr>
        <p:spPr>
          <a:xfrm xmlns:a="http://schemas.openxmlformats.org/drawingml/2006/main">
            <a:off x="571500" y="56483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Completed: initial larger-model geometry tests. Pending: stronger power and broader validation.</a:t>
            </a:r>
          </a:p>
        </p:txBody>
      </p:sp>
    </p:spTree>
    <p:extLst>
      <p:ext uri="{BB962C8B-B14F-4D97-AF65-F5344CB8AC3E}">
        <p14:creationId xmlns:p14="http://schemas.microsoft.com/office/powerpoint/2010/main" val="47223591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7BE4AE-3474-43BB-8D76-227DF8362915}"/>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Achievements and the defensible conclusion</a:t>
            </a:r>
          </a:p>
        </p:txBody>
      </p:sp>
      <p:sp>
        <p:nvSpPr>
          <p:cNvPr id="2" name="">
            <a:extLst xmlns:a="http://schemas.openxmlformats.org/drawingml/2006/main">
              <a:ext uri="{FF2B5EF4-FFF2-40B4-BE49-F238E27FC236}">
                <a16:creationId xmlns:a16="http://schemas.microsoft.com/office/drawing/2014/main" id="{9B6CE143-3DCF-4B17-BD6D-203563AF7ADC}"/>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§§3–5, C.13, E.2, E.16; sources and full inventory follow</a:t>
            </a:r>
          </a:p>
        </p:txBody>
      </p:sp>
      <p:sp>
        <p:nvSpPr>
          <p:cNvPr id="3" name="">
            <a:extLst xmlns:a="http://schemas.openxmlformats.org/drawingml/2006/main">
              <a:ext uri="{FF2B5EF4-FFF2-40B4-BE49-F238E27FC236}">
                <a16:creationId xmlns:a16="http://schemas.microsoft.com/office/drawing/2014/main" id="{512A3130-EDA3-4127-8466-99614B1D3CDE}"/>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BB1CBF63-DC7E-4CA6-AF1A-683BD490A389}"/>
              </a:ext>
            </a:extLst>
          </p:cNvPr>
          <p:cNvSpPr>
            <a:spLocks xmlns:a="http://schemas.openxmlformats.org/drawingml/2006/main" noGrp="1"/>
          </p:cNvSpPr>
          <p:nvPr/>
        </p:nvSpPr>
        <p:spPr>
          <a:xfrm xmlns:a="http://schemas.openxmlformats.org/drawingml/2006/main">
            <a:off x="571500" y="166687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A45"/>
                </a:solidFill>
                <a:latin typeface="Arial"/>
                <a:ea typeface="Arial"/>
                <a:cs typeface="Arial"/>
              </a:defRPr>
            </a:pPr>
            <a:r>
              <a:rPr sz="2250" b="0">
                <a:solidFill>
                  <a:srgbClr val="142A45"/>
                </a:solidFill>
                <a:latin typeface="Arial"/>
                <a:ea typeface="Arial"/>
                <a:cs typeface="Arial"/>
              </a:rPr>
              <a:t>Science: shared relations and linearly recoverable information on held-out data.</a:t>
            </a:r>
          </a:p>
        </p:txBody>
      </p:sp>
      <p:sp>
        <p:nvSpPr>
          <p:cNvPr id="5" name="">
            <a:extLst xmlns:a="http://schemas.openxmlformats.org/drawingml/2006/main">
              <a:ext uri="{FF2B5EF4-FFF2-40B4-BE49-F238E27FC236}">
                <a16:creationId xmlns:a16="http://schemas.microsoft.com/office/drawing/2014/main" id="{100D4EED-90EA-4B4D-A2FB-52F945F68FAE}"/>
              </a:ext>
            </a:extLst>
          </p:cNvPr>
          <p:cNvSpPr>
            <a:spLocks xmlns:a="http://schemas.openxmlformats.org/drawingml/2006/main" noGrp="1"/>
          </p:cNvSpPr>
          <p:nvPr/>
        </p:nvSpPr>
        <p:spPr>
          <a:xfrm xmlns:a="http://schemas.openxmlformats.org/drawingml/2006/main">
            <a:off x="571500" y="266700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A45"/>
                </a:solidFill>
                <a:latin typeface="Arial"/>
                <a:ea typeface="Arial"/>
                <a:cs typeface="Arial"/>
              </a:defRPr>
            </a:pPr>
            <a:r>
              <a:rPr sz="2250" b="0">
                <a:solidFill>
                  <a:srgbClr val="142A45"/>
                </a:solidFill>
                <a:latin typeface="Arial"/>
                <a:ea typeface="Arial"/>
                <a:cs typeface="Arial"/>
              </a:rPr>
              <a:t>Engineering 1: 0.79 MB adapter; 95.3% of native retrieval at R@5.</a:t>
            </a:r>
          </a:p>
        </p:txBody>
      </p:sp>
      <p:sp>
        <p:nvSpPr>
          <p:cNvPr id="6" name="">
            <a:extLst xmlns:a="http://schemas.openxmlformats.org/drawingml/2006/main">
              <a:ext uri="{FF2B5EF4-FFF2-40B4-BE49-F238E27FC236}">
                <a16:creationId xmlns:a16="http://schemas.microsoft.com/office/drawing/2014/main" id="{163B07AC-8FC8-4CFA-85D7-E649F96CDA39}"/>
              </a:ext>
            </a:extLst>
          </p:cNvPr>
          <p:cNvSpPr>
            <a:spLocks xmlns:a="http://schemas.openxmlformats.org/drawingml/2006/main" noGrp="1"/>
          </p:cNvSpPr>
          <p:nvPr/>
        </p:nvSpPr>
        <p:spPr>
          <a:xfrm xmlns:a="http://schemas.openxmlformats.org/drawingml/2006/main">
            <a:off x="571500" y="36671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A45"/>
                </a:solidFill>
                <a:latin typeface="Arial"/>
                <a:ea typeface="Arial"/>
                <a:cs typeface="Arial"/>
              </a:defRPr>
            </a:pPr>
            <a:r>
              <a:rPr sz="2250" b="0">
                <a:solidFill>
                  <a:srgbClr val="142A45"/>
                </a:solidFill>
                <a:latin typeface="Arial"/>
                <a:ea typeface="Arial"/>
                <a:cs typeface="Arial"/>
              </a:rPr>
              <a:t>Engineering 2: reusable hub head; ConvNeXt retains 96.7% of its native reference.</a:t>
            </a:r>
          </a:p>
        </p:txBody>
      </p:sp>
      <p:sp>
        <p:nvSpPr>
          <p:cNvPr id="7" name="">
            <a:extLst xmlns:a="http://schemas.openxmlformats.org/drawingml/2006/main">
              <a:ext uri="{FF2B5EF4-FFF2-40B4-BE49-F238E27FC236}">
                <a16:creationId xmlns:a16="http://schemas.microsoft.com/office/drawing/2014/main" id="{F3AE43D8-5E1C-499B-9324-F15BDFD2C6E3}"/>
              </a:ext>
            </a:extLst>
          </p:cNvPr>
          <p:cNvSpPr>
            <a:spLocks xmlns:a="http://schemas.openxmlformats.org/drawingml/2006/main" noGrp="1"/>
          </p:cNvSpPr>
          <p:nvPr/>
        </p:nvSpPr>
        <p:spPr>
          <a:xfrm xmlns:a="http://schemas.openxmlformats.org/drawingml/2006/main">
            <a:off x="571500" y="466725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A45"/>
                </a:solidFill>
                <a:latin typeface="Arial"/>
                <a:ea typeface="Arial"/>
                <a:cs typeface="Arial"/>
              </a:defRPr>
            </a:pPr>
            <a:r>
              <a:rPr sz="2250" b="0">
                <a:solidFill>
                  <a:srgbClr val="142A45"/>
                </a:solidFill>
                <a:latin typeface="Arial"/>
                <a:ea typeface="Arial"/>
                <a:cs typeface="Arial"/>
              </a:rPr>
              <a:t>Boundary: useful interoperability supports a restricted PRH claim. Broader proof remains open.</a:t>
            </a:r>
          </a:p>
        </p:txBody>
      </p:sp>
      <p:sp>
        <p:nvSpPr>
          <p:cNvPr id="8" name="">
            <a:extLst xmlns:a="http://schemas.openxmlformats.org/drawingml/2006/main">
              <a:ext uri="{FF2B5EF4-FFF2-40B4-BE49-F238E27FC236}">
                <a16:creationId xmlns:a16="http://schemas.microsoft.com/office/drawing/2014/main" id="{B5A7D224-AC13-49A9-9A9A-78580CC7A8DC}"/>
              </a:ext>
            </a:extLst>
          </p:cNvPr>
          <p:cNvSpPr>
            <a:spLocks xmlns:a="http://schemas.openxmlformats.org/drawingml/2006/main" noGrp="1"/>
          </p:cNvSpPr>
          <p:nvPr/>
        </p:nvSpPr>
        <p:spPr>
          <a:xfrm xmlns:a="http://schemas.openxmlformats.org/drawingml/2006/main">
            <a:off x="571500" y="56483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Questions · experiment inventory, model details, terms and resources in the appendix</a:t>
            </a:r>
          </a:p>
        </p:txBody>
      </p:sp>
    </p:spTree>
    <p:extLst>
      <p:ext uri="{BB962C8B-B14F-4D97-AF65-F5344CB8AC3E}">
        <p14:creationId xmlns:p14="http://schemas.microsoft.com/office/powerpoint/2010/main" val="178364622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4D3CC0-80D6-4994-A052-2EA7E7862C3F}"/>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Appendix: model inventory, language and text</a:t>
            </a:r>
          </a:p>
        </p:txBody>
      </p:sp>
      <p:sp>
        <p:nvSpPr>
          <p:cNvPr id="2" name="">
            <a:extLst xmlns:a="http://schemas.openxmlformats.org/drawingml/2006/main">
              <a:ext uri="{FF2B5EF4-FFF2-40B4-BE49-F238E27FC236}">
                <a16:creationId xmlns:a16="http://schemas.microsoft.com/office/drawing/2014/main" id="{A6627D8A-4C18-41D8-9CAA-B0DE6E5A92F9}"/>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E.10; Status Report; official model cards linked in resources</a:t>
            </a:r>
          </a:p>
        </p:txBody>
      </p:sp>
      <p:sp>
        <p:nvSpPr>
          <p:cNvPr id="3" name="">
            <a:extLst xmlns:a="http://schemas.openxmlformats.org/drawingml/2006/main">
              <a:ext uri="{FF2B5EF4-FFF2-40B4-BE49-F238E27FC236}">
                <a16:creationId xmlns:a16="http://schemas.microsoft.com/office/drawing/2014/main" id="{051FCC5A-2384-438A-96AF-7646F21C8629}"/>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22</a:t>
            </a:r>
          </a:p>
        </p:txBody>
      </p:sp>
      <p:graphicFrame>
        <p:nvGraphicFramePr>
          <p:cNvPr id="8" name=""/>
          <p:cNvGraphicFramePr/>
          <p:nvPr/>
        </p:nvGraphicFramePr>
        <p:xfrm>
          <a:off xmlns:a="http://schemas.openxmlformats.org/drawingml/2006/main" x="571500" y="1381125"/>
          <a:ext xmlns:a="http://schemas.openxmlformats.org/drawingml/2006/main" cx="11049000" cy="4572000"/>
        </p:xfrm>
        <a:graphic xmlns:a="http://schemas.openxmlformats.org/drawingml/2006/main">
          <a:graphicData uri="http://schemas.openxmlformats.org/drawingml/2006/table">
            <a:tbl>
              <a:tblPr/>
              <a:tblGrid>
                <a:gridCol w="1952625"/>
                <a:gridCol w="1524000"/>
                <a:gridCol w="1571625"/>
                <a:gridCol w="3810000"/>
                <a:gridCol w="2190750"/>
              </a:tblGrid>
              <a:tr h="653143">
                <a:tc>
                  <a:txBody>
                    <a:bodyPr/>
                    <a:lstStyle/>
                    <a:p>
                      <a:r>
                        <a:rPr sz="1500" b="1">
                          <a:solidFill>
                            <a:srgbClr val="FFFFFF"/>
                          </a:solidFill>
                          <a:latin typeface="Arial"/>
                          <a:ea typeface="Arial"/>
                          <a:cs typeface="Arial"/>
                        </a:rPr>
                        <a:t>Model</a:t>
                      </a:r>
                    </a:p>
                  </a:txBody>
                  <a:tcPr marL="95250" marR="95250" marT="85725" marB="85725" anchor="ctr">
                    <a:solidFill>
                      <a:srgbClr val="142A45"/>
                    </a:solidFill>
                  </a:tcPr>
                </a:tc>
                <a:tc>
                  <a:txBody>
                    <a:bodyPr/>
                    <a:lstStyle/>
                    <a:p>
                      <a:r>
                        <a:rPr sz="1500" b="1">
                          <a:solidFill>
                            <a:srgbClr val="FFFFFF"/>
                          </a:solidFill>
                          <a:latin typeface="Arial"/>
                          <a:ea typeface="Arial"/>
                          <a:cs typeface="Arial"/>
                        </a:rPr>
                        <a:t>Approx. parameters</a:t>
                      </a:r>
                    </a:p>
                  </a:txBody>
                  <a:tcPr marL="95250" marR="95250" marT="85725" marB="85725" anchor="ctr">
                    <a:solidFill>
                      <a:srgbClr val="142A45"/>
                    </a:solidFill>
                  </a:tcPr>
                </a:tc>
                <a:tc>
                  <a:txBody>
                    <a:bodyPr/>
                    <a:lstStyle/>
                    <a:p>
                      <a:r>
                        <a:rPr sz="1500" b="1">
                          <a:solidFill>
                            <a:srgbClr val="FFFFFF"/>
                          </a:solidFill>
                          <a:latin typeface="Arial"/>
                          <a:ea typeface="Arial"/>
                          <a:cs typeface="Arial"/>
                        </a:rPr>
                        <a:t>Vector width</a:t>
                      </a:r>
                    </a:p>
                  </a:txBody>
                  <a:tcPr marL="95250" marR="95250" marT="85725" marB="85725" anchor="ctr">
                    <a:solidFill>
                      <a:srgbClr val="142A45"/>
                    </a:solidFill>
                  </a:tcPr>
                </a:tc>
                <a:tc>
                  <a:txBody>
                    <a:bodyPr/>
                    <a:lstStyle/>
                    <a:p>
                      <a:r>
                        <a:rPr sz="1500" b="1">
                          <a:solidFill>
                            <a:srgbClr val="FFFFFF"/>
                          </a:solidFill>
                          <a:latin typeface="Arial"/>
                          <a:ea typeface="Arial"/>
                          <a:cs typeface="Arial"/>
                        </a:rPr>
                        <a:t>Pretraining / objective</a:t>
                      </a:r>
                    </a:p>
                  </a:txBody>
                  <a:tcPr marL="95250" marR="95250" marT="85725" marB="85725" anchor="ctr">
                    <a:solidFill>
                      <a:srgbClr val="142A45"/>
                    </a:solidFill>
                  </a:tcPr>
                </a:tc>
                <a:tc>
                  <a:txBody>
                    <a:bodyPr/>
                    <a:lstStyle/>
                    <a:p>
                      <a:r>
                        <a:rPr sz="1500" b="1">
                          <a:solidFill>
                            <a:srgbClr val="FFFFFF"/>
                          </a:solidFill>
                          <a:latin typeface="Arial"/>
                          <a:ea typeface="Arial"/>
                          <a:cs typeface="Arial"/>
                        </a:rPr>
                        <a:t>Role</a:t>
                      </a:r>
                    </a:p>
                  </a:txBody>
                  <a:tcPr marL="95250" marR="95250" marT="85725" marB="85725" anchor="ctr">
                    <a:solidFill>
                      <a:srgbClr val="142A45"/>
                    </a:solidFill>
                  </a:tcPr>
                </a:tc>
              </a:tr>
              <a:tr h="653143">
                <a:tc>
                  <a:txBody>
                    <a:bodyPr/>
                    <a:lstStyle/>
                    <a:p>
                      <a:r>
                        <a:rPr sz="1500" b="0">
                          <a:solidFill>
                            <a:srgbClr val="142A45"/>
                          </a:solidFill>
                          <a:latin typeface="Arial"/>
                          <a:ea typeface="Arial"/>
                          <a:cs typeface="Arial"/>
                        </a:rPr>
                        <a:t>GPT-2</a:t>
                      </a:r>
                    </a:p>
                  </a:txBody>
                  <a:tcPr marL="95250" marR="95250" marT="85725" marB="85725" anchor="ctr">
                    <a:solidFill>
                      <a:srgbClr val="F1F5F8"/>
                    </a:solidFill>
                  </a:tcPr>
                </a:tc>
                <a:tc>
                  <a:txBody>
                    <a:bodyPr/>
                    <a:lstStyle/>
                    <a:p>
                      <a:r>
                        <a:rPr sz="1500" b="0">
                          <a:solidFill>
                            <a:srgbClr val="142A45"/>
                          </a:solidFill>
                          <a:latin typeface="Arial"/>
                          <a:ea typeface="Arial"/>
                          <a:cs typeface="Arial"/>
                        </a:rPr>
                        <a:t>124M</a:t>
                      </a:r>
                    </a:p>
                  </a:txBody>
                  <a:tcPr marL="95250" marR="95250" marT="85725" marB="85725" anchor="ctr">
                    <a:solidFill>
                      <a:srgbClr val="F1F5F8"/>
                    </a:solidFill>
                  </a:tcPr>
                </a:tc>
                <a:tc>
                  <a:txBody>
                    <a:bodyPr/>
                    <a:lstStyle/>
                    <a:p>
                      <a:r>
                        <a:rPr sz="1500" b="0">
                          <a:solidFill>
                            <a:srgbClr val="142A45"/>
                          </a:solidFill>
                          <a:latin typeface="Arial"/>
                          <a:ea typeface="Arial"/>
                          <a:cs typeface="Arial"/>
                        </a:rPr>
                        <a:t>768</a:t>
                      </a:r>
                    </a:p>
                  </a:txBody>
                  <a:tcPr marL="95250" marR="95250" marT="85725" marB="85725" anchor="ctr">
                    <a:solidFill>
                      <a:srgbClr val="F1F5F8"/>
                    </a:solidFill>
                  </a:tcPr>
                </a:tc>
                <a:tc>
                  <a:txBody>
                    <a:bodyPr/>
                    <a:lstStyle/>
                    <a:p>
                      <a:r>
                        <a:rPr sz="1500" b="0">
                          <a:solidFill>
                            <a:srgbClr val="142A45"/>
                          </a:solidFill>
                          <a:latin typeface="Arial"/>
                          <a:ea typeface="Arial"/>
                          <a:cs typeface="Arial"/>
                        </a:rPr>
                        <a:t>Next-token, self-supervised; WebText</a:t>
                      </a:r>
                    </a:p>
                  </a:txBody>
                  <a:tcPr marL="95250" marR="95250" marT="85725" marB="85725" anchor="ctr">
                    <a:solidFill>
                      <a:srgbClr val="F1F5F8"/>
                    </a:solidFill>
                  </a:tcPr>
                </a:tc>
                <a:tc>
                  <a:txBody>
                    <a:bodyPr/>
                    <a:lstStyle/>
                    <a:p>
                      <a:r>
                        <a:rPr sz="1500" b="0">
                          <a:solidFill>
                            <a:srgbClr val="142A45"/>
                          </a:solidFill>
                          <a:latin typeface="Arial"/>
                          <a:ea typeface="Arial"/>
                          <a:cs typeface="Arial"/>
                        </a:rPr>
                        <a:t>A; hub text source</a:t>
                      </a:r>
                    </a:p>
                  </a:txBody>
                  <a:tcPr marL="95250" marR="95250" marT="85725" marB="85725" anchor="ctr">
                    <a:solidFill>
                      <a:srgbClr val="F1F5F8"/>
                    </a:solidFill>
                  </a:tcPr>
                </a:tc>
              </a:tr>
              <a:tr h="653143">
                <a:tc>
                  <a:txBody>
                    <a:bodyPr/>
                    <a:lstStyle/>
                    <a:p>
                      <a:r>
                        <a:rPr sz="1500" b="0">
                          <a:solidFill>
                            <a:srgbClr val="142A45"/>
                          </a:solidFill>
                          <a:latin typeface="Arial"/>
                          <a:ea typeface="Arial"/>
                          <a:cs typeface="Arial"/>
                        </a:rPr>
                        <a:t>Pythia</a:t>
                      </a:r>
                    </a:p>
                  </a:txBody>
                  <a:tcPr marL="95250" marR="95250" marT="85725" marB="85725" anchor="ctr">
                    <a:solidFill>
                      <a:srgbClr val="FFFFFF"/>
                    </a:solidFill>
                  </a:tcPr>
                </a:tc>
                <a:tc>
                  <a:txBody>
                    <a:bodyPr/>
                    <a:lstStyle/>
                    <a:p>
                      <a:r>
                        <a:rPr sz="1500" b="0">
                          <a:solidFill>
                            <a:srgbClr val="142A45"/>
                          </a:solidFill>
                          <a:latin typeface="Arial"/>
                          <a:ea typeface="Arial"/>
                          <a:cs typeface="Arial"/>
                        </a:rPr>
                        <a:t>160M</a:t>
                      </a:r>
                    </a:p>
                  </a:txBody>
                  <a:tcPr marL="95250" marR="95250" marT="85725" marB="85725" anchor="ctr">
                    <a:solidFill>
                      <a:srgbClr val="FFFFFF"/>
                    </a:solidFill>
                  </a:tcPr>
                </a:tc>
                <a:tc>
                  <a:txBody>
                    <a:bodyPr/>
                    <a:lstStyle/>
                    <a:p>
                      <a:r>
                        <a:rPr sz="1500" b="0">
                          <a:solidFill>
                            <a:srgbClr val="142A45"/>
                          </a:solidFill>
                          <a:latin typeface="Arial"/>
                          <a:ea typeface="Arial"/>
                          <a:cs typeface="Arial"/>
                        </a:rPr>
                        <a:t>768 per layer</a:t>
                      </a:r>
                    </a:p>
                  </a:txBody>
                  <a:tcPr marL="95250" marR="95250" marT="85725" marB="85725" anchor="ctr">
                    <a:solidFill>
                      <a:srgbClr val="FFFFFF"/>
                    </a:solidFill>
                  </a:tcPr>
                </a:tc>
                <a:tc>
                  <a:txBody>
                    <a:bodyPr/>
                    <a:lstStyle/>
                    <a:p>
                      <a:r>
                        <a:rPr sz="1500" b="0">
                          <a:solidFill>
                            <a:srgbClr val="142A45"/>
                          </a:solidFill>
                          <a:latin typeface="Arial"/>
                          <a:ea typeface="Arial"/>
                          <a:cs typeface="Arial"/>
                        </a:rPr>
                        <a:t>Next-token, self-supervised; The Pile</a:t>
                      </a:r>
                    </a:p>
                  </a:txBody>
                  <a:tcPr marL="95250" marR="95250" marT="85725" marB="85725" anchor="ctr">
                    <a:solidFill>
                      <a:srgbClr val="FFFFFF"/>
                    </a:solidFill>
                  </a:tcPr>
                </a:tc>
                <a:tc>
                  <a:txBody>
                    <a:bodyPr/>
                    <a:lstStyle/>
                    <a:p>
                      <a:r>
                        <a:rPr sz="1500" b="0">
                          <a:solidFill>
                            <a:srgbClr val="142A45"/>
                          </a:solidFill>
                          <a:latin typeface="Arial"/>
                          <a:ea typeface="Arial"/>
                          <a:cs typeface="Arial"/>
                        </a:rPr>
                        <a:t>A counterpart/control</a:t>
                      </a:r>
                    </a:p>
                  </a:txBody>
                  <a:tcPr marL="95250" marR="95250" marT="85725" marB="85725" anchor="ctr">
                    <a:solidFill>
                      <a:srgbClr val="FFFFFF"/>
                    </a:solidFill>
                  </a:tcPr>
                </a:tc>
              </a:tr>
              <a:tr h="653143">
                <a:tc>
                  <a:txBody>
                    <a:bodyPr/>
                    <a:lstStyle/>
                    <a:p>
                      <a:r>
                        <a:rPr sz="1500" b="0">
                          <a:solidFill>
                            <a:srgbClr val="142A45"/>
                          </a:solidFill>
                          <a:latin typeface="Arial"/>
                          <a:ea typeface="Arial"/>
                          <a:cs typeface="Arial"/>
                        </a:rPr>
                        <a:t>BERT-base</a:t>
                      </a:r>
                    </a:p>
                  </a:txBody>
                  <a:tcPr marL="95250" marR="95250" marT="85725" marB="85725" anchor="ctr">
                    <a:solidFill>
                      <a:srgbClr val="F1F5F8"/>
                    </a:solidFill>
                  </a:tcPr>
                </a:tc>
                <a:tc>
                  <a:txBody>
                    <a:bodyPr/>
                    <a:lstStyle/>
                    <a:p>
                      <a:r>
                        <a:rPr sz="1500" b="0">
                          <a:solidFill>
                            <a:srgbClr val="142A45"/>
                          </a:solidFill>
                          <a:latin typeface="Arial"/>
                          <a:ea typeface="Arial"/>
                          <a:cs typeface="Arial"/>
                        </a:rPr>
                        <a:t>~110M</a:t>
                      </a:r>
                    </a:p>
                  </a:txBody>
                  <a:tcPr marL="95250" marR="95250" marT="85725" marB="85725" anchor="ctr">
                    <a:solidFill>
                      <a:srgbClr val="F1F5F8"/>
                    </a:solidFill>
                  </a:tcPr>
                </a:tc>
                <a:tc>
                  <a:txBody>
                    <a:bodyPr/>
                    <a:lstStyle/>
                    <a:p>
                      <a:r>
                        <a:rPr sz="1500" b="0">
                          <a:solidFill>
                            <a:srgbClr val="142A45"/>
                          </a:solidFill>
                          <a:latin typeface="Arial"/>
                          <a:ea typeface="Arial"/>
                          <a:cs typeface="Arial"/>
                        </a:rPr>
                        <a:t>768</a:t>
                      </a:r>
                    </a:p>
                  </a:txBody>
                  <a:tcPr marL="95250" marR="95250" marT="85725" marB="85725" anchor="ctr">
                    <a:solidFill>
                      <a:srgbClr val="F1F5F8"/>
                    </a:solidFill>
                  </a:tcPr>
                </a:tc>
                <a:tc>
                  <a:txBody>
                    <a:bodyPr/>
                    <a:lstStyle/>
                    <a:p>
                      <a:r>
                        <a:rPr sz="1500" b="0">
                          <a:solidFill>
                            <a:srgbClr val="142A45"/>
                          </a:solidFill>
                          <a:latin typeface="Arial"/>
                          <a:ea typeface="Arial"/>
                          <a:cs typeface="Arial"/>
                        </a:rPr>
                        <a:t>Masked-token + original NSP objectives</a:t>
                      </a:r>
                    </a:p>
                  </a:txBody>
                  <a:tcPr marL="95250" marR="95250" marT="85725" marB="85725" anchor="ctr">
                    <a:solidFill>
                      <a:srgbClr val="F1F5F8"/>
                    </a:solidFill>
                  </a:tcPr>
                </a:tc>
                <a:tc>
                  <a:txBody>
                    <a:bodyPr/>
                    <a:lstStyle/>
                    <a:p>
                      <a:r>
                        <a:rPr sz="1500" b="0">
                          <a:solidFill>
                            <a:srgbClr val="142A45"/>
                          </a:solidFill>
                          <a:latin typeface="Arial"/>
                          <a:ea typeface="Arial"/>
                          <a:cs typeface="Arial"/>
                        </a:rPr>
                        <a:t>Text diagnostic; 7-space</a:t>
                      </a:r>
                    </a:p>
                  </a:txBody>
                  <a:tcPr marL="95250" marR="95250" marT="85725" marB="85725" anchor="ctr">
                    <a:solidFill>
                      <a:srgbClr val="F1F5F8"/>
                    </a:solidFill>
                  </a:tcPr>
                </a:tc>
              </a:tr>
              <a:tr h="653143">
                <a:tc>
                  <a:txBody>
                    <a:bodyPr/>
                    <a:lstStyle/>
                    <a:p>
                      <a:r>
                        <a:rPr sz="1500" b="0">
                          <a:solidFill>
                            <a:srgbClr val="142A45"/>
                          </a:solidFill>
                          <a:latin typeface="Arial"/>
                          <a:ea typeface="Arial"/>
                          <a:cs typeface="Arial"/>
                        </a:rPr>
                        <a:t>SBERT all-mpnet</a:t>
                      </a:r>
                    </a:p>
                  </a:txBody>
                  <a:tcPr marL="95250" marR="95250" marT="85725" marB="85725" anchor="ctr">
                    <a:solidFill>
                      <a:srgbClr val="FFFFFF"/>
                    </a:solidFill>
                  </a:tcPr>
                </a:tc>
                <a:tc>
                  <a:txBody>
                    <a:bodyPr/>
                    <a:lstStyle/>
                    <a:p>
                      <a:r>
                        <a:rPr sz="1500" b="0">
                          <a:solidFill>
                            <a:srgbClr val="142A45"/>
                          </a:solidFill>
                          <a:latin typeface="Arial"/>
                          <a:ea typeface="Arial"/>
                          <a:cs typeface="Arial"/>
                        </a:rPr>
                        <a:t>~110M</a:t>
                      </a:r>
                    </a:p>
                  </a:txBody>
                  <a:tcPr marL="95250" marR="95250" marT="85725" marB="85725" anchor="ctr">
                    <a:solidFill>
                      <a:srgbClr val="FFFFFF"/>
                    </a:solidFill>
                  </a:tcPr>
                </a:tc>
                <a:tc>
                  <a:txBody>
                    <a:bodyPr/>
                    <a:lstStyle/>
                    <a:p>
                      <a:r>
                        <a:rPr sz="1500" b="0">
                          <a:solidFill>
                            <a:srgbClr val="142A45"/>
                          </a:solidFill>
                          <a:latin typeface="Arial"/>
                          <a:ea typeface="Arial"/>
                          <a:cs typeface="Arial"/>
                        </a:rPr>
                        <a:t>768</a:t>
                      </a:r>
                    </a:p>
                  </a:txBody>
                  <a:tcPr marL="95250" marR="95250" marT="85725" marB="85725" anchor="ctr">
                    <a:solidFill>
                      <a:srgbClr val="FFFFFF"/>
                    </a:solidFill>
                  </a:tcPr>
                </a:tc>
                <a:tc>
                  <a:txBody>
                    <a:bodyPr/>
                    <a:lstStyle/>
                    <a:p>
                      <a:r>
                        <a:rPr sz="1500" b="0">
                          <a:solidFill>
                            <a:srgbClr val="142A45"/>
                          </a:solidFill>
                          <a:latin typeface="Arial"/>
                          <a:ea typeface="Arial"/>
                          <a:cs typeface="Arial"/>
                        </a:rPr>
                        <a:t>MPNet + contrastive sentence-pair fine-tuning</a:t>
                      </a:r>
                    </a:p>
                  </a:txBody>
                  <a:tcPr marL="95250" marR="95250" marT="85725" marB="85725" anchor="ctr">
                    <a:solidFill>
                      <a:srgbClr val="FFFFFF"/>
                    </a:solidFill>
                  </a:tcPr>
                </a:tc>
                <a:tc>
                  <a:txBody>
                    <a:bodyPr/>
                    <a:lstStyle/>
                    <a:p>
                      <a:r>
                        <a:rPr sz="1500" b="0">
                          <a:solidFill>
                            <a:srgbClr val="142A45"/>
                          </a:solidFill>
                          <a:latin typeface="Arial"/>
                          <a:ea typeface="Arial"/>
                          <a:cs typeface="Arial"/>
                        </a:rPr>
                        <a:t>Text diagnostic; 7-space</a:t>
                      </a:r>
                    </a:p>
                  </a:txBody>
                  <a:tcPr marL="95250" marR="95250" marT="85725" marB="85725" anchor="ctr">
                    <a:solidFill>
                      <a:srgbClr val="FFFFFF"/>
                    </a:solidFill>
                  </a:tcPr>
                </a:tc>
              </a:tr>
              <a:tr h="653143">
                <a:tc>
                  <a:txBody>
                    <a:bodyPr/>
                    <a:lstStyle/>
                    <a:p>
                      <a:r>
                        <a:rPr sz="1500" b="0">
                          <a:solidFill>
                            <a:srgbClr val="142A45"/>
                          </a:solidFill>
                          <a:latin typeface="Arial"/>
                          <a:ea typeface="Arial"/>
                          <a:cs typeface="Arial"/>
                        </a:rPr>
                        <a:t>bge-m3</a:t>
                      </a:r>
                    </a:p>
                  </a:txBody>
                  <a:tcPr marL="95250" marR="95250" marT="85725" marB="85725" anchor="ctr">
                    <a:solidFill>
                      <a:srgbClr val="F1F5F8"/>
                    </a:solidFill>
                  </a:tcPr>
                </a:tc>
                <a:tc>
                  <a:txBody>
                    <a:bodyPr/>
                    <a:lstStyle/>
                    <a:p>
                      <a:r>
                        <a:rPr sz="1500" b="0">
                          <a:solidFill>
                            <a:srgbClr val="142A45"/>
                          </a:solidFill>
                          <a:latin typeface="Arial"/>
                          <a:ea typeface="Arial"/>
                          <a:cs typeface="Arial"/>
                        </a:rPr>
                        <a:t>~568M</a:t>
                      </a:r>
                    </a:p>
                  </a:txBody>
                  <a:tcPr marL="95250" marR="95250" marT="85725" marB="85725" anchor="ctr">
                    <a:solidFill>
                      <a:srgbClr val="F1F5F8"/>
                    </a:solidFill>
                  </a:tcPr>
                </a:tc>
                <a:tc>
                  <a:txBody>
                    <a:bodyPr/>
                    <a:lstStyle/>
                    <a:p>
                      <a:r>
                        <a:rPr sz="1500" b="0">
                          <a:solidFill>
                            <a:srgbClr val="142A45"/>
                          </a:solidFill>
                          <a:latin typeface="Arial"/>
                          <a:ea typeface="Arial"/>
                          <a:cs typeface="Arial"/>
                        </a:rPr>
                        <a:t>1,024</a:t>
                      </a:r>
                    </a:p>
                  </a:txBody>
                  <a:tcPr marL="95250" marR="95250" marT="85725" marB="85725" anchor="ctr">
                    <a:solidFill>
                      <a:srgbClr val="F1F5F8"/>
                    </a:solidFill>
                  </a:tcPr>
                </a:tc>
                <a:tc>
                  <a:txBody>
                    <a:bodyPr/>
                    <a:lstStyle/>
                    <a:p>
                      <a:r>
                        <a:rPr sz="1500" b="0">
                          <a:solidFill>
                            <a:srgbClr val="142A45"/>
                          </a:solidFill>
                          <a:latin typeface="Arial"/>
                          <a:ea typeface="Arial"/>
                          <a:cs typeface="Arial"/>
                        </a:rPr>
                        <a:t>Multilingual retrieval, contrastive and unified tuning</a:t>
                      </a:r>
                    </a:p>
                  </a:txBody>
                  <a:tcPr marL="95250" marR="95250" marT="85725" marB="85725" anchor="ctr">
                    <a:solidFill>
                      <a:srgbClr val="F1F5F8"/>
                    </a:solidFill>
                  </a:tcPr>
                </a:tc>
                <a:tc>
                  <a:txBody>
                    <a:bodyPr/>
                    <a:lstStyle/>
                    <a:p>
                      <a:r>
                        <a:rPr sz="1500" b="0">
                          <a:solidFill>
                            <a:srgbClr val="142A45"/>
                          </a:solidFill>
                          <a:latin typeface="Arial"/>
                          <a:ea typeface="Arial"/>
                          <a:cs typeface="Arial"/>
                        </a:rPr>
                        <a:t>Hub member and target</a:t>
                      </a:r>
                    </a:p>
                  </a:txBody>
                  <a:tcPr marL="95250" marR="95250" marT="85725" marB="85725" anchor="ctr">
                    <a:solidFill>
                      <a:srgbClr val="F1F5F8"/>
                    </a:solidFill>
                  </a:tcPr>
                </a:tc>
              </a:tr>
              <a:tr h="653143">
                <a:tc>
                  <a:txBody>
                    <a:bodyPr/>
                    <a:lstStyle/>
                    <a:p>
                      <a:r>
                        <a:rPr sz="1500" b="0">
                          <a:solidFill>
                            <a:srgbClr val="142A45"/>
                          </a:solidFill>
                          <a:latin typeface="Arial"/>
                          <a:ea typeface="Arial"/>
                          <a:cs typeface="Arial"/>
                        </a:rPr>
                        <a:t>Qwen3 Embedding</a:t>
                      </a:r>
                    </a:p>
                  </a:txBody>
                  <a:tcPr marL="95250" marR="95250" marT="85725" marB="85725" anchor="ctr">
                    <a:solidFill>
                      <a:srgbClr val="FFFFFF"/>
                    </a:solidFill>
                  </a:tcPr>
                </a:tc>
                <a:tc>
                  <a:txBody>
                    <a:bodyPr/>
                    <a:lstStyle/>
                    <a:p>
                      <a:r>
                        <a:rPr sz="1500" b="0">
                          <a:solidFill>
                            <a:srgbClr val="142A45"/>
                          </a:solidFill>
                          <a:latin typeface="Arial"/>
                          <a:ea typeface="Arial"/>
                          <a:cs typeface="Arial"/>
                        </a:rPr>
                        <a:t>0.6B / 4B</a:t>
                      </a:r>
                    </a:p>
                  </a:txBody>
                  <a:tcPr marL="95250" marR="95250" marT="85725" marB="85725" anchor="ctr">
                    <a:solidFill>
                      <a:srgbClr val="FFFFFF"/>
                    </a:solidFill>
                  </a:tcPr>
                </a:tc>
                <a:tc>
                  <a:txBody>
                    <a:bodyPr/>
                    <a:lstStyle/>
                    <a:p>
                      <a:r>
                        <a:rPr sz="1500" b="0">
                          <a:solidFill>
                            <a:srgbClr val="142A45"/>
                          </a:solidFill>
                          <a:latin typeface="Arial"/>
                          <a:ea typeface="Arial"/>
                          <a:cs typeface="Arial"/>
                        </a:rPr>
                        <a:t>1,024 / 2,560 (max.)</a:t>
                      </a:r>
                    </a:p>
                  </a:txBody>
                  <a:tcPr marL="95250" marR="95250" marT="85725" marB="85725" anchor="ctr">
                    <a:solidFill>
                      <a:srgbClr val="FFFFFF"/>
                    </a:solidFill>
                  </a:tcPr>
                </a:tc>
                <a:tc>
                  <a:txBody>
                    <a:bodyPr/>
                    <a:lstStyle/>
                    <a:p>
                      <a:r>
                        <a:rPr sz="1500" b="0">
                          <a:solidFill>
                            <a:srgbClr val="142A45"/>
                          </a:solidFill>
                          <a:latin typeface="Arial"/>
                          <a:ea typeface="Arial"/>
                          <a:cs typeface="Arial"/>
                        </a:rPr>
                        <a:t>Embedding-tuned causal model; last-token pooling</a:t>
                      </a:r>
                    </a:p>
                  </a:txBody>
                  <a:tcPr marL="95250" marR="95250" marT="85725" marB="85725" anchor="ctr">
                    <a:solidFill>
                      <a:srgbClr val="FFFFFF"/>
                    </a:solidFill>
                  </a:tcPr>
                </a:tc>
                <a:tc>
                  <a:txBody>
                    <a:bodyPr/>
                    <a:lstStyle/>
                    <a:p>
                      <a:r>
                        <a:rPr sz="1500" b="0">
                          <a:solidFill>
                            <a:srgbClr val="142A45"/>
                          </a:solidFill>
                          <a:latin typeface="Arial"/>
                          <a:ea typeface="Arial"/>
                          <a:cs typeface="Arial"/>
                        </a:rPr>
                        <a:t>Scale extension</a:t>
                      </a:r>
                    </a:p>
                  </a:txBody>
                  <a:tcPr marL="95250" marR="95250" marT="85725" marB="85725" anchor="ctr">
                    <a:solidFill>
                      <a:srgbClr val="FFFFFF"/>
                    </a:solidFill>
                  </a:tcPr>
                </a:tc>
              </a:tr>
            </a:tbl>
          </a:graphicData>
        </a:graphic>
      </p:graphicFrame>
    </p:spTree>
    <p:extLst>
      <p:ext uri="{BB962C8B-B14F-4D97-AF65-F5344CB8AC3E}">
        <p14:creationId xmlns:p14="http://schemas.microsoft.com/office/powerpoint/2010/main" val="107261813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0B5B90-0AF8-4480-9AF5-8AAD6901227A}"/>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Appendix: model inventory, vision</a:t>
            </a:r>
          </a:p>
        </p:txBody>
      </p:sp>
      <p:sp>
        <p:nvSpPr>
          <p:cNvPr id="2" name="">
            <a:extLst xmlns:a="http://schemas.openxmlformats.org/drawingml/2006/main">
              <a:ext uri="{FF2B5EF4-FFF2-40B4-BE49-F238E27FC236}">
                <a16:creationId xmlns:a16="http://schemas.microsoft.com/office/drawing/2014/main" id="{A23591F1-BE70-4711-8A31-54FB432C3ED2}"/>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E.10; official DINOv2, MobileCLIP, SigLIP 2 model sources</a:t>
            </a:r>
          </a:p>
        </p:txBody>
      </p:sp>
      <p:sp>
        <p:nvSpPr>
          <p:cNvPr id="3" name="">
            <a:extLst xmlns:a="http://schemas.openxmlformats.org/drawingml/2006/main">
              <a:ext uri="{FF2B5EF4-FFF2-40B4-BE49-F238E27FC236}">
                <a16:creationId xmlns:a16="http://schemas.microsoft.com/office/drawing/2014/main" id="{2D1B090F-1D5E-4370-B3A1-0DAD046AD883}"/>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23</a:t>
            </a:r>
          </a:p>
        </p:txBody>
      </p:sp>
      <p:graphicFrame>
        <p:nvGraphicFramePr>
          <p:cNvPr id="8" name=""/>
          <p:cNvGraphicFramePr/>
          <p:nvPr/>
        </p:nvGraphicFramePr>
        <p:xfrm>
          <a:off xmlns:a="http://schemas.openxmlformats.org/drawingml/2006/main" x="571500" y="1428750"/>
          <a:ext xmlns:a="http://schemas.openxmlformats.org/drawingml/2006/main" cx="11049000" cy="4238625"/>
        </p:xfrm>
        <a:graphic xmlns:a="http://schemas.openxmlformats.org/drawingml/2006/main">
          <a:graphicData uri="http://schemas.openxmlformats.org/drawingml/2006/table">
            <a:tbl>
              <a:tblPr/>
              <a:tblGrid>
                <a:gridCol w="2190750"/>
                <a:gridCol w="2000250"/>
                <a:gridCol w="2095500"/>
                <a:gridCol w="2857500"/>
                <a:gridCol w="1905000"/>
              </a:tblGrid>
              <a:tr h="706438">
                <a:tc>
                  <a:txBody>
                    <a:bodyPr/>
                    <a:lstStyle/>
                    <a:p>
                      <a:r>
                        <a:rPr sz="1575" b="1">
                          <a:solidFill>
                            <a:srgbClr val="FFFFFF"/>
                          </a:solidFill>
                          <a:latin typeface="Arial"/>
                          <a:ea typeface="Arial"/>
                          <a:cs typeface="Arial"/>
                        </a:rPr>
                        <a:t>Model</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Approx. size</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Stored width</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Training signal</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Role</a:t>
                      </a:r>
                    </a:p>
                  </a:txBody>
                  <a:tcPr marL="95250" marR="95250" marT="85725" marB="85725" anchor="ctr">
                    <a:solidFill>
                      <a:srgbClr val="142A45"/>
                    </a:solidFill>
                  </a:tcPr>
                </a:tc>
              </a:tr>
              <a:tr h="706438">
                <a:tc>
                  <a:txBody>
                    <a:bodyPr/>
                    <a:lstStyle/>
                    <a:p>
                      <a:r>
                        <a:rPr sz="1575" b="0">
                          <a:solidFill>
                            <a:srgbClr val="142A45"/>
                          </a:solidFill>
                          <a:latin typeface="Arial"/>
                          <a:ea typeface="Arial"/>
                          <a:cs typeface="Arial"/>
                        </a:rPr>
                        <a:t>MobileCLIP-S1</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21.5M vision</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512</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Image-text pairing + distillation</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Phone encoder, B</a:t>
                      </a:r>
                    </a:p>
                  </a:txBody>
                  <a:tcPr marL="95250" marR="95250" marT="85725" marB="85725" anchor="ctr">
                    <a:solidFill>
                      <a:srgbClr val="F1F5F8"/>
                    </a:solidFill>
                  </a:tcPr>
                </a:tc>
              </a:tr>
              <a:tr h="706438">
                <a:tc>
                  <a:txBody>
                    <a:bodyPr/>
                    <a:lstStyle/>
                    <a:p>
                      <a:r>
                        <a:rPr sz="1575" b="0">
                          <a:solidFill>
                            <a:srgbClr val="142A45"/>
                          </a:solidFill>
                          <a:latin typeface="Arial"/>
                          <a:ea typeface="Arial"/>
                          <a:cs typeface="Arial"/>
                        </a:rPr>
                        <a:t>SigLIP 2 base</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~0.4B full model</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768</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Sigmoid image-text loss + auxiliary objectives</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B target; held-out hub route</a:t>
                      </a:r>
                    </a:p>
                  </a:txBody>
                  <a:tcPr marL="95250" marR="95250" marT="85725" marB="85725" anchor="ctr">
                    <a:solidFill>
                      <a:srgbClr val="FFFFFF"/>
                    </a:solidFill>
                  </a:tcPr>
                </a:tc>
              </a:tr>
              <a:tr h="706438">
                <a:tc>
                  <a:txBody>
                    <a:bodyPr/>
                    <a:lstStyle/>
                    <a:p>
                      <a:r>
                        <a:rPr sz="1575" b="0">
                          <a:solidFill>
                            <a:srgbClr val="142A45"/>
                          </a:solidFill>
                          <a:latin typeface="Arial"/>
                          <a:ea typeface="Arial"/>
                          <a:cs typeface="Arial"/>
                        </a:rPr>
                        <a:t>DINOv2 S / B / L</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~22 / 87 / 304M</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768 / 1536 / 2048</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Self-supervised DINO + iBOT; no caption loss</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E ladder; hub members</a:t>
                      </a:r>
                    </a:p>
                  </a:txBody>
                  <a:tcPr marL="95250" marR="95250" marT="85725" marB="85725" anchor="ctr">
                    <a:solidFill>
                      <a:srgbClr val="F1F5F8"/>
                    </a:solidFill>
                  </a:tcPr>
                </a:tc>
              </a:tr>
              <a:tr h="706438">
                <a:tc>
                  <a:txBody>
                    <a:bodyPr/>
                    <a:lstStyle/>
                    <a:p>
                      <a:r>
                        <a:rPr sz="1575" b="0">
                          <a:solidFill>
                            <a:srgbClr val="142A45"/>
                          </a:solidFill>
                          <a:latin typeface="Arial"/>
                          <a:ea typeface="Arial"/>
                          <a:cs typeface="Arial"/>
                        </a:rPr>
                        <a:t>DINOv2 giant</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~1.14B</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3,072 CLS+patch</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Same visual family; matched pooling</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Held-out scale test</a:t>
                      </a:r>
                    </a:p>
                  </a:txBody>
                  <a:tcPr marL="95250" marR="95250" marT="85725" marB="85725" anchor="ctr">
                    <a:solidFill>
                      <a:srgbClr val="FFFFFF"/>
                    </a:solidFill>
                  </a:tcPr>
                </a:tc>
              </a:tr>
              <a:tr h="706438">
                <a:tc>
                  <a:txBody>
                    <a:bodyPr/>
                    <a:lstStyle/>
                    <a:p>
                      <a:r>
                        <a:rPr sz="1575" b="0">
                          <a:solidFill>
                            <a:srgbClr val="142A45"/>
                          </a:solidFill>
                          <a:latin typeface="Arial"/>
                          <a:ea typeface="Arial"/>
                          <a:cs typeface="Arial"/>
                        </a:rPr>
                        <a:t>ConvNeXt-base</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~89M</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1,024</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ImageNet-22k class supervision</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Held-out convolutional route</a:t>
                      </a:r>
                    </a:p>
                  </a:txBody>
                  <a:tcPr marL="95250" marR="95250" marT="85725" marB="85725" anchor="ctr">
                    <a:solidFill>
                      <a:srgbClr val="F1F5F8"/>
                    </a:solidFill>
                  </a:tcPr>
                </a:tc>
              </a:tr>
            </a:tbl>
          </a:graphicData>
        </a:graphic>
      </p:graphicFrame>
    </p:spTree>
    <p:extLst>
      <p:ext uri="{BB962C8B-B14F-4D97-AF65-F5344CB8AC3E}">
        <p14:creationId xmlns:p14="http://schemas.microsoft.com/office/powerpoint/2010/main" val="193917780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C856F38-CB86-4BC7-B895-CB34B2F16E8D}"/>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Appendix: supervision and geometry terms</a:t>
            </a:r>
          </a:p>
        </p:txBody>
      </p:sp>
      <p:sp>
        <p:nvSpPr>
          <p:cNvPr id="2" name="">
            <a:extLst xmlns:a="http://schemas.openxmlformats.org/drawingml/2006/main">
              <a:ext uri="{FF2B5EF4-FFF2-40B4-BE49-F238E27FC236}">
                <a16:creationId xmlns:a16="http://schemas.microsoft.com/office/drawing/2014/main" id="{F39DEDFC-40B3-43DC-AF8A-3038D57C14F8}"/>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E.10–E.14; official model cards</a:t>
            </a:r>
          </a:p>
        </p:txBody>
      </p:sp>
      <p:sp>
        <p:nvSpPr>
          <p:cNvPr id="3" name="">
            <a:extLst xmlns:a="http://schemas.openxmlformats.org/drawingml/2006/main">
              <a:ext uri="{FF2B5EF4-FFF2-40B4-BE49-F238E27FC236}">
                <a16:creationId xmlns:a16="http://schemas.microsoft.com/office/drawing/2014/main" id="{38278EE1-68CA-4500-8030-518C49C55B59}"/>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24</a:t>
            </a:r>
          </a:p>
        </p:txBody>
      </p:sp>
      <p:graphicFrame>
        <p:nvGraphicFramePr>
          <p:cNvPr id="8" name=""/>
          <p:cNvGraphicFramePr/>
          <p:nvPr/>
        </p:nvGraphicFramePr>
        <p:xfrm>
          <a:off xmlns:a="http://schemas.openxmlformats.org/drawingml/2006/main" x="571500" y="1428750"/>
          <a:ext xmlns:a="http://schemas.openxmlformats.org/drawingml/2006/main" cx="11049000" cy="4476750"/>
        </p:xfrm>
        <a:graphic xmlns:a="http://schemas.openxmlformats.org/drawingml/2006/main">
          <a:graphicData uri="http://schemas.openxmlformats.org/drawingml/2006/table">
            <a:tbl>
              <a:tblPr/>
              <a:tblGrid>
                <a:gridCol w="2857500"/>
                <a:gridCol w="8191500"/>
              </a:tblGrid>
              <a:tr h="639536">
                <a:tc>
                  <a:txBody>
                    <a:bodyPr/>
                    <a:lstStyle/>
                    <a:p>
                      <a:r>
                        <a:rPr sz="1725" b="1">
                          <a:solidFill>
                            <a:srgbClr val="FFFFFF"/>
                          </a:solidFill>
                          <a:latin typeface="Arial"/>
                          <a:ea typeface="Arial"/>
                          <a:cs typeface="Arial"/>
                        </a:rPr>
                        <a:t>Term</a:t>
                      </a:r>
                    </a:p>
                  </a:txBody>
                  <a:tcPr marL="95250" marR="95250" marT="85725" marB="85725" anchor="ctr">
                    <a:solidFill>
                      <a:srgbClr val="142A45"/>
                    </a:solidFill>
                  </a:tcPr>
                </a:tc>
                <a:tc>
                  <a:txBody>
                    <a:bodyPr/>
                    <a:lstStyle/>
                    <a:p>
                      <a:r>
                        <a:rPr sz="1725" b="1">
                          <a:solidFill>
                            <a:srgbClr val="FFFFFF"/>
                          </a:solidFill>
                          <a:latin typeface="Arial"/>
                          <a:ea typeface="Arial"/>
                          <a:cs typeface="Arial"/>
                        </a:rPr>
                        <a:t>Meaning in this project</a:t>
                      </a:r>
                    </a:p>
                  </a:txBody>
                  <a:tcPr marL="95250" marR="95250" marT="85725" marB="85725" anchor="ctr">
                    <a:solidFill>
                      <a:srgbClr val="142A45"/>
                    </a:solidFill>
                  </a:tcPr>
                </a:tc>
              </a:tr>
              <a:tr h="639536">
                <a:tc>
                  <a:txBody>
                    <a:bodyPr/>
                    <a:lstStyle/>
                    <a:p>
                      <a:r>
                        <a:rPr sz="1725" b="0">
                          <a:solidFill>
                            <a:srgbClr val="142A45"/>
                          </a:solidFill>
                          <a:latin typeface="Arial"/>
                          <a:ea typeface="Arial"/>
                          <a:cs typeface="Arial"/>
                        </a:rPr>
                        <a:t>Self-supervised</a:t>
                      </a:r>
                    </a:p>
                  </a:txBody>
                  <a:tcPr marL="95250" marR="95250" marT="85725" marB="85725" anchor="ctr">
                    <a:solidFill>
                      <a:srgbClr val="F1F5F8"/>
                    </a:solidFill>
                  </a:tcPr>
                </a:tc>
                <a:tc>
                  <a:txBody>
                    <a:bodyPr/>
                    <a:lstStyle/>
                    <a:p>
                      <a:r>
                        <a:rPr sz="1725" b="0">
                          <a:solidFill>
                            <a:srgbClr val="142A45"/>
                          </a:solidFill>
                          <a:latin typeface="Arial"/>
                          <a:ea typeface="Arial"/>
                          <a:cs typeface="Arial"/>
                        </a:rPr>
                        <a:t>Targets come from the data itself: next token, masked token, image views.</a:t>
                      </a:r>
                    </a:p>
                  </a:txBody>
                  <a:tcPr marL="95250" marR="95250" marT="85725" marB="85725" anchor="ctr">
                    <a:solidFill>
                      <a:srgbClr val="F1F5F8"/>
                    </a:solidFill>
                  </a:tcPr>
                </a:tc>
              </a:tr>
              <a:tr h="639536">
                <a:tc>
                  <a:txBody>
                    <a:bodyPr/>
                    <a:lstStyle/>
                    <a:p>
                      <a:r>
                        <a:rPr sz="1725" b="0">
                          <a:solidFill>
                            <a:srgbClr val="142A45"/>
                          </a:solidFill>
                          <a:latin typeface="Arial"/>
                          <a:ea typeface="Arial"/>
                          <a:cs typeface="Arial"/>
                        </a:rPr>
                        <a:t>Supervised / pair-supervised</a:t>
                      </a:r>
                    </a:p>
                  </a:txBody>
                  <a:tcPr marL="95250" marR="95250" marT="85725" marB="85725" anchor="ctr">
                    <a:solidFill>
                      <a:srgbClr val="FFFFFF"/>
                    </a:solidFill>
                  </a:tcPr>
                </a:tc>
                <a:tc>
                  <a:txBody>
                    <a:bodyPr/>
                    <a:lstStyle/>
                    <a:p>
                      <a:r>
                        <a:rPr sz="1725" b="0">
                          <a:solidFill>
                            <a:srgbClr val="142A45"/>
                          </a:solidFill>
                          <a:latin typeface="Arial"/>
                          <a:ea typeface="Arial"/>
                          <a:cs typeface="Arial"/>
                        </a:rPr>
                        <a:t>Known labels or correspondences guide fitting; ridge pairs also count.</a:t>
                      </a:r>
                    </a:p>
                  </a:txBody>
                  <a:tcPr marL="95250" marR="95250" marT="85725" marB="85725" anchor="ctr">
                    <a:solidFill>
                      <a:srgbClr val="FFFFFF"/>
                    </a:solidFill>
                  </a:tcPr>
                </a:tc>
              </a:tr>
              <a:tr h="639536">
                <a:tc>
                  <a:txBody>
                    <a:bodyPr/>
                    <a:lstStyle/>
                    <a:p>
                      <a:r>
                        <a:rPr sz="1725" b="0">
                          <a:solidFill>
                            <a:srgbClr val="142A45"/>
                          </a:solidFill>
                          <a:latin typeface="Arial"/>
                          <a:ea typeface="Arial"/>
                          <a:cs typeface="Arial"/>
                        </a:rPr>
                        <a:t>Unsupervised matching</a:t>
                      </a:r>
                    </a:p>
                  </a:txBody>
                  <a:tcPr marL="95250" marR="95250" marT="85725" marB="85725" anchor="ctr">
                    <a:solidFill>
                      <a:srgbClr val="F1F5F8"/>
                    </a:solidFill>
                  </a:tcPr>
                </a:tc>
                <a:tc>
                  <a:txBody>
                    <a:bodyPr/>
                    <a:lstStyle/>
                    <a:p>
                      <a:r>
                        <a:rPr sz="1725" b="0">
                          <a:solidFill>
                            <a:srgbClr val="142A45"/>
                          </a:solidFill>
                          <a:latin typeface="Arial"/>
                          <a:ea typeface="Arial"/>
                          <a:cs typeface="Arial"/>
                        </a:rPr>
                        <a:t>Recover correspondence from geometry without supplied item pairs.</a:t>
                      </a:r>
                    </a:p>
                  </a:txBody>
                  <a:tcPr marL="95250" marR="95250" marT="85725" marB="85725" anchor="ctr">
                    <a:solidFill>
                      <a:srgbClr val="F1F5F8"/>
                    </a:solidFill>
                  </a:tcPr>
                </a:tc>
              </a:tr>
              <a:tr h="639536">
                <a:tc>
                  <a:txBody>
                    <a:bodyPr/>
                    <a:lstStyle/>
                    <a:p>
                      <a:r>
                        <a:rPr sz="1725" b="0">
                          <a:solidFill>
                            <a:srgbClr val="142A45"/>
                          </a:solidFill>
                          <a:latin typeface="Arial"/>
                          <a:ea typeface="Arial"/>
                          <a:cs typeface="Arial"/>
                        </a:rPr>
                        <a:t>PCA / whitening</a:t>
                      </a:r>
                    </a:p>
                  </a:txBody>
                  <a:tcPr marL="95250" marR="95250" marT="85725" marB="85725" anchor="ctr">
                    <a:solidFill>
                      <a:srgbClr val="FFFFFF"/>
                    </a:solidFill>
                  </a:tcPr>
                </a:tc>
                <a:tc>
                  <a:txBody>
                    <a:bodyPr/>
                    <a:lstStyle/>
                    <a:p>
                      <a:r>
                        <a:rPr sz="1725" b="0">
                          <a:solidFill>
                            <a:srgbClr val="142A45"/>
                          </a:solidFill>
                          <a:latin typeface="Arial"/>
                          <a:ea typeface="Arial"/>
                          <a:cs typeface="Arial"/>
                        </a:rPr>
                        <a:t>Choose variance directions / rescale retained directions.</a:t>
                      </a:r>
                    </a:p>
                  </a:txBody>
                  <a:tcPr marL="95250" marR="95250" marT="85725" marB="85725" anchor="ctr">
                    <a:solidFill>
                      <a:srgbClr val="FFFFFF"/>
                    </a:solidFill>
                  </a:tcPr>
                </a:tc>
              </a:tr>
              <a:tr h="639536">
                <a:tc>
                  <a:txBody>
                    <a:bodyPr/>
                    <a:lstStyle/>
                    <a:p>
                      <a:r>
                        <a:rPr sz="1725" b="0">
                          <a:solidFill>
                            <a:srgbClr val="142A45"/>
                          </a:solidFill>
                          <a:latin typeface="Arial"/>
                          <a:ea typeface="Arial"/>
                          <a:cs typeface="Arial"/>
                        </a:rPr>
                        <a:t>Anisotropy / effective rank</a:t>
                      </a:r>
                    </a:p>
                  </a:txBody>
                  <a:tcPr marL="95250" marR="95250" marT="85725" marB="85725" anchor="ctr">
                    <a:solidFill>
                      <a:srgbClr val="F1F5F8"/>
                    </a:solidFill>
                  </a:tcPr>
                </a:tc>
                <a:tc>
                  <a:txBody>
                    <a:bodyPr/>
                    <a:lstStyle/>
                    <a:p>
                      <a:r>
                        <a:rPr sz="1725" b="0">
                          <a:solidFill>
                            <a:srgbClr val="142A45"/>
                          </a:solidFill>
                          <a:latin typeface="Arial"/>
                          <a:ea typeface="Arial"/>
                          <a:cs typeface="Arial"/>
                        </a:rPr>
                        <a:t>Uneven directional statistics / spectral concentration, not literal semantic dimensions.</a:t>
                      </a:r>
                    </a:p>
                  </a:txBody>
                  <a:tcPr marL="95250" marR="95250" marT="85725" marB="85725" anchor="ctr">
                    <a:solidFill>
                      <a:srgbClr val="F1F5F8"/>
                    </a:solidFill>
                  </a:tcPr>
                </a:tc>
              </a:tr>
              <a:tr h="639536">
                <a:tc>
                  <a:txBody>
                    <a:bodyPr/>
                    <a:lstStyle/>
                    <a:p>
                      <a:r>
                        <a:rPr sz="1725" b="0">
                          <a:solidFill>
                            <a:srgbClr val="142A45"/>
                          </a:solidFill>
                          <a:latin typeface="Arial"/>
                          <a:ea typeface="Arial"/>
                          <a:cs typeface="Arial"/>
                        </a:rPr>
                        <a:t>Manifold / coordinate chart</a:t>
                      </a:r>
                    </a:p>
                  </a:txBody>
                  <a:tcPr marL="95250" marR="95250" marT="85725" marB="85725" anchor="ctr">
                    <a:solidFill>
                      <a:srgbClr val="FFFFFF"/>
                    </a:solidFill>
                  </a:tcPr>
                </a:tc>
                <a:tc>
                  <a:txBody>
                    <a:bodyPr/>
                    <a:lstStyle/>
                    <a:p>
                      <a:r>
                        <a:rPr sz="1725" b="0">
                          <a:solidFill>
                            <a:srgbClr val="142A45"/>
                          </a:solidFill>
                          <a:latin typeface="Arial"/>
                          <a:ea typeface="Arial"/>
                          <a:cs typeface="Arial"/>
                        </a:rPr>
                        <a:t>A low-dimensional geometric model / a representation of it; an interpretation here.</a:t>
                      </a:r>
                    </a:p>
                  </a:txBody>
                  <a:tcPr marL="95250" marR="95250" marT="85725" marB="85725" anchor="ctr">
                    <a:solidFill>
                      <a:srgbClr val="FFFFFF"/>
                    </a:solidFill>
                  </a:tcPr>
                </a:tc>
              </a:tr>
            </a:tbl>
          </a:graphicData>
        </a:graphic>
      </p:graphicFrame>
    </p:spTree>
    <p:extLst>
      <p:ext uri="{BB962C8B-B14F-4D97-AF65-F5344CB8AC3E}">
        <p14:creationId xmlns:p14="http://schemas.microsoft.com/office/powerpoint/2010/main" val="211388758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5933AD3-4284-4F12-A127-B9417DC14D30}"/>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Appendix: metric definitions and blind spots</a:t>
            </a:r>
          </a:p>
        </p:txBody>
      </p:sp>
      <p:sp>
        <p:nvSpPr>
          <p:cNvPr id="2" name="">
            <a:extLst xmlns:a="http://schemas.openxmlformats.org/drawingml/2006/main">
              <a:ext uri="{FF2B5EF4-FFF2-40B4-BE49-F238E27FC236}">
                <a16:creationId xmlns:a16="http://schemas.microsoft.com/office/drawing/2014/main" id="{92454ACD-36F0-4E3E-ADBD-57CA5B6E5473}"/>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§§3–4, C.13; Similarity Methods Master Table</a:t>
            </a:r>
          </a:p>
        </p:txBody>
      </p:sp>
      <p:sp>
        <p:nvSpPr>
          <p:cNvPr id="3" name="">
            <a:extLst xmlns:a="http://schemas.openxmlformats.org/drawingml/2006/main">
              <a:ext uri="{FF2B5EF4-FFF2-40B4-BE49-F238E27FC236}">
                <a16:creationId xmlns:a16="http://schemas.microsoft.com/office/drawing/2014/main" id="{292014E9-CCB4-46BD-9AAB-0CDFB30C9DCD}"/>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25</a:t>
            </a:r>
          </a:p>
        </p:txBody>
      </p:sp>
      <p:graphicFrame>
        <p:nvGraphicFramePr>
          <p:cNvPr id="8" name=""/>
          <p:cNvGraphicFramePr/>
          <p:nvPr/>
        </p:nvGraphicFramePr>
        <p:xfrm>
          <a:off xmlns:a="http://schemas.openxmlformats.org/drawingml/2006/main" x="571500" y="1381125"/>
          <a:ext xmlns:a="http://schemas.openxmlformats.org/drawingml/2006/main" cx="11049000" cy="4572000"/>
        </p:xfrm>
        <a:graphic xmlns:a="http://schemas.openxmlformats.org/drawingml/2006/main">
          <a:graphicData uri="http://schemas.openxmlformats.org/drawingml/2006/table">
            <a:tbl>
              <a:tblPr/>
              <a:tblGrid>
                <a:gridCol w="2190750"/>
                <a:gridCol w="4381500"/>
                <a:gridCol w="4476750"/>
              </a:tblGrid>
              <a:tr h="653143">
                <a:tc>
                  <a:txBody>
                    <a:bodyPr/>
                    <a:lstStyle/>
                    <a:p>
                      <a:r>
                        <a:rPr sz="1575" b="1">
                          <a:solidFill>
                            <a:srgbClr val="FFFFFF"/>
                          </a:solidFill>
                          <a:latin typeface="Arial"/>
                          <a:ea typeface="Arial"/>
                          <a:cs typeface="Arial"/>
                        </a:rPr>
                        <a:t>Metric</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Meaning</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Caution</a:t>
                      </a:r>
                    </a:p>
                  </a:txBody>
                  <a:tcPr marL="95250" marR="95250" marT="85725" marB="85725" anchor="ctr">
                    <a:solidFill>
                      <a:srgbClr val="142A45"/>
                    </a:solidFill>
                  </a:tcPr>
                </a:tc>
              </a:tr>
              <a:tr h="653143">
                <a:tc>
                  <a:txBody>
                    <a:bodyPr/>
                    <a:lstStyle/>
                    <a:p>
                      <a:r>
                        <a:rPr sz="1575" b="0">
                          <a:solidFill>
                            <a:srgbClr val="142A45"/>
                          </a:solidFill>
                          <a:latin typeface="Arial"/>
                          <a:ea typeface="Arial"/>
                          <a:cs typeface="Arial"/>
                        </a:rPr>
                        <a:t>Cosine</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x·y / (||x|| ||y||): direction agreement</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Near-one scores can be uninformative in collapsed spaces.</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R²</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1 − SSE/SST: target variance explained</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Includes magnitude; may be negative.</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Spearman ρ</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Correlation of ranked within-space pair distances</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No map needed; not retrieval accuracy.</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CKA</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Agreement of centered similarity structures</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Calibrate against controls and width effects.</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CKNNA</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Centered alignment on mutual k-nearest neighbors</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Specify k; compare local and global within this metric.</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k-NN overlap</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Shared neighbors divided by k</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Null ≈ k/(N−1) when self is excluded.</a:t>
                      </a:r>
                    </a:p>
                  </a:txBody>
                  <a:tcPr marL="95250" marR="95250" marT="85725" marB="85725" anchor="ctr">
                    <a:solidFill>
                      <a:srgbClr val="FFFFFF"/>
                    </a:solidFill>
                  </a:tcPr>
                </a:tc>
              </a:tr>
            </a:tbl>
          </a:graphicData>
        </a:graphic>
      </p:graphicFrame>
    </p:spTree>
    <p:extLst>
      <p:ext uri="{BB962C8B-B14F-4D97-AF65-F5344CB8AC3E}">
        <p14:creationId xmlns:p14="http://schemas.microsoft.com/office/powerpoint/2010/main" val="103057213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52426B8-0529-4E81-AA9E-D1326E87686D}"/>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Appendix: retrieval, uncertainty and power</a:t>
            </a:r>
          </a:p>
        </p:txBody>
      </p:sp>
      <p:sp>
        <p:nvSpPr>
          <p:cNvPr id="2" name="">
            <a:extLst xmlns:a="http://schemas.openxmlformats.org/drawingml/2006/main">
              <a:ext uri="{FF2B5EF4-FFF2-40B4-BE49-F238E27FC236}">
                <a16:creationId xmlns:a16="http://schemas.microsoft.com/office/drawing/2014/main" id="{180CBAE3-6649-4E1B-AE15-25A7F3E26A47}"/>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D.2, E.5, E.13–E.16</a:t>
            </a:r>
          </a:p>
        </p:txBody>
      </p:sp>
      <p:sp>
        <p:nvSpPr>
          <p:cNvPr id="3" name="">
            <a:extLst xmlns:a="http://schemas.openxmlformats.org/drawingml/2006/main">
              <a:ext uri="{FF2B5EF4-FFF2-40B4-BE49-F238E27FC236}">
                <a16:creationId xmlns:a16="http://schemas.microsoft.com/office/drawing/2014/main" id="{B2451698-B42C-4205-BEB2-FF7EDB8B7631}"/>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26</a:t>
            </a:r>
          </a:p>
        </p:txBody>
      </p:sp>
      <p:graphicFrame>
        <p:nvGraphicFramePr>
          <p:cNvPr id="8" name=""/>
          <p:cNvGraphicFramePr/>
          <p:nvPr/>
        </p:nvGraphicFramePr>
        <p:xfrm>
          <a:off xmlns:a="http://schemas.openxmlformats.org/drawingml/2006/main" x="571500" y="1381125"/>
          <a:ext xmlns:a="http://schemas.openxmlformats.org/drawingml/2006/main" cx="11049000" cy="4572000"/>
        </p:xfrm>
        <a:graphic xmlns:a="http://schemas.openxmlformats.org/drawingml/2006/main">
          <a:graphicData uri="http://schemas.openxmlformats.org/drawingml/2006/table">
            <a:tbl>
              <a:tblPr/>
              <a:tblGrid>
                <a:gridCol w="2333625"/>
                <a:gridCol w="2857500"/>
                <a:gridCol w="5857875"/>
              </a:tblGrid>
              <a:tr h="653143">
                <a:tc>
                  <a:txBody>
                    <a:bodyPr/>
                    <a:lstStyle/>
                    <a:p>
                      <a:r>
                        <a:rPr sz="1575" b="1">
                          <a:solidFill>
                            <a:srgbClr val="FFFFFF"/>
                          </a:solidFill>
                          <a:latin typeface="Arial"/>
                          <a:ea typeface="Arial"/>
                          <a:cs typeface="Arial"/>
                        </a:rPr>
                        <a:t>Metric</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Reported example</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One-sentence reading</a:t>
                      </a:r>
                    </a:p>
                  </a:txBody>
                  <a:tcPr marL="95250" marR="95250" marT="85725" marB="85725" anchor="ctr">
                    <a:solidFill>
                      <a:srgbClr val="142A45"/>
                    </a:solidFill>
                  </a:tcPr>
                </a:tc>
              </a:tr>
              <a:tr h="653143">
                <a:tc>
                  <a:txBody>
                    <a:bodyPr/>
                    <a:lstStyle/>
                    <a:p>
                      <a:r>
                        <a:rPr sz="1575" b="0">
                          <a:solidFill>
                            <a:srgbClr val="142A45"/>
                          </a:solidFill>
                          <a:latin typeface="Arial"/>
                          <a:ea typeface="Arial"/>
                          <a:cs typeface="Arial"/>
                        </a:rPr>
                        <a:t>R@K</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B R@5 = 0.843</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Correct image appears among first five for 84.3% of queries.</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Retention</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B 95.3%; ConvNeXt 96.7%</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Ratio to the appropriate native reference within each protocol.</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Verification AUC</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0.999</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Probability of ordering a positive pair above a sampled negative.</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Instance ranking R@1</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0.987</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Match the same photo across encoders, not a caption query.</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Membership AUC</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0.889</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Ranks member queries above nonmembers across score thresholds.</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Power / uncertainty</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Giant: 2.8 rows/dim</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Insufficient fitting evidence under the project’s prespecified heuristic.</a:t>
                      </a:r>
                    </a:p>
                  </a:txBody>
                  <a:tcPr marL="95250" marR="95250" marT="85725" marB="85725" anchor="ctr">
                    <a:solidFill>
                      <a:srgbClr val="FFFFFF"/>
                    </a:solidFill>
                  </a:tcPr>
                </a:tc>
              </a:tr>
            </a:tbl>
          </a:graphicData>
        </a:graphic>
      </p:graphicFrame>
    </p:spTree>
    <p:extLst>
      <p:ext uri="{BB962C8B-B14F-4D97-AF65-F5344CB8AC3E}">
        <p14:creationId xmlns:p14="http://schemas.microsoft.com/office/powerpoint/2010/main" val="189133603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4DE187-D11F-4DF4-B6FB-761E7C70E1EF}"/>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Appendix: experiment inventory A and B</a:t>
            </a:r>
          </a:p>
        </p:txBody>
      </p:sp>
      <p:sp>
        <p:nvSpPr>
          <p:cNvPr id="2" name="">
            <a:extLst xmlns:a="http://schemas.openxmlformats.org/drawingml/2006/main">
              <a:ext uri="{FF2B5EF4-FFF2-40B4-BE49-F238E27FC236}">
                <a16:creationId xmlns:a16="http://schemas.microsoft.com/office/drawing/2014/main" id="{5ADD6151-B028-41ED-B913-48F9E79F1C3A}"/>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§§3–4 and D; Status Report, B6–B10</a:t>
            </a:r>
          </a:p>
        </p:txBody>
      </p:sp>
      <p:sp>
        <p:nvSpPr>
          <p:cNvPr id="3" name="">
            <a:extLst xmlns:a="http://schemas.openxmlformats.org/drawingml/2006/main">
              <a:ext uri="{FF2B5EF4-FFF2-40B4-BE49-F238E27FC236}">
                <a16:creationId xmlns:a16="http://schemas.microsoft.com/office/drawing/2014/main" id="{AD94613D-4B0B-421D-ADD0-F5A174B39EDC}"/>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27</a:t>
            </a:r>
          </a:p>
        </p:txBody>
      </p:sp>
      <p:graphicFrame>
        <p:nvGraphicFramePr>
          <p:cNvPr id="8" name=""/>
          <p:cNvGraphicFramePr/>
          <p:nvPr/>
        </p:nvGraphicFramePr>
        <p:xfrm>
          <a:off xmlns:a="http://schemas.openxmlformats.org/drawingml/2006/main" x="571500" y="1381125"/>
          <a:ext xmlns:a="http://schemas.openxmlformats.org/drawingml/2006/main" cx="11049000" cy="4572000"/>
        </p:xfrm>
        <a:graphic xmlns:a="http://schemas.openxmlformats.org/drawingml/2006/main">
          <a:graphicData uri="http://schemas.openxmlformats.org/drawingml/2006/table">
            <a:tbl>
              <a:tblPr/>
              <a:tblGrid>
                <a:gridCol w="1476375"/>
                <a:gridCol w="4667250"/>
                <a:gridCol w="4905375"/>
              </a:tblGrid>
              <a:tr h="653143">
                <a:tc>
                  <a:txBody>
                    <a:bodyPr/>
                    <a:lstStyle/>
                    <a:p>
                      <a:r>
                        <a:rPr sz="1575" b="1">
                          <a:solidFill>
                            <a:srgbClr val="FFFFFF"/>
                          </a:solidFill>
                          <a:latin typeface="Arial"/>
                          <a:ea typeface="Arial"/>
                          <a:cs typeface="Arial"/>
                        </a:rPr>
                        <a:t>ID</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Test / implementation</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Reported outcome / status</a:t>
                      </a:r>
                    </a:p>
                  </a:txBody>
                  <a:tcPr marL="95250" marR="95250" marT="85725" marB="85725" anchor="ctr">
                    <a:solidFill>
                      <a:srgbClr val="142A45"/>
                    </a:solidFill>
                  </a:tcPr>
                </a:tc>
              </a:tr>
              <a:tr h="653143">
                <a:tc>
                  <a:txBody>
                    <a:bodyPr/>
                    <a:lstStyle/>
                    <a:p>
                      <a:r>
                        <a:rPr sz="1575" b="0">
                          <a:solidFill>
                            <a:srgbClr val="142A45"/>
                          </a:solidFill>
                          <a:latin typeface="Arial"/>
                          <a:ea typeface="Arial"/>
                          <a:cs typeface="Arial"/>
                        </a:rPr>
                        <a:t>A1</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Extract all layer representations on WikiText</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10k passages; trained and random models</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A2</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CKA, layer matching and geometry diagnostics</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Trained/control gap; later hub-dominance caveat</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A3</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Ridge stitching; small versus larger sample run</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Mean held-out R² 0.737; peak 0.797</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B1–B3</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Paired caches; ridge/Procrustes/MLP; retrieval</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Ridge cosine .900; R@1 .557; R@5 .843</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B4–B5</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Core ML export; fp16 parity; qualitative galleries</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0.79 MB artifact; held-out qualitative demonstrations</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B6–B10 / D</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Live demo, quantization and decision diagnostics</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Reported complete; stage numbering varies by document</a:t>
                      </a:r>
                    </a:p>
                  </a:txBody>
                  <a:tcPr marL="95250" marR="95250" marT="85725" marB="85725" anchor="ctr">
                    <a:solidFill>
                      <a:srgbClr val="FFFFFF"/>
                    </a:solidFill>
                  </a:tcPr>
                </a:tc>
              </a:tr>
            </a:tbl>
          </a:graphicData>
        </a:graphic>
      </p:graphicFrame>
    </p:spTree>
    <p:extLst>
      <p:ext uri="{BB962C8B-B14F-4D97-AF65-F5344CB8AC3E}">
        <p14:creationId xmlns:p14="http://schemas.microsoft.com/office/powerpoint/2010/main" val="127873715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6D3334-0753-449B-9DEF-B95F444E1192}"/>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Appendix: experiment inventory C, E and F</a:t>
            </a:r>
          </a:p>
        </p:txBody>
      </p:sp>
      <p:sp>
        <p:nvSpPr>
          <p:cNvPr id="2" name="">
            <a:extLst xmlns:a="http://schemas.openxmlformats.org/drawingml/2006/main">
              <a:ext uri="{FF2B5EF4-FFF2-40B4-BE49-F238E27FC236}">
                <a16:creationId xmlns:a16="http://schemas.microsoft.com/office/drawing/2014/main" id="{B179A08F-D0FC-4B9B-8B83-D67689FA8A7A}"/>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C.9–C.12; Results Summary; Status Report</a:t>
            </a:r>
          </a:p>
        </p:txBody>
      </p:sp>
      <p:sp>
        <p:nvSpPr>
          <p:cNvPr id="3" name="">
            <a:extLst xmlns:a="http://schemas.openxmlformats.org/drawingml/2006/main">
              <a:ext uri="{FF2B5EF4-FFF2-40B4-BE49-F238E27FC236}">
                <a16:creationId xmlns:a16="http://schemas.microsoft.com/office/drawing/2014/main" id="{27289D5A-5DBD-4D84-9962-FC14887DD738}"/>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28</a:t>
            </a:r>
          </a:p>
        </p:txBody>
      </p:sp>
      <p:graphicFrame>
        <p:nvGraphicFramePr>
          <p:cNvPr id="8" name=""/>
          <p:cNvGraphicFramePr/>
          <p:nvPr/>
        </p:nvGraphicFramePr>
        <p:xfrm>
          <a:off xmlns:a="http://schemas.openxmlformats.org/drawingml/2006/main" x="571500" y="1381125"/>
          <a:ext xmlns:a="http://schemas.openxmlformats.org/drawingml/2006/main" cx="11049000" cy="4572000"/>
        </p:xfrm>
        <a:graphic xmlns:a="http://schemas.openxmlformats.org/drawingml/2006/main">
          <a:graphicData uri="http://schemas.openxmlformats.org/drawingml/2006/table">
            <a:tbl>
              <a:tblPr/>
              <a:tblGrid>
                <a:gridCol w="1714500"/>
                <a:gridCol w="4095750"/>
                <a:gridCol w="5238750"/>
              </a:tblGrid>
              <a:tr h="653143">
                <a:tc>
                  <a:txBody>
                    <a:bodyPr/>
                    <a:lstStyle/>
                    <a:p>
                      <a:r>
                        <a:rPr sz="1575" b="1">
                          <a:solidFill>
                            <a:srgbClr val="FFFFFF"/>
                          </a:solidFill>
                          <a:latin typeface="Arial"/>
                          <a:ea typeface="Arial"/>
                          <a:cs typeface="Arial"/>
                        </a:rPr>
                        <a:t>ID</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Question</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Result / status</a:t>
                      </a:r>
                    </a:p>
                  </a:txBody>
                  <a:tcPr marL="95250" marR="95250" marT="85725" marB="85725" anchor="ctr">
                    <a:solidFill>
                      <a:srgbClr val="142A45"/>
                    </a:solidFill>
                  </a:tcPr>
                </a:tc>
              </a:tr>
              <a:tr h="653143">
                <a:tc>
                  <a:txBody>
                    <a:bodyPr/>
                    <a:lstStyle/>
                    <a:p>
                      <a:r>
                        <a:rPr sz="1575" b="0">
                          <a:solidFill>
                            <a:srgbClr val="142A45"/>
                          </a:solidFill>
                          <a:latin typeface="Arial"/>
                          <a:ea typeface="Arial"/>
                          <a:cs typeface="Arial"/>
                        </a:rPr>
                        <a:t>C1 / C1.1</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Recover pairs without correspondence labels?</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GW exact match 39.7% vs 1/1500 chance; ICP and whitening hurt.</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E1 + sweep</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DINO image to bge text, and S/B/L capacity</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40.9 / 53.5 / 58.3% of matched R@1 reference.</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E1.1–E1.3</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GPT-2 swap, whitening rescue, text ladder</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Geometry affects retrieval; pre-registered rank ordering supported.</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E2 / E3</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Search demo and functional consumer test</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Demo built; R@5 stitching penalty .049; internal splice scaffolded.</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F1–F2 / F5</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Teacher corpus, MLP versus ridge, larger refit</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No nonlinear gain; refit R@1 +.0244 in paired evaluation.</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F3–F4</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Unfreeze student trunk / change bottleneck</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Built but deliberately gated and unrun.</a:t>
                      </a:r>
                    </a:p>
                  </a:txBody>
                  <a:tcPr marL="95250" marR="95250" marT="85725" marB="85725" anchor="ctr">
                    <a:solidFill>
                      <a:srgbClr val="FFFFFF"/>
                    </a:solidFill>
                  </a:tcPr>
                </a:tc>
              </a:tr>
            </a:tbl>
          </a:graphicData>
        </a:graphic>
      </p:graphicFrame>
    </p:spTree>
    <p:extLst>
      <p:ext uri="{BB962C8B-B14F-4D97-AF65-F5344CB8AC3E}">
        <p14:creationId xmlns:p14="http://schemas.microsoft.com/office/powerpoint/2010/main" val="62460933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5817E2-E70F-4A0E-9F10-215457D7B71E}"/>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Appendix: experiment inventory G0–G7</a:t>
            </a:r>
          </a:p>
        </p:txBody>
      </p:sp>
      <p:sp>
        <p:nvSpPr>
          <p:cNvPr id="2" name="">
            <a:extLst xmlns:a="http://schemas.openxmlformats.org/drawingml/2006/main">
              <a:ext uri="{FF2B5EF4-FFF2-40B4-BE49-F238E27FC236}">
                <a16:creationId xmlns:a16="http://schemas.microsoft.com/office/drawing/2014/main" id="{835ED51A-47FC-4E2A-AF1A-870B300CD5F1}"/>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C.13 and E.1–E.6; Results Summary</a:t>
            </a:r>
          </a:p>
        </p:txBody>
      </p:sp>
      <p:sp>
        <p:nvSpPr>
          <p:cNvPr id="3" name="">
            <a:extLst xmlns:a="http://schemas.openxmlformats.org/drawingml/2006/main">
              <a:ext uri="{FF2B5EF4-FFF2-40B4-BE49-F238E27FC236}">
                <a16:creationId xmlns:a16="http://schemas.microsoft.com/office/drawing/2014/main" id="{9AA8180E-06D8-46A8-90EE-0CD58ACFE3CC}"/>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29</a:t>
            </a:r>
          </a:p>
        </p:txBody>
      </p:sp>
      <p:graphicFrame>
        <p:nvGraphicFramePr>
          <p:cNvPr id="8" name=""/>
          <p:cNvGraphicFramePr/>
          <p:nvPr/>
        </p:nvGraphicFramePr>
        <p:xfrm>
          <a:off xmlns:a="http://schemas.openxmlformats.org/drawingml/2006/main" x="571500" y="1381125"/>
          <a:ext xmlns:a="http://schemas.openxmlformats.org/drawingml/2006/main" cx="11049000" cy="4572000"/>
        </p:xfrm>
        <a:graphic xmlns:a="http://schemas.openxmlformats.org/drawingml/2006/main">
          <a:graphicData uri="http://schemas.openxmlformats.org/drawingml/2006/table">
            <a:tbl>
              <a:tblPr/>
              <a:tblGrid>
                <a:gridCol w="1619250"/>
                <a:gridCol w="3905250"/>
                <a:gridCol w="5524500"/>
              </a:tblGrid>
              <a:tr h="653143">
                <a:tc>
                  <a:txBody>
                    <a:bodyPr/>
                    <a:lstStyle/>
                    <a:p>
                      <a:r>
                        <a:rPr sz="1575" b="1">
                          <a:solidFill>
                            <a:srgbClr val="FFFFFF"/>
                          </a:solidFill>
                          <a:latin typeface="Arial"/>
                          <a:ea typeface="Arial"/>
                          <a:cs typeface="Arial"/>
                        </a:rPr>
                        <a:t>ID</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Question</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Reported result</a:t>
                      </a:r>
                    </a:p>
                  </a:txBody>
                  <a:tcPr marL="95250" marR="95250" marT="85725" marB="85725" anchor="ctr">
                    <a:solidFill>
                      <a:srgbClr val="142A45"/>
                    </a:solidFill>
                  </a:tcPr>
                </a:tc>
              </a:tr>
              <a:tr h="653143">
                <a:tc>
                  <a:txBody>
                    <a:bodyPr/>
                    <a:lstStyle/>
                    <a:p>
                      <a:r>
                        <a:rPr sz="1575" b="0">
                          <a:solidFill>
                            <a:srgbClr val="142A45"/>
                          </a:solidFill>
                          <a:latin typeface="Arial"/>
                          <a:ea typeface="Arial"/>
                          <a:cs typeface="Arial"/>
                        </a:rPr>
                        <a:t>G0-exact</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Recover published protocol</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Four members, scalar scaling, seed-0 split; SigLIP 94.2% reproduced.</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G1 / G2</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Shared hub, composition, working demo</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Seven-space R@1 .451 vs five-space .445; live retrieval prototype.</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G3</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Shared versus bespoke pairwise hubs</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42 ordered pairs; mean relative performance 103.6%.</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G4 / G4-conv</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Held-out lineage and architecture</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SigLIP 94.2%; ConvNeXt 96.7% of native in published comparison.</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G5 / G6</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Scale of agreement; manifold diagnostics</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21/21 local CKNNA stronger; mean R²: ridge .667 vs Procrustes .194.</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G7</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Local-structure effect and width sweep</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Healthy-pair effect near zero; width cliff required later diagnosis.</a:t>
                      </a:r>
                    </a:p>
                  </a:txBody>
                  <a:tcPr marL="95250" marR="95250" marT="85725" marB="85725" anchor="ctr">
                    <a:solidFill>
                      <a:srgbClr val="FFFFFF"/>
                    </a:solidFill>
                  </a:tcPr>
                </a:tc>
              </a:tr>
            </a:tbl>
          </a:graphicData>
        </a:graphic>
      </p:graphicFrame>
    </p:spTree>
    <p:extLst>
      <p:ext uri="{BB962C8B-B14F-4D97-AF65-F5344CB8AC3E}">
        <p14:creationId xmlns:p14="http://schemas.microsoft.com/office/powerpoint/2010/main" val="57540034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8BB764D-8D02-465B-8643-166B729131CC}"/>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Appendix: experiment inventory G8–G16, K, H, V</a:t>
            </a:r>
          </a:p>
        </p:txBody>
      </p:sp>
      <p:sp>
        <p:nvSpPr>
          <p:cNvPr id="2" name="">
            <a:extLst xmlns:a="http://schemas.openxmlformats.org/drawingml/2006/main">
              <a:ext uri="{FF2B5EF4-FFF2-40B4-BE49-F238E27FC236}">
                <a16:creationId xmlns:a16="http://schemas.microsoft.com/office/drawing/2014/main" id="{4018FD63-C4F3-4DC4-BDB5-E6C1BD784101}"/>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E.3–E.8; Results Summary addenda</a:t>
            </a:r>
          </a:p>
        </p:txBody>
      </p:sp>
      <p:sp>
        <p:nvSpPr>
          <p:cNvPr id="3" name="">
            <a:extLst xmlns:a="http://schemas.openxmlformats.org/drawingml/2006/main">
              <a:ext uri="{FF2B5EF4-FFF2-40B4-BE49-F238E27FC236}">
                <a16:creationId xmlns:a16="http://schemas.microsoft.com/office/drawing/2014/main" id="{BBA031D0-BDBC-455E-BD4C-65268BC20BF4}"/>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30</a:t>
            </a:r>
          </a:p>
        </p:txBody>
      </p:sp>
      <p:graphicFrame>
        <p:nvGraphicFramePr>
          <p:cNvPr id="8" name=""/>
          <p:cNvGraphicFramePr/>
          <p:nvPr/>
        </p:nvGraphicFramePr>
        <p:xfrm>
          <a:off xmlns:a="http://schemas.openxmlformats.org/drawingml/2006/main" x="571500" y="1381125"/>
          <a:ext xmlns:a="http://schemas.openxmlformats.org/drawingml/2006/main" cx="11049000" cy="4572000"/>
        </p:xfrm>
        <a:graphic xmlns:a="http://schemas.openxmlformats.org/drawingml/2006/main">
          <a:graphicData uri="http://schemas.openxmlformats.org/drawingml/2006/table">
            <a:tbl>
              <a:tblPr/>
              <a:tblGrid>
                <a:gridCol w="1952625"/>
                <a:gridCol w="4000500"/>
                <a:gridCol w="5095875"/>
              </a:tblGrid>
              <a:tr h="653143">
                <a:tc>
                  <a:txBody>
                    <a:bodyPr/>
                    <a:lstStyle/>
                    <a:p>
                      <a:r>
                        <a:rPr sz="1575" b="1">
                          <a:solidFill>
                            <a:srgbClr val="FFFFFF"/>
                          </a:solidFill>
                          <a:latin typeface="Arial"/>
                          <a:ea typeface="Arial"/>
                          <a:cs typeface="Arial"/>
                        </a:rPr>
                        <a:t>ID</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Test</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Outcome / status</a:t>
                      </a:r>
                    </a:p>
                  </a:txBody>
                  <a:tcPr marL="95250" marR="95250" marT="85725" marB="85725" anchor="ctr">
                    <a:solidFill>
                      <a:srgbClr val="142A45"/>
                    </a:solidFill>
                  </a:tcPr>
                </a:tc>
              </a:tr>
              <a:tr h="653143">
                <a:tc>
                  <a:txBody>
                    <a:bodyPr/>
                    <a:lstStyle/>
                    <a:p>
                      <a:r>
                        <a:rPr sz="1575" b="0">
                          <a:solidFill>
                            <a:srgbClr val="142A45"/>
                          </a:solidFill>
                          <a:latin typeface="Arial"/>
                          <a:ea typeface="Arial"/>
                          <a:cs typeface="Arial"/>
                        </a:rPr>
                        <a:t>G8</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Four candidate discontinuity statistics</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All failed to track the observed transfer cliff.</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G9 / G11 / G12</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Source dimension and target swaps</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Cliff location followed source width in tested conditions.</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G10</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Hub text composition and target overlap</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Member identity matters; matching-target benefit disclosed.</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G13–G16</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Ablations, rank, singular direction and repair</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Corrected flawed tests; truncation / stronger head ridge repairs fit.</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K1–K3</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Raw Procrustes, reproduction, bounded null</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Healthy-pair gain CI [−.038, +.024]; prespecified ±.050 margin.</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H1 / V1</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Artifact, power, shuffle and independent checks</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47 checks, no hard failures; verification AUC .9994 reproduced.</a:t>
                      </a:r>
                    </a:p>
                  </a:txBody>
                  <a:tcPr marL="95250" marR="95250" marT="85725" marB="85725" anchor="ctr">
                    <a:solidFill>
                      <a:srgbClr val="FFFFFF"/>
                    </a:solidFill>
                  </a:tcPr>
                </a:tc>
              </a:tr>
            </a:tbl>
          </a:graphicData>
        </a:graphic>
      </p:graphicFrame>
    </p:spTree>
    <p:extLst>
      <p:ext uri="{BB962C8B-B14F-4D97-AF65-F5344CB8AC3E}">
        <p14:creationId xmlns:p14="http://schemas.microsoft.com/office/powerpoint/2010/main" val="104967537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93C6169-B08A-4AA5-98A9-7C73FB0D6D33}"/>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Appendix: scale tests and remaining tasks</a:t>
            </a:r>
          </a:p>
        </p:txBody>
      </p:sp>
      <p:sp>
        <p:nvSpPr>
          <p:cNvPr id="2" name="">
            <a:extLst xmlns:a="http://schemas.openxmlformats.org/drawingml/2006/main">
              <a:ext uri="{FF2B5EF4-FFF2-40B4-BE49-F238E27FC236}">
                <a16:creationId xmlns:a16="http://schemas.microsoft.com/office/drawing/2014/main" id="{470B6552-9CB4-4475-8E01-727F90C54F6F}"/>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E.16; Project Atlas next tests</a:t>
            </a:r>
          </a:p>
        </p:txBody>
      </p:sp>
      <p:sp>
        <p:nvSpPr>
          <p:cNvPr id="3" name="">
            <a:extLst xmlns:a="http://schemas.openxmlformats.org/drawingml/2006/main">
              <a:ext uri="{FF2B5EF4-FFF2-40B4-BE49-F238E27FC236}">
                <a16:creationId xmlns:a16="http://schemas.microsoft.com/office/drawing/2014/main" id="{3F9B8482-0D12-4E96-906B-B8C28EBF29B8}"/>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31</a:t>
            </a:r>
          </a:p>
        </p:txBody>
      </p:sp>
      <p:graphicFrame>
        <p:nvGraphicFramePr>
          <p:cNvPr id="8" name=""/>
          <p:cNvGraphicFramePr/>
          <p:nvPr/>
        </p:nvGraphicFramePr>
        <p:xfrm>
          <a:off xmlns:a="http://schemas.openxmlformats.org/drawingml/2006/main" x="571500" y="1381125"/>
          <a:ext xmlns:a="http://schemas.openxmlformats.org/drawingml/2006/main" cx="11049000" cy="4572000"/>
        </p:xfrm>
        <a:graphic xmlns:a="http://schemas.openxmlformats.org/drawingml/2006/main">
          <a:graphicData uri="http://schemas.openxmlformats.org/drawingml/2006/table">
            <a:tbl>
              <a:tblPr/>
              <a:tblGrid>
                <a:gridCol w="2524125"/>
                <a:gridCol w="3905250"/>
                <a:gridCol w="4619625"/>
              </a:tblGrid>
              <a:tr h="653143">
                <a:tc>
                  <a:txBody>
                    <a:bodyPr/>
                    <a:lstStyle/>
                    <a:p>
                      <a:r>
                        <a:rPr sz="1575" b="1">
                          <a:solidFill>
                            <a:srgbClr val="FFFFFF"/>
                          </a:solidFill>
                          <a:latin typeface="Arial"/>
                          <a:ea typeface="Arial"/>
                          <a:cs typeface="Arial"/>
                        </a:rPr>
                        <a:t>Test</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Observed / planned</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Interpretation</a:t>
                      </a:r>
                    </a:p>
                  </a:txBody>
                  <a:tcPr marL="95250" marR="95250" marT="85725" marB="85725" anchor="ctr">
                    <a:solidFill>
                      <a:srgbClr val="142A45"/>
                    </a:solidFill>
                  </a:tcPr>
                </a:tc>
              </a:tr>
              <a:tr h="653143">
                <a:tc>
                  <a:txBody>
                    <a:bodyPr/>
                    <a:lstStyle/>
                    <a:p>
                      <a:r>
                        <a:rPr sz="1575" b="0">
                          <a:solidFill>
                            <a:srgbClr val="142A45"/>
                          </a:solidFill>
                          <a:latin typeface="Arial"/>
                          <a:ea typeface="Arial"/>
                          <a:cs typeface="Arial"/>
                        </a:rPr>
                        <a:t>P1: giant transfer</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100% ratio; 2.8 fitting rows/dim</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Inconclusive, reference degeneracy.</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P2: giant raw ρ</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.339 versus large .418</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Tested monotonic threshold failed.</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P3: Qwen-4B raw ρ</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.307 versus bge .320</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Tested threshold failed; model-family confounds remain.</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P3b / P4</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.6B ρ .352; geometry and transfer diverge</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Architecture control; do not infer transfer from ρ.</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Next: more paired rows</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35,133 total / 4,000 eval proposed</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31,133 fit rows; ~10.1 per giant input dimension.</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Next: new studies</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Experts vs generalist, domains, device power</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Prospective tasks; no claimed outcomes yet.</a:t>
                      </a:r>
                    </a:p>
                  </a:txBody>
                  <a:tcPr marL="95250" marR="95250" marT="85725" marB="85725" anchor="ctr">
                    <a:solidFill>
                      <a:srgbClr val="FFFFFF"/>
                    </a:solidFill>
                  </a:tcPr>
                </a:tc>
              </a:tr>
            </a:tbl>
          </a:graphicData>
        </a:graphic>
      </p:graphicFrame>
    </p:spTree>
    <p:extLst>
      <p:ext uri="{BB962C8B-B14F-4D97-AF65-F5344CB8AC3E}">
        <p14:creationId xmlns:p14="http://schemas.microsoft.com/office/powerpoint/2010/main" val="189385595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6F158D-35C6-4B02-AC6D-E4048F22FBEB}"/>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Appendix: the map W and linear controls</a:t>
            </a:r>
          </a:p>
        </p:txBody>
      </p:sp>
      <p:sp>
        <p:nvSpPr>
          <p:cNvPr id="2" name="">
            <a:extLst xmlns:a="http://schemas.openxmlformats.org/drawingml/2006/main">
              <a:ext uri="{FF2B5EF4-FFF2-40B4-BE49-F238E27FC236}">
                <a16:creationId xmlns:a16="http://schemas.microsoft.com/office/drawing/2014/main" id="{A7F03369-2DE0-4366-85DB-C16E93CC7715}"/>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§§3–4, C.13; Linear Maps Ridge and SVD Study Guide</a:t>
            </a:r>
          </a:p>
        </p:txBody>
      </p:sp>
      <p:sp>
        <p:nvSpPr>
          <p:cNvPr id="3" name="">
            <a:extLst xmlns:a="http://schemas.openxmlformats.org/drawingml/2006/main">
              <a:ext uri="{FF2B5EF4-FFF2-40B4-BE49-F238E27FC236}">
                <a16:creationId xmlns:a16="http://schemas.microsoft.com/office/drawing/2014/main" id="{ED4F7129-40D1-44B9-99F8-893EAEA6BC25}"/>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32</a:t>
            </a:r>
          </a:p>
        </p:txBody>
      </p:sp>
      <p:sp>
        <p:nvSpPr>
          <p:cNvPr id="4" name="">
            <a:extLst xmlns:a="http://schemas.openxmlformats.org/drawingml/2006/main">
              <a:ext uri="{FF2B5EF4-FFF2-40B4-BE49-F238E27FC236}">
                <a16:creationId xmlns:a16="http://schemas.microsoft.com/office/drawing/2014/main" id="{D50F80CE-7D23-429C-A57F-A3E3E7C8396B}"/>
              </a:ext>
            </a:extLst>
          </p:cNvPr>
          <p:cNvSpPr>
            <a:spLocks xmlns:a="http://schemas.openxmlformats.org/drawingml/2006/main" noGrp="1"/>
          </p:cNvSpPr>
          <p:nvPr/>
        </p:nvSpPr>
        <p:spPr>
          <a:xfrm xmlns:a="http://schemas.openxmlformats.org/drawingml/2006/main">
            <a:off x="571500" y="1476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A45"/>
                </a:solidFill>
                <a:latin typeface="Arial"/>
                <a:ea typeface="Arial"/>
                <a:cs typeface="Arial"/>
              </a:defRPr>
            </a:pPr>
            <a:r>
              <a:rPr sz="2025" b="0">
                <a:solidFill>
                  <a:srgbClr val="142A45"/>
                </a:solidFill>
                <a:latin typeface="Arial"/>
                <a:ea typeface="Arial"/>
                <a:cs typeface="Arial"/>
              </a:rPr>
              <a:t>W is the learned translation matrix. Prediction: x [1 × d] · W [d × p] = ŷ [1 × p].</a:t>
            </a:r>
          </a:p>
        </p:txBody>
      </p:sp>
      <p:sp>
        <p:nvSpPr>
          <p:cNvPr id="5" name="">
            <a:extLst xmlns:a="http://schemas.openxmlformats.org/drawingml/2006/main">
              <a:ext uri="{FF2B5EF4-FFF2-40B4-BE49-F238E27FC236}">
                <a16:creationId xmlns:a16="http://schemas.microsoft.com/office/drawing/2014/main" id="{70A026C1-4FB0-4FAF-AFCE-C5EFF2933E18}"/>
              </a:ext>
            </a:extLst>
          </p:cNvPr>
          <p:cNvSpPr>
            <a:spLocks xmlns:a="http://schemas.openxmlformats.org/drawingml/2006/main" noGrp="1"/>
          </p:cNvSpPr>
          <p:nvPr/>
        </p:nvSpPr>
        <p:spPr>
          <a:xfrm xmlns:a="http://schemas.openxmlformats.org/drawingml/2006/main">
            <a:off x="571500" y="238125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A45"/>
                </a:solidFill>
                <a:latin typeface="Arial"/>
                <a:ea typeface="Arial"/>
                <a:cs typeface="Arial"/>
              </a:defRPr>
            </a:pPr>
            <a:r>
              <a:rPr sz="2025" b="0">
                <a:solidFill>
                  <a:srgbClr val="142A45"/>
                </a:solidFill>
                <a:latin typeface="Arial"/>
                <a:ea typeface="Arial"/>
                <a:cs typeface="Arial"/>
              </a:rPr>
              <a:t>Ridge fit: W = (XᵀX + αI)⁻¹XᵀY. α controls the penalty on large coefficients.</a:t>
            </a:r>
          </a:p>
        </p:txBody>
      </p:sp>
      <p:sp>
        <p:nvSpPr>
          <p:cNvPr id="6" name="">
            <a:extLst xmlns:a="http://schemas.openxmlformats.org/drawingml/2006/main">
              <a:ext uri="{FF2B5EF4-FFF2-40B4-BE49-F238E27FC236}">
                <a16:creationId xmlns:a16="http://schemas.microsoft.com/office/drawing/2014/main" id="{B1511864-1740-436F-95A2-F2E11A0B2F06}"/>
              </a:ext>
            </a:extLst>
          </p:cNvPr>
          <p:cNvSpPr>
            <a:spLocks xmlns:a="http://schemas.openxmlformats.org/drawingml/2006/main" noGrp="1"/>
          </p:cNvSpPr>
          <p:nvPr/>
        </p:nvSpPr>
        <p:spPr>
          <a:xfrm xmlns:a="http://schemas.openxmlformats.org/drawingml/2006/main">
            <a:off x="571500" y="328612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A45"/>
                </a:solidFill>
                <a:latin typeface="Arial"/>
                <a:ea typeface="Arial"/>
                <a:cs typeface="Arial"/>
              </a:defRPr>
            </a:pPr>
            <a:r>
              <a:rPr sz="2025" b="0">
                <a:solidFill>
                  <a:srgbClr val="142A45"/>
                </a:solidFill>
                <a:latin typeface="Arial"/>
                <a:ea typeface="Arial"/>
                <a:cs typeface="Arial"/>
              </a:rPr>
              <a:t>SVD: W = UΣVᵀ. Orthogonal transforms and directional scaling describe the map.</a:t>
            </a:r>
          </a:p>
        </p:txBody>
      </p:sp>
      <p:graphicFrame>
        <p:nvGraphicFramePr>
          <p:cNvPr id="14" name=""/>
          <p:cNvGraphicFramePr/>
          <p:nvPr/>
        </p:nvGraphicFramePr>
        <p:xfrm>
          <a:off xmlns:a="http://schemas.openxmlformats.org/drawingml/2006/main" x="571500" y="4381500"/>
          <a:ext xmlns:a="http://schemas.openxmlformats.org/drawingml/2006/main" cx="11049000" cy="1666875"/>
        </p:xfrm>
        <a:graphic xmlns:a="http://schemas.openxmlformats.org/drawingml/2006/main">
          <a:graphicData uri="http://schemas.openxmlformats.org/drawingml/2006/table">
            <a:tbl>
              <a:tblPr/>
              <a:tblGrid>
                <a:gridCol w="4667250"/>
                <a:gridCol w="3524250"/>
                <a:gridCol w="2857500"/>
              </a:tblGrid>
              <a:tr h="555625">
                <a:tc>
                  <a:txBody>
                    <a:bodyPr/>
                    <a:lstStyle/>
                    <a:p>
                      <a:r>
                        <a:rPr sz="1725" b="1">
                          <a:solidFill>
                            <a:srgbClr val="FFFFFF"/>
                          </a:solidFill>
                          <a:latin typeface="Arial"/>
                          <a:ea typeface="Arial"/>
                          <a:cs typeface="Arial"/>
                        </a:rPr>
                        <a:t>Experiment B control</a:t>
                      </a:r>
                    </a:p>
                  </a:txBody>
                  <a:tcPr marL="95250" marR="95250" marT="85725" marB="85725" anchor="ctr">
                    <a:solidFill>
                      <a:srgbClr val="142A45"/>
                    </a:solidFill>
                  </a:tcPr>
                </a:tc>
                <a:tc>
                  <a:txBody>
                    <a:bodyPr/>
                    <a:lstStyle/>
                    <a:p>
                      <a:r>
                        <a:rPr sz="1725" b="1">
                          <a:solidFill>
                            <a:srgbClr val="FFFFFF"/>
                          </a:solidFill>
                          <a:latin typeface="Arial"/>
                          <a:ea typeface="Arial"/>
                          <a:cs typeface="Arial"/>
                        </a:rPr>
                        <a:t>R²: target variance explained</a:t>
                      </a:r>
                    </a:p>
                  </a:txBody>
                  <a:tcPr marL="95250" marR="95250" marT="85725" marB="85725" anchor="ctr">
                    <a:solidFill>
                      <a:srgbClr val="142A45"/>
                    </a:solidFill>
                  </a:tcPr>
                </a:tc>
                <a:tc>
                  <a:txBody>
                    <a:bodyPr/>
                    <a:lstStyle/>
                    <a:p>
                      <a:r>
                        <a:rPr sz="1725" b="1">
                          <a:solidFill>
                            <a:srgbClr val="FFFFFF"/>
                          </a:solidFill>
                          <a:latin typeface="Arial"/>
                          <a:ea typeface="Arial"/>
                          <a:cs typeface="Arial"/>
                        </a:rPr>
                        <a:t>Cosine: direction agreement</a:t>
                      </a:r>
                    </a:p>
                  </a:txBody>
                  <a:tcPr marL="95250" marR="95250" marT="85725" marB="85725" anchor="ctr">
                    <a:solidFill>
                      <a:srgbClr val="142A45"/>
                    </a:solidFill>
                  </a:tcPr>
                </a:tc>
              </a:tr>
              <a:tr h="555625">
                <a:tc>
                  <a:txBody>
                    <a:bodyPr/>
                    <a:lstStyle/>
                    <a:p>
                      <a:r>
                        <a:rPr sz="1725" b="0">
                          <a:solidFill>
                            <a:srgbClr val="142A45"/>
                          </a:solidFill>
                          <a:latin typeface="Arial"/>
                          <a:ea typeface="Arial"/>
                          <a:cs typeface="Arial"/>
                        </a:rPr>
                        <a:t>Ridge, full linear map</a:t>
                      </a:r>
                    </a:p>
                  </a:txBody>
                  <a:tcPr marL="95250" marR="95250" marT="85725" marB="85725" anchor="ctr">
                    <a:solidFill>
                      <a:srgbClr val="F1F5F8"/>
                    </a:solidFill>
                  </a:tcPr>
                </a:tc>
                <a:tc>
                  <a:txBody>
                    <a:bodyPr/>
                    <a:lstStyle/>
                    <a:p>
                      <a:r>
                        <a:rPr sz="1725" b="0">
                          <a:solidFill>
                            <a:srgbClr val="142A45"/>
                          </a:solidFill>
                          <a:latin typeface="Arial"/>
                          <a:ea typeface="Arial"/>
                          <a:cs typeface="Arial"/>
                        </a:rPr>
                        <a:t>0.592</a:t>
                      </a:r>
                    </a:p>
                  </a:txBody>
                  <a:tcPr marL="95250" marR="95250" marT="85725" marB="85725" anchor="ctr">
                    <a:solidFill>
                      <a:srgbClr val="F1F5F8"/>
                    </a:solidFill>
                  </a:tcPr>
                </a:tc>
                <a:tc>
                  <a:txBody>
                    <a:bodyPr/>
                    <a:lstStyle/>
                    <a:p>
                      <a:r>
                        <a:rPr sz="1725" b="0">
                          <a:solidFill>
                            <a:srgbClr val="142A45"/>
                          </a:solidFill>
                          <a:latin typeface="Arial"/>
                          <a:ea typeface="Arial"/>
                          <a:cs typeface="Arial"/>
                        </a:rPr>
                        <a:t>0.900</a:t>
                      </a:r>
                    </a:p>
                  </a:txBody>
                  <a:tcPr marL="95250" marR="95250" marT="85725" marB="85725" anchor="ctr">
                    <a:solidFill>
                      <a:srgbClr val="F1F5F8"/>
                    </a:solidFill>
                  </a:tcPr>
                </a:tc>
              </a:tr>
              <a:tr h="555625">
                <a:tc>
                  <a:txBody>
                    <a:bodyPr/>
                    <a:lstStyle/>
                    <a:p>
                      <a:r>
                        <a:rPr sz="1725" b="0">
                          <a:solidFill>
                            <a:srgbClr val="142A45"/>
                          </a:solidFill>
                          <a:latin typeface="Arial"/>
                          <a:ea typeface="Arial"/>
                          <a:cs typeface="Arial"/>
                        </a:rPr>
                        <a:t>Procrustes, orthogonal alignment</a:t>
                      </a:r>
                    </a:p>
                  </a:txBody>
                  <a:tcPr marL="95250" marR="95250" marT="85725" marB="85725" anchor="ctr">
                    <a:solidFill>
                      <a:srgbClr val="FFFFFF"/>
                    </a:solidFill>
                  </a:tcPr>
                </a:tc>
                <a:tc>
                  <a:txBody>
                    <a:bodyPr/>
                    <a:lstStyle/>
                    <a:p>
                      <a:r>
                        <a:rPr sz="1725" b="0">
                          <a:solidFill>
                            <a:srgbClr val="142A45"/>
                          </a:solidFill>
                          <a:latin typeface="Arial"/>
                          <a:ea typeface="Arial"/>
                          <a:cs typeface="Arial"/>
                        </a:rPr>
                        <a:t>0.038</a:t>
                      </a:r>
                    </a:p>
                  </a:txBody>
                  <a:tcPr marL="95250" marR="95250" marT="85725" marB="85725" anchor="ctr">
                    <a:solidFill>
                      <a:srgbClr val="FFFFFF"/>
                    </a:solidFill>
                  </a:tcPr>
                </a:tc>
                <a:tc>
                  <a:txBody>
                    <a:bodyPr/>
                    <a:lstStyle/>
                    <a:p>
                      <a:r>
                        <a:rPr sz="1725" b="0">
                          <a:solidFill>
                            <a:srgbClr val="142A45"/>
                          </a:solidFill>
                          <a:latin typeface="Arial"/>
                          <a:ea typeface="Arial"/>
                          <a:cs typeface="Arial"/>
                        </a:rPr>
                        <a:t>0.775</a:t>
                      </a:r>
                    </a:p>
                  </a:txBody>
                  <a:tcPr marL="95250" marR="95250" marT="85725" marB="85725" anchor="ctr">
                    <a:solidFill>
                      <a:srgbClr val="FFFFFF"/>
                    </a:solidFill>
                  </a:tcPr>
                </a:tc>
              </a:tr>
            </a:tbl>
          </a:graphicData>
        </a:graphic>
      </p:graphicFrame>
    </p:spTree>
    <p:extLst>
      <p:ext uri="{BB962C8B-B14F-4D97-AF65-F5344CB8AC3E}">
        <p14:creationId xmlns:p14="http://schemas.microsoft.com/office/powerpoint/2010/main" val="147797431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383198-6991-4028-A2DE-970CEAFE4D88}"/>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Appendix: hub equations and training roles</a:t>
            </a:r>
          </a:p>
        </p:txBody>
      </p:sp>
      <p:sp>
        <p:nvSpPr>
          <p:cNvPr id="2" name="">
            <a:extLst xmlns:a="http://schemas.openxmlformats.org/drawingml/2006/main">
              <a:ext uri="{FF2B5EF4-FFF2-40B4-BE49-F238E27FC236}">
                <a16:creationId xmlns:a16="http://schemas.microsoft.com/office/drawing/2014/main" id="{852643F7-EDC8-4F43-AF1C-FF0EF43A5523}"/>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C.13, E.14; Frozen Hub Caption Transfer Corrected</a:t>
            </a:r>
          </a:p>
        </p:txBody>
      </p:sp>
      <p:sp>
        <p:nvSpPr>
          <p:cNvPr id="3" name="">
            <a:extLst xmlns:a="http://schemas.openxmlformats.org/drawingml/2006/main">
              <a:ext uri="{FF2B5EF4-FFF2-40B4-BE49-F238E27FC236}">
                <a16:creationId xmlns:a16="http://schemas.microsoft.com/office/drawing/2014/main" id="{1B01D497-BB0C-4F6B-B1FE-CE6400ACA910}"/>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33</a:t>
            </a:r>
          </a:p>
        </p:txBody>
      </p:sp>
      <p:sp>
        <p:nvSpPr>
          <p:cNvPr id="4" name="">
            <a:extLst xmlns:a="http://schemas.openxmlformats.org/drawingml/2006/main">
              <a:ext uri="{FF2B5EF4-FFF2-40B4-BE49-F238E27FC236}">
                <a16:creationId xmlns:a16="http://schemas.microsoft.com/office/drawing/2014/main" id="{800AEF22-80D9-4AF6-BE5B-73FC2DB7ABF9}"/>
              </a:ext>
            </a:extLst>
          </p:cNvPr>
          <p:cNvSpPr>
            <a:spLocks xmlns:a="http://schemas.openxmlformats.org/drawingml/2006/main" noGrp="1"/>
          </p:cNvSpPr>
          <p:nvPr/>
        </p:nvSpPr>
        <p:spPr>
          <a:xfrm xmlns:a="http://schemas.openxmlformats.org/drawingml/2006/main">
            <a:off x="571500" y="1571625"/>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A45"/>
                </a:solidFill>
                <a:latin typeface="Arial"/>
                <a:ea typeface="Arial"/>
                <a:cs typeface="Arial"/>
              </a:defRPr>
            </a:pPr>
            <a:r>
              <a:rPr sz="2025" b="0">
                <a:solidFill>
                  <a:srgbClr val="142A45"/>
                </a:solidFill>
                <a:latin typeface="Arial"/>
                <a:ea typeface="Arial"/>
                <a:cs typeface="Arial"/>
              </a:rPr>
              <a:t>Hub construction: H = whiten(PCA₅₁₂(concat(X₁/s₁, …, X_K/s_K)))</a:t>
            </a:r>
          </a:p>
        </p:txBody>
      </p:sp>
      <p:sp>
        <p:nvSpPr>
          <p:cNvPr id="5" name="">
            <a:extLst xmlns:a="http://schemas.openxmlformats.org/drawingml/2006/main">
              <a:ext uri="{FF2B5EF4-FFF2-40B4-BE49-F238E27FC236}">
                <a16:creationId xmlns:a16="http://schemas.microsoft.com/office/drawing/2014/main" id="{756E92A1-B60B-48F4-8E40-1010A2E106CE}"/>
              </a:ext>
            </a:extLst>
          </p:cNvPr>
          <p:cNvSpPr>
            <a:spLocks xmlns:a="http://schemas.openxmlformats.org/drawingml/2006/main" noGrp="1"/>
          </p:cNvSpPr>
          <p:nvPr/>
        </p:nvSpPr>
        <p:spPr>
          <a:xfrm xmlns:a="http://schemas.openxmlformats.org/drawingml/2006/main">
            <a:off x="571500" y="2381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A45"/>
                </a:solidFill>
                <a:latin typeface="Arial"/>
                <a:ea typeface="Arial"/>
                <a:cs typeface="Arial"/>
              </a:defRPr>
            </a:pPr>
            <a:r>
              <a:rPr sz="2025" b="0">
                <a:solidFill>
                  <a:srgbClr val="142A45"/>
                </a:solidFill>
                <a:latin typeface="Arial"/>
                <a:ea typeface="Arial"/>
                <a:cs typeface="Arial"/>
              </a:rPr>
              <a:t>Entry fit: W_k = argmin_W ||X_k W − H||²_F + α_k ||W||²_F</a:t>
            </a:r>
          </a:p>
        </p:txBody>
      </p:sp>
      <p:sp>
        <p:nvSpPr>
          <p:cNvPr id="6" name="">
            <a:extLst xmlns:a="http://schemas.openxmlformats.org/drawingml/2006/main">
              <a:ext uri="{FF2B5EF4-FFF2-40B4-BE49-F238E27FC236}">
                <a16:creationId xmlns:a16="http://schemas.microsoft.com/office/drawing/2014/main" id="{D639640D-69C9-4763-A269-C45B89B580C8}"/>
              </a:ext>
            </a:extLst>
          </p:cNvPr>
          <p:cNvSpPr>
            <a:spLocks xmlns:a="http://schemas.openxmlformats.org/drawingml/2006/main" noGrp="1"/>
          </p:cNvSpPr>
          <p:nvPr/>
        </p:nvSpPr>
        <p:spPr>
          <a:xfrm xmlns:a="http://schemas.openxmlformats.org/drawingml/2006/main">
            <a:off x="571500" y="3190875"/>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A45"/>
                </a:solidFill>
                <a:latin typeface="Arial"/>
                <a:ea typeface="Arial"/>
                <a:cs typeface="Arial"/>
              </a:defRPr>
            </a:pPr>
            <a:r>
              <a:rPr sz="2025" b="0">
                <a:solidFill>
                  <a:srgbClr val="142A45"/>
                </a:solidFill>
                <a:latin typeface="Arial"/>
                <a:ea typeface="Arial"/>
                <a:cs typeface="Arial"/>
              </a:rPr>
              <a:t>Head input: H_small = X_small W_small</a:t>
            </a:r>
          </a:p>
        </p:txBody>
      </p:sp>
      <p:sp>
        <p:nvSpPr>
          <p:cNvPr id="7" name="">
            <a:extLst xmlns:a="http://schemas.openxmlformats.org/drawingml/2006/main">
              <a:ext uri="{FF2B5EF4-FFF2-40B4-BE49-F238E27FC236}">
                <a16:creationId xmlns:a16="http://schemas.microsoft.com/office/drawing/2014/main" id="{D23C4ED5-1CFF-4C5D-A55D-396F310881C3}"/>
              </a:ext>
            </a:extLst>
          </p:cNvPr>
          <p:cNvSpPr>
            <a:spLocks xmlns:a="http://schemas.openxmlformats.org/drawingml/2006/main" noGrp="1"/>
          </p:cNvSpPr>
          <p:nvPr/>
        </p:nvSpPr>
        <p:spPr>
          <a:xfrm xmlns:a="http://schemas.openxmlformats.org/drawingml/2006/main">
            <a:off x="571500" y="40005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A45"/>
                </a:solidFill>
                <a:latin typeface="Arial"/>
                <a:ea typeface="Arial"/>
                <a:cs typeface="Arial"/>
              </a:defRPr>
            </a:pPr>
            <a:r>
              <a:rPr sz="2025" b="0">
                <a:solidFill>
                  <a:srgbClr val="142A45"/>
                </a:solidFill>
                <a:latin typeface="Arial"/>
                <a:ea typeface="Arial"/>
                <a:cs typeface="Arial"/>
              </a:rPr>
              <a:t>Head fit: W_head = argmin_W ||H_small W − T_bge||²_F + α_h ||W||²_F</a:t>
            </a:r>
          </a:p>
        </p:txBody>
      </p:sp>
      <p:sp>
        <p:nvSpPr>
          <p:cNvPr id="8" name="">
            <a:extLst xmlns:a="http://schemas.openxmlformats.org/drawingml/2006/main">
              <a:ext uri="{FF2B5EF4-FFF2-40B4-BE49-F238E27FC236}">
                <a16:creationId xmlns:a16="http://schemas.microsoft.com/office/drawing/2014/main" id="{F5377EAE-B673-47D2-A6CC-F83D38B416D7}"/>
              </a:ext>
            </a:extLst>
          </p:cNvPr>
          <p:cNvSpPr>
            <a:spLocks xmlns:a="http://schemas.openxmlformats.org/drawingml/2006/main" noGrp="1"/>
          </p:cNvSpPr>
          <p:nvPr/>
        </p:nvSpPr>
        <p:spPr>
          <a:xfrm xmlns:a="http://schemas.openxmlformats.org/drawingml/2006/main">
            <a:off x="571500" y="4810125"/>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A45"/>
                </a:solidFill>
                <a:latin typeface="Arial"/>
                <a:ea typeface="Arial"/>
                <a:cs typeface="Arial"/>
              </a:defRPr>
            </a:pPr>
            <a:r>
              <a:rPr sz="2025" b="0">
                <a:solidFill>
                  <a:srgbClr val="142A45"/>
                </a:solidFill>
                <a:latin typeface="Arial"/>
                <a:ea typeface="Arial"/>
                <a:cs typeface="Arial"/>
              </a:rPr>
              <a:t>Query: t̂ = x_k W_k W_head; rank actual bge captions by cosine.</a:t>
            </a:r>
          </a:p>
        </p:txBody>
      </p:sp>
    </p:spTree>
    <p:extLst>
      <p:ext uri="{BB962C8B-B14F-4D97-AF65-F5344CB8AC3E}">
        <p14:creationId xmlns:p14="http://schemas.microsoft.com/office/powerpoint/2010/main" val="108592404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498DB90-0E93-4A4D-AE63-AF8F008DABCB}"/>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Appendix: source disagreements resolved</a:t>
            </a:r>
          </a:p>
        </p:txBody>
      </p:sp>
      <p:sp>
        <p:nvSpPr>
          <p:cNvPr id="2" name="">
            <a:extLst xmlns:a="http://schemas.openxmlformats.org/drawingml/2006/main">
              <a:ext uri="{FF2B5EF4-FFF2-40B4-BE49-F238E27FC236}">
                <a16:creationId xmlns:a16="http://schemas.microsoft.com/office/drawing/2014/main" id="{2A1AF0F5-7D83-4086-B392-9D9A9E7CD4C1}"/>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Report E.14–E.17; Results Summary; Status Report; official SBERT card</a:t>
            </a:r>
          </a:p>
        </p:txBody>
      </p:sp>
      <p:sp>
        <p:nvSpPr>
          <p:cNvPr id="3" name="">
            <a:extLst xmlns:a="http://schemas.openxmlformats.org/drawingml/2006/main">
              <a:ext uri="{FF2B5EF4-FFF2-40B4-BE49-F238E27FC236}">
                <a16:creationId xmlns:a16="http://schemas.microsoft.com/office/drawing/2014/main" id="{5BC872E2-5E16-4944-812B-4F07B1269450}"/>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34</a:t>
            </a:r>
          </a:p>
        </p:txBody>
      </p:sp>
      <p:graphicFrame>
        <p:nvGraphicFramePr>
          <p:cNvPr id="8" name=""/>
          <p:cNvGraphicFramePr/>
          <p:nvPr/>
        </p:nvGraphicFramePr>
        <p:xfrm>
          <a:off xmlns:a="http://schemas.openxmlformats.org/drawingml/2006/main" x="571500" y="1381125"/>
          <a:ext xmlns:a="http://schemas.openxmlformats.org/drawingml/2006/main" cx="11049000" cy="4572000"/>
        </p:xfrm>
        <a:graphic xmlns:a="http://schemas.openxmlformats.org/drawingml/2006/main">
          <a:graphicData uri="http://schemas.openxmlformats.org/drawingml/2006/table">
            <a:tbl>
              <a:tblPr/>
              <a:tblGrid>
                <a:gridCol w="4762500"/>
                <a:gridCol w="6286500"/>
              </a:tblGrid>
              <a:tr h="653143">
                <a:tc>
                  <a:txBody>
                    <a:bodyPr/>
                    <a:lstStyle/>
                    <a:p>
                      <a:r>
                        <a:rPr sz="1575" b="1">
                          <a:solidFill>
                            <a:srgbClr val="FFFFFF"/>
                          </a:solidFill>
                          <a:latin typeface="Arial"/>
                          <a:ea typeface="Arial"/>
                          <a:cs typeface="Arial"/>
                        </a:rPr>
                        <a:t>Source wording / ambiguity</a:t>
                      </a:r>
                    </a:p>
                  </a:txBody>
                  <a:tcPr marL="95250" marR="95250" marT="85725" marB="85725" anchor="ctr">
                    <a:solidFill>
                      <a:srgbClr val="142A45"/>
                    </a:solidFill>
                  </a:tcPr>
                </a:tc>
                <a:tc>
                  <a:txBody>
                    <a:bodyPr/>
                    <a:lstStyle/>
                    <a:p>
                      <a:r>
                        <a:rPr sz="1575" b="1">
                          <a:solidFill>
                            <a:srgbClr val="FFFFFF"/>
                          </a:solidFill>
                          <a:latin typeface="Arial"/>
                          <a:ea typeface="Arial"/>
                          <a:cs typeface="Arial"/>
                        </a:rPr>
                        <a:t>Treatment in this presentation</a:t>
                      </a:r>
                    </a:p>
                  </a:txBody>
                  <a:tcPr marL="95250" marR="95250" marT="85725" marB="85725" anchor="ctr">
                    <a:solidFill>
                      <a:srgbClr val="142A45"/>
                    </a:solidFill>
                  </a:tcPr>
                </a:tc>
              </a:tr>
              <a:tr h="653143">
                <a:tc>
                  <a:txBody>
                    <a:bodyPr/>
                    <a:lstStyle/>
                    <a:p>
                      <a:r>
                        <a:rPr sz="1575" b="0">
                          <a:solidFill>
                            <a:srgbClr val="142A45"/>
                          </a:solidFill>
                          <a:latin typeface="Arial"/>
                          <a:ea typeface="Arial"/>
                          <a:cs typeface="Arial"/>
                        </a:rPr>
                        <a:t>4, 5 or 7 members</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Separate configurations: 5376, 6144 and 7680 concat dimensions.</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Column z-score versus space scaling</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Later E.14 audit specifies one scalar per space.</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Small denominator is “conservative”</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Unsupported: fixed-numerator ratios increase as denominator shrinks.</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MLP equality proves exact linearity</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Finite controls support linear sufficiency under tested conditions.</a:t>
                      </a:r>
                    </a:p>
                  </a:txBody>
                  <a:tcPr marL="95250" marR="95250" marT="85725" marB="85725" anchor="ctr">
                    <a:solidFill>
                      <a:srgbClr val="FFFFFF"/>
                    </a:solidFill>
                  </a:tcPr>
                </a:tc>
              </a:tr>
              <a:tr h="653143">
                <a:tc>
                  <a:txBody>
                    <a:bodyPr/>
                    <a:lstStyle/>
                    <a:p>
                      <a:r>
                        <a:rPr sz="1575" b="0">
                          <a:solidFill>
                            <a:srgbClr val="142A45"/>
                          </a:solidFill>
                          <a:latin typeface="Arial"/>
                          <a:ea typeface="Arial"/>
                          <a:cs typeface="Arial"/>
                        </a:rPr>
                        <a:t>Status lists completed tests as TODO</a:t>
                      </a:r>
                    </a:p>
                  </a:txBody>
                  <a:tcPr marL="95250" marR="95250" marT="85725" marB="85725" anchor="ctr">
                    <a:solidFill>
                      <a:srgbClr val="F1F5F8"/>
                    </a:solidFill>
                  </a:tcPr>
                </a:tc>
                <a:tc>
                  <a:txBody>
                    <a:bodyPr/>
                    <a:lstStyle/>
                    <a:p>
                      <a:r>
                        <a:rPr sz="1575" b="0">
                          <a:solidFill>
                            <a:srgbClr val="142A45"/>
                          </a:solidFill>
                          <a:latin typeface="Arial"/>
                          <a:ea typeface="Arial"/>
                          <a:cs typeface="Arial"/>
                        </a:rPr>
                        <a:t>Use later report addenda for completion status.</a:t>
                      </a:r>
                    </a:p>
                  </a:txBody>
                  <a:tcPr marL="95250" marR="95250" marT="85725" marB="85725" anchor="ctr">
                    <a:solidFill>
                      <a:srgbClr val="F1F5F8"/>
                    </a:solidFill>
                  </a:tcPr>
                </a:tc>
              </a:tr>
              <a:tr h="653143">
                <a:tc>
                  <a:txBody>
                    <a:bodyPr/>
                    <a:lstStyle/>
                    <a:p>
                      <a:r>
                        <a:rPr sz="1575" b="0">
                          <a:solidFill>
                            <a:srgbClr val="142A45"/>
                          </a:solidFill>
                          <a:latin typeface="Arial"/>
                          <a:ea typeface="Arial"/>
                          <a:cs typeface="Arial"/>
                        </a:rPr>
                        <a:t>SBERT as NLI-only BERT</a:t>
                      </a:r>
                    </a:p>
                  </a:txBody>
                  <a:tcPr marL="95250" marR="95250" marT="85725" marB="85725" anchor="ctr">
                    <a:solidFill>
                      <a:srgbClr val="FFFFFF"/>
                    </a:solidFill>
                  </a:tcPr>
                </a:tc>
                <a:tc>
                  <a:txBody>
                    <a:bodyPr/>
                    <a:lstStyle/>
                    <a:p>
                      <a:r>
                        <a:rPr sz="1575" b="0">
                          <a:solidFill>
                            <a:srgbClr val="142A45"/>
                          </a:solidFill>
                          <a:latin typeface="Arial"/>
                          <a:ea typeface="Arial"/>
                          <a:cs typeface="Arial"/>
                        </a:rPr>
                        <a:t>Use all-mpnet-base-v2 provenance from its official card.</a:t>
                      </a:r>
                    </a:p>
                  </a:txBody>
                  <a:tcPr marL="95250" marR="95250" marT="85725" marB="85725" anchor="ctr">
                    <a:solidFill>
                      <a:srgbClr val="FFFFFF"/>
                    </a:solidFill>
                  </a:tcPr>
                </a:tc>
              </a:tr>
            </a:tbl>
          </a:graphicData>
        </a:graphic>
      </p:graphicFrame>
    </p:spTree>
    <p:extLst>
      <p:ext uri="{BB962C8B-B14F-4D97-AF65-F5344CB8AC3E}">
        <p14:creationId xmlns:p14="http://schemas.microsoft.com/office/powerpoint/2010/main" val="22851255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D45F2B-9615-4C12-A887-20C16AC4D9ED}"/>
              </a:ext>
            </a:extLst>
          </p:cNvPr>
          <p:cNvSpPr>
            <a:spLocks xmlns:a="http://schemas.openxmlformats.org/drawingml/2006/main" noGrp="1"/>
          </p:cNvSpPr>
          <p:nvPr/>
        </p:nvSpPr>
        <p:spPr>
          <a:xfrm xmlns:a="http://schemas.openxmlformats.org/drawingml/2006/main">
            <a:off x="571500" y="381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A45"/>
                </a:solidFill>
                <a:latin typeface="Arial"/>
                <a:ea typeface="Arial"/>
                <a:cs typeface="Arial"/>
              </a:defRPr>
            </a:pPr>
            <a:r>
              <a:rPr sz="3000" b="1">
                <a:solidFill>
                  <a:srgbClr val="142A45"/>
                </a:solidFill>
                <a:latin typeface="Arial"/>
                <a:ea typeface="Arial"/>
                <a:cs typeface="Arial"/>
              </a:rPr>
              <a:t>Appendix: research and implementation resources</a:t>
            </a:r>
          </a:p>
        </p:txBody>
      </p:sp>
      <p:sp>
        <p:nvSpPr>
          <p:cNvPr id="2" name="">
            <a:extLst xmlns:a="http://schemas.openxmlformats.org/drawingml/2006/main">
              <a:ext uri="{FF2B5EF4-FFF2-40B4-BE49-F238E27FC236}">
                <a16:creationId xmlns:a16="http://schemas.microsoft.com/office/drawing/2014/main" id="{36C71507-257B-400C-85E5-D6C67BF8D569}"/>
              </a:ext>
            </a:extLst>
          </p:cNvPr>
          <p:cNvSpPr>
            <a:spLocks xmlns:a="http://schemas.openxmlformats.org/drawingml/2006/main" noGrp="1"/>
          </p:cNvSpPr>
          <p:nvPr/>
        </p:nvSpPr>
        <p:spPr>
          <a:xfrm xmlns:a="http://schemas.openxmlformats.org/drawingml/2006/main">
            <a:off x="571500" y="64198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Primary papers, official repositories and supplied project artifacts</a:t>
            </a:r>
          </a:p>
        </p:txBody>
      </p:sp>
      <p:sp>
        <p:nvSpPr>
          <p:cNvPr id="3" name="">
            <a:extLst xmlns:a="http://schemas.openxmlformats.org/drawingml/2006/main">
              <a:ext uri="{FF2B5EF4-FFF2-40B4-BE49-F238E27FC236}">
                <a16:creationId xmlns:a16="http://schemas.microsoft.com/office/drawing/2014/main" id="{B9A97CD2-803A-4CBB-9FDB-15663F677805}"/>
              </a:ext>
            </a:extLst>
          </p:cNvPr>
          <p:cNvSpPr>
            <a:spLocks xmlns:a="http://schemas.openxmlformats.org/drawingml/2006/main" noGrp="1"/>
          </p:cNvSpPr>
          <p:nvPr/>
        </p:nvSpPr>
        <p:spPr>
          <a:xfrm xmlns:a="http://schemas.openxmlformats.org/drawingml/2006/main">
            <a:off x="11334750" y="64198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35</a:t>
            </a:r>
          </a:p>
        </p:txBody>
      </p:sp>
      <p:graphicFrame>
        <p:nvGraphicFramePr>
          <p:cNvPr id="9" name=""/>
          <p:cNvGraphicFramePr/>
          <p:nvPr/>
        </p:nvGraphicFramePr>
        <p:xfrm>
          <a:off xmlns:a="http://schemas.openxmlformats.org/drawingml/2006/main" x="571500" y="1381125"/>
          <a:ext xmlns:a="http://schemas.openxmlformats.org/drawingml/2006/main" cx="11049000" cy="4476750"/>
        </p:xfrm>
        <a:graphic xmlns:a="http://schemas.openxmlformats.org/drawingml/2006/main">
          <a:graphicData uri="http://schemas.openxmlformats.org/drawingml/2006/table">
            <a:tbl>
              <a:tblPr/>
              <a:tblGrid>
                <a:gridCol w="5810250"/>
                <a:gridCol w="5238750"/>
              </a:tblGrid>
              <a:tr h="639536">
                <a:tc>
                  <a:txBody>
                    <a:bodyPr/>
                    <a:lstStyle/>
                    <a:p>
                      <a:r>
                        <a:rPr sz="1650" b="1">
                          <a:solidFill>
                            <a:srgbClr val="FFFFFF"/>
                          </a:solidFill>
                          <a:latin typeface="Arial"/>
                          <a:ea typeface="Arial"/>
                          <a:cs typeface="Arial"/>
                        </a:rPr>
                        <a:t>Resource</a:t>
                      </a:r>
                    </a:p>
                  </a:txBody>
                  <a:tcPr marL="95250" marR="95250" marT="85725" marB="85725" anchor="ctr">
                    <a:solidFill>
                      <a:srgbClr val="142A45"/>
                    </a:solidFill>
                  </a:tcPr>
                </a:tc>
                <a:tc>
                  <a:txBody>
                    <a:bodyPr/>
                    <a:lstStyle/>
                    <a:p>
                      <a:r>
                        <a:rPr sz="1650" b="1">
                          <a:solidFill>
                            <a:srgbClr val="FFFFFF"/>
                          </a:solidFill>
                          <a:latin typeface="Arial"/>
                          <a:ea typeface="Arial"/>
                          <a:cs typeface="Arial"/>
                        </a:rPr>
                        <a:t>Use</a:t>
                      </a:r>
                    </a:p>
                  </a:txBody>
                  <a:tcPr marL="95250" marR="95250" marT="85725" marB="85725" anchor="ctr">
                    <a:solidFill>
                      <a:srgbClr val="142A45"/>
                    </a:solidFill>
                  </a:tcPr>
                </a:tc>
              </a:tr>
              <a:tr h="639536">
                <a:tc>
                  <a:txBody>
                    <a:bodyPr/>
                    <a:lstStyle/>
                    <a:p>
                      <a:r>
                        <a:rPr sz="1650" b="0">
                          <a:solidFill>
                            <a:srgbClr val="142A45"/>
                          </a:solidFill>
                          <a:latin typeface="Arial"/>
                          <a:ea typeface="Arial"/>
                          <a:cs typeface="Arial"/>
                        </a:rPr>
                        <a:t>Huh et al. (2024), PRH; Kornblith et al. (2019), CKA</a:t>
                      </a:r>
                    </a:p>
                  </a:txBody>
                  <a:tcPr marL="95250" marR="95250" marT="85725" marB="85725" anchor="ctr">
                    <a:solidFill>
                      <a:srgbClr val="F1F5F8"/>
                    </a:solidFill>
                  </a:tcPr>
                </a:tc>
                <a:tc>
                  <a:txBody>
                    <a:bodyPr/>
                    <a:lstStyle/>
                    <a:p>
                      <a:r>
                        <a:rPr sz="1650" b="0">
                          <a:solidFill>
                            <a:srgbClr val="142A45"/>
                          </a:solidFill>
                          <a:latin typeface="Arial"/>
                          <a:ea typeface="Arial"/>
                          <a:cs typeface="Arial"/>
                        </a:rPr>
                        <a:t>Scientific motivation and representation metrics</a:t>
                      </a:r>
                    </a:p>
                  </a:txBody>
                  <a:tcPr marL="95250" marR="95250" marT="85725" marB="85725" anchor="ctr">
                    <a:solidFill>
                      <a:srgbClr val="F1F5F8"/>
                    </a:solidFill>
                  </a:tcPr>
                </a:tc>
              </a:tr>
              <a:tr h="639536">
                <a:tc>
                  <a:txBody>
                    <a:bodyPr/>
                    <a:lstStyle/>
                    <a:p>
                      <a:r>
                        <a:rPr sz="1650" b="0">
                          <a:solidFill>
                            <a:srgbClr val="142A45"/>
                          </a:solidFill>
                          <a:latin typeface="Arial"/>
                          <a:ea typeface="Arial"/>
                          <a:cs typeface="Arial"/>
                        </a:rPr>
                        <a:t>COCO; Salesforce WikiText-103</a:t>
                      </a:r>
                    </a:p>
                  </a:txBody>
                  <a:tcPr marL="95250" marR="95250" marT="85725" marB="85725" anchor="ctr">
                    <a:solidFill>
                      <a:srgbClr val="FFFFFF"/>
                    </a:solidFill>
                  </a:tcPr>
                </a:tc>
                <a:tc>
                  <a:txBody>
                    <a:bodyPr/>
                    <a:lstStyle/>
                    <a:p>
                      <a:r>
                        <a:rPr sz="1650" b="0">
                          <a:solidFill>
                            <a:srgbClr val="142A45"/>
                          </a:solidFill>
                          <a:latin typeface="Arial"/>
                          <a:ea typeface="Arial"/>
                          <a:cs typeface="Arial"/>
                        </a:rPr>
                        <a:t>Image-caption pairs and passage data</a:t>
                      </a:r>
                    </a:p>
                  </a:txBody>
                  <a:tcPr marL="95250" marR="95250" marT="85725" marB="85725" anchor="ctr">
                    <a:solidFill>
                      <a:srgbClr val="FFFFFF"/>
                    </a:solidFill>
                  </a:tcPr>
                </a:tc>
              </a:tr>
              <a:tr h="639536">
                <a:tc>
                  <a:txBody>
                    <a:bodyPr/>
                    <a:lstStyle/>
                    <a:p>
                      <a:r>
                        <a:rPr sz="1650" b="0">
                          <a:solidFill>
                            <a:srgbClr val="142A45"/>
                          </a:solidFill>
                          <a:latin typeface="Arial"/>
                          <a:ea typeface="Arial"/>
                          <a:cs typeface="Arial"/>
                        </a:rPr>
                        <a:t>Apple MobileCLIP; Google SigLIP 2; Meta DINOv2</a:t>
                      </a:r>
                    </a:p>
                  </a:txBody>
                  <a:tcPr marL="95250" marR="95250" marT="85725" marB="85725" anchor="ctr">
                    <a:solidFill>
                      <a:srgbClr val="F1F5F8"/>
                    </a:solidFill>
                  </a:tcPr>
                </a:tc>
                <a:tc>
                  <a:txBody>
                    <a:bodyPr/>
                    <a:lstStyle/>
                    <a:p>
                      <a:r>
                        <a:rPr sz="1650" b="0">
                          <a:solidFill>
                            <a:srgbClr val="142A45"/>
                          </a:solidFill>
                          <a:latin typeface="Arial"/>
                          <a:ea typeface="Arial"/>
                          <a:cs typeface="Arial"/>
                        </a:rPr>
                        <a:t>Official vision model code and provenance</a:t>
                      </a:r>
                    </a:p>
                  </a:txBody>
                  <a:tcPr marL="95250" marR="95250" marT="85725" marB="85725" anchor="ctr">
                    <a:solidFill>
                      <a:srgbClr val="F1F5F8"/>
                    </a:solidFill>
                  </a:tcPr>
                </a:tc>
              </a:tr>
              <a:tr h="639536">
                <a:tc>
                  <a:txBody>
                    <a:bodyPr/>
                    <a:lstStyle/>
                    <a:p>
                      <a:r>
                        <a:rPr sz="1650" b="0">
                          <a:solidFill>
                            <a:srgbClr val="142A45"/>
                          </a:solidFill>
                          <a:latin typeface="Arial"/>
                          <a:ea typeface="Arial"/>
                          <a:cs typeface="Arial"/>
                        </a:rPr>
                        <a:t>EleutherAI Pythia; BAAI bge-m3; Sentence Transformers</a:t>
                      </a:r>
                    </a:p>
                  </a:txBody>
                  <a:tcPr marL="95250" marR="95250" marT="85725" marB="85725" anchor="ctr">
                    <a:solidFill>
                      <a:srgbClr val="FFFFFF"/>
                    </a:solidFill>
                  </a:tcPr>
                </a:tc>
                <a:tc>
                  <a:txBody>
                    <a:bodyPr/>
                    <a:lstStyle/>
                    <a:p>
                      <a:r>
                        <a:rPr sz="1650" b="0">
                          <a:solidFill>
                            <a:srgbClr val="142A45"/>
                          </a:solidFill>
                          <a:latin typeface="Arial"/>
                          <a:ea typeface="Arial"/>
                          <a:cs typeface="Arial"/>
                        </a:rPr>
                        <a:t>Official language and text model cards</a:t>
                      </a:r>
                    </a:p>
                  </a:txBody>
                  <a:tcPr marL="95250" marR="95250" marT="85725" marB="85725" anchor="ctr">
                    <a:solidFill>
                      <a:srgbClr val="FFFFFF"/>
                    </a:solidFill>
                  </a:tcPr>
                </a:tc>
              </a:tr>
              <a:tr h="639536">
                <a:tc>
                  <a:txBody>
                    <a:bodyPr/>
                    <a:lstStyle/>
                    <a:p>
                      <a:r>
                        <a:rPr sz="1650" b="0">
                          <a:solidFill>
                            <a:srgbClr val="142A45"/>
                          </a:solidFill>
                          <a:latin typeface="Arial"/>
                          <a:ea typeface="Arial"/>
                          <a:cs typeface="Arial"/>
                        </a:rPr>
                        <a:t>Final_Project_Report(7), Results_Summary(3), Project_Atlas(4)</a:t>
                      </a:r>
                    </a:p>
                  </a:txBody>
                  <a:tcPr marL="95250" marR="95250" marT="85725" marB="85725" anchor="ctr">
                    <a:solidFill>
                      <a:srgbClr val="F1F5F8"/>
                    </a:solidFill>
                  </a:tcPr>
                </a:tc>
                <a:tc>
                  <a:txBody>
                    <a:bodyPr/>
                    <a:lstStyle/>
                    <a:p>
                      <a:r>
                        <a:rPr sz="1650" b="0">
                          <a:solidFill>
                            <a:srgbClr val="142A45"/>
                          </a:solidFill>
                          <a:latin typeface="Arial"/>
                          <a:ea typeface="Arial"/>
                          <a:cs typeface="Arial"/>
                        </a:rPr>
                        <a:t>Reported experiments, protocol details and later corrections</a:t>
                      </a:r>
                    </a:p>
                  </a:txBody>
                  <a:tcPr marL="95250" marR="95250" marT="85725" marB="85725" anchor="ctr">
                    <a:solidFill>
                      <a:srgbClr val="F1F5F8"/>
                    </a:solidFill>
                  </a:tcPr>
                </a:tc>
              </a:tr>
              <a:tr h="639536">
                <a:tc>
                  <a:txBody>
                    <a:bodyPr/>
                    <a:lstStyle/>
                    <a:p>
                      <a:r>
                        <a:rPr sz="1650" b="0">
                          <a:solidFill>
                            <a:srgbClr val="142A45"/>
                          </a:solidFill>
                          <a:latin typeface="Arial"/>
                          <a:ea typeface="Arial"/>
                          <a:cs typeface="Arial"/>
                        </a:rPr>
                        <a:t>PyTorch, Transformers, scikit-learn, Core ML, Qdrant</a:t>
                      </a:r>
                    </a:p>
                  </a:txBody>
                  <a:tcPr marL="95250" marR="95250" marT="85725" marB="85725" anchor="ctr">
                    <a:solidFill>
                      <a:srgbClr val="FFFFFF"/>
                    </a:solidFill>
                  </a:tcPr>
                </a:tc>
                <a:tc>
                  <a:txBody>
                    <a:bodyPr/>
                    <a:lstStyle/>
                    <a:p>
                      <a:r>
                        <a:rPr sz="1650" b="0">
                          <a:solidFill>
                            <a:srgbClr val="142A45"/>
                          </a:solidFill>
                          <a:latin typeface="Arial"/>
                          <a:ea typeface="Arial"/>
                          <a:cs typeface="Arial"/>
                        </a:rPr>
                        <a:t>Encoding, linear fitting, device export and shared retrieval</a:t>
                      </a:r>
                    </a:p>
                  </a:txBody>
                  <a:tcPr marL="95250" marR="95250"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0B53C8E-6F35-41B2-A674-BC28BD4465DF}"/>
              </a:ext>
            </a:extLst>
          </p:cNvPr>
          <p:cNvSpPr>
            <a:spLocks xmlns:a="http://schemas.openxmlformats.org/drawingml/2006/main" noGrp="1"/>
          </p:cNvSpPr>
          <p:nvPr/>
        </p:nvSpPr>
        <p:spPr>
          <a:xfrm xmlns:a="http://schemas.openxmlformats.org/drawingml/2006/main">
            <a:off x="571500" y="59531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3"/>
                </a:solidFill>
                <a:latin typeface="Arial"/>
                <a:ea typeface="Arial"/>
                <a:cs typeface="Arial"/>
              </a:defRPr>
            </a:pPr>
            <a:r>
              <a:rPr sz="1725" b="1">
                <a:solidFill>
                  <a:srgbClr val="087F83"/>
                </a:solidFill>
                <a:latin typeface="Arial"/>
                <a:ea typeface="Arial"/>
                <a:cs typeface="Arial"/>
              </a:rPr>
              <a:t>Full links and per-slide sources appear in speaker notes.</a:t>
            </a:r>
          </a:p>
        </p:txBody>
      </p:sp>
    </p:spTree>
    <p:extLst>
      <p:ext uri="{BB962C8B-B14F-4D97-AF65-F5344CB8AC3E}">
        <p14:creationId xmlns:p14="http://schemas.microsoft.com/office/powerpoint/2010/main" val="16916352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2026-09-17T05:59:07.0750000Z</dcterms:created>
  <dcterms:modified xsi:type="dcterms:W3CDTF">2026-09-17T05:59:07.0750000Z</dcterms:modified>
</coreProperties>
</file>