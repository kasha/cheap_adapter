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G1: seven-space shared hub — the tests, the meaning, and the defense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One 512-d coordinate system across 3 image encoders + 4 text encoders; all encoders frozen; linear maps only.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EAF3FF"/>
          </a:solidFill>
          <a:ln w="8890">
            <a:solidFill>
              <a:srgbClr val="B7D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1005840" cy="292608"/>
          </a:xfrm>
          <a:prstGeom prst="roundRect">
            <a:avLst>
              <a:gd name="adj" fmla="val 31250"/>
            </a:avLst>
          </a:prstGeom>
          <a:solidFill>
            <a:srgbClr val="0E4C81"/>
          </a:solidFill>
          <a:ln w="8890">
            <a:solidFill>
              <a:srgbClr val="0E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03604"/>
            <a:ext cx="8595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shape agreement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9718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fitted map. Compare distance-rank structure on 400 held-out items. High Spearman ρ means two spaces preserve similar near/far geometry.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cross-modal mean ρ = 0.291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correspondence is already present in raw geometry.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1430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E6F5F2"/>
          </a:solidFill>
          <a:ln w="8890">
            <a:solidFill>
              <a:srgbClr val="A7D8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371600"/>
            <a:ext cx="1005840" cy="292608"/>
          </a:xfrm>
          <a:prstGeom prst="roundRect">
            <a:avLst>
              <a:gd name="adj" fmla="val 31250"/>
            </a:avLst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403604"/>
            <a:ext cx="8595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shared Hub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331720"/>
            <a:ext cx="29718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aligned spaces are standardized, concatenated to 7,680-d, then compressed with balanced whitened PCA into a 512-d Hub.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8,533 train / 1,000 eval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4251960"/>
            <a:ext cx="2971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encoder gets its own linear entrance map into the same basis.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3880" y="11430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3E4"/>
          </a:solidFill>
          <a:ln w="8890">
            <a:solidFill>
              <a:srgbClr val="F5C1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1371600"/>
            <a:ext cx="1005840" cy="292608"/>
          </a:xfrm>
          <a:prstGeom prst="roundRect">
            <a:avLst>
              <a:gd name="adj" fmla="val 31250"/>
            </a:avLst>
          </a:prstGeom>
          <a:solidFill>
            <a:srgbClr val="C45A00"/>
          </a:solidFill>
          <a:ln w="8890">
            <a:solidFill>
              <a:srgbClr val="C4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1403604"/>
            <a:ext cx="8595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4124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+ transfer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2331720"/>
            <a:ext cx="29718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direct A→B maps with A→Hub→B composition. Use R@1 retention when R² becomes unreliable for collapsed targets.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0" y="3657600"/>
            <a:ext cx="2971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95.6% mean R@1 retention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excluding broken targets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0" y="4434840"/>
            <a:ext cx="2971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GPT-2 is the measured exception: readable out of, not writable into.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Source: uploaded G1 data + status/defense documents; numbers shown are user-supplied test output.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1 — shape agreement before any map is fitted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Similarity here means agreement in distance-rank geometry, not equality of coordinates.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576072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53949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21 pairwise shape tests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399032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txt_bge ↔ txt_sbert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2925166" y="1421892"/>
            <a:ext cx="2620629" cy="162415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82371" y="1394460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.764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566928" y="1625455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img_base ↔ img_small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2925166" y="1648315"/>
            <a:ext cx="1962042" cy="162415"/>
          </a:xfrm>
          <a:prstGeom prst="rect">
            <a:avLst/>
          </a:prstGeom>
          <a:solidFill>
            <a:srgbClr val="0E4C81"/>
          </a:solidFill>
          <a:ln w="1270">
            <a:solidFill>
              <a:srgbClr val="0E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3783" y="1620883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.572</a:t>
            </a:r>
            <a:endParaRPr lang="en-US" sz="670" dirty="0"/>
          </a:p>
        </p:txBody>
      </p:sp>
      <p:sp>
        <p:nvSpPr>
          <p:cNvPr id="12" name="Text 10"/>
          <p:cNvSpPr/>
          <p:nvPr/>
        </p:nvSpPr>
        <p:spPr>
          <a:xfrm>
            <a:off x="566928" y="1851878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img_base ↔ img_large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2925166" y="1874738"/>
            <a:ext cx="1955182" cy="162415"/>
          </a:xfrm>
          <a:prstGeom prst="rect">
            <a:avLst/>
          </a:prstGeom>
          <a:solidFill>
            <a:srgbClr val="0E4C81"/>
          </a:solidFill>
          <a:ln w="1270">
            <a:solidFill>
              <a:srgbClr val="0E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6923" y="1847306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.570</a:t>
            </a:r>
            <a:endParaRPr lang="en-US" sz="670" dirty="0"/>
          </a:p>
        </p:txBody>
      </p:sp>
      <p:sp>
        <p:nvSpPr>
          <p:cNvPr id="15" name="Text 13"/>
          <p:cNvSpPr/>
          <p:nvPr/>
        </p:nvSpPr>
        <p:spPr>
          <a:xfrm>
            <a:off x="566928" y="2078301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img_large ↔ img_small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2925166" y="2101161"/>
            <a:ext cx="1852277" cy="162415"/>
          </a:xfrm>
          <a:prstGeom prst="rect">
            <a:avLst/>
          </a:prstGeom>
          <a:solidFill>
            <a:srgbClr val="0E4C81"/>
          </a:solidFill>
          <a:ln w="1270">
            <a:solidFill>
              <a:srgbClr val="0E4C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4019" y="2073729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.540</a:t>
            </a:r>
            <a:endParaRPr lang="en-US" sz="670" dirty="0"/>
          </a:p>
        </p:txBody>
      </p:sp>
      <p:sp>
        <p:nvSpPr>
          <p:cNvPr id="18" name="Text 16"/>
          <p:cNvSpPr/>
          <p:nvPr/>
        </p:nvSpPr>
        <p:spPr>
          <a:xfrm>
            <a:off x="566928" y="2304723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txt_bert ↔ txt_sbert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2925166" y="2327583"/>
            <a:ext cx="1351476" cy="162415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3218" y="2300151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.394</a:t>
            </a:r>
            <a:endParaRPr lang="en-US" sz="670" dirty="0"/>
          </a:p>
        </p:txBody>
      </p:sp>
      <p:sp>
        <p:nvSpPr>
          <p:cNvPr id="21" name="Text 19"/>
          <p:cNvSpPr/>
          <p:nvPr/>
        </p:nvSpPr>
        <p:spPr>
          <a:xfrm>
            <a:off x="566928" y="2531146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txt_bert ↔ txt_bge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2925166" y="2554006"/>
            <a:ext cx="1327465" cy="162415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89207" y="2526574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.387</a:t>
            </a:r>
            <a:endParaRPr lang="en-US" sz="670" dirty="0"/>
          </a:p>
        </p:txBody>
      </p:sp>
      <p:sp>
        <p:nvSpPr>
          <p:cNvPr id="24" name="Text 22"/>
          <p:cNvSpPr/>
          <p:nvPr/>
        </p:nvSpPr>
        <p:spPr>
          <a:xfrm>
            <a:off x="566928" y="2757569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img_large ↔ txt_bert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2925166" y="2780429"/>
            <a:ext cx="1313745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5486" y="2752997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.383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566928" y="2983992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txt_bert ↔ txt_gpt2</a:t>
            </a:r>
            <a:endParaRPr lang="en-US" sz="710" dirty="0"/>
          </a:p>
        </p:txBody>
      </p:sp>
      <p:sp>
        <p:nvSpPr>
          <p:cNvPr id="28" name="Shape 26"/>
          <p:cNvSpPr/>
          <p:nvPr/>
        </p:nvSpPr>
        <p:spPr>
          <a:xfrm>
            <a:off x="2925166" y="3006852"/>
            <a:ext cx="1286304" cy="162415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48045" y="2979420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.375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566928" y="3210415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img_base ↔ txt_bert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2925166" y="3233275"/>
            <a:ext cx="1238282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0023" y="3205843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.361</a:t>
            </a:r>
            <a:endParaRPr lang="en-US" sz="670" dirty="0"/>
          </a:p>
        </p:txBody>
      </p:sp>
      <p:sp>
        <p:nvSpPr>
          <p:cNvPr id="33" name="Text 31"/>
          <p:cNvSpPr/>
          <p:nvPr/>
        </p:nvSpPr>
        <p:spPr>
          <a:xfrm>
            <a:off x="566928" y="3436838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img_small ↔ txt_bert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2925166" y="3459698"/>
            <a:ext cx="1193690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55431" y="3432266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.348</a:t>
            </a:r>
            <a:endParaRPr lang="en-US" sz="670" dirty="0"/>
          </a:p>
        </p:txBody>
      </p:sp>
      <p:sp>
        <p:nvSpPr>
          <p:cNvPr id="36" name="Text 34"/>
          <p:cNvSpPr/>
          <p:nvPr/>
        </p:nvSpPr>
        <p:spPr>
          <a:xfrm>
            <a:off x="566928" y="3663261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img_large ↔ txt_sbert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2925166" y="3686121"/>
            <a:ext cx="1155958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7700" y="3658689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.337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66928" y="3889683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img_small ↔ txt_sbert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2925166" y="3912543"/>
            <a:ext cx="1138807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00549" y="3885111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.332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566928" y="4116106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img_large ↔ txt_bge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2925166" y="4138966"/>
            <a:ext cx="1070205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31946" y="4111534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.312</a:t>
            </a: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566928" y="4342529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img_base ↔ txt_sbert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2925166" y="4365389"/>
            <a:ext cx="1080495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42237" y="4337957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.315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566928" y="4568952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img_small ↔ txt_bge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2925166" y="4591812"/>
            <a:ext cx="994741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56483" y="4564380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.290</a:t>
            </a:r>
            <a:endParaRPr lang="en-US" sz="670" dirty="0"/>
          </a:p>
        </p:txBody>
      </p:sp>
      <p:sp>
        <p:nvSpPr>
          <p:cNvPr id="51" name="Text 49"/>
          <p:cNvSpPr/>
          <p:nvPr/>
        </p:nvSpPr>
        <p:spPr>
          <a:xfrm>
            <a:off x="566928" y="4795375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img_base ↔ txt_bge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2925166" y="4818235"/>
            <a:ext cx="981021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42762" y="4790803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.286</a:t>
            </a:r>
            <a:endParaRPr lang="en-US" sz="670" dirty="0"/>
          </a:p>
        </p:txBody>
      </p:sp>
      <p:sp>
        <p:nvSpPr>
          <p:cNvPr id="54" name="Text 52"/>
          <p:cNvSpPr/>
          <p:nvPr/>
        </p:nvSpPr>
        <p:spPr>
          <a:xfrm>
            <a:off x="566928" y="5021798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txt_bge ↔ txt_gpt2</a:t>
            </a:r>
            <a:endParaRPr lang="en-US" sz="710" dirty="0"/>
          </a:p>
        </p:txBody>
      </p:sp>
      <p:sp>
        <p:nvSpPr>
          <p:cNvPr id="55" name="Shape 53"/>
          <p:cNvSpPr/>
          <p:nvPr/>
        </p:nvSpPr>
        <p:spPr>
          <a:xfrm>
            <a:off x="2925166" y="5044658"/>
            <a:ext cx="850675" cy="162415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12417" y="5017226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.248</a:t>
            </a: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566928" y="5248221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txt_gpt2 ↔ txt_sbert</a:t>
            </a:r>
            <a:endParaRPr lang="en-US" sz="710" dirty="0"/>
          </a:p>
        </p:txBody>
      </p:sp>
      <p:sp>
        <p:nvSpPr>
          <p:cNvPr id="58" name="Shape 56"/>
          <p:cNvSpPr/>
          <p:nvPr/>
        </p:nvSpPr>
        <p:spPr>
          <a:xfrm>
            <a:off x="2925166" y="5271081"/>
            <a:ext cx="703179" cy="162415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64921" y="5243649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.205</a:t>
            </a:r>
            <a:endParaRPr lang="en-US" sz="670" dirty="0"/>
          </a:p>
        </p:txBody>
      </p:sp>
      <p:sp>
        <p:nvSpPr>
          <p:cNvPr id="60" name="Text 58"/>
          <p:cNvSpPr/>
          <p:nvPr/>
        </p:nvSpPr>
        <p:spPr>
          <a:xfrm>
            <a:off x="566928" y="5474643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img_large ↔ txt_gpt2</a:t>
            </a:r>
            <a:endParaRPr lang="en-US" sz="710" dirty="0"/>
          </a:p>
        </p:txBody>
      </p:sp>
      <p:sp>
        <p:nvSpPr>
          <p:cNvPr id="61" name="Shape 59"/>
          <p:cNvSpPr/>
          <p:nvPr/>
        </p:nvSpPr>
        <p:spPr>
          <a:xfrm>
            <a:off x="2925166" y="5497503"/>
            <a:ext cx="617426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79167" y="5470071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.180</a:t>
            </a:r>
            <a:endParaRPr lang="en-US" sz="670" dirty="0"/>
          </a:p>
        </p:txBody>
      </p:sp>
      <p:sp>
        <p:nvSpPr>
          <p:cNvPr id="63" name="Text 61"/>
          <p:cNvSpPr/>
          <p:nvPr/>
        </p:nvSpPr>
        <p:spPr>
          <a:xfrm>
            <a:off x="566928" y="5701066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img_small ↔ txt_gpt2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2925166" y="5723926"/>
            <a:ext cx="600275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62017" y="5696494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.175</a:t>
            </a:r>
            <a:endParaRPr lang="en-US" sz="670" dirty="0"/>
          </a:p>
        </p:txBody>
      </p:sp>
      <p:sp>
        <p:nvSpPr>
          <p:cNvPr id="66" name="Text 64"/>
          <p:cNvSpPr/>
          <p:nvPr/>
        </p:nvSpPr>
        <p:spPr>
          <a:xfrm>
            <a:off x="566928" y="5927489"/>
            <a:ext cx="2285086" cy="2081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img_base ↔ txt_gpt2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2925166" y="5950349"/>
            <a:ext cx="576264" cy="16241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38006" y="5922917"/>
            <a:ext cx="329184" cy="2172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.168</a:t>
            </a:r>
            <a:endParaRPr lang="en-US" sz="670" dirty="0"/>
          </a:p>
        </p:txBody>
      </p:sp>
      <p:sp>
        <p:nvSpPr>
          <p:cNvPr id="69" name="Shape 67"/>
          <p:cNvSpPr/>
          <p:nvPr/>
        </p:nvSpPr>
        <p:spPr>
          <a:xfrm>
            <a:off x="4800600" y="3913632"/>
            <a:ext cx="11430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B8C5D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56048" y="4041648"/>
            <a:ext cx="164592" cy="73152"/>
          </a:xfrm>
          <a:prstGeom prst="rect">
            <a:avLst/>
          </a:prstGeom>
          <a:solidFill>
            <a:srgbClr val="0E4C81"/>
          </a:solidFill>
          <a:ln w="12700">
            <a:solidFill>
              <a:srgbClr val="0E4C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84648" y="3986784"/>
            <a:ext cx="685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image↔image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4956048" y="4279392"/>
            <a:ext cx="1645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84648" y="4224528"/>
            <a:ext cx="685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text↔text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4956048" y="4517136"/>
            <a:ext cx="164592" cy="73152"/>
          </a:xfrm>
          <a:prstGeom prst="rect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84648" y="4462272"/>
            <a:ext cx="685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image↔text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6446520" y="9601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29400" y="9875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means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6812280" y="1799768"/>
            <a:ext cx="502920" cy="897712"/>
          </a:xfrm>
          <a:prstGeom prst="rect">
            <a:avLst/>
          </a:prstGeom>
          <a:solidFill>
            <a:srgbClr val="0E4C81"/>
          </a:solidFill>
          <a:ln w="12700">
            <a:solidFill>
              <a:srgbClr val="0E4C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66560" y="1543736"/>
            <a:ext cx="594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0.561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492240" y="2788920"/>
            <a:ext cx="1143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image↔image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321040" y="2231822"/>
            <a:ext cx="502920" cy="465658"/>
          </a:xfrm>
          <a:prstGeom prst="rect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75320" y="1975790"/>
            <a:ext cx="594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0.291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001000" y="2788920"/>
            <a:ext cx="1143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image↔text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9829800" y="2065401"/>
            <a:ext cx="502920" cy="632079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784080" y="1809369"/>
            <a:ext cx="594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0.395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509760" y="2788920"/>
            <a:ext cx="1143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text↔text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629400" y="2697480"/>
            <a:ext cx="4663440" cy="0"/>
          </a:xfrm>
          <a:prstGeom prst="line">
            <a:avLst/>
          </a:prstGeom>
          <a:noFill/>
          <a:ln w="8890">
            <a:solidFill>
              <a:srgbClr val="9CA3A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149840" y="1097280"/>
            <a:ext cx="777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Spearman ρ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446520" y="33375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8DE"/>
          </a:solidFill>
          <a:ln w="8890">
            <a:solidFill>
              <a:srgbClr val="F2CF7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2940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Sentences to use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6656832" y="391363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11827"/>
                </a:solidFill>
              </a:rPr>
              <a:t>• 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Raw shape agreement compares the rank order of distances among the same items; no alignment matrix is fitted.</a:t>
            </a:r>
            <a:endParaRPr lang="en-US" sz="830" dirty="0"/>
          </a:p>
        </p:txBody>
      </p:sp>
      <p:sp>
        <p:nvSpPr>
          <p:cNvPr id="92" name="Text 90"/>
          <p:cNvSpPr/>
          <p:nvPr/>
        </p:nvSpPr>
        <p:spPr>
          <a:xfrm>
            <a:off x="6656832" y="422452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11827"/>
                </a:solidFill>
              </a:rPr>
              <a:t>• 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Cross-modal agreement is real: image↔text mean ρ = 0.291, so vision and text spaces already share some geometry.</a:t>
            </a:r>
            <a:endParaRPr lang="en-US" sz="830" dirty="0"/>
          </a:p>
        </p:txBody>
      </p:sp>
      <p:sp>
        <p:nvSpPr>
          <p:cNvPr id="93" name="Text 91"/>
          <p:cNvSpPr/>
          <p:nvPr/>
        </p:nvSpPr>
        <p:spPr>
          <a:xfrm>
            <a:off x="6656832" y="453542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11827"/>
                </a:solidFill>
              </a:rPr>
              <a:t>• 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Read the result against lineage: DINOv2 variants share ancestry; bge↔SBERT reaches 0.764 by shared objective, not shared weights.</a:t>
            </a:r>
            <a:endParaRPr lang="en-US" sz="830" dirty="0"/>
          </a:p>
        </p:txBody>
      </p:sp>
      <p:sp>
        <p:nvSpPr>
          <p:cNvPr id="94" name="Shape 92"/>
          <p:cNvSpPr/>
          <p:nvPr/>
        </p:nvSpPr>
        <p:spPr>
          <a:xfrm>
            <a:off x="6446520" y="5440680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 w="8890">
            <a:solidFill>
              <a:srgbClr val="C7D2F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29400" y="5550408"/>
            <a:ext cx="48920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the Hub is not inventing correspondence from nothing; it supplies coordinates for a correspondence already partly visible in raw shape.</a:t>
            </a:r>
            <a:endParaRPr lang="en-US" sz="1120" dirty="0"/>
          </a:p>
        </p:txBody>
      </p:sp>
      <p:sp>
        <p:nvSpPr>
          <p:cNvPr id="96" name="Text 9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G1 shape agreement: 400 held-out items; no fitted map; distance-rank correlation (Spearman ρ).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2 — build one shared coordinate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The Hub converts latent shape agreement into common 512-d coordinates.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920240" cy="4343400"/>
          </a:xfrm>
          <a:prstGeom prst="roundRect">
            <a:avLst>
              <a:gd name="adj" fmla="val 3810"/>
            </a:avLst>
          </a:prstGeom>
          <a:solidFill>
            <a:srgbClr val="EAF3FF"/>
          </a:solidFill>
          <a:ln w="8890">
            <a:solidFill>
              <a:srgbClr val="9CC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1508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input spaces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178308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E4C81"/>
          </a:solidFill>
          <a:ln w="8890">
            <a:solidFill>
              <a:srgbClr val="0E4C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37944"/>
            <a:ext cx="13258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img_small  768d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13232" y="22219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E4C81"/>
          </a:solidFill>
          <a:ln w="8890">
            <a:solidFill>
              <a:srgbClr val="0E4C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76856"/>
            <a:ext cx="13258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img_base  1536d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13232" y="2660904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E4C81"/>
          </a:solidFill>
          <a:ln w="8890">
            <a:solidFill>
              <a:srgbClr val="0E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715768"/>
            <a:ext cx="13258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img_large  2048d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13232" y="3099816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154680"/>
            <a:ext cx="13258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txt_bge  1024d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713232" y="353872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6A3D9A"/>
          </a:solidFill>
          <a:ln w="8890">
            <a:solidFill>
              <a:srgbClr val="6A3D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593592"/>
            <a:ext cx="13258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txt_gpt2  768d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13232" y="397764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032504"/>
            <a:ext cx="13258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txt_bert  768d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713232" y="441655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471416"/>
            <a:ext cx="13258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txt_sbert  768d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514600" y="3291840"/>
            <a:ext cx="640080" cy="0"/>
          </a:xfrm>
          <a:prstGeom prst="line">
            <a:avLst/>
          </a:prstGeom>
          <a:noFill/>
          <a:ln w="15240">
            <a:solidFill>
              <a:srgbClr val="071A3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46120" y="2240280"/>
            <a:ext cx="1280160" cy="2468880"/>
          </a:xfrm>
          <a:prstGeom prst="roundRect">
            <a:avLst>
              <a:gd name="adj" fmla="val 5714"/>
            </a:avLst>
          </a:prstGeom>
          <a:solidFill>
            <a:srgbClr val="EEF2F6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154680"/>
            <a:ext cx="914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space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3291840"/>
            <a:ext cx="548640" cy="0"/>
          </a:xfrm>
          <a:prstGeom prst="line">
            <a:avLst/>
          </a:prstGeom>
          <a:noFill/>
          <a:ln w="15240">
            <a:solidFill>
              <a:srgbClr val="071A3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57800" y="1965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AAB6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214884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concatenate per row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2514600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7680-d vector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2971800"/>
            <a:ext cx="0" cy="457200"/>
          </a:xfrm>
          <a:prstGeom prst="line">
            <a:avLst/>
          </a:prstGeom>
          <a:noFill/>
          <a:ln w="15240">
            <a:solidFill>
              <a:srgbClr val="071A3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257800" y="352044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8890">
            <a:solidFill>
              <a:srgbClr val="AAB6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712464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→ keep top 512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4151376"/>
            <a:ext cx="0" cy="374904"/>
          </a:xfrm>
          <a:prstGeom prst="line">
            <a:avLst/>
          </a:prstGeom>
          <a:noFill/>
          <a:ln w="15240">
            <a:solidFill>
              <a:srgbClr val="071A3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257800" y="46177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8890">
            <a:solidFill>
              <a:srgbClr val="AAB6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79008" y="4809744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43800" y="3291840"/>
            <a:ext cx="594360" cy="0"/>
          </a:xfrm>
          <a:prstGeom prst="line">
            <a:avLst/>
          </a:prstGeom>
          <a:noFill/>
          <a:ln w="15240">
            <a:solidFill>
              <a:srgbClr val="071A3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29600" y="2423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8DE"/>
          </a:solidFill>
          <a:ln w="8890">
            <a:solidFill>
              <a:srgbClr val="F2CF7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9640" y="2770632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94192" y="3246120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∈ R⁸⁵³³ˣ⁵¹²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58200" y="3703320"/>
            <a:ext cx="10972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whitened PCA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875520" y="3291840"/>
            <a:ext cx="502920" cy="0"/>
          </a:xfrm>
          <a:prstGeom prst="line">
            <a:avLst/>
          </a:prstGeom>
          <a:noFill/>
          <a:ln w="15240">
            <a:solidFill>
              <a:srgbClr val="071A3D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469880" y="1737360"/>
            <a:ext cx="1234440" cy="32918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AAB6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70464" y="1965960"/>
            <a:ext cx="1005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encoder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762488" y="2514600"/>
            <a:ext cx="594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Wsmall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10762488" y="2825496"/>
            <a:ext cx="594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Wbase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10762488" y="3136392"/>
            <a:ext cx="594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Wlarge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10762488" y="3447288"/>
            <a:ext cx="594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Wbge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0762488" y="3758184"/>
            <a:ext cx="594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Wgpt2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10762488" y="4069080"/>
            <a:ext cx="594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Wbert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10762488" y="4379976"/>
            <a:ext cx="594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Wsbert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02920" y="5760720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EEF2F6"/>
          </a:solidFill>
          <a:ln w="8890">
            <a:solidFill>
              <a:srgbClr val="C7D2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5879592"/>
            <a:ext cx="10835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distinction: construction uses all 7 spaces together; runtime uses one encoder + its own Wₖ to enter the already-defined Hub.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Balanced 7-space hub: concatenated width 7,680; held-out reach R²: img_large 0.591, img_base 0.533, img_small 0.367; text spaces 0.211–0.288.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3 — transport through the Hub and transfer through a head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Use R@1 retention for the verdict; R² fails on collapsed targets.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3886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3429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vs via-Hub composition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581912"/>
            <a:ext cx="56692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27632" y="1572768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→  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6583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 Hub: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55648" y="1984248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→  H  →  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87168"/>
            <a:ext cx="3291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how much of direct retrieval survives after the extra Hub bottleneck?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E6F5F2"/>
          </a:solidFill>
          <a:ln w="8890">
            <a:solidFill>
              <a:srgbClr val="A7D8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6128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Scale-free verdict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87.0%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5508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R@1 retention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41 scorable pairs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1417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95.6%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12344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excluding broken targets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 pairs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92440" y="10058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3E4"/>
          </a:solidFill>
          <a:ln w="8890">
            <a:solidFill>
              <a:srgbClr val="F5C1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161288"/>
            <a:ext cx="3017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Collapsed target warning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1664208"/>
            <a:ext cx="2971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GPT-2 is readable out of, not writable into.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039112"/>
            <a:ext cx="2971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SOURCE: 95.1% R@1 retention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TARGET: 24.8% R@1 retention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633472"/>
            <a:ext cx="2880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Collapsed target geometry makes tiny rank differences fragile.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429000"/>
            <a:ext cx="608076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29000"/>
            <a:ext cx="6080760" cy="292608"/>
          </a:xfrm>
          <a:prstGeom prst="rect">
            <a:avLst/>
          </a:prstGeom>
          <a:solidFill>
            <a:srgbClr val="071A3D"/>
          </a:solidFill>
          <a:ln w="1270">
            <a:solidFill>
              <a:srgbClr val="071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3465576"/>
            <a:ext cx="125272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865376" y="3465576"/>
            <a:ext cx="84124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SOURCE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779776" y="3465576"/>
            <a:ext cx="84124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TARGET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3694176" y="3465576"/>
            <a:ext cx="285292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539496" y="3739896"/>
            <a:ext cx="12527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img_small</a:t>
            </a:r>
            <a:endParaRPr lang="en-US" sz="670" dirty="0"/>
          </a:p>
        </p:txBody>
      </p:sp>
      <p:sp>
        <p:nvSpPr>
          <p:cNvPr id="29" name="Text 27"/>
          <p:cNvSpPr/>
          <p:nvPr/>
        </p:nvSpPr>
        <p:spPr>
          <a:xfrm>
            <a:off x="1865376" y="3739896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99.3%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2779776" y="3739896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99.6%</a:t>
            </a:r>
            <a:endParaRPr lang="en-US" sz="670" dirty="0"/>
          </a:p>
        </p:txBody>
      </p:sp>
      <p:sp>
        <p:nvSpPr>
          <p:cNvPr id="31" name="Text 29"/>
          <p:cNvSpPr/>
          <p:nvPr/>
        </p:nvSpPr>
        <p:spPr>
          <a:xfrm>
            <a:off x="3694176" y="3739896"/>
            <a:ext cx="28529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carried both ways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502920" y="4039035"/>
            <a:ext cx="6080760" cy="317427"/>
          </a:xfrm>
          <a:prstGeom prst="rect">
            <a:avLst/>
          </a:prstGeom>
          <a:solidFill>
            <a:srgbClr val="F8FAFC"/>
          </a:solidFill>
          <a:ln w="1270">
            <a:solidFill>
              <a:srgbClr val="F8FA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4057323"/>
            <a:ext cx="12527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img_base</a:t>
            </a:r>
            <a:endParaRPr lang="en-US" sz="670" dirty="0"/>
          </a:p>
        </p:txBody>
      </p:sp>
      <p:sp>
        <p:nvSpPr>
          <p:cNvPr id="34" name="Text 32"/>
          <p:cNvSpPr/>
          <p:nvPr/>
        </p:nvSpPr>
        <p:spPr>
          <a:xfrm>
            <a:off x="1865376" y="4057323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94.8%</a:t>
            </a:r>
            <a:endParaRPr lang="en-US" sz="670" dirty="0"/>
          </a:p>
        </p:txBody>
      </p:sp>
      <p:sp>
        <p:nvSpPr>
          <p:cNvPr id="35" name="Text 33"/>
          <p:cNvSpPr/>
          <p:nvPr/>
        </p:nvSpPr>
        <p:spPr>
          <a:xfrm>
            <a:off x="2779776" y="4057323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99.8%</a:t>
            </a:r>
            <a:endParaRPr lang="en-US" sz="670" dirty="0"/>
          </a:p>
        </p:txBody>
      </p:sp>
      <p:sp>
        <p:nvSpPr>
          <p:cNvPr id="36" name="Text 34"/>
          <p:cNvSpPr/>
          <p:nvPr/>
        </p:nvSpPr>
        <p:spPr>
          <a:xfrm>
            <a:off x="3694176" y="4057323"/>
            <a:ext cx="28529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carried both ways</a:t>
            </a:r>
            <a:endParaRPr lang="en-US" sz="670" dirty="0"/>
          </a:p>
        </p:txBody>
      </p:sp>
      <p:sp>
        <p:nvSpPr>
          <p:cNvPr id="37" name="Text 35"/>
          <p:cNvSpPr/>
          <p:nvPr/>
        </p:nvSpPr>
        <p:spPr>
          <a:xfrm>
            <a:off x="539496" y="4374751"/>
            <a:ext cx="12527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img_large</a:t>
            </a:r>
            <a:endParaRPr lang="en-US" sz="670" dirty="0"/>
          </a:p>
        </p:txBody>
      </p:sp>
      <p:sp>
        <p:nvSpPr>
          <p:cNvPr id="38" name="Text 36"/>
          <p:cNvSpPr/>
          <p:nvPr/>
        </p:nvSpPr>
        <p:spPr>
          <a:xfrm>
            <a:off x="1865376" y="4374751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91.1%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2779776" y="4374751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98.6%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3694176" y="4374751"/>
            <a:ext cx="28529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carried both ways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502920" y="4673890"/>
            <a:ext cx="6080760" cy="317427"/>
          </a:xfrm>
          <a:prstGeom prst="rect">
            <a:avLst/>
          </a:prstGeom>
          <a:solidFill>
            <a:srgbClr val="F8FAFC"/>
          </a:solidFill>
          <a:ln w="1270">
            <a:solidFill>
              <a:srgbClr val="F8FA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" y="4692178"/>
            <a:ext cx="12527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txt_bge</a:t>
            </a:r>
            <a:endParaRPr lang="en-US" sz="670" dirty="0"/>
          </a:p>
        </p:txBody>
      </p:sp>
      <p:sp>
        <p:nvSpPr>
          <p:cNvPr id="43" name="Text 41"/>
          <p:cNvSpPr/>
          <p:nvPr/>
        </p:nvSpPr>
        <p:spPr>
          <a:xfrm>
            <a:off x="1865376" y="4692178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96.3%</a:t>
            </a:r>
            <a:endParaRPr lang="en-US" sz="670" dirty="0"/>
          </a:p>
        </p:txBody>
      </p:sp>
      <p:sp>
        <p:nvSpPr>
          <p:cNvPr id="44" name="Text 42"/>
          <p:cNvSpPr/>
          <p:nvPr/>
        </p:nvSpPr>
        <p:spPr>
          <a:xfrm>
            <a:off x="2779776" y="4692178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98.1%</a:t>
            </a: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3694176" y="4692178"/>
            <a:ext cx="28529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carried both ways</a:t>
            </a:r>
            <a:endParaRPr lang="en-US" sz="670" dirty="0"/>
          </a:p>
        </p:txBody>
      </p:sp>
      <p:sp>
        <p:nvSpPr>
          <p:cNvPr id="46" name="Text 44"/>
          <p:cNvSpPr/>
          <p:nvPr/>
        </p:nvSpPr>
        <p:spPr>
          <a:xfrm>
            <a:off x="539496" y="5009606"/>
            <a:ext cx="12527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txt_gpt2</a:t>
            </a:r>
            <a:endParaRPr lang="en-US" sz="670" dirty="0"/>
          </a:p>
        </p:txBody>
      </p:sp>
      <p:sp>
        <p:nvSpPr>
          <p:cNvPr id="47" name="Text 45"/>
          <p:cNvSpPr/>
          <p:nvPr/>
        </p:nvSpPr>
        <p:spPr>
          <a:xfrm>
            <a:off x="1865376" y="5009606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95.1%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2779776" y="5009606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24.8%</a:t>
            </a:r>
            <a:endParaRPr lang="en-US" sz="670" dirty="0"/>
          </a:p>
        </p:txBody>
      </p:sp>
      <p:sp>
        <p:nvSpPr>
          <p:cNvPr id="49" name="Text 47"/>
          <p:cNvSpPr/>
          <p:nvPr/>
        </p:nvSpPr>
        <p:spPr>
          <a:xfrm>
            <a:off x="3694176" y="5009606"/>
            <a:ext cx="28529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target</a:t>
            </a:r>
            <a:endParaRPr lang="en-US" sz="670" dirty="0"/>
          </a:p>
        </p:txBody>
      </p:sp>
      <p:sp>
        <p:nvSpPr>
          <p:cNvPr id="50" name="Shape 48"/>
          <p:cNvSpPr/>
          <p:nvPr/>
        </p:nvSpPr>
        <p:spPr>
          <a:xfrm>
            <a:off x="502920" y="5308745"/>
            <a:ext cx="6080760" cy="317427"/>
          </a:xfrm>
          <a:prstGeom prst="rect">
            <a:avLst/>
          </a:prstGeom>
          <a:solidFill>
            <a:srgbClr val="F8FAFC"/>
          </a:solidFill>
          <a:ln w="1270">
            <a:solidFill>
              <a:srgbClr val="F8FA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" y="5327033"/>
            <a:ext cx="12527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txt_bert</a:t>
            </a:r>
            <a:endParaRPr lang="en-US" sz="670" dirty="0"/>
          </a:p>
        </p:txBody>
      </p:sp>
      <p:sp>
        <p:nvSpPr>
          <p:cNvPr id="52" name="Text 50"/>
          <p:cNvSpPr/>
          <p:nvPr/>
        </p:nvSpPr>
        <p:spPr>
          <a:xfrm>
            <a:off x="1865376" y="5327033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670" dirty="0"/>
          </a:p>
        </p:txBody>
      </p:sp>
      <p:sp>
        <p:nvSpPr>
          <p:cNvPr id="53" name="Text 51"/>
          <p:cNvSpPr/>
          <p:nvPr/>
        </p:nvSpPr>
        <p:spPr>
          <a:xfrm>
            <a:off x="2779776" y="5327033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76.6%</a:t>
            </a:r>
            <a:endParaRPr lang="en-US" sz="670" dirty="0"/>
          </a:p>
        </p:txBody>
      </p:sp>
      <p:sp>
        <p:nvSpPr>
          <p:cNvPr id="54" name="Text 52"/>
          <p:cNvSpPr/>
          <p:nvPr/>
        </p:nvSpPr>
        <p:spPr>
          <a:xfrm>
            <a:off x="3694176" y="5327033"/>
            <a:ext cx="28529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carried both ways</a:t>
            </a:r>
            <a:endParaRPr lang="en-US" sz="670" dirty="0"/>
          </a:p>
        </p:txBody>
      </p:sp>
      <p:sp>
        <p:nvSpPr>
          <p:cNvPr id="55" name="Text 53"/>
          <p:cNvSpPr/>
          <p:nvPr/>
        </p:nvSpPr>
        <p:spPr>
          <a:xfrm>
            <a:off x="539496" y="5644461"/>
            <a:ext cx="12527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txt_sbert</a:t>
            </a:r>
            <a:endParaRPr lang="en-US" sz="670" dirty="0"/>
          </a:p>
        </p:txBody>
      </p:sp>
      <p:sp>
        <p:nvSpPr>
          <p:cNvPr id="56" name="Text 54"/>
          <p:cNvSpPr/>
          <p:nvPr/>
        </p:nvSpPr>
        <p:spPr>
          <a:xfrm>
            <a:off x="1865376" y="5644461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93.8%</a:t>
            </a: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2779776" y="5644461"/>
            <a:ext cx="84124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101.0%</a:t>
            </a:r>
            <a:endParaRPr lang="en-US" sz="670" dirty="0"/>
          </a:p>
        </p:txBody>
      </p:sp>
      <p:sp>
        <p:nvSpPr>
          <p:cNvPr id="58" name="Text 56"/>
          <p:cNvSpPr/>
          <p:nvPr/>
        </p:nvSpPr>
        <p:spPr>
          <a:xfrm>
            <a:off x="3694176" y="5644461"/>
            <a:ext cx="2852928" cy="280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carried both ways</a:t>
            </a:r>
            <a:endParaRPr lang="en-US" sz="670" dirty="0"/>
          </a:p>
        </p:txBody>
      </p:sp>
      <p:sp>
        <p:nvSpPr>
          <p:cNvPr id="59" name="Shape 57"/>
          <p:cNvSpPr/>
          <p:nvPr/>
        </p:nvSpPr>
        <p:spPr>
          <a:xfrm>
            <a:off x="1828800" y="3429000"/>
            <a:ext cx="0" cy="2514600"/>
          </a:xfrm>
          <a:prstGeom prst="line">
            <a:avLst/>
          </a:prstGeom>
          <a:noFill/>
          <a:ln w="3175">
            <a:solidFill>
              <a:srgbClr val="D8DE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43200" y="3429000"/>
            <a:ext cx="0" cy="2514600"/>
          </a:xfrm>
          <a:prstGeom prst="line">
            <a:avLst/>
          </a:prstGeom>
          <a:noFill/>
          <a:ln w="3175">
            <a:solidFill>
              <a:srgbClr val="D8DE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0" y="3429000"/>
            <a:ext cx="0" cy="2514600"/>
          </a:xfrm>
          <a:prstGeom prst="line">
            <a:avLst/>
          </a:prstGeom>
          <a:noFill/>
          <a:ln w="3175">
            <a:solidFill>
              <a:srgbClr val="D8DE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03720" y="3429000"/>
            <a:ext cx="4800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86600" y="3584448"/>
            <a:ext cx="4389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sweep: head trained on img_small → unseen img_base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086600" y="391363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R@1 by HUB_DIM at α=0.01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178040" y="4206240"/>
            <a:ext cx="8321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128d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8081467" y="4258544"/>
            <a:ext cx="1117397" cy="106985"/>
          </a:xfrm>
          <a:prstGeom prst="rect">
            <a:avLst/>
          </a:prstGeom>
          <a:solidFill>
            <a:srgbClr val="EDF2F7"/>
          </a:solidFill>
          <a:ln w="254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81467" y="4258544"/>
            <a:ext cx="891683" cy="10698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246413" y="4206240"/>
            <a:ext cx="285293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0.399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178040" y="4443984"/>
            <a:ext cx="8321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256d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8081467" y="4496288"/>
            <a:ext cx="1117397" cy="106985"/>
          </a:xfrm>
          <a:prstGeom prst="rect">
            <a:avLst/>
          </a:prstGeom>
          <a:solidFill>
            <a:srgbClr val="EDF2F7"/>
          </a:solidFill>
          <a:ln w="2540">
            <a:solidFill>
              <a:srgbClr val="D1D5D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81467" y="4496288"/>
            <a:ext cx="954257" cy="10698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246413" y="4443984"/>
            <a:ext cx="285293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0.427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178040" y="4681728"/>
            <a:ext cx="8321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512d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8081467" y="4734032"/>
            <a:ext cx="1117397" cy="106985"/>
          </a:xfrm>
          <a:prstGeom prst="rect">
            <a:avLst/>
          </a:prstGeom>
          <a:solidFill>
            <a:srgbClr val="EDF2F7"/>
          </a:solidFill>
          <a:ln w="2540">
            <a:solidFill>
              <a:srgbClr val="D1D5D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81467" y="4734032"/>
            <a:ext cx="1007892" cy="10698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46413" y="4681728"/>
            <a:ext cx="285293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0.451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7178040" y="4919472"/>
            <a:ext cx="8321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768d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8081467" y="4971776"/>
            <a:ext cx="1117397" cy="106985"/>
          </a:xfrm>
          <a:prstGeom prst="rect">
            <a:avLst/>
          </a:prstGeom>
          <a:solidFill>
            <a:srgbClr val="EDF2F7"/>
          </a:solidFill>
          <a:ln w="2540">
            <a:solidFill>
              <a:srgbClr val="D1D5D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81467" y="4971776"/>
            <a:ext cx="13409" cy="10698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246413" y="4919472"/>
            <a:ext cx="285293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0.006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7178040" y="5157216"/>
            <a:ext cx="8321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1024d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8081467" y="5209520"/>
            <a:ext cx="1117397" cy="106985"/>
          </a:xfrm>
          <a:prstGeom prst="rect">
            <a:avLst/>
          </a:prstGeom>
          <a:solidFill>
            <a:srgbClr val="EDF2F7"/>
          </a:solidFill>
          <a:ln w="2540">
            <a:solidFill>
              <a:srgbClr val="D1D5D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81467" y="5209520"/>
            <a:ext cx="11174" cy="106985"/>
          </a:xfrm>
          <a:prstGeom prst="rect">
            <a:avLst/>
          </a:prstGeom>
          <a:solidFill>
            <a:srgbClr val="C45A00"/>
          </a:solidFill>
          <a:ln w="1270">
            <a:solidFill>
              <a:srgbClr val="C45A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46413" y="5157216"/>
            <a:ext cx="285293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0.005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9738360" y="41605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6F5F2"/>
          </a:solidFill>
          <a:ln w="8890">
            <a:solidFill>
              <a:srgbClr val="A7D8D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195560" y="4261104"/>
            <a:ext cx="640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921240" y="4498848"/>
            <a:ext cx="1234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512d, α=0.01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R@1 0.451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 0.986</a:t>
            </a:r>
            <a:endParaRPr lang="en-US" sz="980" dirty="0"/>
          </a:p>
        </p:txBody>
      </p:sp>
      <p:sp>
        <p:nvSpPr>
          <p:cNvPr id="88" name="Text 86"/>
          <p:cNvSpPr/>
          <p:nvPr/>
        </p:nvSpPr>
        <p:spPr>
          <a:xfrm>
            <a:off x="7114032" y="5577840"/>
            <a:ext cx="4160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Wider is not automatically better: after 512, whitened PCA tail directions dominate cosine geometry.</a:t>
            </a:r>
            <a:endParaRPr lang="en-US" sz="930" dirty="0"/>
          </a:p>
        </p:txBody>
      </p:sp>
      <p:sp>
        <p:nvSpPr>
          <p:cNvPr id="89" name="Text 87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R@1 retention is the headline because R² is unreliable for low-effective-rank / collapsed target spaces.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captions and report-ready wording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Use these under the three visual figures: shape agreement, hub visualization, and transfer sweep.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1234440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 w="8890">
            <a:solidFill>
              <a:srgbClr val="B7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3291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1 — Shape agreement across modalities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0332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pair of encoders, we compare the rank order of pairwise distances among the same held-out items, with no fitted map. The cross-modal mean ρ = 0.291 shows that image and text encoders already share non-trivial geometry before alignment; bge↔SBERT at 0.764 shows that a shared training objective can exceed shared DINOv2 ancestry.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1018520" cy="1234440"/>
          </a:xfrm>
          <a:prstGeom prst="roundRect">
            <a:avLst>
              <a:gd name="adj" fmla="val 5926"/>
            </a:avLst>
          </a:prstGeom>
          <a:solidFill>
            <a:srgbClr val="E6F5F2"/>
          </a:solidFill>
          <a:ln w="8890">
            <a:solidFill>
              <a:srgbClr val="A7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80360"/>
            <a:ext cx="3291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 — The shared Hub drawn from its own coordinates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10332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held-out item is mapped into the 512-d Hub from each encoder, then projected to 2D only for display. Lines join the seven representations of the same item; tight bundles mean the encoders speak comparable Hub coordinates. The spectrum panel diagnoses collapsed spaces, and the same-item vs different-item histogram shows the retrieval gap.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1018520" cy="1234440"/>
          </a:xfrm>
          <a:prstGeom prst="roundRect">
            <a:avLst>
              <a:gd name="adj" fmla="val 5926"/>
            </a:avLst>
          </a:prstGeom>
          <a:solidFill>
            <a:srgbClr val="FFF3E4"/>
          </a:solidFill>
          <a:ln w="8890">
            <a:solidFill>
              <a:srgbClr val="F5C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80560"/>
            <a:ext cx="3291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3 — Width/alpha transfer sweep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10332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downstream head is trained only on img_small Hub vectors and evaluated unchanged on unseen img_base. Transfer improves up to HUB_DIM = 512 and then collapses at 768/1024, demonstrating the portability-versus-losslessness trade-off: wider Hubs reconstruct more directions, but whitened PCA can amplify tail noise.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594360" y="5989320"/>
            <a:ext cx="11018520" cy="320040"/>
          </a:xfrm>
          <a:prstGeom prst="roundRect">
            <a:avLst>
              <a:gd name="adj" fmla="val 22857"/>
            </a:avLst>
          </a:prstGeom>
          <a:solidFill>
            <a:srgbClr val="EEF2F6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062472"/>
            <a:ext cx="104698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sentence: shared geometry ≠ same coordinates; the Hub is the linear coordinate system that makes partly shared geometry usable.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Suggested figure-caption slide for report/defense.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16:9 infographic — similarity, shared space, geometry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One compact slide for defense: what was measured, what was built, and what failed.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520440" cy="5257800"/>
          </a:xfrm>
          <a:prstGeom prst="roundRect">
            <a:avLst>
              <a:gd name="adj" fmla="val 2078"/>
            </a:avLst>
          </a:prstGeom>
          <a:solidFill>
            <a:srgbClr val="EAF3FF"/>
          </a:solidFill>
          <a:ln w="8890">
            <a:solidFill>
              <a:srgbClr val="B7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15568"/>
            <a:ext cx="2971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Similarity test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2743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distance ranks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same 400 held-out items.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51560" y="2743200"/>
            <a:ext cx="118872" cy="118872"/>
          </a:xfrm>
          <a:prstGeom prst="ellipse">
            <a:avLst/>
          </a:prstGeom>
          <a:solidFill>
            <a:srgbClr val="0E4C81"/>
          </a:solidFill>
          <a:ln w="12700">
            <a:solidFill>
              <a:srgbClr val="0E4C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2331720"/>
            <a:ext cx="118872" cy="118872"/>
          </a:xfrm>
          <a:prstGeom prst="ellipse">
            <a:avLst/>
          </a:prstGeom>
          <a:solidFill>
            <a:srgbClr val="0E4C81"/>
          </a:solidFill>
          <a:ln w="12700">
            <a:solidFill>
              <a:srgbClr val="0E4C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2798064"/>
            <a:ext cx="548640" cy="-411480"/>
          </a:xfrm>
          <a:prstGeom prst="line">
            <a:avLst/>
          </a:prstGeom>
          <a:noFill/>
          <a:ln w="8890">
            <a:solidFill>
              <a:srgbClr val="0E4C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971800"/>
            <a:ext cx="118872" cy="118872"/>
          </a:xfrm>
          <a:prstGeom prst="ellipse">
            <a:avLst/>
          </a:prstGeom>
          <a:solidFill>
            <a:srgbClr val="0E4C81"/>
          </a:solidFill>
          <a:ln w="12700">
            <a:solidFill>
              <a:srgbClr val="0E4C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2798064"/>
            <a:ext cx="868680" cy="228600"/>
          </a:xfrm>
          <a:prstGeom prst="line">
            <a:avLst/>
          </a:prstGeom>
          <a:noFill/>
          <a:ln w="8890">
            <a:solidFill>
              <a:srgbClr val="0E4C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3383280"/>
            <a:ext cx="118872" cy="118872"/>
          </a:xfrm>
          <a:prstGeom prst="ellipse">
            <a:avLst/>
          </a:prstGeom>
          <a:solidFill>
            <a:srgbClr val="0E4C81"/>
          </a:solidFill>
          <a:ln w="12700">
            <a:solidFill>
              <a:srgbClr val="0E4C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6424" y="2798064"/>
            <a:ext cx="182880" cy="640080"/>
          </a:xfrm>
          <a:prstGeom prst="line">
            <a:avLst/>
          </a:prstGeom>
          <a:noFill/>
          <a:ln w="8890">
            <a:solidFill>
              <a:srgbClr val="0E4C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3520440"/>
            <a:ext cx="118872" cy="118872"/>
          </a:xfrm>
          <a:prstGeom prst="ellipse">
            <a:avLst/>
          </a:prstGeom>
          <a:solidFill>
            <a:srgbClr val="0E4C81"/>
          </a:solidFill>
          <a:ln w="12700">
            <a:solidFill>
              <a:srgbClr val="0E4C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" y="2798064"/>
            <a:ext cx="1005840" cy="777240"/>
          </a:xfrm>
          <a:prstGeom prst="line">
            <a:avLst/>
          </a:prstGeom>
          <a:noFill/>
          <a:ln w="8890">
            <a:solidFill>
              <a:srgbClr val="0E4C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606040"/>
            <a:ext cx="118872" cy="118872"/>
          </a:xfrm>
          <a:prstGeom prst="ellipse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2377440"/>
            <a:ext cx="118872" cy="118872"/>
          </a:xfrm>
          <a:prstGeom prst="ellipse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60904" y="2660904"/>
            <a:ext cx="457200" cy="-228600"/>
          </a:xfrm>
          <a:prstGeom prst="line">
            <a:avLst/>
          </a:prstGeom>
          <a:noFill/>
          <a:ln w="8890">
            <a:solidFill>
              <a:srgbClr val="C45A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3063240"/>
            <a:ext cx="118872" cy="118872"/>
          </a:xfrm>
          <a:prstGeom prst="ellipse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60904" y="2660904"/>
            <a:ext cx="640080" cy="457200"/>
          </a:xfrm>
          <a:prstGeom prst="line">
            <a:avLst/>
          </a:prstGeom>
          <a:noFill/>
          <a:ln w="8890">
            <a:solidFill>
              <a:srgbClr val="C45A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7480" y="3456432"/>
            <a:ext cx="118872" cy="118872"/>
          </a:xfrm>
          <a:prstGeom prst="ellipse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60904" y="2660904"/>
            <a:ext cx="91440" cy="850392"/>
          </a:xfrm>
          <a:prstGeom prst="line">
            <a:avLst/>
          </a:prstGeom>
          <a:noFill/>
          <a:ln w="8890">
            <a:solidFill>
              <a:srgbClr val="C45A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3520440"/>
            <a:ext cx="118872" cy="118872"/>
          </a:xfrm>
          <a:prstGeom prst="ellipse">
            <a:avLst/>
          </a:prstGeom>
          <a:solidFill>
            <a:srgbClr val="C45A00"/>
          </a:solidFill>
          <a:ln w="12700">
            <a:solidFill>
              <a:srgbClr val="C45A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60904" y="2660904"/>
            <a:ext cx="777240" cy="914400"/>
          </a:xfrm>
          <a:prstGeom prst="line">
            <a:avLst/>
          </a:prstGeom>
          <a:noFill/>
          <a:ln w="8890">
            <a:solidFill>
              <a:srgbClr val="C45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77640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geometry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423160" y="3977640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geometry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580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Cross-modal mean ρ = 0.291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shape agreement exists.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60520" y="96012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FFF8DE"/>
          </a:solidFill>
          <a:ln w="8890">
            <a:solidFill>
              <a:srgbClr val="F2CF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1115568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Shared space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3484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spaces → 7,680-d concat → 512-d whitened PCA Hub.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331720"/>
            <a:ext cx="237744" cy="274320"/>
          </a:xfrm>
          <a:prstGeom prst="rect">
            <a:avLst/>
          </a:prstGeom>
          <a:solidFill>
            <a:srgbClr val="0E4C81"/>
          </a:solidFill>
          <a:ln w="12700">
            <a:solidFill>
              <a:srgbClr val="0E4C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2331720"/>
            <a:ext cx="237744" cy="274320"/>
          </a:xfrm>
          <a:prstGeom prst="rect">
            <a:avLst/>
          </a:prstGeom>
          <a:solidFill>
            <a:srgbClr val="0E4C81"/>
          </a:solidFill>
          <a:ln w="12700">
            <a:solidFill>
              <a:srgbClr val="0E4C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48656" y="2331720"/>
            <a:ext cx="237744" cy="274320"/>
          </a:xfrm>
          <a:prstGeom prst="rect">
            <a:avLst/>
          </a:prstGeom>
          <a:solidFill>
            <a:srgbClr val="0E4C81"/>
          </a:solidFill>
          <a:ln w="12700">
            <a:solidFill>
              <a:srgbClr val="0E4C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41264" y="2331720"/>
            <a:ext cx="23774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33872" y="2331720"/>
            <a:ext cx="237744" cy="274320"/>
          </a:xfrm>
          <a:prstGeom prst="rect">
            <a:avLst/>
          </a:prstGeom>
          <a:solidFill>
            <a:srgbClr val="6A3D9A"/>
          </a:solidFill>
          <a:ln w="12700">
            <a:solidFill>
              <a:srgbClr val="6A3D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2331720"/>
            <a:ext cx="23774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331720"/>
            <a:ext cx="23774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724912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spaces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89320" y="2468880"/>
            <a:ext cx="365760" cy="0"/>
          </a:xfrm>
          <a:prstGeom prst="line">
            <a:avLst/>
          </a:prstGeom>
          <a:noFill/>
          <a:ln w="15240">
            <a:solidFill>
              <a:srgbClr val="071A3D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446520" y="210312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8890">
            <a:solidFill>
              <a:srgbClr val="C7B2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56832" y="2231136"/>
            <a:ext cx="7315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512-d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80560" y="3246120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encoder learns one Wₖ: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7492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Xₖ Wₖ ≈ H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48056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encoders → N maps, not N² pairwise adapters.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80560" y="4892040"/>
            <a:ext cx="3200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 R@1 retention: 87.0%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95.6% excluding broken targets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275320" y="960120"/>
            <a:ext cx="3520440" cy="5257800"/>
          </a:xfrm>
          <a:prstGeom prst="roundRect">
            <a:avLst>
              <a:gd name="adj" fmla="val 2078"/>
            </a:avLst>
          </a:prstGeom>
          <a:solidFill>
            <a:srgbClr val="E6F5F2"/>
          </a:solidFill>
          <a:ln w="8890">
            <a:solidFill>
              <a:srgbClr val="A7D8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1115568"/>
            <a:ext cx="2926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Geometry caveats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549640" y="16276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11827"/>
                </a:solidFill>
              </a:rPr>
              <a:t>• 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R² is not reliable for collapsed targets; use R@1 retention for verdict.</a:t>
            </a:r>
            <a:endParaRPr lang="en-US" sz="830" dirty="0"/>
          </a:p>
        </p:txBody>
      </p:sp>
      <p:sp>
        <p:nvSpPr>
          <p:cNvPr id="49" name="Text 47"/>
          <p:cNvSpPr/>
          <p:nvPr/>
        </p:nvSpPr>
        <p:spPr>
          <a:xfrm>
            <a:off x="8549640" y="21031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11827"/>
                </a:solidFill>
              </a:rPr>
              <a:t>• 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GPT-2: good source, bad target.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891540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95.1% out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6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24.8% into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549640" y="34290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11827"/>
                </a:solidFill>
              </a:rPr>
              <a:t>• 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Best transfer width: 512-d, α=0.01.</a:t>
            </a:r>
            <a:endParaRPr lang="en-US" sz="830" dirty="0"/>
          </a:p>
        </p:txBody>
      </p:sp>
      <p:sp>
        <p:nvSpPr>
          <p:cNvPr id="52" name="Text 50"/>
          <p:cNvSpPr/>
          <p:nvPr/>
        </p:nvSpPr>
        <p:spPr>
          <a:xfrm>
            <a:off x="8549640" y="38862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11827"/>
                </a:solidFill>
              </a:rPr>
              <a:t>• 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Going wider introduces whitened-PCA tail noise.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8549640" y="4617720"/>
            <a:ext cx="2788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sentence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49640" y="4919472"/>
            <a:ext cx="2788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Hub does not prove universal identity; it shows a linear coordinate system that preserves usable structure across seven measured spaces.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Infographic summary: similarity = distance-rank shape; shared space = 512-d coordinates; geometry = near/far structure and spectra.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G1 Seven-Space Shared Hub</dc:title>
  <dc:subject>G1 seven-space shared hub tests</dc:subject>
  <dc:creator>OpenAI</dc:creator>
  <cp:lastModifiedBy>OpenAI</cp:lastModifiedBy>
  <cp:revision>1</cp:revision>
  <dcterms:created xsi:type="dcterms:W3CDTF">2026-08-15T23:36:09Z</dcterms:created>
  <dcterms:modified xsi:type="dcterms:W3CDTF">2026-08-15T23:36:09Z</dcterms:modified>
</cp:coreProperties>
</file>