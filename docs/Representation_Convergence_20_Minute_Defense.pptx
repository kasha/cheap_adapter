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a892fc06964dba" /><Relationship Type="http://schemas.openxmlformats.org/officeDocument/2006/relationships/extended-properties" Target="/docProps/app.xml" Id="R9164d813f98a4990" /><Relationship Type="http://schemas.openxmlformats.org/officeDocument/2006/relationships/officeDocument" Target="/ppt/presentation.xml" Id="Rcf84a1274d194d5e" /></Relationships>
</file>

<file path=ppt/presentation.xml><?xml version="1.0" encoding="utf-8"?>
<p:presentation xmlns:p="http://schemas.openxmlformats.org/presentationml/2006/main">
  <p:sldMasterIdLst>
    <p:sldMasterId xmlns:r="http://schemas.openxmlformats.org/officeDocument/2006/relationships" id="2147483648" r:id="Rd0732762312a4039"/>
  </p:sldMasterIdLst>
  <p:notesMasterIdLst>
    <p:notesMasterId xmlns:r="http://schemas.openxmlformats.org/officeDocument/2006/relationships" r:id="R7190a21e74914937"/>
  </p:notesMasterIdLst>
  <p:sldIdLst>
    <p:sldId xmlns:r="http://schemas.openxmlformats.org/officeDocument/2006/relationships" id="256" r:id="Rac80ac812e774a4c"/>
    <p:sldId xmlns:r="http://schemas.openxmlformats.org/officeDocument/2006/relationships" id="257" r:id="Rccf66fb5900d4996"/>
    <p:sldId xmlns:r="http://schemas.openxmlformats.org/officeDocument/2006/relationships" id="258" r:id="Rdb074c06797148ae"/>
    <p:sldId xmlns:r="http://schemas.openxmlformats.org/officeDocument/2006/relationships" id="259" r:id="Rbfa9592a0d134d1f"/>
    <p:sldId xmlns:r="http://schemas.openxmlformats.org/officeDocument/2006/relationships" id="260" r:id="R46807d6e8b274511"/>
    <p:sldId xmlns:r="http://schemas.openxmlformats.org/officeDocument/2006/relationships" id="261" r:id="R5e15de859c114b31"/>
    <p:sldId xmlns:r="http://schemas.openxmlformats.org/officeDocument/2006/relationships" id="262" r:id="Rd47c68fe8dcd4df1"/>
    <p:sldId xmlns:r="http://schemas.openxmlformats.org/officeDocument/2006/relationships" id="263" r:id="Re427c3ec751e4430"/>
    <p:sldId xmlns:r="http://schemas.openxmlformats.org/officeDocument/2006/relationships" id="264" r:id="Rb34d503507584a28"/>
    <p:sldId xmlns:r="http://schemas.openxmlformats.org/officeDocument/2006/relationships" id="265" r:id="R7e731a28e6a04659"/>
    <p:sldId xmlns:r="http://schemas.openxmlformats.org/officeDocument/2006/relationships" id="266" r:id="R2b89428802f04b33"/>
    <p:sldId xmlns:r="http://schemas.openxmlformats.org/officeDocument/2006/relationships" id="267" r:id="R2f09c3fc0d944c37"/>
    <p:sldId xmlns:r="http://schemas.openxmlformats.org/officeDocument/2006/relationships" id="268" r:id="R873f72de1d1f403c"/>
    <p:sldId xmlns:r="http://schemas.openxmlformats.org/officeDocument/2006/relationships" id="269" r:id="R38bc48e0833347d5"/>
    <p:sldId xmlns:r="http://schemas.openxmlformats.org/officeDocument/2006/relationships" id="270" r:id="R43a0d7d9f3ce4d69"/>
    <p:sldId xmlns:r="http://schemas.openxmlformats.org/officeDocument/2006/relationships" id="271" r:id="R3667a2ac269c4d64"/>
    <p:sldId xmlns:r="http://schemas.openxmlformats.org/officeDocument/2006/relationships" id="272" r:id="Rc25d58f7715144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71b2c6e9d14331" /><Relationship Type="http://schemas.openxmlformats.org/officeDocument/2006/relationships/slideMaster" Target="/ppt/slideMasters/slideMaster1.xml" Id="Rd0732762312a4039" /><Relationship Type="http://schemas.openxmlformats.org/officeDocument/2006/relationships/notesMaster" Target="/ppt/notesMasters/notesMaster1.xml" Id="R7190a21e74914937" /><Relationship Type="http://schemas.openxmlformats.org/officeDocument/2006/relationships/presProps" Target="/ppt/presProps.xml" Id="R02a569a2bb664204" /><Relationship Type="http://schemas.openxmlformats.org/officeDocument/2006/relationships/tableStyles" Target="/ppt/tableStyles.xml" Id="Rac888c773b8f45c6" /><Relationship Type="http://schemas.openxmlformats.org/officeDocument/2006/relationships/slide" Target="/ppt/slides/slide1.xml" Id="Rac80ac812e774a4c" /><Relationship Type="http://schemas.openxmlformats.org/officeDocument/2006/relationships/slide" Target="/ppt/slides/slide2.xml" Id="Rccf66fb5900d4996" /><Relationship Type="http://schemas.openxmlformats.org/officeDocument/2006/relationships/slide" Target="/ppt/slides/slide3.xml" Id="Rdb074c06797148ae" /><Relationship Type="http://schemas.openxmlformats.org/officeDocument/2006/relationships/slide" Target="/ppt/slides/slide4.xml" Id="Rbfa9592a0d134d1f" /><Relationship Type="http://schemas.openxmlformats.org/officeDocument/2006/relationships/slide" Target="/ppt/slides/slide5.xml" Id="R46807d6e8b274511" /><Relationship Type="http://schemas.openxmlformats.org/officeDocument/2006/relationships/slide" Target="/ppt/slides/slide6.xml" Id="R5e15de859c114b31" /><Relationship Type="http://schemas.openxmlformats.org/officeDocument/2006/relationships/slide" Target="/ppt/slides/slide7.xml" Id="Rd47c68fe8dcd4df1" /><Relationship Type="http://schemas.openxmlformats.org/officeDocument/2006/relationships/slide" Target="/ppt/slides/slide8.xml" Id="Re427c3ec751e4430" /><Relationship Type="http://schemas.openxmlformats.org/officeDocument/2006/relationships/slide" Target="/ppt/slides/slide9.xml" Id="Rb34d503507584a28" /><Relationship Type="http://schemas.openxmlformats.org/officeDocument/2006/relationships/slide" Target="/ppt/slides/slide10.xml" Id="R7e731a28e6a04659" /><Relationship Type="http://schemas.openxmlformats.org/officeDocument/2006/relationships/slide" Target="/ppt/slides/slide11.xml" Id="R2b89428802f04b33" /><Relationship Type="http://schemas.openxmlformats.org/officeDocument/2006/relationships/slide" Target="/ppt/slides/slide12.xml" Id="R2f09c3fc0d944c37" /><Relationship Type="http://schemas.openxmlformats.org/officeDocument/2006/relationships/slide" Target="/ppt/slides/slide13.xml" Id="R873f72de1d1f403c" /><Relationship Type="http://schemas.openxmlformats.org/officeDocument/2006/relationships/slide" Target="/ppt/slides/slide14.xml" Id="R38bc48e0833347d5" /><Relationship Type="http://schemas.openxmlformats.org/officeDocument/2006/relationships/slide" Target="/ppt/slides/slide15.xml" Id="R43a0d7d9f3ce4d69" /><Relationship Type="http://schemas.openxmlformats.org/officeDocument/2006/relationships/slide" Target="/ppt/slides/slide16.xml" Id="R3667a2ac269c4d64" /><Relationship Type="http://schemas.openxmlformats.org/officeDocument/2006/relationships/slide" Target="/ppt/slides/slide17.xml" Id="Rc25d58f7715144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b6f41b24304c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546bad85ed469a" /><Relationship Type="http://schemas.openxmlformats.org/officeDocument/2006/relationships/notesMaster" Target="/ppt/notesMasters/notesMaster1.xml" Id="R09618c83a93e4b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333d9779254c60" /><Relationship Type="http://schemas.openxmlformats.org/officeDocument/2006/relationships/notesMaster" Target="/ppt/notesMasters/notesMaster1.xml" Id="R2e9b32d7196c45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3767c5b0e345a2" /><Relationship Type="http://schemas.openxmlformats.org/officeDocument/2006/relationships/notesMaster" Target="/ppt/notesMasters/notesMaster1.xml" Id="R7aa1bfb46e2148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93b616254a415b" /><Relationship Type="http://schemas.openxmlformats.org/officeDocument/2006/relationships/notesMaster" Target="/ppt/notesMasters/notesMaster1.xml" Id="Raec13fcc821b48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d322f45e1f4ac8" /><Relationship Type="http://schemas.openxmlformats.org/officeDocument/2006/relationships/notesMaster" Target="/ppt/notesMasters/notesMaster1.xml" Id="Rac082fd1fa1646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956e0e917042fc" /><Relationship Type="http://schemas.openxmlformats.org/officeDocument/2006/relationships/notesMaster" Target="/ppt/notesMasters/notesMaster1.xml" Id="R644e15b56aeb44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df3e436a30431e" /><Relationship Type="http://schemas.openxmlformats.org/officeDocument/2006/relationships/notesMaster" Target="/ppt/notesMasters/notesMaster1.xml" Id="Rd5e182c097a347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9db6b7168b4986" /><Relationship Type="http://schemas.openxmlformats.org/officeDocument/2006/relationships/notesMaster" Target="/ppt/notesMasters/notesMaster1.xml" Id="R9739c8f3797048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fd6f3f99b04ead" /><Relationship Type="http://schemas.openxmlformats.org/officeDocument/2006/relationships/notesMaster" Target="/ppt/notesMasters/notesMaster1.xml" Id="R0b122c9b58e74a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6de62c8874490e" /><Relationship Type="http://schemas.openxmlformats.org/officeDocument/2006/relationships/notesMaster" Target="/ppt/notesMasters/notesMaster1.xml" Id="R29e2cfaa2e164e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4b0da0ea5d409c" /><Relationship Type="http://schemas.openxmlformats.org/officeDocument/2006/relationships/notesMaster" Target="/ppt/notesMasters/notesMaster1.xml" Id="R645f27d0c4474f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10bffcb180412d" /><Relationship Type="http://schemas.openxmlformats.org/officeDocument/2006/relationships/notesMaster" Target="/ppt/notesMasters/notesMaster1.xml" Id="R3543db1c75af4d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6496d7d6c74df1" /><Relationship Type="http://schemas.openxmlformats.org/officeDocument/2006/relationships/notesMaster" Target="/ppt/notesMasters/notesMaster1.xml" Id="R7b11b104178b417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9dbe9541bbd4a7c" /><Relationship Type="http://schemas.openxmlformats.org/officeDocument/2006/relationships/notesMaster" Target="/ppt/notesMasters/notesMaster1.xml" Id="R3d0c0d597242434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e80056056524409" /><Relationship Type="http://schemas.openxmlformats.org/officeDocument/2006/relationships/notesMaster" Target="/ppt/notesMasters/notesMaster1.xml" Id="R07431252e4d5468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4c2bc34e1da446b" /><Relationship Type="http://schemas.openxmlformats.org/officeDocument/2006/relationships/notesMaster" Target="/ppt/notesMasters/notesMaster1.xml" Id="R923dff745da1435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641f3bade9048f9" /><Relationship Type="http://schemas.openxmlformats.org/officeDocument/2006/relationships/notesMaster" Target="/ppt/notesMasters/notesMaster1.xml" Id="Rd6520563e8ce41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core question: models see different data and use different objectives, yet may learn related structures. The project turns that philosophical idea into a falsifiable engineering claim: a small linear map may translate between their coordinates.</a:t>
            </a:r>
          </a:p>
          <a:p xmlns:a="http://schemas.openxmlformats.org/drawingml/2006/main">
            <a:r>
              <a:t/>
            </a:r>
          </a:p>
          <a:p xmlns:a="http://schemas.openxmlformats.org/drawingml/2006/main">
            <a:r>
              <a:t>[Sources]</a:t>
            </a:r>
          </a:p>
          <a:p xmlns:a="http://schemas.openxmlformats.org/drawingml/2006/main">
            <a:r>
              <a:t>- Results_Summary.pdf</a:t>
            </a:r>
          </a:p>
          <a:p xmlns:a="http://schemas.openxmlformats.org/drawingml/2006/main">
            <a:r>
              <a:t>- Final_Project_Report(5).pdf</a:t>
            </a:r>
          </a:p>
          <a:p xmlns:a="http://schemas.openxmlformats.org/drawingml/2006/main">
            <a:r>
              <a:t>- Huh et al. (2024), The Platonic Representation Hypothesis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edited English version of the Hebrew introduction. I was drawn to the contrast between explicit database features and latent neural features, and to the almost alchemical transition from random weights to useful structure. The scientific discipline is to replace wonder with testable claims. Claims such as 'an empire falls every 250 years' are not treated here as established laws; they illustrate the human search for patterns and the need for controls.</a:t>
            </a:r>
          </a:p>
          <a:p xmlns:a="http://schemas.openxmlformats.org/drawingml/2006/main">
            <a:r>
              <a:t/>
            </a:r>
          </a:p>
          <a:p xmlns:a="http://schemas.openxmlformats.org/drawingml/2006/main">
            <a:r>
              <a:t>[Sources]</a:t>
            </a:r>
          </a:p>
          <a:p xmlns:a="http://schemas.openxmlformats.org/drawingml/2006/main">
            <a:r>
              <a:t>- User-provided Hebrew introduction</a:t>
            </a:r>
          </a:p>
          <a:p xmlns:a="http://schemas.openxmlformats.org/drawingml/2006/main">
            <a:r>
              <a:t>- Final_Project_Report(5).pdf, Sections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raw vectors cannot be compared coordinate by coordinate. One is 768-dimensional, the other 1024-dimensional, and cosine across them is meaningless. But within each space, the cat examples may be closer to each other than to an airplane. The project tests whether one matrix W can translate those relationships: x_A W approximately equals x_B.</a:t>
            </a:r>
          </a:p>
          <a:p xmlns:a="http://schemas.openxmlformats.org/drawingml/2006/main">
            <a:r>
              <a:t/>
            </a:r>
          </a:p>
          <a:p xmlns:a="http://schemas.openxmlformats.org/drawingml/2006/main">
            <a:r>
              <a:t>[Sources]</a:t>
            </a:r>
          </a:p>
          <a:p xmlns:a="http://schemas.openxmlformats.org/drawingml/2006/main">
            <a:r>
              <a:t>- Project_Atlas(1).pdf, Section 1</a:t>
            </a:r>
          </a:p>
          <a:p xmlns:a="http://schemas.openxmlformats.org/drawingml/2006/main">
            <a:r>
              <a:t>- Final_Project_Report(5).pdf, Appendix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questions separate scientific evidence from product value. A linear map is deliberately weak: if it succeeds on held-out data and beats controls, it reveals a pre-existing correspondence rather than learning an arbitrary task.</a:t>
            </a:r>
          </a:p>
          <a:p xmlns:a="http://schemas.openxmlformats.org/drawingml/2006/main">
            <a:r>
              <a:t/>
            </a:r>
          </a:p>
          <a:p xmlns:a="http://schemas.openxmlformats.org/drawingml/2006/main">
            <a:r>
              <a:t>[Sources]</a:t>
            </a:r>
          </a:p>
          <a:p xmlns:a="http://schemas.openxmlformats.org/drawingml/2006/main">
            <a:r>
              <a:t>- Defense_Brief(2).pdf</a:t>
            </a:r>
          </a:p>
          <a:p xmlns:a="http://schemas.openxmlformats.org/drawingml/2006/main">
            <a:r>
              <a:t>- Final_Project_Report(5).pdf, Sections 2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distinguished coordinate agreement, shape agreement, neighborhood agreement, functional transfer and semantic usefulness. A key lesson is that high cosine can be meaningless in a collapsed anisotropic space, while low raw coordinate agreement can hide a usable linear correspondence.</a:t>
            </a:r>
          </a:p>
          <a:p xmlns:a="http://schemas.openxmlformats.org/drawingml/2006/main">
            <a:r>
              <a:t/>
            </a:r>
          </a:p>
          <a:p xmlns:a="http://schemas.openxmlformats.org/drawingml/2006/main">
            <a:r>
              <a:t>[Sources]</a:t>
            </a:r>
          </a:p>
          <a:p xmlns:a="http://schemas.openxmlformats.org/drawingml/2006/main">
            <a:r>
              <a:t>- Embedding_Spaces_Corrections_and_Figures.pdf</a:t>
            </a:r>
          </a:p>
          <a:p xmlns:a="http://schemas.openxmlformats.org/drawingml/2006/main">
            <a:r>
              <a:t>- Final_Project_Report(5).pdf, Section 2 and Appendices C.6-C.12</a:t>
            </a:r>
          </a:p>
          <a:p xmlns:a="http://schemas.openxmlformats.org/drawingml/2006/main">
            <a:r>
              <a:t>- similarity_explained.png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the project map. The two main systems in today's talk are B/F, the deployable two-model adapter, and G/K, the many-model Hub. The other tracks explain why those systems work and where their boundaries are.</a:t>
            </a:r>
          </a:p>
          <a:p xmlns:a="http://schemas.openxmlformats.org/drawingml/2006/main">
            <a:r>
              <a:t/>
            </a:r>
          </a:p>
          <a:p xmlns:a="http://schemas.openxmlformats.org/drawingml/2006/main">
            <a:r>
              <a:t>[Sources]</a:t>
            </a:r>
          </a:p>
          <a:p xmlns:a="http://schemas.openxmlformats.org/drawingml/2006/main">
            <a:r>
              <a:t>- Results_Summary.pdf</a:t>
            </a:r>
          </a:p>
          <a:p xmlns:a="http://schemas.openxmlformats.org/drawingml/2006/main">
            <a:r>
              <a:t>- Project_Atlas(1).pdf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encoders remain frozen. Ridge regression fits W in closed form from 3,000 paired image embeddings, and 1,000 images remain untouched for evaluation. At runtime, only the phone image vector is translated. Server text queries remain native SigLIP vectors.</a:t>
            </a:r>
          </a:p>
          <a:p xmlns:a="http://schemas.openxmlformats.org/drawingml/2006/main">
            <a:r>
              <a:t/>
            </a:r>
          </a:p>
          <a:p xmlns:a="http://schemas.openxmlformats.org/drawingml/2006/main">
            <a:r>
              <a:t>[Sources]</a:t>
            </a:r>
          </a:p>
          <a:p xmlns:a="http://schemas.openxmlformats.org/drawingml/2006/main">
            <a:r>
              <a:t>- Final_Project_Report(5).pdf, Sections 4.1-4.6</a:t>
            </a:r>
          </a:p>
          <a:p xmlns:a="http://schemas.openxmlformats.org/drawingml/2006/main">
            <a:r>
              <a:t>- Vasu et al. (2024), MobileCLIP</a:t>
            </a:r>
          </a:p>
          <a:p xmlns:a="http://schemas.openxmlformats.org/drawingml/2006/main">
            <a:r>
              <a:t>- Tschannen et al. (2025), SigLIP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MLP had about 1.3 million parameters and optimized cosine loss for up to 300 epochs, yet gained only 0.003. On a fresh 38,000-row corpus it converged to exactly the linear result, 0.9183 to four decimals. Procrustes failed because the relation is not merely a rotation: scaling and anisotropy matter.</a:t>
            </a:r>
          </a:p>
          <a:p xmlns:a="http://schemas.openxmlformats.org/drawingml/2006/main">
            <a:r>
              <a:t/>
            </a:r>
          </a:p>
          <a:p xmlns:a="http://schemas.openxmlformats.org/drawingml/2006/main">
            <a:r>
              <a:t>[Sources]</a:t>
            </a:r>
          </a:p>
          <a:p xmlns:a="http://schemas.openxmlformats.org/drawingml/2006/main">
            <a:r>
              <a:t>- Results_Summary.pdf, Experiment B and Series F</a:t>
            </a:r>
          </a:p>
          <a:p xmlns:a="http://schemas.openxmlformats.org/drawingml/2006/main">
            <a:r>
              <a:t>- Final_Project_Report(5).pdf, Sections 4.3-4.4</a:t>
            </a:r>
          </a:p>
          <a:p xmlns:a="http://schemas.openxmlformats.org/drawingml/2006/main">
            <a:r>
              <a:t>- mlp_vs_linear.png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operational result is 88.4% of native at R@1, 95.3% at R@5 and 97.2% at R@10. The project chose to ship the linear map because the nonlinear alternative added complexity without value. The live demo showed compositional retrieval, negative controls and fp16 parity.</a:t>
            </a:r>
          </a:p>
          <a:p xmlns:a="http://schemas.openxmlformats.org/drawingml/2006/main">
            <a:r>
              <a:t/>
            </a:r>
          </a:p>
          <a:p xmlns:a="http://schemas.openxmlformats.org/drawingml/2006/main">
            <a:r>
              <a:t>[Sources]</a:t>
            </a:r>
          </a:p>
          <a:p xmlns:a="http://schemas.openxmlformats.org/drawingml/2006/main">
            <a:r>
              <a:t>- Results_Summary.pdf, Experiment B</a:t>
            </a:r>
          </a:p>
          <a:p xmlns:a="http://schemas.openxmlformats.org/drawingml/2006/main">
            <a:r>
              <a:t>- Final_Project_Report(5).pdf, Sections 4.5-4.6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Hub is not DINOv2-small. It is a single 512-dimensional PCA coordinate system built jointly from seven standardized spaces. DINOv2-small supplies the training route for one caption head, but every encoder receives an independent map into the frozen Hub.</a:t>
            </a:r>
          </a:p>
          <a:p xmlns:a="http://schemas.openxmlformats.org/drawingml/2006/main">
            <a:r>
              <a:t/>
            </a:r>
          </a:p>
          <a:p xmlns:a="http://schemas.openxmlformats.org/drawingml/2006/main">
            <a:r>
              <a:t>[Sources]</a:t>
            </a:r>
          </a:p>
          <a:p xmlns:a="http://schemas.openxmlformats.org/drawingml/2006/main">
            <a:r>
              <a:t>- Results_Summary.pdf, Series G</a:t>
            </a:r>
          </a:p>
          <a:p xmlns:a="http://schemas.openxmlformats.org/drawingml/2006/main">
            <a:r>
              <a:t>- Final_Project_Report(5).pdf, Appendix C.13</a:t>
            </a:r>
          </a:p>
          <a:p xmlns:a="http://schemas.openxmlformats.org/drawingml/2006/main">
            <a:r>
              <a:t>- hub_full_flow_diagram.png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reproduced G0 protocol returned the published SigLIP 94.2% to the decimal. ConvNeXt-base reached 96.7%, above the within-family band. Therefore shared ancestry and transformer architecture do not explain the transfer. But no result yet simultaneously changes architecture, modality and objective.</a:t>
            </a:r>
          </a:p>
          <a:p xmlns:a="http://schemas.openxmlformats.org/drawingml/2006/main">
            <a:r>
              <a:t/>
            </a:r>
          </a:p>
          <a:p xmlns:a="http://schemas.openxmlformats.org/drawingml/2006/main">
            <a:r>
              <a:t>[Sources]</a:t>
            </a:r>
          </a:p>
          <a:p xmlns:a="http://schemas.openxmlformats.org/drawingml/2006/main">
            <a:r>
              <a:t>- Results_Summary.pdf, G0 and G4-conv addenda</a:t>
            </a:r>
          </a:p>
          <a:p xmlns:a="http://schemas.openxmlformats.org/drawingml/2006/main">
            <a:r>
              <a:t>- Final_Project_Report(5).pdf, C.13.2 and Appendix E.2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Adding BERT and Sentence-BERT left transfer statistically unchanged: 0.451 versus 0.445. This is the useful result - the shared space absorbed new objectives without harming existing components. Five weak cases all wrote into GPT-2's collapsed geometry; reading out of GPT-2 remained strong.</a:t>
            </a:r>
          </a:p>
          <a:p xmlns:a="http://schemas.openxmlformats.org/drawingml/2006/main">
            <a:r>
              <a:t/>
            </a:r>
          </a:p>
          <a:p xmlns:a="http://schemas.openxmlformats.org/drawingml/2006/main">
            <a:r>
              <a:t>[Sources]</a:t>
            </a:r>
          </a:p>
          <a:p xmlns:a="http://schemas.openxmlformats.org/drawingml/2006/main">
            <a:r>
              <a:t>- Results_Summary.pdf, G1 extended and G10</a:t>
            </a:r>
          </a:p>
          <a:p xmlns:a="http://schemas.openxmlformats.org/drawingml/2006/main">
            <a:r>
              <a:t>- auc_hub_seven.png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fitting any map, bge-SBERT showed the strongest shape agreement despite sharing no lineage - they share a contrastive objective. Exploratory grouping ranked objective above lineage above modality. This is not causal proof, because factors remain confounded. CKNNA and permutation-calibrated CKA supported the local-over-global conclusion.</a:t>
            </a:r>
          </a:p>
          <a:p xmlns:a="http://schemas.openxmlformats.org/drawingml/2006/main">
            <a:r>
              <a:t/>
            </a:r>
          </a:p>
          <a:p xmlns:a="http://schemas.openxmlformats.org/drawingml/2006/main">
            <a:r>
              <a:t>[Sources]</a:t>
            </a:r>
          </a:p>
          <a:p xmlns:a="http://schemas.openxmlformats.org/drawingml/2006/main">
            <a:r>
              <a:t>- Results_Summary.pdf, G5, K1-K3</a:t>
            </a:r>
          </a:p>
          <a:p xmlns:a="http://schemas.openxmlformats.org/drawingml/2006/main">
            <a:r>
              <a:t>- shape agreement.png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Whitening rescued GPT-2 retrieval because cosine needs an isotropic space. Yet whitening destroyed Gromov-Wasserstein matching, because uneven variance made points distinctive. Separately, the Hub width cliff was traced to one near-null singular direction exactly when width reached source rank. It was a numerical artifact, not evidence against shared structure.</a:t>
            </a:r>
          </a:p>
          <a:p xmlns:a="http://schemas.openxmlformats.org/drawingml/2006/main">
            <a:r>
              <a:t/>
            </a:r>
          </a:p>
          <a:p xmlns:a="http://schemas.openxmlformats.org/drawingml/2006/main">
            <a:r>
              <a:t>[Sources]</a:t>
            </a:r>
          </a:p>
          <a:p xmlns:a="http://schemas.openxmlformats.org/drawingml/2006/main">
            <a:r>
              <a:t>- Results_Summary.pdf, E1.2, C.12, G9-G16</a:t>
            </a:r>
          </a:p>
          <a:p xmlns:a="http://schemas.openxmlformats.org/drawingml/2006/main">
            <a:r>
              <a:t>- Status_Report(2).pdf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emphasizes the most recent experiments. It also distinguishes how the models were trained: DINOv2 is self-supervised on images; MobileCLIP is distilled from contrastive teachers; SigLIP uses a sigmoid image-text objective; bge and SBERT are similarity-oriented text encoders; GPT-2 is next-token prediction; BERT is masked-language modeling; ConvNeXt is supervised here on ImageNet-22K.</a:t>
            </a:r>
          </a:p>
          <a:p xmlns:a="http://schemas.openxmlformats.org/drawingml/2006/main">
            <a:r>
              <a:t/>
            </a:r>
          </a:p>
          <a:p xmlns:a="http://schemas.openxmlformats.org/drawingml/2006/main">
            <a:r>
              <a:t>[Sources]</a:t>
            </a:r>
          </a:p>
          <a:p xmlns:a="http://schemas.openxmlformats.org/drawingml/2006/main">
            <a:r>
              <a:t>- Results_Summary.pdf, 23-24 August 2026 addenda</a:t>
            </a:r>
          </a:p>
          <a:p xmlns:a="http://schemas.openxmlformats.org/drawingml/2006/main">
            <a:r>
              <a:t>- Project_Atlas(1).pdf</a:t>
            </a:r>
          </a:p>
          <a:p xmlns:a="http://schemas.openxmlformats.org/drawingml/2006/main">
            <a:r>
              <a:t>- Final_Project_Report(5).pdf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records its own errors rather than hiding them. Each error generated a reusable engineering guard. That makes the final claims narrower, but more defensible.</a:t>
            </a:r>
          </a:p>
          <a:p xmlns:a="http://schemas.openxmlformats.org/drawingml/2006/main">
            <a:r>
              <a:t/>
            </a:r>
          </a:p>
          <a:p xmlns:a="http://schemas.openxmlformats.org/drawingml/2006/main">
            <a:r>
              <a:t>[Sources]</a:t>
            </a:r>
          </a:p>
          <a:p xmlns:a="http://schemas.openxmlformats.org/drawingml/2006/main">
            <a:r>
              <a:t>- Results_Summary.pdf, Series H/V and G13</a:t>
            </a:r>
          </a:p>
          <a:p xmlns:a="http://schemas.openxmlformats.org/drawingml/2006/main">
            <a:r>
              <a:t>- Status_Report(2).pdf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opening wonder. The project does not prove one universal representation. It establishes a bounded, constructive result: across the tested models and data, useful structure survives a simple linear change of coordinates. The next step is to break the remaining confounds, not to broaden the claim beyond the evidence.</a:t>
            </a:r>
          </a:p>
          <a:p xmlns:a="http://schemas.openxmlformats.org/drawingml/2006/main">
            <a:r>
              <a:t/>
            </a:r>
          </a:p>
          <a:p xmlns:a="http://schemas.openxmlformats.org/drawingml/2006/main">
            <a:r>
              <a:t>[Sources]</a:t>
            </a:r>
          </a:p>
          <a:p xmlns:a="http://schemas.openxmlformats.org/drawingml/2006/main">
            <a:r>
              <a:t>- Results_Summary.pdf</a:t>
            </a:r>
          </a:p>
          <a:p xmlns:a="http://schemas.openxmlformats.org/drawingml/2006/main">
            <a:r>
              <a:t>- Final_Project_Report(5).pdf, References</a:t>
            </a:r>
          </a:p>
          <a:p xmlns:a="http://schemas.openxmlformats.org/drawingml/2006/main">
            <a:r>
              <a:t>- Kornblith et al. (2019)</a:t>
            </a:r>
          </a:p>
          <a:p xmlns:a="http://schemas.openxmlformats.org/drawingml/2006/main">
            <a:r>
              <a:t>- Bansal et al. (2021)</a:t>
            </a:r>
          </a:p>
          <a:p xmlns:a="http://schemas.openxmlformats.org/drawingml/2006/main">
            <a:r>
              <a:t>- Huh et al. (2024)</a:t>
            </a:r>
          </a:p>
          <a:p xmlns:a="http://schemas.openxmlformats.org/drawingml/2006/main">
            <a:r>
              <a:t>- Vasu et al. (2024)</a:t>
            </a:r>
          </a:p>
          <a:p xmlns:a="http://schemas.openxmlformats.org/drawingml/2006/main">
            <a:r>
              <a:t>- Tschannen et al. (2025)</a:t>
            </a:r>
          </a:p>
          <a:p xmlns:a="http://schemas.openxmlformats.org/drawingml/2006/main">
            <a:r>
              <a:t>- Jha et al.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684a62e63a45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bc94d6c7ed41ca" /><Relationship Type="http://schemas.openxmlformats.org/officeDocument/2006/relationships/slideLayout" Target="/ppt/slideLayouts/slideLayout1.xml" Id="R01613b5c880148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613b5c880148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00d405599d4e7d" /><Relationship Type="http://schemas.openxmlformats.org/officeDocument/2006/relationships/image" Target="/ppt/media/image.png" Id="R30f07d7aeb234897" /><Relationship Type="http://schemas.openxmlformats.org/officeDocument/2006/relationships/notesSlide" Target="/ppt/notesSlides/notesSlide1.xml" Id="R665d242c22b948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e48385aca34919" /><Relationship Type="http://schemas.openxmlformats.org/officeDocument/2006/relationships/notesSlide" Target="/ppt/notesSlides/notesSlide2.xml" Id="R9f9d31dea4474d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07585d4581d4a2a" /><Relationship Type="http://schemas.openxmlformats.org/officeDocument/2006/relationships/notesSlide" Target="/ppt/notesSlides/notesSlide3.xml" Id="R4068641709dd4f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e59636e74c457c" /><Relationship Type="http://schemas.openxmlformats.org/officeDocument/2006/relationships/notesSlide" Target="/ppt/notesSlides/notesSlide4.xml" Id="Rdbe7fc3f778d42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67c7a7915246d0" /><Relationship Type="http://schemas.openxmlformats.org/officeDocument/2006/relationships/image" Target="/ppt/media/image2.png" Id="R0aa43c09760f4e1e" /><Relationship Type="http://schemas.openxmlformats.org/officeDocument/2006/relationships/notesSlide" Target="/ppt/notesSlides/notesSlide5.xml" Id="R568da30c502b4f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b8148e4a6148c2" /><Relationship Type="http://schemas.openxmlformats.org/officeDocument/2006/relationships/notesSlide" Target="/ppt/notesSlides/notesSlide6.xml" Id="Rbb27a61ebbe944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7eb7dac040f4ffe" /><Relationship Type="http://schemas.openxmlformats.org/officeDocument/2006/relationships/notesSlide" Target="/ppt/notesSlides/notesSlide7.xml" Id="R882f3c2b4d5147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2861d1e91974108" /><Relationship Type="http://schemas.openxmlformats.org/officeDocument/2006/relationships/image" Target="/ppt/media/image3.png" Id="R951d30a5eb1f400c" /><Relationship Type="http://schemas.openxmlformats.org/officeDocument/2006/relationships/notesSlide" Target="/ppt/notesSlides/notesSlide8.xml" Id="R75f20774b2d946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f49ab46edfb4e00" /><Relationship Type="http://schemas.openxmlformats.org/officeDocument/2006/relationships/chart" Target="/ppt/slides/charts/chart1.xml" Id="R33863372f8a54c9b" /><Relationship Type="http://schemas.openxmlformats.org/officeDocument/2006/relationships/notesSlide" Target="/ppt/notesSlides/notesSlide9.xml" Id="R9bd939df2dcf40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7b822fa7fc34a31" /><Relationship Type="http://schemas.openxmlformats.org/officeDocument/2006/relationships/image" Target="/ppt/media/image4.png" Id="R4d0b08b821c04211" /><Relationship Type="http://schemas.openxmlformats.org/officeDocument/2006/relationships/notesSlide" Target="/ppt/notesSlides/notesSlide10.xml" Id="R2be85dc2ba3647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ab3539b02744695" /><Relationship Type="http://schemas.openxmlformats.org/officeDocument/2006/relationships/chart" Target="/ppt/slides/charts/chart2.xml" Id="R9fd04f5d12004d63" /><Relationship Type="http://schemas.openxmlformats.org/officeDocument/2006/relationships/notesSlide" Target="/ppt/notesSlides/notesSlide11.xml" Id="R33f72849ae8942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05b9ade2f3d47f0" /><Relationship Type="http://schemas.openxmlformats.org/officeDocument/2006/relationships/image" Target="/ppt/media/image5.png" Id="R4088b97c80394d3f" /><Relationship Type="http://schemas.openxmlformats.org/officeDocument/2006/relationships/notesSlide" Target="/ppt/notesSlides/notesSlide12.xml" Id="R12ab0a42710446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eb98c36c0024d82" /><Relationship Type="http://schemas.openxmlformats.org/officeDocument/2006/relationships/image" Target="/ppt/media/image6.png" Id="Rb66ccd5136324be7" /><Relationship Type="http://schemas.openxmlformats.org/officeDocument/2006/relationships/notesSlide" Target="/ppt/notesSlides/notesSlide13.xml" Id="R7c57449952a142e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7f93ffa8a1743c9" /><Relationship Type="http://schemas.openxmlformats.org/officeDocument/2006/relationships/notesSlide" Target="/ppt/notesSlides/notesSlide14.xml" Id="R529cf00af27e4d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f7206ef2c5a4468" /><Relationship Type="http://schemas.openxmlformats.org/officeDocument/2006/relationships/notesSlide" Target="/ppt/notesSlides/notesSlide15.xml" Id="Rddc5c5ae9d3648d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30b41ebe7ee4109" /><Relationship Type="http://schemas.openxmlformats.org/officeDocument/2006/relationships/notesSlide" Target="/ppt/notesSlides/notesSlide16.xml" Id="Rf2295dcadb444ce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f5ec28e51564b53" /><Relationship Type="http://schemas.openxmlformats.org/officeDocument/2006/relationships/notesSlide" Target="/ppt/notesSlides/notesSlide17.xml" Id="R68d8c74816c84256" /></Relationships>
</file>

<file path=ppt/slides/charts/chart1.xml><?xml version="1.0" encoding="utf-8"?>
<c:chartSpace xmlns:c="http://schemas.openxmlformats.org/drawingml/2006/chart">
  <c:lang val="en-US"/>
  <c:chart>
    <c:plotArea>
      <c:barChart>
        <c:barDir val="col"/>
        <c:varyColors val="0"/>
        <c:ser>
          <c:idx val="0"/>
          <c:order val="0"/>
          <c:tx>
            <c:v>R@1</c:v>
          </c:tx>
          <c:spPr>
            <a:solidFill xmlns:a="http://schemas.openxmlformats.org/drawingml/2006/main">
              <a:srgbClr val="3D8DFF"/>
            </a:solidFill>
          </c:spPr>
          <c:cat>
            <c:strLit>
              <c:ptCount val="3"/>
              <c:pt idx="0">
                <c:v>Native SigLIP</c:v>
              </c:pt>
              <c:pt idx="1">
                <c:v>Linear adapter</c:v>
              </c:pt>
              <c:pt idx="2">
                <c:v>No adapter</c:v>
              </c:pt>
            </c:strLit>
          </c:cat>
          <c:val>
            <c:numLit>
              <c:formatCode>General</c:formatCode>
              <c:ptCount val="3"/>
              <c:pt idx="0">
                <c:v>0.63</c:v>
              </c:pt>
              <c:pt idx="1">
                <c:v>0.557</c:v>
              </c:pt>
              <c:pt idx="2">
                <c:v>0.001</c:v>
              </c:pt>
            </c:numLit>
          </c:val>
        </c:ser>
        <c:ser>
          <c:idx val="1"/>
          <c:order val="1"/>
          <c:tx>
            <c:v>R@5</c:v>
          </c:tx>
          <c:spPr>
            <a:solidFill xmlns:a="http://schemas.openxmlformats.org/drawingml/2006/main">
              <a:srgbClr val="6DCBF4"/>
            </a:solidFill>
          </c:spPr>
          <c:cat>
            <c:strLit>
              <c:ptCount val="3"/>
              <c:pt idx="0">
                <c:v>Native SigLIP</c:v>
              </c:pt>
              <c:pt idx="1">
                <c:v>Linear adapter</c:v>
              </c:pt>
              <c:pt idx="2">
                <c:v>No adapter</c:v>
              </c:pt>
            </c:strLit>
          </c:cat>
          <c:val>
            <c:numLit>
              <c:formatCode>General</c:formatCode>
              <c:ptCount val="3"/>
              <c:pt idx="0">
                <c:v>0.885</c:v>
              </c:pt>
              <c:pt idx="1">
                <c:v>0.843</c:v>
              </c:pt>
              <c:pt idx="2">
                <c:v>0.005</c:v>
              </c:pt>
            </c:numLit>
          </c:val>
        </c:ser>
        <c:ser>
          <c:idx val="2"/>
          <c:order val="2"/>
          <c:tx>
            <c:v>R@10</c:v>
          </c:tx>
          <c:spPr>
            <a:solidFill xmlns:a="http://schemas.openxmlformats.org/drawingml/2006/main">
              <a:srgbClr val="0C7C86"/>
            </a:solidFill>
          </c:spPr>
          <c:cat>
            <c:strLit>
              <c:ptCount val="3"/>
              <c:pt idx="0">
                <c:v>Native SigLIP</c:v>
              </c:pt>
              <c:pt idx="1">
                <c:v>Linear adapter</c:v>
              </c:pt>
              <c:pt idx="2">
                <c:v>No adapter</c:v>
              </c:pt>
            </c:strLit>
          </c:cat>
          <c:val>
            <c:numLit>
              <c:formatCode>General</c:formatCode>
              <c:ptCount val="3"/>
              <c:pt idx="0">
                <c:v>0.944</c:v>
              </c:pt>
              <c:pt idx="1">
                <c:v>0.918</c:v>
              </c:pt>
              <c:pt idx="2">
                <c:v>0.01</c:v>
              </c:pt>
            </c:numLit>
          </c:val>
        </c:ser>
        <c:dLbls>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1"/>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0.2"/>
      </c:valAx>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varyColors val="0"/>
        <c:ser>
          <c:idx val="0"/>
          <c:order val="0"/>
          <c:tx>
            <c:v>Transferred head as % of native</c:v>
          </c:tx>
          <c:spPr>
            <a:solidFill xmlns:a="http://schemas.openxmlformats.org/drawingml/2006/main">
              <a:srgbClr val="3D8DFF"/>
            </a:solidFill>
          </c:spPr>
          <c:cat>
            <c:strLit>
              <c:ptCount val="4"/>
              <c:pt idx="0">
                <c:v>DINOv2-B</c:v>
              </c:pt>
              <c:pt idx="1">
                <c:v>DINOv2-L</c:v>
              </c:pt>
              <c:pt idx="2">
                <c:v>SigLIP 2</c:v>
              </c:pt>
              <c:pt idx="3">
                <c:v>ConvNeXt-B</c:v>
              </c:pt>
            </c:strLit>
          </c:cat>
          <c:val>
            <c:numLit>
              <c:formatCode>General</c:formatCode>
              <c:ptCount val="4"/>
              <c:pt idx="0">
                <c:v>96.5</c:v>
              </c:pt>
              <c:pt idx="1">
                <c:v>93.8</c:v>
              </c:pt>
              <c:pt idx="2">
                <c:v>94.2</c:v>
              </c:pt>
              <c:pt idx="3">
                <c:v>96.7</c:v>
              </c:pt>
            </c:numLit>
          </c:val>
        </c:ser>
        <c:dLbls>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100"/>
          <c:min val="85"/>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5"/>
      </c:valAx>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580A94-F9CF-4B59-8D94-A15C7D2F157D}"/>
              </a:ext>
            </a:extLst>
          </p:cNvPr>
          <p:cNvSpPr>
            <a:spLocks xmlns:a="http://schemas.openxmlformats.org/drawingml/2006/main" noGrp="1"/>
          </p:cNvSpPr>
          <p:nvPr/>
        </p:nvSpPr>
        <p:spPr>
          <a:xfrm xmlns:a="http://schemas.openxmlformats.org/drawingml/2006/main">
            <a:off x="4953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REPRESENTATION CONVERGENCE</a:t>
            </a:r>
          </a:p>
        </p:txBody>
      </p:sp>
      <p:sp>
        <p:nvSpPr>
          <p:cNvPr id="2" name="">
            <a:extLst xmlns:a="http://schemas.openxmlformats.org/drawingml/2006/main">
              <a:ext uri="{FF2B5EF4-FFF2-40B4-BE49-F238E27FC236}">
                <a16:creationId xmlns:a16="http://schemas.microsoft.com/office/drawing/2014/main" id="{4B0EFFD3-419D-4494-A6FF-FFFBA6FBC945}"/>
              </a:ext>
            </a:extLst>
          </p:cNvPr>
          <p:cNvSpPr>
            <a:spLocks xmlns:a="http://schemas.openxmlformats.org/drawingml/2006/main" noGrp="1"/>
          </p:cNvSpPr>
          <p:nvPr/>
        </p:nvSpPr>
        <p:spPr>
          <a:xfrm xmlns:a="http://schemas.openxmlformats.org/drawingml/2006/main">
            <a:off x="495300" y="1143000"/>
            <a:ext cx="5524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398"/>
          </a:bodyPr>
          <a:lstStyle xmlns:a="http://schemas.openxmlformats.org/drawingml/2006/main"/>
          <a:p xmlns:a="http://schemas.openxmlformats.org/drawingml/2006/main">
            <a:pPr algn="l">
              <a:defRPr sz="4350" b="1">
                <a:solidFill>
                  <a:srgbClr val="101820"/>
                </a:solidFill>
                <a:latin typeface="Arial"/>
                <a:ea typeface="Arial"/>
                <a:cs typeface="Arial"/>
              </a:defRPr>
            </a:pPr>
            <a:r>
              <a:rPr sz="4350" b="1">
                <a:solidFill>
                  <a:srgbClr val="101820"/>
                </a:solidFill>
                <a:latin typeface="Arial"/>
                <a:ea typeface="Arial"/>
                <a:cs typeface="Arial"/>
              </a:rPr>
              <a:t>Do Different Models</a:t>
            </a:r>
          </a:p>
          <a:p xmlns:a="http://schemas.openxmlformats.org/drawingml/2006/main">
            <a:pPr algn="l">
              <a:defRPr sz="4350" b="1">
                <a:solidFill>
                  <a:srgbClr val="101820"/>
                </a:solidFill>
                <a:latin typeface="Arial"/>
                <a:ea typeface="Arial"/>
                <a:cs typeface="Arial"/>
              </a:defRPr>
            </a:pPr>
            <a:r>
              <a:rPr sz="4350" b="1">
                <a:solidFill>
                  <a:srgbClr val="101820"/>
                </a:solidFill>
                <a:latin typeface="Arial"/>
                <a:ea typeface="Arial"/>
                <a:cs typeface="Arial"/>
              </a:rPr>
              <a:t>Discover the Same World?</a:t>
            </a:r>
          </a:p>
        </p:txBody>
      </p:sp>
      <p:sp>
        <p:nvSpPr>
          <p:cNvPr id="3" name="">
            <a:extLst xmlns:a="http://schemas.openxmlformats.org/drawingml/2006/main">
              <a:ext uri="{FF2B5EF4-FFF2-40B4-BE49-F238E27FC236}">
                <a16:creationId xmlns:a16="http://schemas.microsoft.com/office/drawing/2014/main" id="{36CC5B1D-FB47-47CE-BD54-B41BD5CA1A9C}"/>
              </a:ext>
            </a:extLst>
          </p:cNvPr>
          <p:cNvSpPr>
            <a:spLocks xmlns:a="http://schemas.openxmlformats.org/drawingml/2006/main" noGrp="1"/>
          </p:cNvSpPr>
          <p:nvPr/>
        </p:nvSpPr>
        <p:spPr>
          <a:xfrm xmlns:a="http://schemas.openxmlformats.org/drawingml/2006/main">
            <a:off x="495300" y="3257550"/>
            <a:ext cx="5429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0">
                <a:solidFill>
                  <a:srgbClr val="5F6972"/>
                </a:solidFill>
                <a:latin typeface="Arial"/>
                <a:ea typeface="Arial"/>
                <a:cs typeface="Arial"/>
              </a:defRPr>
            </a:pPr>
            <a:r>
              <a:rPr sz="1950" b="0">
                <a:solidFill>
                  <a:srgbClr val="5F6972"/>
                </a:solidFill>
                <a:latin typeface="Arial"/>
                <a:ea typeface="Arial"/>
                <a:cs typeface="Arial"/>
              </a:rPr>
              <a:t>From a deployable MobileCLIP-SigLIP adapter</a:t>
            </a:r>
          </a:p>
          <a:p xmlns:a="http://schemas.openxmlformats.org/drawingml/2006/main">
            <a:pPr algn="l">
              <a:defRPr sz="1950" b="0">
                <a:solidFill>
                  <a:srgbClr val="5F6972"/>
                </a:solidFill>
                <a:latin typeface="Arial"/>
                <a:ea typeface="Arial"/>
                <a:cs typeface="Arial"/>
              </a:defRPr>
            </a:pPr>
            <a:r>
              <a:rPr sz="1950" b="0">
                <a:solidFill>
                  <a:srgbClr val="5F6972"/>
                </a:solidFill>
                <a:latin typeface="Arial"/>
                <a:ea typeface="Arial"/>
                <a:cs typeface="Arial"/>
              </a:rPr>
              <a:t>to a seven-encoder shared Hub</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0f07d7aeb234897"/>
          <a:stretch xmlns:a="http://schemas.openxmlformats.org/drawingml/2006/main"/>
        </p:blipFill>
        <p:spPr>
          <a:xfrm xmlns:a="http://schemas.openxmlformats.org/drawingml/2006/main">
            <a:off x="6191250" y="1644415"/>
            <a:ext cx="5524500" cy="191182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7C5B838-1DC5-4CAE-869D-7A65E851ADEC}"/>
              </a:ext>
            </a:extLst>
          </p:cNvPr>
          <p:cNvSpPr>
            <a:spLocks xmlns:a="http://schemas.openxmlformats.org/drawingml/2006/main" noGrp="1"/>
          </p:cNvSpPr>
          <p:nvPr/>
        </p:nvSpPr>
        <p:spPr>
          <a:xfrm xmlns:a="http://schemas.openxmlformats.org/drawingml/2006/main">
            <a:off x="495300" y="59055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01820"/>
                </a:solidFill>
                <a:latin typeface="Arial"/>
                <a:ea typeface="Arial"/>
                <a:cs typeface="Arial"/>
              </a:defRPr>
            </a:pPr>
            <a:r>
              <a:rPr sz="1350" b="1">
                <a:solidFill>
                  <a:srgbClr val="101820"/>
                </a:solidFill>
                <a:latin typeface="Arial"/>
                <a:ea typeface="Arial"/>
                <a:cs typeface="Arial"/>
              </a:rPr>
              <a:t>20-minute project defense</a:t>
            </a:r>
          </a:p>
        </p:txBody>
      </p:sp>
    </p:spTree>
    <p:extLst>
      <p:ext uri="{BB962C8B-B14F-4D97-AF65-F5344CB8AC3E}">
        <p14:creationId xmlns:p14="http://schemas.microsoft.com/office/powerpoint/2010/main" val="106479488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57D71B9-766D-4C1B-AF1E-A0116A8EAAC6}"/>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The project began with a fascination for hidden regularity</a:t>
            </a:r>
          </a:p>
        </p:txBody>
      </p:sp>
      <p:cxnSp>
        <p:nvCxnSpPr>
          <p:cNvPr id="15"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8B7A9649-4FC9-4B00-8307-0758A31DA04A}"/>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DC59AB6C-0A54-4C09-B417-12893CFD724E}"/>
              </a:ext>
            </a:extLst>
          </p:cNvPr>
          <p:cNvSpPr>
            <a:spLocks xmlns:a="http://schemas.openxmlformats.org/drawingml/2006/main" noGrp="1"/>
          </p:cNvSpPr>
          <p:nvPr/>
        </p:nvSpPr>
        <p:spPr>
          <a:xfrm xmlns:a="http://schemas.openxmlformats.org/drawingml/2006/main">
            <a:off x="457200" y="12382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01820"/>
                </a:solidFill>
                <a:latin typeface="Arial"/>
                <a:ea typeface="Arial"/>
                <a:cs typeface="Arial"/>
              </a:defRPr>
            </a:pPr>
            <a:r>
              <a:rPr sz="1875" b="1">
                <a:solidFill>
                  <a:srgbClr val="101820"/>
                </a:solidFill>
                <a:latin typeface="Arial"/>
                <a:ea typeface="Arial"/>
                <a:cs typeface="Arial"/>
              </a:rPr>
              <a:t>In databases, correlation links named features. In vision and language, learned features are less visible - yet they still organize the world.</a:t>
            </a:r>
          </a:p>
        </p:txBody>
      </p:sp>
      <p:sp>
        <p:nvSpPr>
          <p:cNvPr id="5" name="">
            <a:extLst xmlns:a="http://schemas.openxmlformats.org/drawingml/2006/main">
              <a:ext uri="{FF2B5EF4-FFF2-40B4-BE49-F238E27FC236}">
                <a16:creationId xmlns:a16="http://schemas.microsoft.com/office/drawing/2014/main" id="{8F992A13-4FB1-45DA-B5E9-444E67A94608}"/>
              </a:ext>
            </a:extLst>
          </p:cNvPr>
          <p:cNvSpPr>
            <a:spLocks xmlns:a="http://schemas.openxmlformats.org/drawingml/2006/main" noGrp="1"/>
          </p:cNvSpPr>
          <p:nvPr/>
        </p:nvSpPr>
        <p:spPr>
          <a:xfrm xmlns:a="http://schemas.openxmlformats.org/drawingml/2006/main">
            <a:off x="457200" y="2381250"/>
            <a:ext cx="3476625" cy="30956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6AB5039-302C-4F04-9B60-5829B15B55CC}"/>
              </a:ext>
            </a:extLst>
          </p:cNvPr>
          <p:cNvSpPr>
            <a:spLocks xmlns:a="http://schemas.openxmlformats.org/drawingml/2006/main" noGrp="1"/>
          </p:cNvSpPr>
          <p:nvPr/>
        </p:nvSpPr>
        <p:spPr>
          <a:xfrm xmlns:a="http://schemas.openxmlformats.org/drawingml/2006/main">
            <a:off x="666750" y="2600325"/>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10"/>
          </a:bodyPr>
          <a:lstStyle xmlns:a="http://schemas.openxmlformats.org/drawingml/2006/main"/>
          <a:p xmlns:a="http://schemas.openxmlformats.org/drawingml/2006/main">
            <a:pPr algn="l">
              <a:defRPr sz="1950" b="1">
                <a:solidFill>
                  <a:srgbClr val="101820"/>
                </a:solidFill>
                <a:latin typeface="Arial"/>
                <a:ea typeface="Arial"/>
                <a:cs typeface="Arial"/>
              </a:defRPr>
            </a:pPr>
            <a:r>
              <a:rPr sz="1950" b="1">
                <a:solidFill>
                  <a:srgbClr val="101820"/>
                </a:solidFill>
                <a:latin typeface="Arial"/>
                <a:ea typeface="Arial"/>
                <a:cs typeface="Arial"/>
              </a:rPr>
              <a:t>Nature</a:t>
            </a:r>
          </a:p>
        </p:txBody>
      </p:sp>
      <p:sp>
        <p:nvSpPr>
          <p:cNvPr id="7" name="">
            <a:extLst xmlns:a="http://schemas.openxmlformats.org/drawingml/2006/main">
              <a:ext uri="{FF2B5EF4-FFF2-40B4-BE49-F238E27FC236}">
                <a16:creationId xmlns:a16="http://schemas.microsoft.com/office/drawing/2014/main" id="{4A47B5D4-1F64-4D6E-B666-4A072EF62A2F}"/>
              </a:ext>
            </a:extLst>
          </p:cNvPr>
          <p:cNvSpPr>
            <a:spLocks xmlns:a="http://schemas.openxmlformats.org/drawingml/2006/main" noGrp="1"/>
          </p:cNvSpPr>
          <p:nvPr/>
        </p:nvSpPr>
        <p:spPr>
          <a:xfrm xmlns:a="http://schemas.openxmlformats.org/drawingml/2006/main">
            <a:off x="666750" y="3143250"/>
            <a:ext cx="30480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Fractals repeat structure across scales; the golden ratio appears in some growth patterns. These are examples of order, not proof of one universal law.</a:t>
            </a:r>
          </a:p>
        </p:txBody>
      </p:sp>
      <p:sp>
        <p:nvSpPr>
          <p:cNvPr id="8" name="">
            <a:extLst xmlns:a="http://schemas.openxmlformats.org/drawingml/2006/main">
              <a:ext uri="{FF2B5EF4-FFF2-40B4-BE49-F238E27FC236}">
                <a16:creationId xmlns:a16="http://schemas.microsoft.com/office/drawing/2014/main" id="{A0ABED36-8587-42D5-A577-D0D4B73C6C37}"/>
              </a:ext>
            </a:extLst>
          </p:cNvPr>
          <p:cNvSpPr>
            <a:spLocks xmlns:a="http://schemas.openxmlformats.org/drawingml/2006/main" noGrp="1"/>
          </p:cNvSpPr>
          <p:nvPr/>
        </p:nvSpPr>
        <p:spPr>
          <a:xfrm xmlns:a="http://schemas.openxmlformats.org/drawingml/2006/main">
            <a:off x="4238625" y="2381250"/>
            <a:ext cx="3476625" cy="30956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ACE4B88-342D-48C0-BEE6-558D6C72C68D}"/>
              </a:ext>
            </a:extLst>
          </p:cNvPr>
          <p:cNvSpPr>
            <a:spLocks xmlns:a="http://schemas.openxmlformats.org/drawingml/2006/main" noGrp="1"/>
          </p:cNvSpPr>
          <p:nvPr/>
        </p:nvSpPr>
        <p:spPr>
          <a:xfrm xmlns:a="http://schemas.openxmlformats.org/drawingml/2006/main">
            <a:off x="4448175" y="2600325"/>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10"/>
          </a:bodyPr>
          <a:lstStyle xmlns:a="http://schemas.openxmlformats.org/drawingml/2006/main"/>
          <a:p xmlns:a="http://schemas.openxmlformats.org/drawingml/2006/main">
            <a:pPr algn="l">
              <a:defRPr sz="1950" b="1">
                <a:solidFill>
                  <a:srgbClr val="101820"/>
                </a:solidFill>
                <a:latin typeface="Arial"/>
                <a:ea typeface="Arial"/>
                <a:cs typeface="Arial"/>
              </a:defRPr>
            </a:pPr>
            <a:r>
              <a:rPr sz="1950" b="1">
                <a:solidFill>
                  <a:srgbClr val="101820"/>
                </a:solidFill>
                <a:latin typeface="Arial"/>
                <a:ea typeface="Arial"/>
                <a:cs typeface="Arial"/>
              </a:rPr>
              <a:t>Learning</a:t>
            </a:r>
          </a:p>
        </p:txBody>
      </p:sp>
      <p:sp>
        <p:nvSpPr>
          <p:cNvPr id="10" name="">
            <a:extLst xmlns:a="http://schemas.openxmlformats.org/drawingml/2006/main">
              <a:ext uri="{FF2B5EF4-FFF2-40B4-BE49-F238E27FC236}">
                <a16:creationId xmlns:a16="http://schemas.microsoft.com/office/drawing/2014/main" id="{6B34E43D-8AA8-46AC-8E5A-40B8C507444F}"/>
              </a:ext>
            </a:extLst>
          </p:cNvPr>
          <p:cNvSpPr>
            <a:spLocks xmlns:a="http://schemas.openxmlformats.org/drawingml/2006/main" noGrp="1"/>
          </p:cNvSpPr>
          <p:nvPr/>
        </p:nvSpPr>
        <p:spPr>
          <a:xfrm xmlns:a="http://schemas.openxmlformats.org/drawingml/2006/main">
            <a:off x="4448175" y="3143250"/>
            <a:ext cx="30480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A network can begin with random weights and end by detecting a cat, or predicting the next word, because optimization extracts recurring statistical structure.</a:t>
            </a:r>
          </a:p>
        </p:txBody>
      </p:sp>
      <p:sp>
        <p:nvSpPr>
          <p:cNvPr id="11" name="">
            <a:extLst xmlns:a="http://schemas.openxmlformats.org/drawingml/2006/main">
              <a:ext uri="{FF2B5EF4-FFF2-40B4-BE49-F238E27FC236}">
                <a16:creationId xmlns:a16="http://schemas.microsoft.com/office/drawing/2014/main" id="{E86F5A8C-5A78-42C5-B3F3-8E4B9D8C1BC1}"/>
              </a:ext>
            </a:extLst>
          </p:cNvPr>
          <p:cNvSpPr>
            <a:spLocks xmlns:a="http://schemas.openxmlformats.org/drawingml/2006/main" noGrp="1"/>
          </p:cNvSpPr>
          <p:nvPr/>
        </p:nvSpPr>
        <p:spPr>
          <a:xfrm xmlns:a="http://schemas.openxmlformats.org/drawingml/2006/main">
            <a:off x="8020050" y="2381250"/>
            <a:ext cx="3476625" cy="30956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0CB2993-9FBB-46F1-96F3-820092203172}"/>
              </a:ext>
            </a:extLst>
          </p:cNvPr>
          <p:cNvSpPr>
            <a:spLocks xmlns:a="http://schemas.openxmlformats.org/drawingml/2006/main" noGrp="1"/>
          </p:cNvSpPr>
          <p:nvPr/>
        </p:nvSpPr>
        <p:spPr>
          <a:xfrm xmlns:a="http://schemas.openxmlformats.org/drawingml/2006/main">
            <a:off x="8229600" y="2600325"/>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10"/>
          </a:bodyP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My lens</a:t>
            </a:r>
          </a:p>
        </p:txBody>
      </p:sp>
      <p:sp>
        <p:nvSpPr>
          <p:cNvPr id="13" name="">
            <a:extLst xmlns:a="http://schemas.openxmlformats.org/drawingml/2006/main">
              <a:ext uri="{FF2B5EF4-FFF2-40B4-BE49-F238E27FC236}">
                <a16:creationId xmlns:a16="http://schemas.microsoft.com/office/drawing/2014/main" id="{04BABCF3-1B7D-461D-9440-A0703CA7BE66}"/>
              </a:ext>
            </a:extLst>
          </p:cNvPr>
          <p:cNvSpPr>
            <a:spLocks xmlns:a="http://schemas.openxmlformats.org/drawingml/2006/main" noGrp="1"/>
          </p:cNvSpPr>
          <p:nvPr/>
        </p:nvSpPr>
        <p:spPr>
          <a:xfrm xmlns:a="http://schemas.openxmlformats.org/drawingml/2006/main">
            <a:off x="8229600" y="3143250"/>
            <a:ext cx="30480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The project joins the material and the abstract: pixels, words, vectors and geometry become different views of one underlying system of relations.</a:t>
            </a:r>
          </a:p>
        </p:txBody>
      </p:sp>
    </p:spTree>
    <p:extLst>
      <p:ext uri="{BB962C8B-B14F-4D97-AF65-F5344CB8AC3E}">
        <p14:creationId xmlns:p14="http://schemas.microsoft.com/office/powerpoint/2010/main" val="48562911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B588958-62F8-4794-92A5-ACAF9E9651DC}"/>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Images and words may share relations, not coordinates</a:t>
            </a:r>
          </a:p>
        </p:txBody>
      </p:sp>
      <p:cxnSp>
        <p:nvCxnSpPr>
          <p:cNvPr id="18"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220D3793-2367-4075-A845-CB106FCA5BEC}"/>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C92160DA-832D-49A3-967C-6F0D1F174638}"/>
              </a:ext>
            </a:extLst>
          </p:cNvPr>
          <p:cNvSpPr>
            <a:spLocks xmlns:a="http://schemas.openxmlformats.org/drawingml/2006/main" noGrp="1"/>
          </p:cNvSpPr>
          <p:nvPr/>
        </p:nvSpPr>
        <p:spPr>
          <a:xfrm xmlns:a="http://schemas.openxmlformats.org/drawingml/2006/main">
            <a:off x="457200" y="1314450"/>
            <a:ext cx="4905375" cy="40481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22F58AE-AC55-4DBF-803F-81A81307A24F}"/>
              </a:ext>
            </a:extLst>
          </p:cNvPr>
          <p:cNvSpPr>
            <a:spLocks xmlns:a="http://schemas.openxmlformats.org/drawingml/2006/main" noGrp="1"/>
          </p:cNvSpPr>
          <p:nvPr/>
        </p:nvSpPr>
        <p:spPr>
          <a:xfrm xmlns:a="http://schemas.openxmlformats.org/drawingml/2006/main">
            <a:off x="6829425" y="1314450"/>
            <a:ext cx="4905375" cy="4048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73631AB-8C7E-4D33-9464-E143322EAACF}"/>
              </a:ext>
            </a:extLst>
          </p:cNvPr>
          <p:cNvSpPr>
            <a:spLocks xmlns:a="http://schemas.openxmlformats.org/drawingml/2006/main" noGrp="1"/>
          </p:cNvSpPr>
          <p:nvPr/>
        </p:nvSpPr>
        <p:spPr>
          <a:xfrm xmlns:a="http://schemas.openxmlformats.org/drawingml/2006/main">
            <a:off x="723900" y="157162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a:solidFill>
                  <a:srgbClr val="0C7C86"/>
                </a:solidFill>
                <a:latin typeface="Arial"/>
                <a:ea typeface="Arial"/>
                <a:cs typeface="Arial"/>
              </a:defRPr>
            </a:pPr>
            <a:r>
              <a:rPr sz="1200" b="1">
                <a:solidFill>
                  <a:srgbClr val="0C7C86"/>
                </a:solidFill>
                <a:latin typeface="Arial"/>
                <a:ea typeface="Arial"/>
                <a:cs typeface="Arial"/>
              </a:rPr>
              <a:t>IMAGE MODEL</a:t>
            </a:r>
          </a:p>
        </p:txBody>
      </p:sp>
      <p:sp>
        <p:nvSpPr>
          <p:cNvPr id="7" name="">
            <a:extLst xmlns:a="http://schemas.openxmlformats.org/drawingml/2006/main">
              <a:ext uri="{FF2B5EF4-FFF2-40B4-BE49-F238E27FC236}">
                <a16:creationId xmlns:a16="http://schemas.microsoft.com/office/drawing/2014/main" id="{5B1CB1BB-87E3-4D6C-AC90-250DE1509AE7}"/>
              </a:ext>
            </a:extLst>
          </p:cNvPr>
          <p:cNvSpPr>
            <a:spLocks xmlns:a="http://schemas.openxmlformats.org/drawingml/2006/main" noGrp="1"/>
          </p:cNvSpPr>
          <p:nvPr/>
        </p:nvSpPr>
        <p:spPr>
          <a:xfrm xmlns:a="http://schemas.openxmlformats.org/drawingml/2006/main">
            <a:off x="723900" y="19812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375"/>
          </a:bodyPr>
          <a:lstStyle xmlns:a="http://schemas.openxmlformats.org/drawingml/2006/main"/>
          <a:p xmlns:a="http://schemas.openxmlformats.org/drawingml/2006/main">
            <a:pPr algn="l">
              <a:defRPr sz="2400" b="1">
                <a:solidFill>
                  <a:srgbClr val="101820"/>
                </a:solidFill>
                <a:latin typeface="Arial"/>
                <a:ea typeface="Arial"/>
                <a:cs typeface="Arial"/>
              </a:defRPr>
            </a:pPr>
            <a:r>
              <a:rPr sz="2400" b="1">
                <a:solidFill>
                  <a:srgbClr val="101820"/>
                </a:solidFill>
                <a:latin typeface="Arial"/>
                <a:ea typeface="Arial"/>
                <a:cs typeface="Arial"/>
              </a:rPr>
              <a:t>DINOv2</a:t>
            </a:r>
          </a:p>
        </p:txBody>
      </p:sp>
      <p:sp>
        <p:nvSpPr>
          <p:cNvPr id="8" name="">
            <a:extLst xmlns:a="http://schemas.openxmlformats.org/drawingml/2006/main">
              <a:ext uri="{FF2B5EF4-FFF2-40B4-BE49-F238E27FC236}">
                <a16:creationId xmlns:a16="http://schemas.microsoft.com/office/drawing/2014/main" id="{43DAE049-4B68-404E-ABC6-47922CBCB371}"/>
              </a:ext>
            </a:extLst>
          </p:cNvPr>
          <p:cNvSpPr>
            <a:spLocks xmlns:a="http://schemas.openxmlformats.org/drawingml/2006/main" noGrp="1"/>
          </p:cNvSpPr>
          <p:nvPr/>
        </p:nvSpPr>
        <p:spPr>
          <a:xfrm xmlns:a="http://schemas.openxmlformats.org/drawingml/2006/main">
            <a:off x="723900" y="257175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026"/>
          </a:bodyPr>
          <a:lstStyle xmlns:a="http://schemas.openxmlformats.org/drawingml/2006/main"/>
          <a:p xmlns:a="http://schemas.openxmlformats.org/drawingml/2006/main">
            <a:pPr algn="l">
              <a:defRPr sz="1950" b="1">
                <a:solidFill>
                  <a:srgbClr val="0C7C86"/>
                </a:solidFill>
                <a:latin typeface="Arial"/>
                <a:ea typeface="Arial"/>
                <a:cs typeface="Arial"/>
              </a:defRPr>
            </a:pPr>
            <a:r>
              <a:rPr sz="1950" b="1">
                <a:solidFill>
                  <a:srgbClr val="0C7C86"/>
                </a:solidFill>
                <a:latin typeface="Arial"/>
                <a:ea typeface="Arial"/>
                <a:cs typeface="Arial"/>
              </a:rPr>
              <a:t>x_img ∈ R^768</a:t>
            </a:r>
          </a:p>
        </p:txBody>
      </p:sp>
      <p:sp>
        <p:nvSpPr>
          <p:cNvPr id="9" name="">
            <a:extLst xmlns:a="http://schemas.openxmlformats.org/drawingml/2006/main">
              <a:ext uri="{FF2B5EF4-FFF2-40B4-BE49-F238E27FC236}">
                <a16:creationId xmlns:a16="http://schemas.microsoft.com/office/drawing/2014/main" id="{AA233D30-03D8-4A73-878B-6D474496661C}"/>
              </a:ext>
            </a:extLst>
          </p:cNvPr>
          <p:cNvSpPr>
            <a:spLocks xmlns:a="http://schemas.openxmlformats.org/drawingml/2006/main" noGrp="1"/>
          </p:cNvSpPr>
          <p:nvPr/>
        </p:nvSpPr>
        <p:spPr>
          <a:xfrm xmlns:a="http://schemas.openxmlformats.org/drawingml/2006/main">
            <a:off x="723900" y="3219450"/>
            <a:ext cx="2476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101820"/>
                </a:solidFill>
                <a:latin typeface="Arial"/>
                <a:ea typeface="Arial"/>
                <a:cs typeface="Arial"/>
              </a:defRPr>
            </a:pPr>
            <a:r>
              <a:rPr sz="1725" b="0">
                <a:solidFill>
                  <a:srgbClr val="101820"/>
                </a:solidFill>
                <a:latin typeface="Arial"/>
                <a:ea typeface="Arial"/>
                <a:cs typeface="Arial"/>
              </a:rPr>
              <a:t>cat on chair</a:t>
            </a:r>
          </a:p>
          <a:p xmlns:a="http://schemas.openxmlformats.org/drawingml/2006/main">
            <a:pPr algn="l">
              <a:defRPr sz="1725" b="0">
                <a:solidFill>
                  <a:srgbClr val="101820"/>
                </a:solidFill>
                <a:latin typeface="Arial"/>
                <a:ea typeface="Arial"/>
                <a:cs typeface="Arial"/>
              </a:defRPr>
            </a:pPr>
            <a:r>
              <a:rPr sz="1725" b="0">
                <a:solidFill>
                  <a:srgbClr val="101820"/>
                </a:solidFill>
                <a:latin typeface="Arial"/>
                <a:ea typeface="Arial"/>
                <a:cs typeface="Arial"/>
              </a:rPr>
              <a:t>cat on sofa</a:t>
            </a:r>
          </a:p>
          <a:p xmlns:a="http://schemas.openxmlformats.org/drawingml/2006/main">
            <a:pPr algn="l">
              <a:defRPr sz="1725" b="0">
                <a:solidFill>
                  <a:srgbClr val="101820"/>
                </a:solidFill>
                <a:latin typeface="Arial"/>
                <a:ea typeface="Arial"/>
                <a:cs typeface="Arial"/>
              </a:defRPr>
            </a:pPr>
            <a:r>
              <a:rPr sz="1725" b="0">
                <a:solidFill>
                  <a:srgbClr val="101820"/>
                </a:solidFill>
                <a:latin typeface="Arial"/>
                <a:ea typeface="Arial"/>
                <a:cs typeface="Arial"/>
              </a:rPr>
              <a:t>airplane</a:t>
            </a:r>
          </a:p>
        </p:txBody>
      </p:sp>
      <p:sp>
        <p:nvSpPr>
          <p:cNvPr id="10" name="">
            <a:extLst xmlns:a="http://schemas.openxmlformats.org/drawingml/2006/main">
              <a:ext uri="{FF2B5EF4-FFF2-40B4-BE49-F238E27FC236}">
                <a16:creationId xmlns:a16="http://schemas.microsoft.com/office/drawing/2014/main" id="{135B381D-5956-45B4-BC5F-76C4730D87B0}"/>
              </a:ext>
            </a:extLst>
          </p:cNvPr>
          <p:cNvSpPr>
            <a:spLocks xmlns:a="http://schemas.openxmlformats.org/drawingml/2006/main" noGrp="1"/>
          </p:cNvSpPr>
          <p:nvPr/>
        </p:nvSpPr>
        <p:spPr>
          <a:xfrm xmlns:a="http://schemas.openxmlformats.org/drawingml/2006/main">
            <a:off x="7096125" y="157162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a:solidFill>
                  <a:srgbClr val="E57C23"/>
                </a:solidFill>
                <a:latin typeface="Arial"/>
                <a:ea typeface="Arial"/>
                <a:cs typeface="Arial"/>
              </a:defRPr>
            </a:pPr>
            <a:r>
              <a:rPr sz="1200" b="1">
                <a:solidFill>
                  <a:srgbClr val="E57C23"/>
                </a:solidFill>
                <a:latin typeface="Arial"/>
                <a:ea typeface="Arial"/>
                <a:cs typeface="Arial"/>
              </a:rPr>
              <a:t>TEXT MODEL</a:t>
            </a:r>
          </a:p>
        </p:txBody>
      </p:sp>
      <p:sp>
        <p:nvSpPr>
          <p:cNvPr id="11" name="">
            <a:extLst xmlns:a="http://schemas.openxmlformats.org/drawingml/2006/main">
              <a:ext uri="{FF2B5EF4-FFF2-40B4-BE49-F238E27FC236}">
                <a16:creationId xmlns:a16="http://schemas.microsoft.com/office/drawing/2014/main" id="{E1B53D28-A7B1-4BA3-8282-B20610075EF7}"/>
              </a:ext>
            </a:extLst>
          </p:cNvPr>
          <p:cNvSpPr>
            <a:spLocks xmlns:a="http://schemas.openxmlformats.org/drawingml/2006/main" noGrp="1"/>
          </p:cNvSpPr>
          <p:nvPr/>
        </p:nvSpPr>
        <p:spPr>
          <a:xfrm xmlns:a="http://schemas.openxmlformats.org/drawingml/2006/main">
            <a:off x="7096125" y="19812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375"/>
          </a:bodyPr>
          <a:lstStyle xmlns:a="http://schemas.openxmlformats.org/drawingml/2006/main"/>
          <a:p xmlns:a="http://schemas.openxmlformats.org/drawingml/2006/main">
            <a:pPr algn="l">
              <a:defRPr sz="2400" b="1">
                <a:solidFill>
                  <a:srgbClr val="101820"/>
                </a:solidFill>
                <a:latin typeface="Arial"/>
                <a:ea typeface="Arial"/>
                <a:cs typeface="Arial"/>
              </a:defRPr>
            </a:pPr>
            <a:r>
              <a:rPr sz="2400" b="1">
                <a:solidFill>
                  <a:srgbClr val="101820"/>
                </a:solidFill>
                <a:latin typeface="Arial"/>
                <a:ea typeface="Arial"/>
                <a:cs typeface="Arial"/>
              </a:rPr>
              <a:t>bge-m3</a:t>
            </a:r>
          </a:p>
        </p:txBody>
      </p:sp>
      <p:sp>
        <p:nvSpPr>
          <p:cNvPr id="12" name="">
            <a:extLst xmlns:a="http://schemas.openxmlformats.org/drawingml/2006/main">
              <a:ext uri="{FF2B5EF4-FFF2-40B4-BE49-F238E27FC236}">
                <a16:creationId xmlns:a16="http://schemas.microsoft.com/office/drawing/2014/main" id="{6644D1F4-2A44-43F1-94C7-5C8B21D83ACA}"/>
              </a:ext>
            </a:extLst>
          </p:cNvPr>
          <p:cNvSpPr>
            <a:spLocks xmlns:a="http://schemas.openxmlformats.org/drawingml/2006/main" noGrp="1"/>
          </p:cNvSpPr>
          <p:nvPr/>
        </p:nvSpPr>
        <p:spPr>
          <a:xfrm xmlns:a="http://schemas.openxmlformats.org/drawingml/2006/main">
            <a:off x="7096125" y="25717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026"/>
          </a:bodyPr>
          <a:lstStyle xmlns:a="http://schemas.openxmlformats.org/drawingml/2006/main"/>
          <a:p xmlns:a="http://schemas.openxmlformats.org/drawingml/2006/main">
            <a:pPr algn="l">
              <a:defRPr sz="1950" b="1">
                <a:solidFill>
                  <a:srgbClr val="E57C23"/>
                </a:solidFill>
                <a:latin typeface="Arial"/>
                <a:ea typeface="Arial"/>
                <a:cs typeface="Arial"/>
              </a:defRPr>
            </a:pPr>
            <a:r>
              <a:rPr sz="1950" b="1">
                <a:solidFill>
                  <a:srgbClr val="E57C23"/>
                </a:solidFill>
                <a:latin typeface="Arial"/>
                <a:ea typeface="Arial"/>
                <a:cs typeface="Arial"/>
              </a:rPr>
              <a:t>x_txt ∈ R^1024</a:t>
            </a:r>
          </a:p>
        </p:txBody>
      </p:sp>
      <p:sp>
        <p:nvSpPr>
          <p:cNvPr id="13" name="">
            <a:extLst xmlns:a="http://schemas.openxmlformats.org/drawingml/2006/main">
              <a:ext uri="{FF2B5EF4-FFF2-40B4-BE49-F238E27FC236}">
                <a16:creationId xmlns:a16="http://schemas.microsoft.com/office/drawing/2014/main" id="{DD72DAFC-E457-467B-AA46-C8EDA22B6EAA}"/>
              </a:ext>
            </a:extLst>
          </p:cNvPr>
          <p:cNvSpPr>
            <a:spLocks xmlns:a="http://schemas.openxmlformats.org/drawingml/2006/main" noGrp="1"/>
          </p:cNvSpPr>
          <p:nvPr/>
        </p:nvSpPr>
        <p:spPr>
          <a:xfrm xmlns:a="http://schemas.openxmlformats.org/drawingml/2006/main">
            <a:off x="7096125" y="3219450"/>
            <a:ext cx="3810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101820"/>
                </a:solidFill>
                <a:latin typeface="Arial"/>
                <a:ea typeface="Arial"/>
                <a:cs typeface="Arial"/>
              </a:defRPr>
            </a:pPr>
            <a:r>
              <a:rPr sz="1575" b="0">
                <a:solidFill>
                  <a:srgbClr val="101820"/>
                </a:solidFill>
                <a:latin typeface="Arial"/>
                <a:ea typeface="Arial"/>
                <a:cs typeface="Arial"/>
              </a:rPr>
              <a:t>'a cat sitting on a chair'</a:t>
            </a:r>
          </a:p>
          <a:p xmlns:a="http://schemas.openxmlformats.org/drawingml/2006/main">
            <a:pPr algn="l">
              <a:defRPr sz="1575" b="0">
                <a:solidFill>
                  <a:srgbClr val="101820"/>
                </a:solidFill>
                <a:latin typeface="Arial"/>
                <a:ea typeface="Arial"/>
                <a:cs typeface="Arial"/>
              </a:defRPr>
            </a:pPr>
            <a:r>
              <a:rPr sz="1575" b="0">
                <a:solidFill>
                  <a:srgbClr val="101820"/>
                </a:solidFill>
                <a:latin typeface="Arial"/>
                <a:ea typeface="Arial"/>
                <a:cs typeface="Arial"/>
              </a:rPr>
              <a:t>'a cat resting on a couch'</a:t>
            </a:r>
          </a:p>
          <a:p xmlns:a="http://schemas.openxmlformats.org/drawingml/2006/main">
            <a:pPr algn="l">
              <a:defRPr sz="1575" b="0">
                <a:solidFill>
                  <a:srgbClr val="101820"/>
                </a:solidFill>
                <a:latin typeface="Arial"/>
                <a:ea typeface="Arial"/>
                <a:cs typeface="Arial"/>
              </a:defRPr>
            </a:pPr>
            <a:r>
              <a:rPr sz="1575" b="0">
                <a:solidFill>
                  <a:srgbClr val="101820"/>
                </a:solidFill>
                <a:latin typeface="Arial"/>
                <a:ea typeface="Arial"/>
                <a:cs typeface="Arial"/>
              </a:rPr>
              <a:t>'an aircraft in flight'</a:t>
            </a:r>
          </a:p>
        </p:txBody>
      </p:sp>
      <p:sp>
        <p:nvSpPr>
          <p:cNvPr id="14" name="">
            <a:extLst xmlns:a="http://schemas.openxmlformats.org/drawingml/2006/main">
              <a:ext uri="{FF2B5EF4-FFF2-40B4-BE49-F238E27FC236}">
                <a16:creationId xmlns:a16="http://schemas.microsoft.com/office/drawing/2014/main" id="{A6D12B4C-0BCC-41C2-81BE-3F776C02F736}"/>
              </a:ext>
            </a:extLst>
          </p:cNvPr>
          <p:cNvSpPr>
            <a:spLocks xmlns:a="http://schemas.openxmlformats.org/drawingml/2006/main" noGrp="1"/>
          </p:cNvSpPr>
          <p:nvPr/>
        </p:nvSpPr>
        <p:spPr>
          <a:xfrm xmlns:a="http://schemas.openxmlformats.org/drawingml/2006/main">
            <a:off x="4572000" y="16192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00" b="1">
                <a:solidFill>
                  <a:srgbClr val="C43D3D"/>
                </a:solidFill>
                <a:latin typeface="Arial"/>
                <a:ea typeface="Arial"/>
                <a:cs typeface="Arial"/>
              </a:defRPr>
            </a:pPr>
            <a:r>
              <a:rPr sz="1500" b="1">
                <a:solidFill>
                  <a:srgbClr val="C43D3D"/>
                </a:solidFill>
                <a:latin typeface="Arial"/>
                <a:ea typeface="Arial"/>
                <a:cs typeface="Arial"/>
              </a:rPr>
              <a:t>Different coordinates</a:t>
            </a:r>
          </a:p>
        </p:txBody>
      </p:sp>
      <p:sp>
        <p:nvSpPr>
          <p:cNvPr id="15" name="">
            <a:extLst xmlns:a="http://schemas.openxmlformats.org/drawingml/2006/main">
              <a:ext uri="{FF2B5EF4-FFF2-40B4-BE49-F238E27FC236}">
                <a16:creationId xmlns:a16="http://schemas.microsoft.com/office/drawing/2014/main" id="{950BDFBD-A2C5-40F0-9AF5-7D086489F8D1}"/>
              </a:ext>
            </a:extLst>
          </p:cNvPr>
          <p:cNvSpPr>
            <a:spLocks xmlns:a="http://schemas.openxmlformats.org/drawingml/2006/main" noGrp="1"/>
          </p:cNvSpPr>
          <p:nvPr/>
        </p:nvSpPr>
        <p:spPr>
          <a:xfrm xmlns:a="http://schemas.openxmlformats.org/drawingml/2006/main">
            <a:off x="4333875" y="495300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ctr">
              <a:defRPr sz="1650" b="1">
                <a:solidFill>
                  <a:srgbClr val="3D8DFF"/>
                </a:solidFill>
                <a:latin typeface="Arial"/>
                <a:ea typeface="Arial"/>
                <a:cs typeface="Arial"/>
              </a:defRPr>
            </a:pPr>
            <a:r>
              <a:rPr sz="1650" b="1">
                <a:solidFill>
                  <a:srgbClr val="3D8DFF"/>
                </a:solidFill>
                <a:latin typeface="Arial"/>
                <a:ea typeface="Arial"/>
                <a:cs typeface="Arial"/>
              </a:rPr>
              <a:t>same relational inequality</a:t>
            </a:r>
          </a:p>
        </p:txBody>
      </p:sp>
      <p:sp>
        <p:nvSpPr>
          <p:cNvPr id="16" name="">
            <a:extLst xmlns:a="http://schemas.openxmlformats.org/drawingml/2006/main">
              <a:ext uri="{FF2B5EF4-FFF2-40B4-BE49-F238E27FC236}">
                <a16:creationId xmlns:a16="http://schemas.microsoft.com/office/drawing/2014/main" id="{573F9006-64BC-4BB2-B026-5CEDFEC1705E}"/>
              </a:ext>
            </a:extLst>
          </p:cNvPr>
          <p:cNvSpPr>
            <a:spLocks xmlns:a="http://schemas.openxmlformats.org/drawingml/2006/main" noGrp="1"/>
          </p:cNvSpPr>
          <p:nvPr/>
        </p:nvSpPr>
        <p:spPr>
          <a:xfrm xmlns:a="http://schemas.openxmlformats.org/drawingml/2006/main">
            <a:off x="3190875" y="5562600"/>
            <a:ext cx="581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194"/>
          </a:bodyPr>
          <a:lstStyle xmlns:a="http://schemas.openxmlformats.org/drawingml/2006/main"/>
          <a:p xmlns:a="http://schemas.openxmlformats.org/drawingml/2006/main">
            <a:pPr algn="ctr">
              <a:defRPr sz="1800" b="1">
                <a:solidFill>
                  <a:srgbClr val="101820"/>
                </a:solidFill>
                <a:latin typeface="Arial"/>
                <a:ea typeface="Arial"/>
                <a:cs typeface="Arial"/>
              </a:defRPr>
            </a:pPr>
            <a:r>
              <a:rPr sz="1800" b="1">
                <a:solidFill>
                  <a:srgbClr val="101820"/>
                </a:solidFill>
                <a:latin typeface="Arial"/>
                <a:ea typeface="Arial"/>
                <a:cs typeface="Arial"/>
              </a:rPr>
              <a:t>dist(cat-chair, cat-sofa) &lt; dist(cat-chair, airplane)</a:t>
            </a:r>
          </a:p>
        </p:txBody>
      </p:sp>
    </p:spTree>
    <p:extLst>
      <p:ext uri="{BB962C8B-B14F-4D97-AF65-F5344CB8AC3E}">
        <p14:creationId xmlns:p14="http://schemas.microsoft.com/office/powerpoint/2010/main" val="43618392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027DBCF-A092-4554-8BDD-0B6ACA79CB21}"/>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The philosophical question became four falsifiable tests</a:t>
            </a:r>
          </a:p>
        </p:txBody>
      </p:sp>
      <p:cxnSp>
        <p:nvCxnSpPr>
          <p:cNvPr id="17"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47C532E0-474F-4016-BCE0-DE30E2FBD752}"/>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9F74D3FC-F87D-4ED5-A2BC-DC52B038DB5C}"/>
              </a:ext>
            </a:extLst>
          </p:cNvPr>
          <p:cNvSpPr>
            <a:spLocks xmlns:a="http://schemas.openxmlformats.org/drawingml/2006/main" noGrp="1"/>
          </p:cNvSpPr>
          <p:nvPr/>
        </p:nvSpPr>
        <p:spPr>
          <a:xfrm xmlns:a="http://schemas.openxmlformats.org/drawingml/2006/main">
            <a:off x="457200" y="1381125"/>
            <a:ext cx="5514975" cy="1809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7165217-1BE5-45F2-97ED-FFDF31A6AA72}"/>
              </a:ext>
            </a:extLst>
          </p:cNvPr>
          <p:cNvSpPr>
            <a:spLocks xmlns:a="http://schemas.openxmlformats.org/drawingml/2006/main" noGrp="1"/>
          </p:cNvSpPr>
          <p:nvPr/>
        </p:nvSpPr>
        <p:spPr>
          <a:xfrm xmlns:a="http://schemas.openxmlformats.org/drawingml/2006/main">
            <a:off x="685800" y="15906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Scientific</a:t>
            </a:r>
          </a:p>
        </p:txBody>
      </p:sp>
      <p:sp>
        <p:nvSpPr>
          <p:cNvPr id="6" name="">
            <a:extLst xmlns:a="http://schemas.openxmlformats.org/drawingml/2006/main">
              <a:ext uri="{FF2B5EF4-FFF2-40B4-BE49-F238E27FC236}">
                <a16:creationId xmlns:a16="http://schemas.microsoft.com/office/drawing/2014/main" id="{11ADEB0E-17EC-4CE0-9AA9-A27CD1D414C1}"/>
              </a:ext>
            </a:extLst>
          </p:cNvPr>
          <p:cNvSpPr>
            <a:spLocks xmlns:a="http://schemas.openxmlformats.org/drawingml/2006/main" noGrp="1"/>
          </p:cNvSpPr>
          <p:nvPr/>
        </p:nvSpPr>
        <p:spPr>
          <a:xfrm xmlns:a="http://schemas.openxmlformats.org/drawingml/2006/main">
            <a:off x="685800" y="2028825"/>
            <a:ext cx="5000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94"/>
          </a:bodyPr>
          <a:lstStyle xmlns:a="http://schemas.openxmlformats.org/drawingml/2006/main"/>
          <a:p xmlns:a="http://schemas.openxmlformats.org/drawingml/2006/main">
            <a:pPr algn="l">
              <a:defRPr sz="1800" b="1">
                <a:solidFill>
                  <a:srgbClr val="101820"/>
                </a:solidFill>
                <a:latin typeface="Arial"/>
                <a:ea typeface="Arial"/>
                <a:cs typeface="Arial"/>
              </a:defRPr>
            </a:pPr>
            <a:r>
              <a:rPr sz="1800" b="1">
                <a:solidFill>
                  <a:srgbClr val="101820"/>
                </a:solidFill>
                <a:latin typeface="Arial"/>
                <a:ea typeface="Arial"/>
                <a:cs typeface="Arial"/>
              </a:rPr>
              <a:t>Do independently trained models share representations up to a linear transformation?</a:t>
            </a:r>
          </a:p>
        </p:txBody>
      </p:sp>
      <p:sp>
        <p:nvSpPr>
          <p:cNvPr id="7" name="">
            <a:extLst xmlns:a="http://schemas.openxmlformats.org/drawingml/2006/main">
              <a:ext uri="{FF2B5EF4-FFF2-40B4-BE49-F238E27FC236}">
                <a16:creationId xmlns:a16="http://schemas.microsoft.com/office/drawing/2014/main" id="{ED9B3DFD-2C93-4E15-9560-F871A42570CB}"/>
              </a:ext>
            </a:extLst>
          </p:cNvPr>
          <p:cNvSpPr>
            <a:spLocks xmlns:a="http://schemas.openxmlformats.org/drawingml/2006/main" noGrp="1"/>
          </p:cNvSpPr>
          <p:nvPr/>
        </p:nvSpPr>
        <p:spPr>
          <a:xfrm xmlns:a="http://schemas.openxmlformats.org/drawingml/2006/main">
            <a:off x="6219825" y="1381125"/>
            <a:ext cx="5514975" cy="1809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2238625-A183-4831-844D-74E81FDD1544}"/>
              </a:ext>
            </a:extLst>
          </p:cNvPr>
          <p:cNvSpPr>
            <a:spLocks xmlns:a="http://schemas.openxmlformats.org/drawingml/2006/main" noGrp="1"/>
          </p:cNvSpPr>
          <p:nvPr/>
        </p:nvSpPr>
        <p:spPr>
          <a:xfrm xmlns:a="http://schemas.openxmlformats.org/drawingml/2006/main">
            <a:off x="6448425" y="15906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Geometric</a:t>
            </a:r>
          </a:p>
        </p:txBody>
      </p:sp>
      <p:sp>
        <p:nvSpPr>
          <p:cNvPr id="9" name="">
            <a:extLst xmlns:a="http://schemas.openxmlformats.org/drawingml/2006/main">
              <a:ext uri="{FF2B5EF4-FFF2-40B4-BE49-F238E27FC236}">
                <a16:creationId xmlns:a16="http://schemas.microsoft.com/office/drawing/2014/main" id="{8B66E3BD-CA17-4A70-BFB6-FC163954102C}"/>
              </a:ext>
            </a:extLst>
          </p:cNvPr>
          <p:cNvSpPr>
            <a:spLocks xmlns:a="http://schemas.openxmlformats.org/drawingml/2006/main" noGrp="1"/>
          </p:cNvSpPr>
          <p:nvPr/>
        </p:nvSpPr>
        <p:spPr>
          <a:xfrm xmlns:a="http://schemas.openxmlformats.org/drawingml/2006/main">
            <a:off x="6448425" y="2028825"/>
            <a:ext cx="5000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370"/>
          </a:bodyPr>
          <a:lstStyle xmlns:a="http://schemas.openxmlformats.org/drawingml/2006/main"/>
          <a:p xmlns:a="http://schemas.openxmlformats.org/drawingml/2006/main">
            <a:pPr algn="l">
              <a:defRPr sz="1800" b="1">
                <a:solidFill>
                  <a:srgbClr val="101820"/>
                </a:solidFill>
                <a:latin typeface="Arial"/>
                <a:ea typeface="Arial"/>
                <a:cs typeface="Arial"/>
              </a:defRPr>
            </a:pPr>
            <a:r>
              <a:rPr sz="1800" b="1">
                <a:solidFill>
                  <a:srgbClr val="101820"/>
                </a:solidFill>
                <a:latin typeface="Arial"/>
                <a:ea typeface="Arial"/>
                <a:cs typeface="Arial"/>
              </a:rPr>
              <a:t>When similarity changes, is the cause modality, objective, lineage, anisotropy or rank?</a:t>
            </a:r>
          </a:p>
        </p:txBody>
      </p:sp>
      <p:sp>
        <p:nvSpPr>
          <p:cNvPr id="10" name="">
            <a:extLst xmlns:a="http://schemas.openxmlformats.org/drawingml/2006/main">
              <a:ext uri="{FF2B5EF4-FFF2-40B4-BE49-F238E27FC236}">
                <a16:creationId xmlns:a16="http://schemas.microsoft.com/office/drawing/2014/main" id="{4F8739B5-E26D-4BF5-A5E1-A51B4FFDBADD}"/>
              </a:ext>
            </a:extLst>
          </p:cNvPr>
          <p:cNvSpPr>
            <a:spLocks xmlns:a="http://schemas.openxmlformats.org/drawingml/2006/main" noGrp="1"/>
          </p:cNvSpPr>
          <p:nvPr/>
        </p:nvSpPr>
        <p:spPr>
          <a:xfrm xmlns:a="http://schemas.openxmlformats.org/drawingml/2006/main">
            <a:off x="457200" y="3714750"/>
            <a:ext cx="5514975" cy="1809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3F94C0E-20C9-4D29-BEDF-4C4FEBFD6067}"/>
              </a:ext>
            </a:extLst>
          </p:cNvPr>
          <p:cNvSpPr>
            <a:spLocks xmlns:a="http://schemas.openxmlformats.org/drawingml/2006/main" noGrp="1"/>
          </p:cNvSpPr>
          <p:nvPr/>
        </p:nvSpPr>
        <p:spPr>
          <a:xfrm xmlns:a="http://schemas.openxmlformats.org/drawingml/2006/main">
            <a:off x="685800" y="39243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Engineering</a:t>
            </a:r>
          </a:p>
        </p:txBody>
      </p:sp>
      <p:sp>
        <p:nvSpPr>
          <p:cNvPr id="12" name="">
            <a:extLst xmlns:a="http://schemas.openxmlformats.org/drawingml/2006/main">
              <a:ext uri="{FF2B5EF4-FFF2-40B4-BE49-F238E27FC236}">
                <a16:creationId xmlns:a16="http://schemas.microsoft.com/office/drawing/2014/main" id="{E9BEEC14-FB8E-4718-8AB3-33AEAED26A49}"/>
              </a:ext>
            </a:extLst>
          </p:cNvPr>
          <p:cNvSpPr>
            <a:spLocks xmlns:a="http://schemas.openxmlformats.org/drawingml/2006/main" noGrp="1"/>
          </p:cNvSpPr>
          <p:nvPr/>
        </p:nvSpPr>
        <p:spPr>
          <a:xfrm xmlns:a="http://schemas.openxmlformats.org/drawingml/2006/main">
            <a:off x="685800" y="4362450"/>
            <a:ext cx="5000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01820"/>
                </a:solidFill>
                <a:latin typeface="Arial"/>
                <a:ea typeface="Arial"/>
                <a:cs typeface="Arial"/>
              </a:defRPr>
            </a:pPr>
            <a:r>
              <a:rPr sz="1800" b="1">
                <a:solidFill>
                  <a:srgbClr val="101820"/>
                </a:solidFill>
                <a:latin typeface="Arial"/>
                <a:ea typeface="Arial"/>
                <a:cs typeface="Arial"/>
              </a:rPr>
              <a:t>Can a tiny adapter make mobile and server encoders share one searchable index?</a:t>
            </a:r>
          </a:p>
        </p:txBody>
      </p:sp>
      <p:sp>
        <p:nvSpPr>
          <p:cNvPr id="13" name="">
            <a:extLst xmlns:a="http://schemas.openxmlformats.org/drawingml/2006/main">
              <a:ext uri="{FF2B5EF4-FFF2-40B4-BE49-F238E27FC236}">
                <a16:creationId xmlns:a16="http://schemas.microsoft.com/office/drawing/2014/main" id="{5CB7D9FD-04C5-4E8C-B98B-9B740D8E6EF9}"/>
              </a:ext>
            </a:extLst>
          </p:cNvPr>
          <p:cNvSpPr>
            <a:spLocks xmlns:a="http://schemas.openxmlformats.org/drawingml/2006/main" noGrp="1"/>
          </p:cNvSpPr>
          <p:nvPr/>
        </p:nvSpPr>
        <p:spPr>
          <a:xfrm xmlns:a="http://schemas.openxmlformats.org/drawingml/2006/main">
            <a:off x="6219825" y="3714750"/>
            <a:ext cx="5514975" cy="18097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5AAF05F-3145-4B61-AFAB-2B4D0C4D6480}"/>
              </a:ext>
            </a:extLst>
          </p:cNvPr>
          <p:cNvSpPr>
            <a:spLocks xmlns:a="http://schemas.openxmlformats.org/drawingml/2006/main" noGrp="1"/>
          </p:cNvSpPr>
          <p:nvPr/>
        </p:nvSpPr>
        <p:spPr>
          <a:xfrm xmlns:a="http://schemas.openxmlformats.org/drawingml/2006/main">
            <a:off x="6448425" y="39243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System</a:t>
            </a:r>
          </a:p>
        </p:txBody>
      </p:sp>
      <p:sp>
        <p:nvSpPr>
          <p:cNvPr id="15" name="">
            <a:extLst xmlns:a="http://schemas.openxmlformats.org/drawingml/2006/main">
              <a:ext uri="{FF2B5EF4-FFF2-40B4-BE49-F238E27FC236}">
                <a16:creationId xmlns:a16="http://schemas.microsoft.com/office/drawing/2014/main" id="{B128F87A-0107-4512-A06C-EF5AB9C339D6}"/>
              </a:ext>
            </a:extLst>
          </p:cNvPr>
          <p:cNvSpPr>
            <a:spLocks xmlns:a="http://schemas.openxmlformats.org/drawingml/2006/main" noGrp="1"/>
          </p:cNvSpPr>
          <p:nvPr/>
        </p:nvSpPr>
        <p:spPr>
          <a:xfrm xmlns:a="http://schemas.openxmlformats.org/drawingml/2006/main">
            <a:off x="6448425" y="4362450"/>
            <a:ext cx="5000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370"/>
          </a:bodyPr>
          <a:lstStyle xmlns:a="http://schemas.openxmlformats.org/drawingml/2006/main"/>
          <a:p xmlns:a="http://schemas.openxmlformats.org/drawingml/2006/main">
            <a:pPr algn="l">
              <a:defRPr sz="1800" b="1">
                <a:solidFill>
                  <a:srgbClr val="101820"/>
                </a:solidFill>
                <a:latin typeface="Arial"/>
                <a:ea typeface="Arial"/>
                <a:cs typeface="Arial"/>
              </a:defRPr>
            </a:pPr>
            <a:r>
              <a:rPr sz="1800" b="1">
                <a:solidFill>
                  <a:srgbClr val="101820"/>
                </a:solidFill>
                <a:latin typeface="Arial"/>
                <a:ea typeface="Arial"/>
                <a:cs typeface="Arial"/>
              </a:rPr>
              <a:t>Can many encoders enter one frozen Hub so a component trained once transfers to unseen models?</a:t>
            </a:r>
          </a:p>
        </p:txBody>
      </p:sp>
    </p:spTree>
    <p:extLst>
      <p:ext uri="{BB962C8B-B14F-4D97-AF65-F5344CB8AC3E}">
        <p14:creationId xmlns:p14="http://schemas.microsoft.com/office/powerpoint/2010/main" val="66840122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C5622BD-4552-475F-B9A0-941FC4973D7A}"/>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26"/>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Similarity is not one number - geometry determines what each metric means</a:t>
            </a:r>
          </a:p>
        </p:txBody>
      </p:sp>
      <p:cxnSp>
        <p:nvCxnSpPr>
          <p:cNvPr id="14"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40A448ED-D95B-4F13-A92E-27A520CDCAB5}"/>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05</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aa43c09760f4e1e"/>
          <a:stretch xmlns:a="http://schemas.openxmlformats.org/drawingml/2006/main"/>
        </p:blipFill>
        <p:spPr>
          <a:xfrm xmlns:a="http://schemas.openxmlformats.org/drawingml/2006/main">
            <a:off x="457200" y="1301279"/>
            <a:ext cx="11277600" cy="368394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583C6D8-D6F2-43EC-B5BF-44DEE2704288}"/>
              </a:ext>
            </a:extLst>
          </p:cNvPr>
          <p:cNvSpPr>
            <a:spLocks xmlns:a="http://schemas.openxmlformats.org/drawingml/2006/main" noGrp="1"/>
          </p:cNvSpPr>
          <p:nvPr/>
        </p:nvSpPr>
        <p:spPr>
          <a:xfrm xmlns:a="http://schemas.openxmlformats.org/drawingml/2006/main">
            <a:off x="523875" y="528637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167"/>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Isotropy</a:t>
            </a:r>
          </a:p>
        </p:txBody>
      </p:sp>
      <p:sp>
        <p:nvSpPr>
          <p:cNvPr id="6" name="">
            <a:extLst xmlns:a="http://schemas.openxmlformats.org/drawingml/2006/main">
              <a:ext uri="{FF2B5EF4-FFF2-40B4-BE49-F238E27FC236}">
                <a16:creationId xmlns:a16="http://schemas.microsoft.com/office/drawing/2014/main" id="{BB7D742F-05AF-4BFF-BC8D-6004BD32E290}"/>
              </a:ext>
            </a:extLst>
          </p:cNvPr>
          <p:cNvSpPr>
            <a:spLocks xmlns:a="http://schemas.openxmlformats.org/drawingml/2006/main" noGrp="1"/>
          </p:cNvSpPr>
          <p:nvPr/>
        </p:nvSpPr>
        <p:spPr>
          <a:xfrm xmlns:a="http://schemas.openxmlformats.org/drawingml/2006/main">
            <a:off x="523875" y="55721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defRPr sz="1275" b="0">
                <a:solidFill>
                  <a:srgbClr val="5F6972"/>
                </a:solidFill>
                <a:latin typeface="Arial"/>
                <a:ea typeface="Arial"/>
                <a:cs typeface="Arial"/>
              </a:defRPr>
            </a:pPr>
            <a:r>
              <a:rPr sz="1275" b="0">
                <a:solidFill>
                  <a:srgbClr val="5F6972"/>
                </a:solidFill>
                <a:latin typeface="Arial"/>
                <a:ea typeface="Arial"/>
                <a:cs typeface="Arial"/>
              </a:rPr>
              <a:t>variance spread evenly across directions</a:t>
            </a:r>
          </a:p>
        </p:txBody>
      </p:sp>
      <p:sp>
        <p:nvSpPr>
          <p:cNvPr id="7" name="">
            <a:extLst xmlns:a="http://schemas.openxmlformats.org/drawingml/2006/main">
              <a:ext uri="{FF2B5EF4-FFF2-40B4-BE49-F238E27FC236}">
                <a16:creationId xmlns:a16="http://schemas.microsoft.com/office/drawing/2014/main" id="{B07C14BF-B0FF-448E-AB77-355546751435}"/>
              </a:ext>
            </a:extLst>
          </p:cNvPr>
          <p:cNvSpPr>
            <a:spLocks xmlns:a="http://schemas.openxmlformats.org/drawingml/2006/main" noGrp="1"/>
          </p:cNvSpPr>
          <p:nvPr/>
        </p:nvSpPr>
        <p:spPr>
          <a:xfrm xmlns:a="http://schemas.openxmlformats.org/drawingml/2006/main">
            <a:off x="3333750" y="528637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167"/>
          </a:bodyPr>
          <a:lstStyle xmlns:a="http://schemas.openxmlformats.org/drawingml/2006/main"/>
          <a:p xmlns:a="http://schemas.openxmlformats.org/drawingml/2006/main">
            <a:pPr algn="l">
              <a:defRPr sz="1500" b="1">
                <a:solidFill>
                  <a:srgbClr val="E57C23"/>
                </a:solidFill>
                <a:latin typeface="Arial"/>
                <a:ea typeface="Arial"/>
                <a:cs typeface="Arial"/>
              </a:defRPr>
            </a:pPr>
            <a:r>
              <a:rPr sz="1500" b="1">
                <a:solidFill>
                  <a:srgbClr val="E57C23"/>
                </a:solidFill>
                <a:latin typeface="Arial"/>
                <a:ea typeface="Arial"/>
                <a:cs typeface="Arial"/>
              </a:rPr>
              <a:t>Anisotropy</a:t>
            </a:r>
          </a:p>
        </p:txBody>
      </p:sp>
      <p:sp>
        <p:nvSpPr>
          <p:cNvPr id="8" name="">
            <a:extLst xmlns:a="http://schemas.openxmlformats.org/drawingml/2006/main">
              <a:ext uri="{FF2B5EF4-FFF2-40B4-BE49-F238E27FC236}">
                <a16:creationId xmlns:a16="http://schemas.microsoft.com/office/drawing/2014/main" id="{A3AC72FA-B6E1-4A8C-9902-EC90DE13F677}"/>
              </a:ext>
            </a:extLst>
          </p:cNvPr>
          <p:cNvSpPr>
            <a:spLocks xmlns:a="http://schemas.openxmlformats.org/drawingml/2006/main" noGrp="1"/>
          </p:cNvSpPr>
          <p:nvPr/>
        </p:nvSpPr>
        <p:spPr>
          <a:xfrm xmlns:a="http://schemas.openxmlformats.org/drawingml/2006/main">
            <a:off x="3333750" y="55721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defRPr sz="1275" b="0">
                <a:solidFill>
                  <a:srgbClr val="5F6972"/>
                </a:solidFill>
                <a:latin typeface="Arial"/>
                <a:ea typeface="Arial"/>
                <a:cs typeface="Arial"/>
              </a:defRPr>
            </a:pPr>
            <a:r>
              <a:rPr sz="1275" b="0">
                <a:solidFill>
                  <a:srgbClr val="5F6972"/>
                </a:solidFill>
                <a:latin typeface="Arial"/>
                <a:ea typeface="Arial"/>
                <a:cs typeface="Arial"/>
              </a:rPr>
              <a:t>variance concentrated in a few directions</a:t>
            </a:r>
          </a:p>
        </p:txBody>
      </p:sp>
      <p:sp>
        <p:nvSpPr>
          <p:cNvPr id="9" name="">
            <a:extLst xmlns:a="http://schemas.openxmlformats.org/drawingml/2006/main">
              <a:ext uri="{FF2B5EF4-FFF2-40B4-BE49-F238E27FC236}">
                <a16:creationId xmlns:a16="http://schemas.microsoft.com/office/drawing/2014/main" id="{83E91C68-11D2-4905-AFBF-A90D77E5024A}"/>
              </a:ext>
            </a:extLst>
          </p:cNvPr>
          <p:cNvSpPr>
            <a:spLocks xmlns:a="http://schemas.openxmlformats.org/drawingml/2006/main" noGrp="1"/>
          </p:cNvSpPr>
          <p:nvPr/>
        </p:nvSpPr>
        <p:spPr>
          <a:xfrm xmlns:a="http://schemas.openxmlformats.org/drawingml/2006/main">
            <a:off x="6238875" y="528637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167"/>
          </a:bodyPr>
          <a:lstStyle xmlns:a="http://schemas.openxmlformats.org/drawingml/2006/main"/>
          <a:p xmlns:a="http://schemas.openxmlformats.org/drawingml/2006/main">
            <a:pPr algn="l">
              <a:defRPr sz="1500" b="1">
                <a:solidFill>
                  <a:srgbClr val="0C7C86"/>
                </a:solidFill>
                <a:latin typeface="Arial"/>
                <a:ea typeface="Arial"/>
                <a:cs typeface="Arial"/>
              </a:defRPr>
            </a:pPr>
            <a:r>
              <a:rPr sz="1500" b="1">
                <a:solidFill>
                  <a:srgbClr val="0C7C86"/>
                </a:solidFill>
                <a:latin typeface="Arial"/>
                <a:ea typeface="Arial"/>
                <a:cs typeface="Arial"/>
              </a:rPr>
              <a:t>Modality</a:t>
            </a:r>
          </a:p>
        </p:txBody>
      </p:sp>
      <p:sp>
        <p:nvSpPr>
          <p:cNvPr id="10" name="">
            <a:extLst xmlns:a="http://schemas.openxmlformats.org/drawingml/2006/main">
              <a:ext uri="{FF2B5EF4-FFF2-40B4-BE49-F238E27FC236}">
                <a16:creationId xmlns:a16="http://schemas.microsoft.com/office/drawing/2014/main" id="{57AD80D7-79F3-4CD7-BE3C-3FE3297B6AF0}"/>
              </a:ext>
            </a:extLst>
          </p:cNvPr>
          <p:cNvSpPr>
            <a:spLocks xmlns:a="http://schemas.openxmlformats.org/drawingml/2006/main" noGrp="1"/>
          </p:cNvSpPr>
          <p:nvPr/>
        </p:nvSpPr>
        <p:spPr>
          <a:xfrm xmlns:a="http://schemas.openxmlformats.org/drawingml/2006/main">
            <a:off x="6238875" y="5572125"/>
            <a:ext cx="2333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defRPr sz="1275" b="0">
                <a:solidFill>
                  <a:srgbClr val="5F6972"/>
                </a:solidFill>
                <a:latin typeface="Arial"/>
                <a:ea typeface="Arial"/>
                <a:cs typeface="Arial"/>
              </a:defRPr>
            </a:pPr>
            <a:r>
              <a:rPr sz="1275" b="0">
                <a:solidFill>
                  <a:srgbClr val="5F6972"/>
                </a:solidFill>
                <a:latin typeface="Arial"/>
                <a:ea typeface="Arial"/>
                <a:cs typeface="Arial"/>
              </a:rPr>
              <a:t>image, text or another sensory channel</a:t>
            </a:r>
          </a:p>
        </p:txBody>
      </p:sp>
      <p:sp>
        <p:nvSpPr>
          <p:cNvPr id="11" name="">
            <a:extLst xmlns:a="http://schemas.openxmlformats.org/drawingml/2006/main">
              <a:ext uri="{FF2B5EF4-FFF2-40B4-BE49-F238E27FC236}">
                <a16:creationId xmlns:a16="http://schemas.microsoft.com/office/drawing/2014/main" id="{E2FC8437-175C-42AF-BF1C-95AC3E8C09BE}"/>
              </a:ext>
            </a:extLst>
          </p:cNvPr>
          <p:cNvSpPr>
            <a:spLocks xmlns:a="http://schemas.openxmlformats.org/drawingml/2006/main" noGrp="1"/>
          </p:cNvSpPr>
          <p:nvPr/>
        </p:nvSpPr>
        <p:spPr>
          <a:xfrm xmlns:a="http://schemas.openxmlformats.org/drawingml/2006/main">
            <a:off x="9096375" y="528637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167"/>
          </a:bodyPr>
          <a:lstStyle xmlns:a="http://schemas.openxmlformats.org/drawingml/2006/main"/>
          <a:p xmlns:a="http://schemas.openxmlformats.org/drawingml/2006/main">
            <a:pPr algn="l">
              <a:defRPr sz="1500" b="1">
                <a:solidFill>
                  <a:srgbClr val="C43D3D"/>
                </a:solidFill>
                <a:latin typeface="Arial"/>
                <a:ea typeface="Arial"/>
                <a:cs typeface="Arial"/>
              </a:defRPr>
            </a:pPr>
            <a:r>
              <a:rPr sz="1500" b="1">
                <a:solidFill>
                  <a:srgbClr val="C43D3D"/>
                </a:solidFill>
                <a:latin typeface="Arial"/>
                <a:ea typeface="Arial"/>
                <a:cs typeface="Arial"/>
              </a:rPr>
              <a:t>Objective</a:t>
            </a:r>
          </a:p>
        </p:txBody>
      </p:sp>
      <p:sp>
        <p:nvSpPr>
          <p:cNvPr id="12" name="">
            <a:extLst xmlns:a="http://schemas.openxmlformats.org/drawingml/2006/main">
              <a:ext uri="{FF2B5EF4-FFF2-40B4-BE49-F238E27FC236}">
                <a16:creationId xmlns:a16="http://schemas.microsoft.com/office/drawing/2014/main" id="{6B462883-DE94-4BDB-807A-E4D8AD8343E3}"/>
              </a:ext>
            </a:extLst>
          </p:cNvPr>
          <p:cNvSpPr>
            <a:spLocks xmlns:a="http://schemas.openxmlformats.org/drawingml/2006/main" noGrp="1"/>
          </p:cNvSpPr>
          <p:nvPr/>
        </p:nvSpPr>
        <p:spPr>
          <a:xfrm xmlns:a="http://schemas.openxmlformats.org/drawingml/2006/main">
            <a:off x="9096375" y="5572125"/>
            <a:ext cx="2333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defRPr sz="1275" b="0">
                <a:solidFill>
                  <a:srgbClr val="5F6972"/>
                </a:solidFill>
                <a:latin typeface="Arial"/>
                <a:ea typeface="Arial"/>
                <a:cs typeface="Arial"/>
              </a:defRPr>
            </a:pPr>
            <a:r>
              <a:rPr sz="1275" b="0">
                <a:solidFill>
                  <a:srgbClr val="5F6972"/>
                </a:solidFill>
                <a:latin typeface="Arial"/>
                <a:ea typeface="Arial"/>
                <a:cs typeface="Arial"/>
              </a:rPr>
              <a:t>the learning signal that shapes geometry</a:t>
            </a:r>
          </a:p>
        </p:txBody>
      </p:sp>
    </p:spTree>
    <p:extLst>
      <p:ext uri="{BB962C8B-B14F-4D97-AF65-F5344CB8AC3E}">
        <p14:creationId xmlns:p14="http://schemas.microsoft.com/office/powerpoint/2010/main" val="133396912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9F491E-A267-4648-ABA1-497FDB7DCDAB}"/>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789"/>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The study moved from pairwise proof to a reusable shared system</a:t>
            </a:r>
          </a:p>
        </p:txBody>
      </p:sp>
      <p:cxnSp>
        <p:nvCxnSpPr>
          <p:cNvPr id="6"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D79F8A12-3B46-42B1-90B7-800AA64FE81E}"/>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06</a:t>
            </a:r>
          </a:p>
        </p:txBody>
      </p:sp>
      <p:graphicFrame>
        <p:nvGraphicFramePr>
          <p:cNvPr id="8" name=""/>
          <p:cNvGraphicFramePr/>
          <p:nvPr/>
        </p:nvGraphicFramePr>
        <p:xfrm>
          <a:off xmlns:a="http://schemas.openxmlformats.org/drawingml/2006/main" x="457200" y="1381125"/>
          <a:ext xmlns:a="http://schemas.openxmlformats.org/drawingml/2006/main" cx="11277600" cy="4286250"/>
        </p:xfrm>
        <a:graphic xmlns:a="http://schemas.openxmlformats.org/drawingml/2006/main">
          <a:graphicData uri="http://schemas.openxmlformats.org/drawingml/2006/table">
            <a:tbl>
              <a:tblPr firstRow="1" bandRow="1"/>
              <a:tblGrid>
                <a:gridCol w="857250"/>
                <a:gridCol w="2095500"/>
                <a:gridCol w="2524125"/>
                <a:gridCol w="2809875"/>
                <a:gridCol w="2990850"/>
              </a:tblGrid>
              <a:tr h="714375">
                <a:tc>
                  <a:txBody>
                    <a:bodyPr/>
                    <a:lstStyle/>
                    <a:p>
                      <a:r>
                        <a:rPr sz="1350" b="1">
                          <a:solidFill>
                            <a:srgbClr val="FFFFFF"/>
                          </a:solidFill>
                        </a:rPr>
                        <a:t>Track</a:t>
                      </a:r>
                    </a:p>
                  </a:txBody>
                  <a:tcPr marL="91440" marR="91440" marT="45720" marB="45720">
                    <a:solidFill>
                      <a:srgbClr val="101820"/>
                    </a:solidFill>
                  </a:tcPr>
                </a:tc>
                <a:tc>
                  <a:txBody>
                    <a:bodyPr/>
                    <a:lstStyle/>
                    <a:p>
                      <a:r>
                        <a:rPr sz="1350" b="1">
                          <a:solidFill>
                            <a:srgbClr val="FFFFFF"/>
                          </a:solidFill>
                        </a:rPr>
                        <a:t>Purpose</a:t>
                      </a:r>
                    </a:p>
                  </a:txBody>
                  <a:tcPr marL="91440" marR="91440" marT="45720" marB="45720">
                    <a:solidFill>
                      <a:srgbClr val="101820"/>
                    </a:solidFill>
                  </a:tcPr>
                </a:tc>
                <a:tc>
                  <a:txBody>
                    <a:bodyPr/>
                    <a:lstStyle/>
                    <a:p>
                      <a:r>
                        <a:rPr sz="1350" b="1">
                          <a:solidFill>
                            <a:srgbClr val="FFFFFF"/>
                          </a:solidFill>
                        </a:rPr>
                        <a:t>Models</a:t>
                      </a:r>
                    </a:p>
                  </a:txBody>
                  <a:tcPr marL="91440" marR="91440" marT="45720" marB="45720">
                    <a:solidFill>
                      <a:srgbClr val="101820"/>
                    </a:solidFill>
                  </a:tcPr>
                </a:tc>
                <a:tc>
                  <a:txBody>
                    <a:bodyPr/>
                    <a:lstStyle/>
                    <a:p>
                      <a:r>
                        <a:rPr sz="1350" b="1">
                          <a:solidFill>
                            <a:srgbClr val="FFFFFF"/>
                          </a:solidFill>
                        </a:rPr>
                        <a:t>Method</a:t>
                      </a:r>
                    </a:p>
                  </a:txBody>
                  <a:tcPr marL="91440" marR="91440" marT="45720" marB="45720">
                    <a:solidFill>
                      <a:srgbClr val="101820"/>
                    </a:solidFill>
                  </a:tcPr>
                </a:tc>
                <a:tc>
                  <a:txBody>
                    <a:bodyPr/>
                    <a:lstStyle/>
                    <a:p>
                      <a:r>
                        <a:rPr sz="1350" b="1">
                          <a:solidFill>
                            <a:srgbClr val="FFFFFF"/>
                          </a:solidFill>
                        </a:rPr>
                        <a:t>Headline result</a:t>
                      </a:r>
                    </a:p>
                  </a:txBody>
                  <a:tcPr marL="91440" marR="91440" marT="45720" marB="45720">
                    <a:solidFill>
                      <a:srgbClr val="101820"/>
                    </a:solidFill>
                  </a:tcPr>
                </a:tc>
              </a:tr>
              <a:tr h="714375">
                <a:tc>
                  <a:txBody>
                    <a:bodyPr/>
                    <a:lstStyle/>
                    <a:p>
                      <a:r>
                        <a:rPr sz="1200">
                          <a:solidFill>
                            <a:srgbClr val="101820"/>
                          </a:solidFill>
                        </a:rPr>
                        <a:t>A</a:t>
                      </a:r>
                    </a:p>
                  </a:txBody>
                  <a:tcPr marL="91440" marR="91440" marT="45720" marB="45720"/>
                </a:tc>
                <a:tc>
                  <a:txBody>
                    <a:bodyPr/>
                    <a:lstStyle/>
                    <a:p>
                      <a:r>
                        <a:rPr sz="1200">
                          <a:solidFill>
                            <a:srgbClr val="101820"/>
                          </a:solidFill>
                        </a:rPr>
                        <a:t>Layer convergence</a:t>
                      </a:r>
                    </a:p>
                  </a:txBody>
                  <a:tcPr marL="91440" marR="91440" marT="45720" marB="45720"/>
                </a:tc>
                <a:tc>
                  <a:txBody>
                    <a:bodyPr/>
                    <a:lstStyle/>
                    <a:p>
                      <a:r>
                        <a:rPr sz="1200">
                          <a:solidFill>
                            <a:srgbClr val="101820"/>
                          </a:solidFill>
                        </a:rPr>
                        <a:t>GPT-2, Pythia-160M</a:t>
                      </a:r>
                    </a:p>
                  </a:txBody>
                  <a:tcPr marL="91440" marR="91440" marT="45720" marB="45720"/>
                </a:tc>
                <a:tc>
                  <a:txBody>
                    <a:bodyPr/>
                    <a:lstStyle/>
                    <a:p>
                      <a:r>
                        <a:rPr sz="1200">
                          <a:solidFill>
                            <a:srgbClr val="101820"/>
                          </a:solidFill>
                        </a:rPr>
                        <a:t>CKA + ridge stitching + random control</a:t>
                      </a:r>
                    </a:p>
                  </a:txBody>
                  <a:tcPr marL="91440" marR="91440" marT="45720" marB="45720"/>
                </a:tc>
                <a:tc>
                  <a:txBody>
                    <a:bodyPr/>
                    <a:lstStyle/>
                    <a:p>
                      <a:r>
                        <a:rPr sz="1200">
                          <a:solidFill>
                            <a:srgbClr val="101820"/>
                          </a:solidFill>
                        </a:rPr>
                        <a:t>Peak held-out R² 0.797</a:t>
                      </a:r>
                    </a:p>
                  </a:txBody>
                  <a:tcPr marL="91440" marR="91440" marT="45720" marB="45720"/>
                </a:tc>
              </a:tr>
              <a:tr h="714375">
                <a:tc>
                  <a:txBody>
                    <a:bodyPr/>
                    <a:lstStyle/>
                    <a:p>
                      <a:r>
                        <a:rPr sz="1200">
                          <a:solidFill>
                            <a:srgbClr val="101820"/>
                          </a:solidFill>
                        </a:rPr>
                        <a:t>B / F</a:t>
                      </a:r>
                    </a:p>
                  </a:txBody>
                  <a:tcPr marL="91440" marR="91440" marT="45720" marB="45720"/>
                </a:tc>
                <a:tc>
                  <a:txBody>
                    <a:bodyPr/>
                    <a:lstStyle/>
                    <a:p>
                      <a:r>
                        <a:rPr sz="1200">
                          <a:solidFill>
                            <a:srgbClr val="101820"/>
                          </a:solidFill>
                        </a:rPr>
                        <a:t>Deployable adapter</a:t>
                      </a:r>
                    </a:p>
                  </a:txBody>
                  <a:tcPr marL="91440" marR="91440" marT="45720" marB="45720"/>
                </a:tc>
                <a:tc>
                  <a:txBody>
                    <a:bodyPr/>
                    <a:lstStyle/>
                    <a:p>
                      <a:r>
                        <a:rPr sz="1200">
                          <a:solidFill>
                            <a:srgbClr val="101820"/>
                          </a:solidFill>
                        </a:rPr>
                        <a:t>MobileCLIP-S1, SigLIP 2</a:t>
                      </a:r>
                    </a:p>
                  </a:txBody>
                  <a:tcPr marL="91440" marR="91440" marT="45720" marB="45720"/>
                </a:tc>
                <a:tc>
                  <a:txBody>
                    <a:bodyPr/>
                    <a:lstStyle/>
                    <a:p>
                      <a:r>
                        <a:rPr sz="1200">
                          <a:solidFill>
                            <a:srgbClr val="101820"/>
                          </a:solidFill>
                        </a:rPr>
                        <a:t>Ridge, Procrustes, MLP, retrieval</a:t>
                      </a:r>
                    </a:p>
                  </a:txBody>
                  <a:tcPr marL="91440" marR="91440" marT="45720" marB="45720"/>
                </a:tc>
                <a:tc>
                  <a:txBody>
                    <a:bodyPr/>
                    <a:lstStyle/>
                    <a:p>
                      <a:r>
                        <a:rPr sz="1200">
                          <a:solidFill>
                            <a:srgbClr val="101820"/>
                          </a:solidFill>
                        </a:rPr>
                        <a:t>0.79 MB; R@5 95.3% of ceiling</a:t>
                      </a:r>
                    </a:p>
                  </a:txBody>
                  <a:tcPr marL="91440" marR="91440" marT="45720" marB="45720"/>
                </a:tc>
              </a:tr>
              <a:tr h="714375">
                <a:tc>
                  <a:txBody>
                    <a:bodyPr/>
                    <a:lstStyle/>
                    <a:p>
                      <a:r>
                        <a:rPr sz="1200">
                          <a:solidFill>
                            <a:srgbClr val="101820"/>
                          </a:solidFill>
                        </a:rPr>
                        <a:t>E</a:t>
                      </a:r>
                    </a:p>
                  </a:txBody>
                  <a:tcPr marL="91440" marR="91440" marT="45720" marB="45720"/>
                </a:tc>
                <a:tc>
                  <a:txBody>
                    <a:bodyPr/>
                    <a:lstStyle/>
                    <a:p>
                      <a:r>
                        <a:rPr sz="1200">
                          <a:solidFill>
                            <a:srgbClr val="101820"/>
                          </a:solidFill>
                        </a:rPr>
                        <a:t>Cross-modal geometry</a:t>
                      </a:r>
                    </a:p>
                  </a:txBody>
                  <a:tcPr marL="91440" marR="91440" marT="45720" marB="45720"/>
                </a:tc>
                <a:tc>
                  <a:txBody>
                    <a:bodyPr/>
                    <a:lstStyle/>
                    <a:p>
                      <a:r>
                        <a:rPr sz="1200">
                          <a:solidFill>
                            <a:srgbClr val="101820"/>
                          </a:solidFill>
                        </a:rPr>
                        <a:t>DINOv2 S/B/L, bge, GPT-2, BERT, SBERT</a:t>
                      </a:r>
                    </a:p>
                  </a:txBody>
                  <a:tcPr marL="91440" marR="91440" marT="45720" marB="45720"/>
                </a:tc>
                <a:tc>
                  <a:txBody>
                    <a:bodyPr/>
                    <a:lstStyle/>
                    <a:p>
                      <a:r>
                        <a:rPr sz="1200">
                          <a:solidFill>
                            <a:srgbClr val="101820"/>
                          </a:solidFill>
                        </a:rPr>
                        <a:t>Capacity sweep, whitening, controls</a:t>
                      </a:r>
                    </a:p>
                  </a:txBody>
                  <a:tcPr marL="91440" marR="91440" marT="45720" marB="45720"/>
                </a:tc>
                <a:tc>
                  <a:txBody>
                    <a:bodyPr/>
                    <a:lstStyle/>
                    <a:p>
                      <a:r>
                        <a:rPr sz="1200">
                          <a:solidFill>
                            <a:srgbClr val="101820"/>
                          </a:solidFill>
                        </a:rPr>
                        <a:t>40.9% → 58.3% of ceiling</a:t>
                      </a:r>
                    </a:p>
                  </a:txBody>
                  <a:tcPr marL="91440" marR="91440" marT="45720" marB="45720"/>
                </a:tc>
              </a:tr>
              <a:tr h="714375">
                <a:tc>
                  <a:txBody>
                    <a:bodyPr/>
                    <a:lstStyle/>
                    <a:p>
                      <a:r>
                        <a:rPr sz="1200">
                          <a:solidFill>
                            <a:srgbClr val="101820"/>
                          </a:solidFill>
                        </a:rPr>
                        <a:t>G / K</a:t>
                      </a:r>
                    </a:p>
                  </a:txBody>
                  <a:tcPr marL="91440" marR="91440" marT="45720" marB="45720"/>
                </a:tc>
                <a:tc>
                  <a:txBody>
                    <a:bodyPr/>
                    <a:lstStyle/>
                    <a:p>
                      <a:r>
                        <a:rPr sz="1200">
                          <a:solidFill>
                            <a:srgbClr val="101820"/>
                          </a:solidFill>
                        </a:rPr>
                        <a:t>Shared Hub</a:t>
                      </a:r>
                    </a:p>
                  </a:txBody>
                  <a:tcPr marL="91440" marR="91440" marT="45720" marB="45720"/>
                </a:tc>
                <a:tc>
                  <a:txBody>
                    <a:bodyPr/>
                    <a:lstStyle/>
                    <a:p>
                      <a:r>
                        <a:rPr sz="1200">
                          <a:solidFill>
                            <a:srgbClr val="101820"/>
                          </a:solidFill>
                        </a:rPr>
                        <a:t>7 members + SigLIP + ConvNeXt held out</a:t>
                      </a:r>
                    </a:p>
                  </a:txBody>
                  <a:tcPr marL="91440" marR="91440" marT="45720" marB="45720"/>
                </a:tc>
                <a:tc>
                  <a:txBody>
                    <a:bodyPr/>
                    <a:lstStyle/>
                    <a:p>
                      <a:r>
                        <a:rPr sz="1200">
                          <a:solidFill>
                            <a:srgbClr val="101820"/>
                          </a:solidFill>
                        </a:rPr>
                        <a:t>Whitened PCA, entry maps, reusable head</a:t>
                      </a:r>
                    </a:p>
                  </a:txBody>
                  <a:tcPr marL="91440" marR="91440" marT="45720" marB="45720"/>
                </a:tc>
                <a:tc>
                  <a:txBody>
                    <a:bodyPr/>
                    <a:lstStyle/>
                    <a:p>
                      <a:r>
                        <a:rPr sz="1200">
                          <a:solidFill>
                            <a:srgbClr val="101820"/>
                          </a:solidFill>
                        </a:rPr>
                        <a:t>92.9-96.7% native transfer</a:t>
                      </a:r>
                    </a:p>
                  </a:txBody>
                  <a:tcPr marL="91440" marR="91440" marT="45720" marB="45720"/>
                </a:tc>
              </a:tr>
              <a:tr h="714375">
                <a:tc>
                  <a:txBody>
                    <a:bodyPr/>
                    <a:lstStyle/>
                    <a:p>
                      <a:r>
                        <a:rPr sz="1200">
                          <a:solidFill>
                            <a:srgbClr val="101820"/>
                          </a:solidFill>
                        </a:rPr>
                        <a:t>C</a:t>
                      </a:r>
                    </a:p>
                  </a:txBody>
                  <a:tcPr marL="91440" marR="91440" marT="45720" marB="45720"/>
                </a:tc>
                <a:tc>
                  <a:txBody>
                    <a:bodyPr/>
                    <a:lstStyle/>
                    <a:p>
                      <a:r>
                        <a:rPr sz="1200">
                          <a:solidFill>
                            <a:srgbClr val="101820"/>
                          </a:solidFill>
                        </a:rPr>
                        <a:t>Pair-free recovery</a:t>
                      </a:r>
                    </a:p>
                  </a:txBody>
                  <a:tcPr marL="91440" marR="91440" marT="45720" marB="45720"/>
                </a:tc>
                <a:tc>
                  <a:txBody>
                    <a:bodyPr/>
                    <a:lstStyle/>
                    <a:p>
                      <a:r>
                        <a:rPr sz="1200">
                          <a:solidFill>
                            <a:srgbClr val="101820"/>
                          </a:solidFill>
                        </a:rPr>
                        <a:t>MobileCLIP-S1, SigLIP 2</a:t>
                      </a:r>
                    </a:p>
                  </a:txBody>
                  <a:tcPr marL="91440" marR="91440" marT="45720" marB="45720"/>
                </a:tc>
                <a:tc>
                  <a:txBody>
                    <a:bodyPr/>
                    <a:lstStyle/>
                    <a:p>
                      <a:r>
                        <a:rPr sz="1200">
                          <a:solidFill>
                            <a:srgbClr val="101820"/>
                          </a:solidFill>
                        </a:rPr>
                        <a:t>Gromov-Wasserstein</a:t>
                      </a:r>
                    </a:p>
                  </a:txBody>
                  <a:tcPr marL="91440" marR="91440" marT="45720" marB="45720"/>
                </a:tc>
                <a:tc>
                  <a:txBody>
                    <a:bodyPr/>
                    <a:lstStyle/>
                    <a:p>
                      <a:r>
                        <a:rPr sz="1200">
                          <a:solidFill>
                            <a:srgbClr val="101820"/>
                          </a:solidFill>
                        </a:rPr>
                        <a:t>39.7% exact; 595× chance</a:t>
                      </a:r>
                    </a:p>
                  </a:txBody>
                  <a:tcPr marL="91440" marR="91440" marT="45720" marB="45720"/>
                </a:tc>
              </a:tr>
            </a:tbl>
          </a:graphicData>
        </a:graphic>
      </p:graphicFrame>
    </p:spTree>
    <p:extLst>
      <p:ext uri="{BB962C8B-B14F-4D97-AF65-F5344CB8AC3E}">
        <p14:creationId xmlns:p14="http://schemas.microsoft.com/office/powerpoint/2010/main" val="73724429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7828992-02EC-44DE-87EA-5762E6594B56}"/>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86"/>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Experiment B maps phone images into the server search space</a:t>
            </a:r>
          </a:p>
        </p:txBody>
      </p:sp>
      <p:cxnSp>
        <p:nvCxnSpPr>
          <p:cNvPr id="28"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F582B521-4A2F-472D-93F2-2B6930F65DF1}"/>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07</a:t>
            </a:r>
          </a:p>
        </p:txBody>
      </p:sp>
      <p:cxnSp>
        <p:nvCxnSpPr>
          <p:cNvPr id="30" name=""/>
          <p:cNvCxnSpPr/>
          <p:nvPr/>
        </p:nvCxnSpPr>
        <p:spPr>
          <a:xfrm xmlns:a="http://schemas.openxmlformats.org/drawingml/2006/main">
            <a:off x="2028825" y="2762250"/>
            <a:ext cx="1428750" cy="0"/>
          </a:xfrm>
          <a:prstGeom xmlns:a="http://schemas.openxmlformats.org/drawingml/2006/main" prst="straightConnector1">
            <a:avLst/>
          </a:prstGeom>
          <a:ln xmlns:a="http://schemas.openxmlformats.org/drawingml/2006/main" w="38100">
            <a:solidFill>
              <a:srgbClr val="3D8DFF"/>
            </a:solidFill>
            <a:prstDash val="solid"/>
          </a:ln>
        </p:spPr>
      </p:cxnSp>
      <p:cxnSp>
        <p:nvCxnSpPr>
          <p:cNvPr id="31" name=""/>
          <p:cNvCxnSpPr/>
          <p:nvPr/>
        </p:nvCxnSpPr>
        <p:spPr>
          <a:xfrm xmlns:a="http://schemas.openxmlformats.org/drawingml/2006/main">
            <a:off x="4953000" y="2762250"/>
            <a:ext cx="1428750" cy="0"/>
          </a:xfrm>
          <a:prstGeom xmlns:a="http://schemas.openxmlformats.org/drawingml/2006/main" prst="straightConnector1">
            <a:avLst/>
          </a:prstGeom>
          <a:ln xmlns:a="http://schemas.openxmlformats.org/drawingml/2006/main" w="38100">
            <a:solidFill>
              <a:srgbClr val="3D8DFF"/>
            </a:solidFill>
            <a:prstDash val="solid"/>
          </a:ln>
        </p:spPr>
      </p:cxnSp>
      <p:cxnSp>
        <p:nvCxnSpPr>
          <p:cNvPr id="32" name=""/>
          <p:cNvCxnSpPr/>
          <p:nvPr/>
        </p:nvCxnSpPr>
        <p:spPr>
          <a:xfrm xmlns:a="http://schemas.openxmlformats.org/drawingml/2006/main">
            <a:off x="7858125" y="2762250"/>
            <a:ext cx="1428750" cy="0"/>
          </a:xfrm>
          <a:prstGeom xmlns:a="http://schemas.openxmlformats.org/drawingml/2006/main" prst="straightConnector1">
            <a:avLst/>
          </a:prstGeom>
          <a:ln xmlns:a="http://schemas.openxmlformats.org/drawingml/2006/main" w="38100">
            <a:solidFill>
              <a:srgbClr val="3D8DFF"/>
            </a:solidFill>
            <a:prstDash val="solid"/>
          </a:ln>
        </p:spPr>
      </p:cxnSp>
      <p:sp>
        <p:nvSpPr>
          <p:cNvPr id="7" name="">
            <a:extLst xmlns:a="http://schemas.openxmlformats.org/drawingml/2006/main">
              <a:ext uri="{FF2B5EF4-FFF2-40B4-BE49-F238E27FC236}">
                <a16:creationId xmlns:a16="http://schemas.microsoft.com/office/drawing/2014/main" id="{990C9A3E-5F09-41DA-A640-797338364610}"/>
              </a:ext>
            </a:extLst>
          </p:cNvPr>
          <p:cNvSpPr>
            <a:spLocks xmlns:a="http://schemas.openxmlformats.org/drawingml/2006/main" noGrp="1"/>
          </p:cNvSpPr>
          <p:nvPr/>
        </p:nvSpPr>
        <p:spPr>
          <a:xfrm xmlns:a="http://schemas.openxmlformats.org/drawingml/2006/main">
            <a:off x="457200" y="1857375"/>
            <a:ext cx="2381250" cy="1809750"/>
          </a:xfrm>
          <a:prstGeom xmlns:a="http://schemas.openxmlformats.org/drawingml/2006/main" prst="roundRect">
            <a:avLst>
              <a:gd name="adj" fmla="val 6316"/>
            </a:avLst>
          </a:prstGeom>
          <a:solidFill xmlns:a="http://schemas.openxmlformats.org/drawingml/2006/main">
            <a:srgbClr val="EAF5FB"/>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F19E1EA7-D1D0-4358-9D05-2321F41D6514}"/>
              </a:ext>
            </a:extLst>
          </p:cNvPr>
          <p:cNvSpPr>
            <a:spLocks xmlns:a="http://schemas.openxmlformats.org/drawingml/2006/main" noGrp="1"/>
          </p:cNvSpPr>
          <p:nvPr/>
        </p:nvSpPr>
        <p:spPr>
          <a:xfrm xmlns:a="http://schemas.openxmlformats.org/drawingml/2006/main">
            <a:off x="628650" y="209550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ctr">
              <a:defRPr sz="1725" b="1">
                <a:solidFill>
                  <a:srgbClr val="101820"/>
                </a:solidFill>
                <a:latin typeface="Arial"/>
                <a:ea typeface="Arial"/>
                <a:cs typeface="Arial"/>
              </a:defRPr>
            </a:pPr>
            <a:r>
              <a:rPr sz="1725" b="1">
                <a:solidFill>
                  <a:srgbClr val="101820"/>
                </a:solidFill>
                <a:latin typeface="Arial"/>
                <a:ea typeface="Arial"/>
                <a:cs typeface="Arial"/>
              </a:rPr>
              <a:t>Phone photo</a:t>
            </a:r>
          </a:p>
        </p:txBody>
      </p:sp>
      <p:sp>
        <p:nvSpPr>
          <p:cNvPr id="9" name="">
            <a:extLst xmlns:a="http://schemas.openxmlformats.org/drawingml/2006/main">
              <a:ext uri="{FF2B5EF4-FFF2-40B4-BE49-F238E27FC236}">
                <a16:creationId xmlns:a16="http://schemas.microsoft.com/office/drawing/2014/main" id="{BBEB039A-535C-4203-83DD-A2B0708A39D5}"/>
              </a:ext>
            </a:extLst>
          </p:cNvPr>
          <p:cNvSpPr>
            <a:spLocks xmlns:a="http://schemas.openxmlformats.org/drawingml/2006/main" noGrp="1"/>
          </p:cNvSpPr>
          <p:nvPr/>
        </p:nvSpPr>
        <p:spPr>
          <a:xfrm xmlns:a="http://schemas.openxmlformats.org/drawingml/2006/main">
            <a:off x="628650" y="2619375"/>
            <a:ext cx="20383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MobileCLIP-S1</a:t>
            </a:r>
          </a:p>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512-d vector</a:t>
            </a:r>
          </a:p>
        </p:txBody>
      </p:sp>
      <p:sp>
        <p:nvSpPr>
          <p:cNvPr id="10" name="">
            <a:extLst xmlns:a="http://schemas.openxmlformats.org/drawingml/2006/main">
              <a:ext uri="{FF2B5EF4-FFF2-40B4-BE49-F238E27FC236}">
                <a16:creationId xmlns:a16="http://schemas.microsoft.com/office/drawing/2014/main" id="{8102F389-DC09-4CC3-8975-C35D07718701}"/>
              </a:ext>
            </a:extLst>
          </p:cNvPr>
          <p:cNvSpPr>
            <a:spLocks xmlns:a="http://schemas.openxmlformats.org/drawingml/2006/main" noGrp="1"/>
          </p:cNvSpPr>
          <p:nvPr/>
        </p:nvSpPr>
        <p:spPr>
          <a:xfrm xmlns:a="http://schemas.openxmlformats.org/drawingml/2006/main">
            <a:off x="3476625" y="1857375"/>
            <a:ext cx="2381250" cy="1809750"/>
          </a:xfrm>
          <a:prstGeom xmlns:a="http://schemas.openxmlformats.org/drawingml/2006/main" prst="roundRect">
            <a:avLst>
              <a:gd name="adj" fmla="val 6316"/>
            </a:avLst>
          </a:prstGeom>
          <a:solidFill xmlns:a="http://schemas.openxmlformats.org/drawingml/2006/main">
            <a:srgbClr val="EDEDED"/>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57F6DDA4-B18D-428A-9165-FA382CD7734F}"/>
              </a:ext>
            </a:extLst>
          </p:cNvPr>
          <p:cNvSpPr>
            <a:spLocks xmlns:a="http://schemas.openxmlformats.org/drawingml/2006/main" noGrp="1"/>
          </p:cNvSpPr>
          <p:nvPr/>
        </p:nvSpPr>
        <p:spPr>
          <a:xfrm xmlns:a="http://schemas.openxmlformats.org/drawingml/2006/main">
            <a:off x="3648075" y="209550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ctr">
              <a:defRPr sz="1725" b="1">
                <a:solidFill>
                  <a:srgbClr val="101820"/>
                </a:solidFill>
                <a:latin typeface="Arial"/>
                <a:ea typeface="Arial"/>
                <a:cs typeface="Arial"/>
              </a:defRPr>
            </a:pPr>
            <a:r>
              <a:rPr sz="1725" b="1">
                <a:solidFill>
                  <a:srgbClr val="101820"/>
                </a:solidFill>
                <a:latin typeface="Arial"/>
                <a:ea typeface="Arial"/>
                <a:cs typeface="Arial"/>
              </a:rPr>
              <a:t>Linear adapter</a:t>
            </a:r>
          </a:p>
        </p:txBody>
      </p:sp>
      <p:sp>
        <p:nvSpPr>
          <p:cNvPr id="12" name="">
            <a:extLst xmlns:a="http://schemas.openxmlformats.org/drawingml/2006/main">
              <a:ext uri="{FF2B5EF4-FFF2-40B4-BE49-F238E27FC236}">
                <a16:creationId xmlns:a16="http://schemas.microsoft.com/office/drawing/2014/main" id="{A8C33D0E-235E-4F06-A79E-ED0B5ACD9D99}"/>
              </a:ext>
            </a:extLst>
          </p:cNvPr>
          <p:cNvSpPr>
            <a:spLocks xmlns:a="http://schemas.openxmlformats.org/drawingml/2006/main" noGrp="1"/>
          </p:cNvSpPr>
          <p:nvPr/>
        </p:nvSpPr>
        <p:spPr>
          <a:xfrm xmlns:a="http://schemas.openxmlformats.org/drawingml/2006/main">
            <a:off x="3648075" y="2619375"/>
            <a:ext cx="20383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W: 512 × 768</a:t>
            </a:r>
          </a:p>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MatMul + normalize</a:t>
            </a:r>
          </a:p>
        </p:txBody>
      </p:sp>
      <p:sp>
        <p:nvSpPr>
          <p:cNvPr id="13" name="">
            <a:extLst xmlns:a="http://schemas.openxmlformats.org/drawingml/2006/main">
              <a:ext uri="{FF2B5EF4-FFF2-40B4-BE49-F238E27FC236}">
                <a16:creationId xmlns:a16="http://schemas.microsoft.com/office/drawing/2014/main" id="{B9B2AFD0-3D5E-48DF-B049-E5EE342A053F}"/>
              </a:ext>
            </a:extLst>
          </p:cNvPr>
          <p:cNvSpPr>
            <a:spLocks xmlns:a="http://schemas.openxmlformats.org/drawingml/2006/main" noGrp="1"/>
          </p:cNvSpPr>
          <p:nvPr/>
        </p:nvSpPr>
        <p:spPr>
          <a:xfrm xmlns:a="http://schemas.openxmlformats.org/drawingml/2006/main">
            <a:off x="6400800" y="1857375"/>
            <a:ext cx="2381250" cy="1809750"/>
          </a:xfrm>
          <a:prstGeom xmlns:a="http://schemas.openxmlformats.org/drawingml/2006/main" prst="roundRect">
            <a:avLst>
              <a:gd name="adj" fmla="val 6316"/>
            </a:avLst>
          </a:prstGeom>
          <a:solidFill xmlns:a="http://schemas.openxmlformats.org/drawingml/2006/main">
            <a:srgbClr val="EAF5FB"/>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FF8F9ADF-5E04-4994-A649-F43F2CD97726}"/>
              </a:ext>
            </a:extLst>
          </p:cNvPr>
          <p:cNvSpPr>
            <a:spLocks xmlns:a="http://schemas.openxmlformats.org/drawingml/2006/main" noGrp="1"/>
          </p:cNvSpPr>
          <p:nvPr/>
        </p:nvSpPr>
        <p:spPr>
          <a:xfrm xmlns:a="http://schemas.openxmlformats.org/drawingml/2006/main">
            <a:off x="6572250" y="209550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ctr">
              <a:defRPr sz="1725" b="1">
                <a:solidFill>
                  <a:srgbClr val="101820"/>
                </a:solidFill>
                <a:latin typeface="Arial"/>
                <a:ea typeface="Arial"/>
                <a:cs typeface="Arial"/>
              </a:defRPr>
            </a:pPr>
            <a:r>
              <a:rPr sz="1725" b="1">
                <a:solidFill>
                  <a:srgbClr val="101820"/>
                </a:solidFill>
                <a:latin typeface="Arial"/>
                <a:ea typeface="Arial"/>
                <a:cs typeface="Arial"/>
              </a:rPr>
              <a:t>Shared index</a:t>
            </a:r>
          </a:p>
        </p:txBody>
      </p:sp>
      <p:sp>
        <p:nvSpPr>
          <p:cNvPr id="15" name="">
            <a:extLst xmlns:a="http://schemas.openxmlformats.org/drawingml/2006/main">
              <a:ext uri="{FF2B5EF4-FFF2-40B4-BE49-F238E27FC236}">
                <a16:creationId xmlns:a16="http://schemas.microsoft.com/office/drawing/2014/main" id="{09527FA0-56B5-47A6-B2D4-EAF147A500DB}"/>
              </a:ext>
            </a:extLst>
          </p:cNvPr>
          <p:cNvSpPr>
            <a:spLocks xmlns:a="http://schemas.openxmlformats.org/drawingml/2006/main" noGrp="1"/>
          </p:cNvSpPr>
          <p:nvPr/>
        </p:nvSpPr>
        <p:spPr>
          <a:xfrm xmlns:a="http://schemas.openxmlformats.org/drawingml/2006/main">
            <a:off x="6572250" y="2619375"/>
            <a:ext cx="20383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SigLIP image space</a:t>
            </a:r>
          </a:p>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768 dimensions</a:t>
            </a:r>
          </a:p>
        </p:txBody>
      </p:sp>
      <p:sp>
        <p:nvSpPr>
          <p:cNvPr id="16" name="">
            <a:extLst xmlns:a="http://schemas.openxmlformats.org/drawingml/2006/main">
              <a:ext uri="{FF2B5EF4-FFF2-40B4-BE49-F238E27FC236}">
                <a16:creationId xmlns:a16="http://schemas.microsoft.com/office/drawing/2014/main" id="{4838B3A9-37ED-47D2-A403-1F93DD4781A2}"/>
              </a:ext>
            </a:extLst>
          </p:cNvPr>
          <p:cNvSpPr>
            <a:spLocks xmlns:a="http://schemas.openxmlformats.org/drawingml/2006/main" noGrp="1"/>
          </p:cNvSpPr>
          <p:nvPr/>
        </p:nvSpPr>
        <p:spPr>
          <a:xfrm xmlns:a="http://schemas.openxmlformats.org/drawingml/2006/main">
            <a:off x="9315450" y="1857375"/>
            <a:ext cx="2381250" cy="1809750"/>
          </a:xfrm>
          <a:prstGeom xmlns:a="http://schemas.openxmlformats.org/drawingml/2006/main" prst="roundRect">
            <a:avLst>
              <a:gd name="adj" fmla="val 6316"/>
            </a:avLst>
          </a:prstGeom>
          <a:solidFill xmlns:a="http://schemas.openxmlformats.org/drawingml/2006/main">
            <a:srgbClr val="EDEDED"/>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1AE61A1B-6D4C-4D9D-8EA9-E6AB42551EA2}"/>
              </a:ext>
            </a:extLst>
          </p:cNvPr>
          <p:cNvSpPr>
            <a:spLocks xmlns:a="http://schemas.openxmlformats.org/drawingml/2006/main" noGrp="1"/>
          </p:cNvSpPr>
          <p:nvPr/>
        </p:nvSpPr>
        <p:spPr>
          <a:xfrm xmlns:a="http://schemas.openxmlformats.org/drawingml/2006/main">
            <a:off x="9486900" y="209550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ctr">
              <a:defRPr sz="1725" b="1">
                <a:solidFill>
                  <a:srgbClr val="101820"/>
                </a:solidFill>
                <a:latin typeface="Arial"/>
                <a:ea typeface="Arial"/>
                <a:cs typeface="Arial"/>
              </a:defRPr>
            </a:pPr>
            <a:r>
              <a:rPr sz="1725" b="1">
                <a:solidFill>
                  <a:srgbClr val="101820"/>
                </a:solidFill>
                <a:latin typeface="Arial"/>
                <a:ea typeface="Arial"/>
                <a:cs typeface="Arial"/>
              </a:rPr>
              <a:t>Text query</a:t>
            </a:r>
          </a:p>
        </p:txBody>
      </p:sp>
      <p:sp>
        <p:nvSpPr>
          <p:cNvPr id="18" name="">
            <a:extLst xmlns:a="http://schemas.openxmlformats.org/drawingml/2006/main">
              <a:ext uri="{FF2B5EF4-FFF2-40B4-BE49-F238E27FC236}">
                <a16:creationId xmlns:a16="http://schemas.microsoft.com/office/drawing/2014/main" id="{523040E8-494B-452A-97CB-845998E52BCA}"/>
              </a:ext>
            </a:extLst>
          </p:cNvPr>
          <p:cNvSpPr>
            <a:spLocks xmlns:a="http://schemas.openxmlformats.org/drawingml/2006/main" noGrp="1"/>
          </p:cNvSpPr>
          <p:nvPr/>
        </p:nvSpPr>
        <p:spPr>
          <a:xfrm xmlns:a="http://schemas.openxmlformats.org/drawingml/2006/main">
            <a:off x="9486900" y="2619375"/>
            <a:ext cx="20383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SigLIP text tower</a:t>
            </a:r>
          </a:p>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nearest-neighbor search</a:t>
            </a:r>
          </a:p>
        </p:txBody>
      </p:sp>
      <p:sp>
        <p:nvSpPr>
          <p:cNvPr id="19" name="">
            <a:extLst xmlns:a="http://schemas.openxmlformats.org/drawingml/2006/main">
              <a:ext uri="{FF2B5EF4-FFF2-40B4-BE49-F238E27FC236}">
                <a16:creationId xmlns:a16="http://schemas.microsoft.com/office/drawing/2014/main" id="{7A4B66F4-D3B9-4A4E-92B7-5C23C9D06D81}"/>
              </a:ext>
            </a:extLst>
          </p:cNvPr>
          <p:cNvSpPr>
            <a:spLocks xmlns:a="http://schemas.openxmlformats.org/drawingml/2006/main" noGrp="1"/>
          </p:cNvSpPr>
          <p:nvPr/>
        </p:nvSpPr>
        <p:spPr>
          <a:xfrm xmlns:a="http://schemas.openxmlformats.org/drawingml/2006/main">
            <a:off x="619125" y="4286250"/>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0C7C86"/>
                </a:solidFill>
                <a:latin typeface="Arial"/>
                <a:ea typeface="Arial"/>
                <a:cs typeface="Arial"/>
              </a:defRPr>
            </a:pPr>
            <a:r>
              <a:rPr sz="3300" b="1">
                <a:solidFill>
                  <a:srgbClr val="0C7C86"/>
                </a:solidFill>
                <a:latin typeface="Arial"/>
                <a:ea typeface="Arial"/>
                <a:cs typeface="Arial"/>
              </a:rPr>
              <a:t>3,000</a:t>
            </a:r>
          </a:p>
        </p:txBody>
      </p:sp>
      <p:sp>
        <p:nvSpPr>
          <p:cNvPr id="20" name="">
            <a:extLst xmlns:a="http://schemas.openxmlformats.org/drawingml/2006/main">
              <a:ext uri="{FF2B5EF4-FFF2-40B4-BE49-F238E27FC236}">
                <a16:creationId xmlns:a16="http://schemas.microsoft.com/office/drawing/2014/main" id="{85E31E35-3738-49C1-9805-D784903F33E9}"/>
              </a:ext>
            </a:extLst>
          </p:cNvPr>
          <p:cNvSpPr>
            <a:spLocks xmlns:a="http://schemas.openxmlformats.org/drawingml/2006/main" noGrp="1"/>
          </p:cNvSpPr>
          <p:nvPr/>
        </p:nvSpPr>
        <p:spPr>
          <a:xfrm xmlns:a="http://schemas.openxmlformats.org/drawingml/2006/main">
            <a:off x="619125" y="487680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paired training images</a:t>
            </a:r>
          </a:p>
        </p:txBody>
      </p:sp>
      <p:sp>
        <p:nvSpPr>
          <p:cNvPr id="21" name="">
            <a:extLst xmlns:a="http://schemas.openxmlformats.org/drawingml/2006/main">
              <a:ext uri="{FF2B5EF4-FFF2-40B4-BE49-F238E27FC236}">
                <a16:creationId xmlns:a16="http://schemas.microsoft.com/office/drawing/2014/main" id="{FB0D866A-143A-43BC-ACFD-59963E1FCF25}"/>
              </a:ext>
            </a:extLst>
          </p:cNvPr>
          <p:cNvSpPr>
            <a:spLocks xmlns:a="http://schemas.openxmlformats.org/drawingml/2006/main" noGrp="1"/>
          </p:cNvSpPr>
          <p:nvPr/>
        </p:nvSpPr>
        <p:spPr>
          <a:xfrm xmlns:a="http://schemas.openxmlformats.org/drawingml/2006/main">
            <a:off x="3524250" y="4286250"/>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0C7C86"/>
                </a:solidFill>
                <a:latin typeface="Arial"/>
                <a:ea typeface="Arial"/>
                <a:cs typeface="Arial"/>
              </a:defRPr>
            </a:pPr>
            <a:r>
              <a:rPr sz="3300" b="1">
                <a:solidFill>
                  <a:srgbClr val="0C7C86"/>
                </a:solidFill>
                <a:latin typeface="Arial"/>
                <a:ea typeface="Arial"/>
                <a:cs typeface="Arial"/>
              </a:rPr>
              <a:t>1,000</a:t>
            </a:r>
          </a:p>
        </p:txBody>
      </p:sp>
      <p:sp>
        <p:nvSpPr>
          <p:cNvPr id="22" name="">
            <a:extLst xmlns:a="http://schemas.openxmlformats.org/drawingml/2006/main">
              <a:ext uri="{FF2B5EF4-FFF2-40B4-BE49-F238E27FC236}">
                <a16:creationId xmlns:a16="http://schemas.microsoft.com/office/drawing/2014/main" id="{51E360BD-A798-4FB6-B3E4-54F9D2E12091}"/>
              </a:ext>
            </a:extLst>
          </p:cNvPr>
          <p:cNvSpPr>
            <a:spLocks xmlns:a="http://schemas.openxmlformats.org/drawingml/2006/main" noGrp="1"/>
          </p:cNvSpPr>
          <p:nvPr/>
        </p:nvSpPr>
        <p:spPr>
          <a:xfrm xmlns:a="http://schemas.openxmlformats.org/drawingml/2006/main">
            <a:off x="3524250" y="487680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held-out images</a:t>
            </a:r>
          </a:p>
        </p:txBody>
      </p:sp>
      <p:sp>
        <p:nvSpPr>
          <p:cNvPr id="23" name="">
            <a:extLst xmlns:a="http://schemas.openxmlformats.org/drawingml/2006/main">
              <a:ext uri="{FF2B5EF4-FFF2-40B4-BE49-F238E27FC236}">
                <a16:creationId xmlns:a16="http://schemas.microsoft.com/office/drawing/2014/main" id="{A5222330-4B7B-4369-8735-35437D847A3E}"/>
              </a:ext>
            </a:extLst>
          </p:cNvPr>
          <p:cNvSpPr>
            <a:spLocks xmlns:a="http://schemas.openxmlformats.org/drawingml/2006/main" noGrp="1"/>
          </p:cNvSpPr>
          <p:nvPr/>
        </p:nvSpPr>
        <p:spPr>
          <a:xfrm xmlns:a="http://schemas.openxmlformats.org/drawingml/2006/main">
            <a:off x="6429375" y="428625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E57C23"/>
                </a:solidFill>
                <a:latin typeface="Arial"/>
                <a:ea typeface="Arial"/>
                <a:cs typeface="Arial"/>
              </a:defRPr>
            </a:pPr>
            <a:r>
              <a:rPr sz="3300" b="1">
                <a:solidFill>
                  <a:srgbClr val="E57C23"/>
                </a:solidFill>
                <a:latin typeface="Arial"/>
                <a:ea typeface="Arial"/>
                <a:cs typeface="Arial"/>
              </a:rPr>
              <a:t>0.79 MB</a:t>
            </a:r>
          </a:p>
        </p:txBody>
      </p:sp>
      <p:sp>
        <p:nvSpPr>
          <p:cNvPr id="24" name="">
            <a:extLst xmlns:a="http://schemas.openxmlformats.org/drawingml/2006/main">
              <a:ext uri="{FF2B5EF4-FFF2-40B4-BE49-F238E27FC236}">
                <a16:creationId xmlns:a16="http://schemas.microsoft.com/office/drawing/2014/main" id="{7CA10657-B243-4E50-B52C-E9D607ECE7DA}"/>
              </a:ext>
            </a:extLst>
          </p:cNvPr>
          <p:cNvSpPr>
            <a:spLocks xmlns:a="http://schemas.openxmlformats.org/drawingml/2006/main" noGrp="1"/>
          </p:cNvSpPr>
          <p:nvPr/>
        </p:nvSpPr>
        <p:spPr>
          <a:xfrm xmlns:a="http://schemas.openxmlformats.org/drawingml/2006/main">
            <a:off x="6429375" y="487680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fp16 Core ML artifact</a:t>
            </a:r>
          </a:p>
        </p:txBody>
      </p:sp>
      <p:sp>
        <p:nvSpPr>
          <p:cNvPr id="25" name="">
            <a:extLst xmlns:a="http://schemas.openxmlformats.org/drawingml/2006/main">
              <a:ext uri="{FF2B5EF4-FFF2-40B4-BE49-F238E27FC236}">
                <a16:creationId xmlns:a16="http://schemas.microsoft.com/office/drawing/2014/main" id="{EEC76AB6-67E0-4058-AA78-9792DF2AF64E}"/>
              </a:ext>
            </a:extLst>
          </p:cNvPr>
          <p:cNvSpPr>
            <a:spLocks xmlns:a="http://schemas.openxmlformats.org/drawingml/2006/main" noGrp="1"/>
          </p:cNvSpPr>
          <p:nvPr/>
        </p:nvSpPr>
        <p:spPr>
          <a:xfrm xmlns:a="http://schemas.openxmlformats.org/drawingml/2006/main">
            <a:off x="9429750" y="42862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3D8DFF"/>
                </a:solidFill>
                <a:latin typeface="Arial"/>
                <a:ea typeface="Arial"/>
                <a:cs typeface="Arial"/>
              </a:defRPr>
            </a:pPr>
            <a:r>
              <a:rPr sz="3300" b="1">
                <a:solidFill>
                  <a:srgbClr val="3D8DFF"/>
                </a:solidFill>
                <a:latin typeface="Arial"/>
                <a:ea typeface="Arial"/>
                <a:cs typeface="Arial"/>
              </a:rPr>
              <a:t>39 ms</a:t>
            </a:r>
          </a:p>
        </p:txBody>
      </p:sp>
      <p:sp>
        <p:nvSpPr>
          <p:cNvPr id="26" name="">
            <a:extLst xmlns:a="http://schemas.openxmlformats.org/drawingml/2006/main">
              <a:ext uri="{FF2B5EF4-FFF2-40B4-BE49-F238E27FC236}">
                <a16:creationId xmlns:a16="http://schemas.microsoft.com/office/drawing/2014/main" id="{75E6A17A-58F1-49BB-8EA8-D82C782C28D6}"/>
              </a:ext>
            </a:extLst>
          </p:cNvPr>
          <p:cNvSpPr>
            <a:spLocks xmlns:a="http://schemas.openxmlformats.org/drawingml/2006/main" noGrp="1"/>
          </p:cNvSpPr>
          <p:nvPr/>
        </p:nvSpPr>
        <p:spPr>
          <a:xfrm xmlns:a="http://schemas.openxmlformats.org/drawingml/2006/main">
            <a:off x="9429750" y="4876800"/>
            <a:ext cx="209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demo upload-to-index</a:t>
            </a:r>
          </a:p>
        </p:txBody>
      </p:sp>
    </p:spTree>
    <p:extLst>
      <p:ext uri="{BB962C8B-B14F-4D97-AF65-F5344CB8AC3E}">
        <p14:creationId xmlns:p14="http://schemas.microsoft.com/office/powerpoint/2010/main" val="13844527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55A6143-6AE9-4AC1-8F80-F1FBD75F18B3}"/>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A nonlinear network could not improve the linear bridge</a:t>
            </a:r>
          </a:p>
        </p:txBody>
      </p:sp>
      <p:cxnSp>
        <p:nvCxnSpPr>
          <p:cNvPr id="14"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E3752C47-4DA7-412B-B34F-D464AE374E98}"/>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08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51d30a5eb1f400c"/>
          <a:stretch xmlns:a="http://schemas.openxmlformats.org/drawingml/2006/main"/>
        </p:blipFill>
        <p:spPr>
          <a:xfrm xmlns:a="http://schemas.openxmlformats.org/drawingml/2006/main">
            <a:off x="913013" y="1257300"/>
            <a:ext cx="10365974" cy="3714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6AB586E-391D-4B34-A6F8-CC2437FFCE70}"/>
              </a:ext>
            </a:extLst>
          </p:cNvPr>
          <p:cNvSpPr>
            <a:spLocks xmlns:a="http://schemas.openxmlformats.org/drawingml/2006/main" noGrp="1"/>
          </p:cNvSpPr>
          <p:nvPr/>
        </p:nvSpPr>
        <p:spPr>
          <a:xfrm xmlns:a="http://schemas.openxmlformats.org/drawingml/2006/main">
            <a:off x="666750" y="5095875"/>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0C7C86"/>
                </a:solidFill>
                <a:latin typeface="Arial"/>
                <a:ea typeface="Arial"/>
                <a:cs typeface="Arial"/>
              </a:defRPr>
            </a:pPr>
            <a:r>
              <a:rPr sz="3300" b="1">
                <a:solidFill>
                  <a:srgbClr val="0C7C86"/>
                </a:solidFill>
                <a:latin typeface="Arial"/>
                <a:ea typeface="Arial"/>
                <a:cs typeface="Arial"/>
              </a:rPr>
              <a:t>0.900</a:t>
            </a:r>
          </a:p>
        </p:txBody>
      </p:sp>
      <p:sp>
        <p:nvSpPr>
          <p:cNvPr id="6" name="">
            <a:extLst xmlns:a="http://schemas.openxmlformats.org/drawingml/2006/main">
              <a:ext uri="{FF2B5EF4-FFF2-40B4-BE49-F238E27FC236}">
                <a16:creationId xmlns:a16="http://schemas.microsoft.com/office/drawing/2014/main" id="{4E922184-DE29-4147-9C4C-A5DC9697447A}"/>
              </a:ext>
            </a:extLst>
          </p:cNvPr>
          <p:cNvSpPr>
            <a:spLocks xmlns:a="http://schemas.openxmlformats.org/drawingml/2006/main" noGrp="1"/>
          </p:cNvSpPr>
          <p:nvPr/>
        </p:nvSpPr>
        <p:spPr>
          <a:xfrm xmlns:a="http://schemas.openxmlformats.org/drawingml/2006/main">
            <a:off x="666750" y="5686425"/>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ridge mean cosine</a:t>
            </a:r>
          </a:p>
        </p:txBody>
      </p:sp>
      <p:sp>
        <p:nvSpPr>
          <p:cNvPr id="7" name="">
            <a:extLst xmlns:a="http://schemas.openxmlformats.org/drawingml/2006/main">
              <a:ext uri="{FF2B5EF4-FFF2-40B4-BE49-F238E27FC236}">
                <a16:creationId xmlns:a16="http://schemas.microsoft.com/office/drawing/2014/main" id="{FF8070B6-2B76-4188-A7C3-0AF8C348B1A4}"/>
              </a:ext>
            </a:extLst>
          </p:cNvPr>
          <p:cNvSpPr>
            <a:spLocks xmlns:a="http://schemas.openxmlformats.org/drawingml/2006/main" noGrp="1"/>
          </p:cNvSpPr>
          <p:nvPr/>
        </p:nvSpPr>
        <p:spPr>
          <a:xfrm xmlns:a="http://schemas.openxmlformats.org/drawingml/2006/main">
            <a:off x="3476625" y="5095875"/>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E57C23"/>
                </a:solidFill>
                <a:latin typeface="Arial"/>
                <a:ea typeface="Arial"/>
                <a:cs typeface="Arial"/>
              </a:defRPr>
            </a:pPr>
            <a:r>
              <a:rPr sz="3300" b="1">
                <a:solidFill>
                  <a:srgbClr val="E57C23"/>
                </a:solidFill>
                <a:latin typeface="Arial"/>
                <a:ea typeface="Arial"/>
                <a:cs typeface="Arial"/>
              </a:rPr>
              <a:t>0.903</a:t>
            </a:r>
          </a:p>
        </p:txBody>
      </p:sp>
      <p:sp>
        <p:nvSpPr>
          <p:cNvPr id="8" name="">
            <a:extLst xmlns:a="http://schemas.openxmlformats.org/drawingml/2006/main">
              <a:ext uri="{FF2B5EF4-FFF2-40B4-BE49-F238E27FC236}">
                <a16:creationId xmlns:a16="http://schemas.microsoft.com/office/drawing/2014/main" id="{8A6111E5-2213-41EE-99BF-028A4D581409}"/>
              </a:ext>
            </a:extLst>
          </p:cNvPr>
          <p:cNvSpPr>
            <a:spLocks xmlns:a="http://schemas.openxmlformats.org/drawingml/2006/main" noGrp="1"/>
          </p:cNvSpPr>
          <p:nvPr/>
        </p:nvSpPr>
        <p:spPr>
          <a:xfrm xmlns:a="http://schemas.openxmlformats.org/drawingml/2006/main">
            <a:off x="3476625" y="5686425"/>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MLP mean cosine</a:t>
            </a:r>
          </a:p>
        </p:txBody>
      </p:sp>
      <p:sp>
        <p:nvSpPr>
          <p:cNvPr id="9" name="">
            <a:extLst xmlns:a="http://schemas.openxmlformats.org/drawingml/2006/main">
              <a:ext uri="{FF2B5EF4-FFF2-40B4-BE49-F238E27FC236}">
                <a16:creationId xmlns:a16="http://schemas.microsoft.com/office/drawing/2014/main" id="{DD535864-49FE-4BCF-BA6D-C5AADF6962EC}"/>
              </a:ext>
            </a:extLst>
          </p:cNvPr>
          <p:cNvSpPr>
            <a:spLocks xmlns:a="http://schemas.openxmlformats.org/drawingml/2006/main" noGrp="1"/>
          </p:cNvSpPr>
          <p:nvPr/>
        </p:nvSpPr>
        <p:spPr>
          <a:xfrm xmlns:a="http://schemas.openxmlformats.org/drawingml/2006/main">
            <a:off x="6286500" y="5095875"/>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C43D3D"/>
                </a:solidFill>
                <a:latin typeface="Arial"/>
                <a:ea typeface="Arial"/>
                <a:cs typeface="Arial"/>
              </a:defRPr>
            </a:pPr>
            <a:r>
              <a:rPr sz="3300" b="1">
                <a:solidFill>
                  <a:srgbClr val="C43D3D"/>
                </a:solidFill>
                <a:latin typeface="Arial"/>
                <a:ea typeface="Arial"/>
                <a:cs typeface="Arial"/>
              </a:rPr>
              <a:t>0.038</a:t>
            </a:r>
          </a:p>
        </p:txBody>
      </p:sp>
      <p:sp>
        <p:nvSpPr>
          <p:cNvPr id="10" name="">
            <a:extLst xmlns:a="http://schemas.openxmlformats.org/drawingml/2006/main">
              <a:ext uri="{FF2B5EF4-FFF2-40B4-BE49-F238E27FC236}">
                <a16:creationId xmlns:a16="http://schemas.microsoft.com/office/drawing/2014/main" id="{8295595C-DD72-4FFE-9E59-87F93BE6E82C}"/>
              </a:ext>
            </a:extLst>
          </p:cNvPr>
          <p:cNvSpPr>
            <a:spLocks xmlns:a="http://schemas.openxmlformats.org/drawingml/2006/main" noGrp="1"/>
          </p:cNvSpPr>
          <p:nvPr/>
        </p:nvSpPr>
        <p:spPr>
          <a:xfrm xmlns:a="http://schemas.openxmlformats.org/drawingml/2006/main">
            <a:off x="6286500" y="5686425"/>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Procrustes R²</a:t>
            </a:r>
          </a:p>
        </p:txBody>
      </p:sp>
      <p:sp>
        <p:nvSpPr>
          <p:cNvPr id="11" name="">
            <a:extLst xmlns:a="http://schemas.openxmlformats.org/drawingml/2006/main">
              <a:ext uri="{FF2B5EF4-FFF2-40B4-BE49-F238E27FC236}">
                <a16:creationId xmlns:a16="http://schemas.microsoft.com/office/drawing/2014/main" id="{58B60089-2BA9-4AFE-B444-9D500FD7D8BB}"/>
              </a:ext>
            </a:extLst>
          </p:cNvPr>
          <p:cNvSpPr>
            <a:spLocks xmlns:a="http://schemas.openxmlformats.org/drawingml/2006/main" noGrp="1"/>
          </p:cNvSpPr>
          <p:nvPr/>
        </p:nvSpPr>
        <p:spPr>
          <a:xfrm xmlns:a="http://schemas.openxmlformats.org/drawingml/2006/main">
            <a:off x="9048750" y="5095875"/>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3D8DFF"/>
                </a:solidFill>
                <a:latin typeface="Arial"/>
                <a:ea typeface="Arial"/>
                <a:cs typeface="Arial"/>
              </a:defRPr>
            </a:pPr>
            <a:r>
              <a:rPr sz="3300" b="1">
                <a:solidFill>
                  <a:srgbClr val="3D8DFF"/>
                </a:solidFill>
                <a:latin typeface="Arial"/>
                <a:ea typeface="Arial"/>
                <a:cs typeface="Arial"/>
              </a:rPr>
              <a:t>69×</a:t>
            </a:r>
          </a:p>
        </p:txBody>
      </p:sp>
      <p:sp>
        <p:nvSpPr>
          <p:cNvPr id="12" name="">
            <a:extLst xmlns:a="http://schemas.openxmlformats.org/drawingml/2006/main">
              <a:ext uri="{FF2B5EF4-FFF2-40B4-BE49-F238E27FC236}">
                <a16:creationId xmlns:a16="http://schemas.microsoft.com/office/drawing/2014/main" id="{16DE7144-3902-4408-8B8A-65B76E298D6B}"/>
              </a:ext>
            </a:extLst>
          </p:cNvPr>
          <p:cNvSpPr>
            <a:spLocks xmlns:a="http://schemas.openxmlformats.org/drawingml/2006/main" noGrp="1"/>
          </p:cNvSpPr>
          <p:nvPr/>
        </p:nvSpPr>
        <p:spPr>
          <a:xfrm xmlns:a="http://schemas.openxmlformats.org/drawingml/2006/main">
            <a:off x="9048750" y="5686425"/>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singular-value spread</a:t>
            </a:r>
          </a:p>
        </p:txBody>
      </p:sp>
    </p:spTree>
    <p:extLst>
      <p:ext uri="{BB962C8B-B14F-4D97-AF65-F5344CB8AC3E}">
        <p14:creationId xmlns:p14="http://schemas.microsoft.com/office/powerpoint/2010/main" val="24378889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7CAEE4-3551-4FC8-AC91-A9D17558252A}"/>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031"/>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The adapter is both a scientific instrument and a deployable component</a:t>
            </a:r>
          </a:p>
        </p:txBody>
      </p:sp>
      <p:cxnSp>
        <p:nvCxnSpPr>
          <p:cNvPr id="9"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F4808034-522B-42F7-AC5E-4CBBFF67A133}"/>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09</a:t>
            </a:r>
          </a:p>
        </p:txBody>
      </p:sp>
      <p:graphicFrame>
        <p:nvGraphicFramePr>
          <p:cNvPr id="11" name="Chart"/>
          <p:cNvGraphicFramePr/>
          <p:nvPr/>
        </p:nvGraphicFramePr>
        <p:xfrm>
          <a:off xmlns:a="http://schemas.openxmlformats.org/drawingml/2006/main" x="457200" y="1381125"/>
          <a:ext xmlns:a="http://schemas.openxmlformats.org/drawingml/2006/main" cx="6191250" cy="4095750"/>
        </p:xfrm>
        <a:graphic xmlns:a="http://schemas.openxmlformats.org/drawingml/2006/main">
          <a:graphicData uri="http://schemas.openxmlformats.org/drawingml/2006/chart">
            <c:chart xmlns:r="http://schemas.openxmlformats.org/officeDocument/2006/relationships" xmlns:c="http://schemas.openxmlformats.org/drawingml/2006/chart" r:id="R33863372f8a54c9b"/>
          </a:graphicData>
        </a:graphic>
      </p:graphicFrame>
      <p:sp>
        <p:nvSpPr>
          <p:cNvPr id="5" name="">
            <a:extLst xmlns:a="http://schemas.openxmlformats.org/drawingml/2006/main">
              <a:ext uri="{FF2B5EF4-FFF2-40B4-BE49-F238E27FC236}">
                <a16:creationId xmlns:a16="http://schemas.microsoft.com/office/drawing/2014/main" id="{C7280C09-E27B-46FC-8C2D-318629AFF044}"/>
              </a:ext>
            </a:extLst>
          </p:cNvPr>
          <p:cNvSpPr>
            <a:spLocks xmlns:a="http://schemas.openxmlformats.org/drawingml/2006/main" noGrp="1"/>
          </p:cNvSpPr>
          <p:nvPr/>
        </p:nvSpPr>
        <p:spPr>
          <a:xfrm xmlns:a="http://schemas.openxmlformats.org/drawingml/2006/main">
            <a:off x="7191375" y="142875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81"/>
          </a:bodyPr>
          <a:lstStyle xmlns:a="http://schemas.openxmlformats.org/drawingml/2006/main"/>
          <a:p xmlns:a="http://schemas.openxmlformats.org/drawingml/2006/main">
            <a:pPr algn="l">
              <a:defRPr sz="2025" b="1">
                <a:solidFill>
                  <a:srgbClr val="101820"/>
                </a:solidFill>
                <a:latin typeface="Arial"/>
                <a:ea typeface="Arial"/>
                <a:cs typeface="Arial"/>
              </a:defRPr>
            </a:pPr>
            <a:r>
              <a:rPr sz="2025" b="1">
                <a:solidFill>
                  <a:srgbClr val="101820"/>
                </a:solidFill>
                <a:latin typeface="Arial"/>
                <a:ea typeface="Arial"/>
                <a:cs typeface="Arial"/>
              </a:rPr>
              <a:t>Live qualitative demo</a:t>
            </a:r>
          </a:p>
        </p:txBody>
      </p:sp>
      <p:sp>
        <p:nvSpPr>
          <p:cNvPr id="6" name="">
            <a:extLst xmlns:a="http://schemas.openxmlformats.org/drawingml/2006/main">
              <a:ext uri="{FF2B5EF4-FFF2-40B4-BE49-F238E27FC236}">
                <a16:creationId xmlns:a16="http://schemas.microsoft.com/office/drawing/2014/main" id="{4CCE1CAC-264F-4D48-840A-A826F0536423}"/>
              </a:ext>
            </a:extLst>
          </p:cNvPr>
          <p:cNvSpPr>
            <a:spLocks xmlns:a="http://schemas.openxmlformats.org/drawingml/2006/main" noGrp="1"/>
          </p:cNvSpPr>
          <p:nvPr/>
        </p:nvSpPr>
        <p:spPr>
          <a:xfrm xmlns:a="http://schemas.openxmlformats.org/drawingml/2006/main">
            <a:off x="7191375" y="2000250"/>
            <a:ext cx="40957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Free-text query retrieved phone-indexed images in the same result list as server images.</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'striped animals' retrieved zebra without keyword matching.</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Absent query 'a dog' produced a correctly flat similarity profile.</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fp16 was ranking-neutral; optional top-10 server re-ranking recovers R@1-critical cases.</a:t>
            </a:r>
          </a:p>
        </p:txBody>
      </p:sp>
      <p:sp>
        <p:nvSpPr>
          <p:cNvPr id="7" name="">
            <a:extLst xmlns:a="http://schemas.openxmlformats.org/drawingml/2006/main">
              <a:ext uri="{FF2B5EF4-FFF2-40B4-BE49-F238E27FC236}">
                <a16:creationId xmlns:a16="http://schemas.microsoft.com/office/drawing/2014/main" id="{C0F65CA8-5B73-422A-94DB-16FE0EFBEC23}"/>
              </a:ext>
            </a:extLst>
          </p:cNvPr>
          <p:cNvSpPr>
            <a:spLocks xmlns:a="http://schemas.openxmlformats.org/drawingml/2006/main" noGrp="1"/>
          </p:cNvSpPr>
          <p:nvPr/>
        </p:nvSpPr>
        <p:spPr>
          <a:xfrm xmlns:a="http://schemas.openxmlformats.org/drawingml/2006/main">
            <a:off x="7191375" y="500062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582"/>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Verification AUC 0.999  |  ranking R@1 0.987</a:t>
            </a:r>
          </a:p>
        </p:txBody>
      </p:sp>
    </p:spTree>
    <p:extLst>
      <p:ext uri="{BB962C8B-B14F-4D97-AF65-F5344CB8AC3E}">
        <p14:creationId xmlns:p14="http://schemas.microsoft.com/office/powerpoint/2010/main" val="150250412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3771E9-6A7F-4669-961B-7747FD467FCD}"/>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594"/>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The Hub replaces pairwise bridges with one shared coordinate system</a:t>
            </a:r>
          </a:p>
        </p:txBody>
      </p:sp>
      <p:cxnSp>
        <p:nvCxnSpPr>
          <p:cNvPr id="10"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EE0254EF-44AE-4F18-B15D-9726FE013F58}"/>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10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d0b08b821c04211"/>
          <a:stretch xmlns:a="http://schemas.openxmlformats.org/drawingml/2006/main"/>
        </p:blipFill>
        <p:spPr>
          <a:xfrm xmlns:a="http://schemas.openxmlformats.org/drawingml/2006/main">
            <a:off x="1259453" y="1190625"/>
            <a:ext cx="3729493" cy="5048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2FEB318-9CD7-463D-B093-8DAA2CDA3703}"/>
              </a:ext>
            </a:extLst>
          </p:cNvPr>
          <p:cNvSpPr>
            <a:spLocks xmlns:a="http://schemas.openxmlformats.org/drawingml/2006/main" noGrp="1"/>
          </p:cNvSpPr>
          <p:nvPr/>
        </p:nvSpPr>
        <p:spPr>
          <a:xfrm xmlns:a="http://schemas.openxmlformats.org/drawingml/2006/main">
            <a:off x="6381750" y="1381125"/>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795"/>
          </a:bodyP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Build once</a:t>
            </a:r>
          </a:p>
        </p:txBody>
      </p:sp>
      <p:sp>
        <p:nvSpPr>
          <p:cNvPr id="6" name="">
            <a:extLst xmlns:a="http://schemas.openxmlformats.org/drawingml/2006/main">
              <a:ext uri="{FF2B5EF4-FFF2-40B4-BE49-F238E27FC236}">
                <a16:creationId xmlns:a16="http://schemas.microsoft.com/office/drawing/2014/main" id="{5C64EBF9-8BA9-43AF-8543-137818295361}"/>
              </a:ext>
            </a:extLst>
          </p:cNvPr>
          <p:cNvSpPr>
            <a:spLocks xmlns:a="http://schemas.openxmlformats.org/drawingml/2006/main" noGrp="1"/>
          </p:cNvSpPr>
          <p:nvPr/>
        </p:nvSpPr>
        <p:spPr>
          <a:xfrm xmlns:a="http://schemas.openxmlformats.org/drawingml/2006/main">
            <a:off x="6381750" y="1857375"/>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452"/>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Standardize seven aligned encoder spaces independently.</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Concatenate 8,533 training rows across all members.</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SVD/PCA keeps 512 shared directions; whitening equalizes retained variance.</a:t>
            </a:r>
          </a:p>
        </p:txBody>
      </p:sp>
      <p:sp>
        <p:nvSpPr>
          <p:cNvPr id="7" name="">
            <a:extLst xmlns:a="http://schemas.openxmlformats.org/drawingml/2006/main">
              <a:ext uri="{FF2B5EF4-FFF2-40B4-BE49-F238E27FC236}">
                <a16:creationId xmlns:a16="http://schemas.microsoft.com/office/drawing/2014/main" id="{CC1A5DAA-6B85-4E95-9A91-B94E6095E72E}"/>
              </a:ext>
            </a:extLst>
          </p:cNvPr>
          <p:cNvSpPr>
            <a:spLocks xmlns:a="http://schemas.openxmlformats.org/drawingml/2006/main" noGrp="1"/>
          </p:cNvSpPr>
          <p:nvPr/>
        </p:nvSpPr>
        <p:spPr>
          <a:xfrm xmlns:a="http://schemas.openxmlformats.org/drawingml/2006/main">
            <a:off x="6381750" y="361950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795"/>
          </a:bodyPr>
          <a:lstStyle xmlns:a="http://schemas.openxmlformats.org/drawingml/2006/main"/>
          <a:p xmlns:a="http://schemas.openxmlformats.org/drawingml/2006/main">
            <a:pPr algn="l">
              <a:defRPr sz="1950" b="1">
                <a:solidFill>
                  <a:srgbClr val="0C7C86"/>
                </a:solidFill>
                <a:latin typeface="Arial"/>
                <a:ea typeface="Arial"/>
                <a:cs typeface="Arial"/>
              </a:defRPr>
            </a:pPr>
            <a:r>
              <a:rPr sz="1950" b="1">
                <a:solidFill>
                  <a:srgbClr val="0C7C86"/>
                </a:solidFill>
                <a:latin typeface="Arial"/>
                <a:ea typeface="Arial"/>
                <a:cs typeface="Arial"/>
              </a:rPr>
              <a:t>Enter independently</a:t>
            </a:r>
          </a:p>
        </p:txBody>
      </p:sp>
      <p:sp>
        <p:nvSpPr>
          <p:cNvPr id="8" name="">
            <a:extLst xmlns:a="http://schemas.openxmlformats.org/drawingml/2006/main">
              <a:ext uri="{FF2B5EF4-FFF2-40B4-BE49-F238E27FC236}">
                <a16:creationId xmlns:a16="http://schemas.microsoft.com/office/drawing/2014/main" id="{51D666F1-5049-424F-8BEA-85EFCDE5E9F9}"/>
              </a:ext>
            </a:extLst>
          </p:cNvPr>
          <p:cNvSpPr>
            <a:spLocks xmlns:a="http://schemas.openxmlformats.org/drawingml/2006/main" noGrp="1"/>
          </p:cNvSpPr>
          <p:nvPr/>
        </p:nvSpPr>
        <p:spPr>
          <a:xfrm xmlns:a="http://schemas.openxmlformats.org/drawingml/2006/main">
            <a:off x="6381750" y="409575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Fit one ridge entry map XₖWₖ ≈ H per encoder.</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Freeze the Hub and the reusable caption head.</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Add unseen encoders with a new entry map only.</a:t>
            </a:r>
          </a:p>
        </p:txBody>
      </p:sp>
    </p:spTree>
    <p:extLst>
      <p:ext uri="{BB962C8B-B14F-4D97-AF65-F5344CB8AC3E}">
        <p14:creationId xmlns:p14="http://schemas.microsoft.com/office/powerpoint/2010/main" val="80245169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FFD0887-1650-458C-B008-5368BCDC150B}"/>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984"/>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A head trained once transfers to unseen models and architectures</a:t>
            </a:r>
          </a:p>
        </p:txBody>
      </p:sp>
      <p:cxnSp>
        <p:nvCxnSpPr>
          <p:cNvPr id="11"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B8ED2FD2-EDF7-4F78-8CE0-E4C0A689F440}"/>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11</a:t>
            </a:r>
          </a:p>
        </p:txBody>
      </p:sp>
      <p:graphicFrame>
        <p:nvGraphicFramePr>
          <p:cNvPr id="13" name="Chart"/>
          <p:cNvGraphicFramePr/>
          <p:nvPr/>
        </p:nvGraphicFramePr>
        <p:xfrm>
          <a:off xmlns:a="http://schemas.openxmlformats.org/drawingml/2006/main" x="457200" y="1333500"/>
          <a:ext xmlns:a="http://schemas.openxmlformats.org/drawingml/2006/main" cx="6667500" cy="4333875"/>
        </p:xfrm>
        <a:graphic xmlns:a="http://schemas.openxmlformats.org/drawingml/2006/main">
          <a:graphicData uri="http://schemas.openxmlformats.org/drawingml/2006/chart">
            <c:chart xmlns:r="http://schemas.openxmlformats.org/officeDocument/2006/relationships" xmlns:c="http://schemas.openxmlformats.org/drawingml/2006/chart" r:id="R9fd04f5d12004d63"/>
          </a:graphicData>
        </a:graphic>
      </p:graphicFrame>
      <p:sp>
        <p:nvSpPr>
          <p:cNvPr id="5" name="">
            <a:extLst xmlns:a="http://schemas.openxmlformats.org/drawingml/2006/main">
              <a:ext uri="{FF2B5EF4-FFF2-40B4-BE49-F238E27FC236}">
                <a16:creationId xmlns:a16="http://schemas.microsoft.com/office/drawing/2014/main" id="{BAE708E1-CF1B-4F9F-980F-38683B93BEF7}"/>
              </a:ext>
            </a:extLst>
          </p:cNvPr>
          <p:cNvSpPr>
            <a:spLocks xmlns:a="http://schemas.openxmlformats.org/drawingml/2006/main" noGrp="1"/>
          </p:cNvSpPr>
          <p:nvPr/>
        </p:nvSpPr>
        <p:spPr>
          <a:xfrm xmlns:a="http://schemas.openxmlformats.org/drawingml/2006/main">
            <a:off x="7667625" y="14287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309"/>
          </a:bodyPr>
          <a:lstStyle xmlns:a="http://schemas.openxmlformats.org/drawingml/2006/main"/>
          <a:p xmlns:a="http://schemas.openxmlformats.org/drawingml/2006/main">
            <a:pPr algn="l">
              <a:defRPr sz="2025" b="1">
                <a:solidFill>
                  <a:srgbClr val="101820"/>
                </a:solidFill>
                <a:latin typeface="Arial"/>
                <a:ea typeface="Arial"/>
                <a:cs typeface="Arial"/>
              </a:defRPr>
            </a:pPr>
            <a:r>
              <a:rPr sz="2025" b="1">
                <a:solidFill>
                  <a:srgbClr val="101820"/>
                </a:solidFill>
                <a:latin typeface="Arial"/>
                <a:ea typeface="Arial"/>
                <a:cs typeface="Arial"/>
              </a:rPr>
              <a:t>What changed?</a:t>
            </a:r>
          </a:p>
        </p:txBody>
      </p:sp>
      <p:sp>
        <p:nvSpPr>
          <p:cNvPr id="6" name="">
            <a:extLst xmlns:a="http://schemas.openxmlformats.org/drawingml/2006/main">
              <a:ext uri="{FF2B5EF4-FFF2-40B4-BE49-F238E27FC236}">
                <a16:creationId xmlns:a16="http://schemas.microsoft.com/office/drawing/2014/main" id="{48972DED-93BF-47BC-8FAA-6EAC4052C66B}"/>
              </a:ext>
            </a:extLst>
          </p:cNvPr>
          <p:cNvSpPr>
            <a:spLocks xmlns:a="http://schemas.openxmlformats.org/drawingml/2006/main" noGrp="1"/>
          </p:cNvSpPr>
          <p:nvPr/>
        </p:nvSpPr>
        <p:spPr>
          <a:xfrm xmlns:a="http://schemas.openxmlformats.org/drawingml/2006/main">
            <a:off x="7667625" y="1952625"/>
            <a:ext cx="3619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DINOv2-B/L: unseen capacity within one family</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SigLIP 2: independent lineage and objective</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ConvNeXt: convolutional architecture, supervised training</a:t>
            </a:r>
          </a:p>
        </p:txBody>
      </p:sp>
      <p:sp>
        <p:nvSpPr>
          <p:cNvPr id="7" name="">
            <a:extLst xmlns:a="http://schemas.openxmlformats.org/drawingml/2006/main">
              <a:ext uri="{FF2B5EF4-FFF2-40B4-BE49-F238E27FC236}">
                <a16:creationId xmlns:a16="http://schemas.microsoft.com/office/drawing/2014/main" id="{B4176CD2-B642-402B-A0DD-64C63BFA3490}"/>
              </a:ext>
            </a:extLst>
          </p:cNvPr>
          <p:cNvSpPr>
            <a:spLocks xmlns:a="http://schemas.openxmlformats.org/drawingml/2006/main" noGrp="1"/>
          </p:cNvSpPr>
          <p:nvPr/>
        </p:nvSpPr>
        <p:spPr>
          <a:xfrm xmlns:a="http://schemas.openxmlformats.org/drawingml/2006/main">
            <a:off x="7667625" y="4000500"/>
            <a:ext cx="3619500" cy="147637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368D2AE-0A62-4D9F-82C2-55DD49BA3E78}"/>
              </a:ext>
            </a:extLst>
          </p:cNvPr>
          <p:cNvSpPr>
            <a:spLocks xmlns:a="http://schemas.openxmlformats.org/drawingml/2006/main" noGrp="1"/>
          </p:cNvSpPr>
          <p:nvPr/>
        </p:nvSpPr>
        <p:spPr>
          <a:xfrm xmlns:a="http://schemas.openxmlformats.org/drawingml/2006/main">
            <a:off x="7905750" y="42862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333"/>
          </a:bodyPr>
          <a:lstStyle xmlns:a="http://schemas.openxmlformats.org/drawingml/2006/main"/>
          <a:p xmlns:a="http://schemas.openxmlformats.org/drawingml/2006/main">
            <a:pPr algn="ctr">
              <a:defRPr sz="1875" b="1">
                <a:solidFill>
                  <a:srgbClr val="3D8DFF"/>
                </a:solidFill>
                <a:latin typeface="Arial"/>
                <a:ea typeface="Arial"/>
                <a:cs typeface="Arial"/>
              </a:defRPr>
            </a:pPr>
            <a:r>
              <a:rPr sz="1875" b="1">
                <a:solidFill>
                  <a:srgbClr val="3D8DFF"/>
                </a:solidFill>
                <a:latin typeface="Arial"/>
                <a:ea typeface="Arial"/>
                <a:cs typeface="Arial"/>
              </a:rPr>
              <a:t>The transfer survived lineage and architecture.</a:t>
            </a:r>
          </a:p>
        </p:txBody>
      </p:sp>
      <p:sp>
        <p:nvSpPr>
          <p:cNvPr id="9" name="">
            <a:extLst xmlns:a="http://schemas.openxmlformats.org/drawingml/2006/main">
              <a:ext uri="{FF2B5EF4-FFF2-40B4-BE49-F238E27FC236}">
                <a16:creationId xmlns:a16="http://schemas.microsoft.com/office/drawing/2014/main" id="{2E03748C-7C1E-45DC-B817-7139D2B350FA}"/>
              </a:ext>
            </a:extLst>
          </p:cNvPr>
          <p:cNvSpPr>
            <a:spLocks xmlns:a="http://schemas.openxmlformats.org/drawingml/2006/main" noGrp="1"/>
          </p:cNvSpPr>
          <p:nvPr/>
        </p:nvSpPr>
        <p:spPr>
          <a:xfrm xmlns:a="http://schemas.openxmlformats.org/drawingml/2006/main">
            <a:off x="7905750" y="49530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392"/>
          </a:bodyPr>
          <a:lstStyle xmlns:a="http://schemas.openxmlformats.org/drawingml/2006/main"/>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Objective remains a confound, not a solved boundary.</a:t>
            </a:r>
          </a:p>
        </p:txBody>
      </p:sp>
    </p:spTree>
    <p:extLst>
      <p:ext uri="{BB962C8B-B14F-4D97-AF65-F5344CB8AC3E}">
        <p14:creationId xmlns:p14="http://schemas.microsoft.com/office/powerpoint/2010/main" val="42754940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B72EDB4-2BEE-4EB8-BE2A-B37E14BE3CD4}"/>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Seven encoders enter one Hub without reducing transfer</a:t>
            </a:r>
          </a:p>
        </p:txBody>
      </p:sp>
      <p:cxnSp>
        <p:nvCxnSpPr>
          <p:cNvPr id="14"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72AE9EE6-3FAA-4EE9-9CFA-4658566596A2}"/>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12</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088b97c80394d3f"/>
          <a:stretch xmlns:a="http://schemas.openxmlformats.org/drawingml/2006/main"/>
        </p:blipFill>
        <p:spPr>
          <a:xfrm xmlns:a="http://schemas.openxmlformats.org/drawingml/2006/main">
            <a:off x="2145944" y="1285875"/>
            <a:ext cx="7900112" cy="3714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A7AF07A-12F2-4F6A-8FEC-7F73A9FC1C4C}"/>
              </a:ext>
            </a:extLst>
          </p:cNvPr>
          <p:cNvSpPr>
            <a:spLocks xmlns:a="http://schemas.openxmlformats.org/drawingml/2006/main" noGrp="1"/>
          </p:cNvSpPr>
          <p:nvPr/>
        </p:nvSpPr>
        <p:spPr>
          <a:xfrm xmlns:a="http://schemas.openxmlformats.org/drawingml/2006/main">
            <a:off x="666750" y="514350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3D8DFF"/>
                </a:solidFill>
                <a:latin typeface="Arial"/>
                <a:ea typeface="Arial"/>
                <a:cs typeface="Arial"/>
              </a:defRPr>
            </a:pPr>
            <a:r>
              <a:rPr sz="3300" b="1">
                <a:solidFill>
                  <a:srgbClr val="3D8DFF"/>
                </a:solidFill>
                <a:latin typeface="Arial"/>
                <a:ea typeface="Arial"/>
                <a:cs typeface="Arial"/>
              </a:rPr>
              <a:t>0.451</a:t>
            </a:r>
          </a:p>
        </p:txBody>
      </p:sp>
      <p:sp>
        <p:nvSpPr>
          <p:cNvPr id="6" name="">
            <a:extLst xmlns:a="http://schemas.openxmlformats.org/drawingml/2006/main">
              <a:ext uri="{FF2B5EF4-FFF2-40B4-BE49-F238E27FC236}">
                <a16:creationId xmlns:a16="http://schemas.microsoft.com/office/drawing/2014/main" id="{67090A50-F261-4854-9080-E4D53A1B1C46}"/>
              </a:ext>
            </a:extLst>
          </p:cNvPr>
          <p:cNvSpPr>
            <a:spLocks xmlns:a="http://schemas.openxmlformats.org/drawingml/2006/main" noGrp="1"/>
          </p:cNvSpPr>
          <p:nvPr/>
        </p:nvSpPr>
        <p:spPr>
          <a:xfrm xmlns:a="http://schemas.openxmlformats.org/drawingml/2006/main">
            <a:off x="666750" y="57340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R@1 at Hub width 512</a:t>
            </a:r>
          </a:p>
        </p:txBody>
      </p:sp>
      <p:sp>
        <p:nvSpPr>
          <p:cNvPr id="7" name="">
            <a:extLst xmlns:a="http://schemas.openxmlformats.org/drawingml/2006/main">
              <a:ext uri="{FF2B5EF4-FFF2-40B4-BE49-F238E27FC236}">
                <a16:creationId xmlns:a16="http://schemas.microsoft.com/office/drawing/2014/main" id="{18A9BE2D-C876-49CD-83A2-FF22B2EE68A9}"/>
              </a:ext>
            </a:extLst>
          </p:cNvPr>
          <p:cNvSpPr>
            <a:spLocks xmlns:a="http://schemas.openxmlformats.org/drawingml/2006/main" noGrp="1"/>
          </p:cNvSpPr>
          <p:nvPr/>
        </p:nvSpPr>
        <p:spPr>
          <a:xfrm xmlns:a="http://schemas.openxmlformats.org/drawingml/2006/main">
            <a:off x="3476625" y="5143500"/>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0C7C86"/>
                </a:solidFill>
                <a:latin typeface="Arial"/>
                <a:ea typeface="Arial"/>
                <a:cs typeface="Arial"/>
              </a:defRPr>
            </a:pPr>
            <a:r>
              <a:rPr sz="3300" b="1">
                <a:solidFill>
                  <a:srgbClr val="0C7C86"/>
                </a:solidFill>
                <a:latin typeface="Arial"/>
                <a:ea typeface="Arial"/>
                <a:cs typeface="Arial"/>
              </a:rPr>
              <a:t>0.986</a:t>
            </a:r>
          </a:p>
        </p:txBody>
      </p:sp>
      <p:sp>
        <p:nvSpPr>
          <p:cNvPr id="8" name="">
            <a:extLst xmlns:a="http://schemas.openxmlformats.org/drawingml/2006/main">
              <a:ext uri="{FF2B5EF4-FFF2-40B4-BE49-F238E27FC236}">
                <a16:creationId xmlns:a16="http://schemas.microsoft.com/office/drawing/2014/main" id="{F2D6EBB2-C449-4CD8-AFB7-8556F8032D30}"/>
              </a:ext>
            </a:extLst>
          </p:cNvPr>
          <p:cNvSpPr>
            <a:spLocks xmlns:a="http://schemas.openxmlformats.org/drawingml/2006/main" noGrp="1"/>
          </p:cNvSpPr>
          <p:nvPr/>
        </p:nvSpPr>
        <p:spPr>
          <a:xfrm xmlns:a="http://schemas.openxmlformats.org/drawingml/2006/main">
            <a:off x="3476625" y="57340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verification AUC</a:t>
            </a:r>
          </a:p>
        </p:txBody>
      </p:sp>
      <p:sp>
        <p:nvSpPr>
          <p:cNvPr id="9" name="">
            <a:extLst xmlns:a="http://schemas.openxmlformats.org/drawingml/2006/main">
              <a:ext uri="{FF2B5EF4-FFF2-40B4-BE49-F238E27FC236}">
                <a16:creationId xmlns:a16="http://schemas.microsoft.com/office/drawing/2014/main" id="{1FB27904-0EF3-47B9-B2E2-9203AF2DEFEB}"/>
              </a:ext>
            </a:extLst>
          </p:cNvPr>
          <p:cNvSpPr>
            <a:spLocks xmlns:a="http://schemas.openxmlformats.org/drawingml/2006/main" noGrp="1"/>
          </p:cNvSpPr>
          <p:nvPr/>
        </p:nvSpPr>
        <p:spPr>
          <a:xfrm xmlns:a="http://schemas.openxmlformats.org/drawingml/2006/main">
            <a:off x="6286500" y="5143500"/>
            <a:ext cx="2619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E57C23"/>
                </a:solidFill>
                <a:latin typeface="Arial"/>
                <a:ea typeface="Arial"/>
                <a:cs typeface="Arial"/>
              </a:defRPr>
            </a:pPr>
            <a:r>
              <a:rPr sz="3300" b="1">
                <a:solidFill>
                  <a:srgbClr val="E57C23"/>
                </a:solidFill>
                <a:latin typeface="Arial"/>
                <a:ea typeface="Arial"/>
                <a:cs typeface="Arial"/>
              </a:rPr>
              <a:t>95.6%</a:t>
            </a:r>
          </a:p>
        </p:txBody>
      </p:sp>
      <p:sp>
        <p:nvSpPr>
          <p:cNvPr id="10" name="">
            <a:extLst xmlns:a="http://schemas.openxmlformats.org/drawingml/2006/main">
              <a:ext uri="{FF2B5EF4-FFF2-40B4-BE49-F238E27FC236}">
                <a16:creationId xmlns:a16="http://schemas.microsoft.com/office/drawing/2014/main" id="{5A4E09B9-A1ED-4727-9597-80B0D3D133AA}"/>
              </a:ext>
            </a:extLst>
          </p:cNvPr>
          <p:cNvSpPr>
            <a:spLocks xmlns:a="http://schemas.openxmlformats.org/drawingml/2006/main" noGrp="1"/>
          </p:cNvSpPr>
          <p:nvPr/>
        </p:nvSpPr>
        <p:spPr>
          <a:xfrm xmlns:a="http://schemas.openxmlformats.org/drawingml/2006/main">
            <a:off x="6286500" y="5734050"/>
            <a:ext cx="2619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retention over 36/41 pairs</a:t>
            </a:r>
          </a:p>
        </p:txBody>
      </p:sp>
      <p:sp>
        <p:nvSpPr>
          <p:cNvPr id="11" name="">
            <a:extLst xmlns:a="http://schemas.openxmlformats.org/drawingml/2006/main">
              <a:ext uri="{FF2B5EF4-FFF2-40B4-BE49-F238E27FC236}">
                <a16:creationId xmlns:a16="http://schemas.microsoft.com/office/drawing/2014/main" id="{56E8A7A4-23AB-407B-9AD7-689709CC9F0F}"/>
              </a:ext>
            </a:extLst>
          </p:cNvPr>
          <p:cNvSpPr>
            <a:spLocks xmlns:a="http://schemas.openxmlformats.org/drawingml/2006/main" noGrp="1"/>
          </p:cNvSpPr>
          <p:nvPr/>
        </p:nvSpPr>
        <p:spPr>
          <a:xfrm xmlns:a="http://schemas.openxmlformats.org/drawingml/2006/main">
            <a:off x="9191625" y="514350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5F6972"/>
                </a:solidFill>
                <a:latin typeface="Arial"/>
                <a:ea typeface="Arial"/>
                <a:cs typeface="Arial"/>
              </a:defRPr>
            </a:pPr>
            <a:r>
              <a:rPr sz="3300" b="1">
                <a:solidFill>
                  <a:srgbClr val="5F6972"/>
                </a:solidFill>
                <a:latin typeface="Arial"/>
                <a:ea typeface="Arial"/>
                <a:cs typeface="Arial"/>
              </a:rPr>
              <a:t>+0.006</a:t>
            </a:r>
          </a:p>
        </p:txBody>
      </p:sp>
      <p:sp>
        <p:nvSpPr>
          <p:cNvPr id="12" name="">
            <a:extLst xmlns:a="http://schemas.openxmlformats.org/drawingml/2006/main">
              <a:ext uri="{FF2B5EF4-FFF2-40B4-BE49-F238E27FC236}">
                <a16:creationId xmlns:a16="http://schemas.microsoft.com/office/drawing/2014/main" id="{85891632-F527-4C20-A6A6-2CEDC0351130}"/>
              </a:ext>
            </a:extLst>
          </p:cNvPr>
          <p:cNvSpPr>
            <a:spLocks xmlns:a="http://schemas.openxmlformats.org/drawingml/2006/main" noGrp="1"/>
          </p:cNvSpPr>
          <p:nvPr/>
        </p:nvSpPr>
        <p:spPr>
          <a:xfrm xmlns:a="http://schemas.openxmlformats.org/drawingml/2006/main">
            <a:off x="9191625" y="573405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vs five-space Hub</a:t>
            </a:r>
          </a:p>
        </p:txBody>
      </p:sp>
    </p:spTree>
    <p:extLst>
      <p:ext uri="{BB962C8B-B14F-4D97-AF65-F5344CB8AC3E}">
        <p14:creationId xmlns:p14="http://schemas.microsoft.com/office/powerpoint/2010/main" val="187973338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6E84538-AF95-4DE0-A5BB-CAA39808202F}"/>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Objective and geometry explain more than modality alone</a:t>
            </a:r>
          </a:p>
        </p:txBody>
      </p:sp>
      <p:cxnSp>
        <p:nvCxnSpPr>
          <p:cNvPr id="18"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0D3520E5-C8DC-4AEA-894F-7B93F449DAA9}"/>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13</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66ccd5136324be7"/>
          <a:stretch xmlns:a="http://schemas.openxmlformats.org/drawingml/2006/main"/>
        </p:blipFill>
        <p:spPr>
          <a:xfrm xmlns:a="http://schemas.openxmlformats.org/drawingml/2006/main">
            <a:off x="653028" y="1257300"/>
            <a:ext cx="10885945"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3FDBC13-456F-4F3B-8227-3D7DE1CCE430}"/>
              </a:ext>
            </a:extLst>
          </p:cNvPr>
          <p:cNvSpPr>
            <a:spLocks xmlns:a="http://schemas.openxmlformats.org/drawingml/2006/main" noGrp="1"/>
          </p:cNvSpPr>
          <p:nvPr/>
        </p:nvSpPr>
        <p:spPr>
          <a:xfrm xmlns:a="http://schemas.openxmlformats.org/drawingml/2006/main">
            <a:off x="457200" y="4762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296"/>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Objective</a:t>
            </a:r>
          </a:p>
        </p:txBody>
      </p:sp>
      <p:sp>
        <p:nvSpPr>
          <p:cNvPr id="6" name="">
            <a:extLst xmlns:a="http://schemas.openxmlformats.org/drawingml/2006/main">
              <a:ext uri="{FF2B5EF4-FFF2-40B4-BE49-F238E27FC236}">
                <a16:creationId xmlns:a16="http://schemas.microsoft.com/office/drawing/2014/main" id="{5DC5E0A5-1BF9-4D43-ABFA-41B5F8478986}"/>
              </a:ext>
            </a:extLst>
          </p:cNvPr>
          <p:cNvSpPr>
            <a:spLocks xmlns:a="http://schemas.openxmlformats.org/drawingml/2006/main" noGrp="1"/>
          </p:cNvSpPr>
          <p:nvPr/>
        </p:nvSpPr>
        <p:spPr>
          <a:xfrm xmlns:a="http://schemas.openxmlformats.org/drawingml/2006/main">
            <a:off x="457200" y="506730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982"/>
          </a:bodyPr>
          <a:lstStyle xmlns:a="http://schemas.openxmlformats.org/drawingml/2006/main"/>
          <a:p xmlns:a="http://schemas.openxmlformats.org/drawingml/2006/main">
            <a:pPr algn="l">
              <a:defRPr sz="2850" b="1">
                <a:solidFill>
                  <a:srgbClr val="E57C23"/>
                </a:solidFill>
                <a:latin typeface="Arial"/>
                <a:ea typeface="Arial"/>
                <a:cs typeface="Arial"/>
              </a:defRPr>
            </a:pPr>
            <a:r>
              <a:rPr sz="2850" b="1">
                <a:solidFill>
                  <a:srgbClr val="E57C23"/>
                </a:solidFill>
                <a:latin typeface="Arial"/>
                <a:ea typeface="Arial"/>
                <a:cs typeface="Arial"/>
              </a:rPr>
              <a:t>+53×</a:t>
            </a:r>
          </a:p>
        </p:txBody>
      </p:sp>
      <p:sp>
        <p:nvSpPr>
          <p:cNvPr id="7" name="">
            <a:extLst xmlns:a="http://schemas.openxmlformats.org/drawingml/2006/main">
              <a:ext uri="{FF2B5EF4-FFF2-40B4-BE49-F238E27FC236}">
                <a16:creationId xmlns:a16="http://schemas.microsoft.com/office/drawing/2014/main" id="{99699121-9AE0-473A-87C3-2679F0EA963D}"/>
              </a:ext>
            </a:extLst>
          </p:cNvPr>
          <p:cNvSpPr>
            <a:spLocks xmlns:a="http://schemas.openxmlformats.org/drawingml/2006/main" noGrp="1"/>
          </p:cNvSpPr>
          <p:nvPr/>
        </p:nvSpPr>
        <p:spPr>
          <a:xfrm xmlns:a="http://schemas.openxmlformats.org/drawingml/2006/main">
            <a:off x="457200" y="5619750"/>
            <a:ext cx="2333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F6972"/>
                </a:solidFill>
                <a:latin typeface="Arial"/>
                <a:ea typeface="Arial"/>
                <a:cs typeface="Arial"/>
              </a:defRPr>
            </a:pPr>
            <a:r>
              <a:rPr sz="1200" b="0">
                <a:solidFill>
                  <a:srgbClr val="5F6972"/>
                </a:solidFill>
                <a:latin typeface="Arial"/>
                <a:ea typeface="Arial"/>
                <a:cs typeface="Arial"/>
              </a:rPr>
              <a:t>strongest exploratory grouping effect</a:t>
            </a:r>
          </a:p>
        </p:txBody>
      </p:sp>
      <p:sp>
        <p:nvSpPr>
          <p:cNvPr id="8" name="">
            <a:extLst xmlns:a="http://schemas.openxmlformats.org/drawingml/2006/main">
              <a:ext uri="{FF2B5EF4-FFF2-40B4-BE49-F238E27FC236}">
                <a16:creationId xmlns:a16="http://schemas.microsoft.com/office/drawing/2014/main" id="{E4B2C33B-A106-4B6A-A072-348DF89597CA}"/>
              </a:ext>
            </a:extLst>
          </p:cNvPr>
          <p:cNvSpPr>
            <a:spLocks xmlns:a="http://schemas.openxmlformats.org/drawingml/2006/main" noGrp="1"/>
          </p:cNvSpPr>
          <p:nvPr/>
        </p:nvSpPr>
        <p:spPr>
          <a:xfrm xmlns:a="http://schemas.openxmlformats.org/drawingml/2006/main">
            <a:off x="3276600" y="4762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296"/>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Lineage</a:t>
            </a:r>
          </a:p>
        </p:txBody>
      </p:sp>
      <p:sp>
        <p:nvSpPr>
          <p:cNvPr id="9" name="">
            <a:extLst xmlns:a="http://schemas.openxmlformats.org/drawingml/2006/main">
              <a:ext uri="{FF2B5EF4-FFF2-40B4-BE49-F238E27FC236}">
                <a16:creationId xmlns:a16="http://schemas.microsoft.com/office/drawing/2014/main" id="{189ABA04-70E8-4624-9EBA-D8ED896390D5}"/>
              </a:ext>
            </a:extLst>
          </p:cNvPr>
          <p:cNvSpPr>
            <a:spLocks xmlns:a="http://schemas.openxmlformats.org/drawingml/2006/main" noGrp="1"/>
          </p:cNvSpPr>
          <p:nvPr/>
        </p:nvSpPr>
        <p:spPr>
          <a:xfrm xmlns:a="http://schemas.openxmlformats.org/drawingml/2006/main">
            <a:off x="3276600" y="506730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982"/>
          </a:bodyPr>
          <a:lstStyle xmlns:a="http://schemas.openxmlformats.org/drawingml/2006/main"/>
          <a:p xmlns:a="http://schemas.openxmlformats.org/drawingml/2006/main">
            <a:pPr algn="l">
              <a:defRPr sz="2850" b="1">
                <a:solidFill>
                  <a:srgbClr val="3D8DFF"/>
                </a:solidFill>
                <a:latin typeface="Arial"/>
                <a:ea typeface="Arial"/>
                <a:cs typeface="Arial"/>
              </a:defRPr>
            </a:pPr>
            <a:r>
              <a:rPr sz="2850" b="1">
                <a:solidFill>
                  <a:srgbClr val="3D8DFF"/>
                </a:solidFill>
                <a:latin typeface="Arial"/>
                <a:ea typeface="Arial"/>
                <a:cs typeface="Arial"/>
              </a:rPr>
              <a:t>+44×</a:t>
            </a:r>
          </a:p>
        </p:txBody>
      </p:sp>
      <p:sp>
        <p:nvSpPr>
          <p:cNvPr id="10" name="">
            <a:extLst xmlns:a="http://schemas.openxmlformats.org/drawingml/2006/main">
              <a:ext uri="{FF2B5EF4-FFF2-40B4-BE49-F238E27FC236}">
                <a16:creationId xmlns:a16="http://schemas.microsoft.com/office/drawing/2014/main" id="{A44A7340-6633-4C5A-A7B9-ECD0F064C703}"/>
              </a:ext>
            </a:extLst>
          </p:cNvPr>
          <p:cNvSpPr>
            <a:spLocks xmlns:a="http://schemas.openxmlformats.org/drawingml/2006/main" noGrp="1"/>
          </p:cNvSpPr>
          <p:nvPr/>
        </p:nvSpPr>
        <p:spPr>
          <a:xfrm xmlns:a="http://schemas.openxmlformats.org/drawingml/2006/main">
            <a:off x="3276600" y="5619750"/>
            <a:ext cx="2333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F6972"/>
                </a:solidFill>
                <a:latin typeface="Arial"/>
                <a:ea typeface="Arial"/>
                <a:cs typeface="Arial"/>
              </a:defRPr>
            </a:pPr>
            <a:r>
              <a:rPr sz="1200" b="0">
                <a:solidFill>
                  <a:srgbClr val="5F6972"/>
                </a:solidFill>
                <a:latin typeface="Arial"/>
                <a:ea typeface="Arial"/>
                <a:cs typeface="Arial"/>
              </a:rPr>
              <a:t>important, but not sufficient</a:t>
            </a:r>
          </a:p>
        </p:txBody>
      </p:sp>
      <p:sp>
        <p:nvSpPr>
          <p:cNvPr id="11" name="">
            <a:extLst xmlns:a="http://schemas.openxmlformats.org/drawingml/2006/main">
              <a:ext uri="{FF2B5EF4-FFF2-40B4-BE49-F238E27FC236}">
                <a16:creationId xmlns:a16="http://schemas.microsoft.com/office/drawing/2014/main" id="{BDDDB662-1FC7-4988-8258-E78C2C2F978E}"/>
              </a:ext>
            </a:extLst>
          </p:cNvPr>
          <p:cNvSpPr>
            <a:spLocks xmlns:a="http://schemas.openxmlformats.org/drawingml/2006/main" noGrp="1"/>
          </p:cNvSpPr>
          <p:nvPr/>
        </p:nvSpPr>
        <p:spPr>
          <a:xfrm xmlns:a="http://schemas.openxmlformats.org/drawingml/2006/main">
            <a:off x="6096000" y="4762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296"/>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Modality</a:t>
            </a:r>
          </a:p>
        </p:txBody>
      </p:sp>
      <p:sp>
        <p:nvSpPr>
          <p:cNvPr id="12" name="">
            <a:extLst xmlns:a="http://schemas.openxmlformats.org/drawingml/2006/main">
              <a:ext uri="{FF2B5EF4-FFF2-40B4-BE49-F238E27FC236}">
                <a16:creationId xmlns:a16="http://schemas.microsoft.com/office/drawing/2014/main" id="{55C963E1-EBAA-49F2-B345-7F95CE060E4A}"/>
              </a:ext>
            </a:extLst>
          </p:cNvPr>
          <p:cNvSpPr>
            <a:spLocks xmlns:a="http://schemas.openxmlformats.org/drawingml/2006/main" noGrp="1"/>
          </p:cNvSpPr>
          <p:nvPr/>
        </p:nvSpPr>
        <p:spPr>
          <a:xfrm xmlns:a="http://schemas.openxmlformats.org/drawingml/2006/main">
            <a:off x="6096000" y="506730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982"/>
          </a:bodyPr>
          <a:lstStyle xmlns:a="http://schemas.openxmlformats.org/drawingml/2006/main"/>
          <a:p xmlns:a="http://schemas.openxmlformats.org/drawingml/2006/main">
            <a:pPr algn="l">
              <a:defRPr sz="2850" b="1">
                <a:solidFill>
                  <a:srgbClr val="3D8DFF"/>
                </a:solidFill>
                <a:latin typeface="Arial"/>
                <a:ea typeface="Arial"/>
                <a:cs typeface="Arial"/>
              </a:defRPr>
            </a:pPr>
            <a:r>
              <a:rPr sz="2850" b="1">
                <a:solidFill>
                  <a:srgbClr val="3D8DFF"/>
                </a:solidFill>
                <a:latin typeface="Arial"/>
                <a:ea typeface="Arial"/>
                <a:cs typeface="Arial"/>
              </a:rPr>
              <a:t>+29×</a:t>
            </a:r>
          </a:p>
        </p:txBody>
      </p:sp>
      <p:sp>
        <p:nvSpPr>
          <p:cNvPr id="13" name="">
            <a:extLst xmlns:a="http://schemas.openxmlformats.org/drawingml/2006/main">
              <a:ext uri="{FF2B5EF4-FFF2-40B4-BE49-F238E27FC236}">
                <a16:creationId xmlns:a16="http://schemas.microsoft.com/office/drawing/2014/main" id="{41322303-6861-4853-9A3A-69B535D2A2A7}"/>
              </a:ext>
            </a:extLst>
          </p:cNvPr>
          <p:cNvSpPr>
            <a:spLocks xmlns:a="http://schemas.openxmlformats.org/drawingml/2006/main" noGrp="1"/>
          </p:cNvSpPr>
          <p:nvPr/>
        </p:nvSpPr>
        <p:spPr>
          <a:xfrm xmlns:a="http://schemas.openxmlformats.org/drawingml/2006/main">
            <a:off x="6096000" y="5619750"/>
            <a:ext cx="2333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F6972"/>
                </a:solidFill>
                <a:latin typeface="Arial"/>
                <a:ea typeface="Arial"/>
                <a:cs typeface="Arial"/>
              </a:defRPr>
            </a:pPr>
            <a:r>
              <a:rPr sz="1200" b="0">
                <a:solidFill>
                  <a:srgbClr val="5F6972"/>
                </a:solidFill>
                <a:latin typeface="Arial"/>
                <a:ea typeface="Arial"/>
                <a:cs typeface="Arial"/>
              </a:rPr>
              <a:t>cross-modal agreement is weaker</a:t>
            </a:r>
          </a:p>
        </p:txBody>
      </p:sp>
      <p:sp>
        <p:nvSpPr>
          <p:cNvPr id="14" name="">
            <a:extLst xmlns:a="http://schemas.openxmlformats.org/drawingml/2006/main">
              <a:ext uri="{FF2B5EF4-FFF2-40B4-BE49-F238E27FC236}">
                <a16:creationId xmlns:a16="http://schemas.microsoft.com/office/drawing/2014/main" id="{4D53A2E2-EDD1-41B5-8AF9-8B7073E015DF}"/>
              </a:ext>
            </a:extLst>
          </p:cNvPr>
          <p:cNvSpPr>
            <a:spLocks xmlns:a="http://schemas.openxmlformats.org/drawingml/2006/main" noGrp="1"/>
          </p:cNvSpPr>
          <p:nvPr/>
        </p:nvSpPr>
        <p:spPr>
          <a:xfrm xmlns:a="http://schemas.openxmlformats.org/drawingml/2006/main">
            <a:off x="8915400" y="4762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296"/>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Locality</a:t>
            </a:r>
          </a:p>
        </p:txBody>
      </p:sp>
      <p:sp>
        <p:nvSpPr>
          <p:cNvPr id="15" name="">
            <a:extLst xmlns:a="http://schemas.openxmlformats.org/drawingml/2006/main">
              <a:ext uri="{FF2B5EF4-FFF2-40B4-BE49-F238E27FC236}">
                <a16:creationId xmlns:a16="http://schemas.microsoft.com/office/drawing/2014/main" id="{C5E2CE53-0AFD-4F9D-BCE7-E9F79B8DD034}"/>
              </a:ext>
            </a:extLst>
          </p:cNvPr>
          <p:cNvSpPr>
            <a:spLocks xmlns:a="http://schemas.openxmlformats.org/drawingml/2006/main" noGrp="1"/>
          </p:cNvSpPr>
          <p:nvPr/>
        </p:nvSpPr>
        <p:spPr>
          <a:xfrm xmlns:a="http://schemas.openxmlformats.org/drawingml/2006/main">
            <a:off x="8915400" y="506730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982"/>
          </a:bodyPr>
          <a:lstStyle xmlns:a="http://schemas.openxmlformats.org/drawingml/2006/main"/>
          <a:p xmlns:a="http://schemas.openxmlformats.org/drawingml/2006/main">
            <a:pPr algn="l">
              <a:defRPr sz="2850" b="1">
                <a:solidFill>
                  <a:srgbClr val="3D8DFF"/>
                </a:solidFill>
                <a:latin typeface="Arial"/>
                <a:ea typeface="Arial"/>
                <a:cs typeface="Arial"/>
              </a:defRPr>
            </a:pPr>
            <a:r>
              <a:rPr sz="2850" b="1">
                <a:solidFill>
                  <a:srgbClr val="3D8DFF"/>
                </a:solidFill>
                <a:latin typeface="Arial"/>
                <a:ea typeface="Arial"/>
                <a:cs typeface="Arial"/>
              </a:rPr>
              <a:t>21/21</a:t>
            </a:r>
          </a:p>
        </p:txBody>
      </p:sp>
      <p:sp>
        <p:nvSpPr>
          <p:cNvPr id="16" name="">
            <a:extLst xmlns:a="http://schemas.openxmlformats.org/drawingml/2006/main">
              <a:ext uri="{FF2B5EF4-FFF2-40B4-BE49-F238E27FC236}">
                <a16:creationId xmlns:a16="http://schemas.microsoft.com/office/drawing/2014/main" id="{853B0C30-2F06-4A39-8AB7-5FDD799D551E}"/>
              </a:ext>
            </a:extLst>
          </p:cNvPr>
          <p:cNvSpPr>
            <a:spLocks xmlns:a="http://schemas.openxmlformats.org/drawingml/2006/main" noGrp="1"/>
          </p:cNvSpPr>
          <p:nvPr/>
        </p:nvSpPr>
        <p:spPr>
          <a:xfrm xmlns:a="http://schemas.openxmlformats.org/drawingml/2006/main">
            <a:off x="8915400" y="5619750"/>
            <a:ext cx="2333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F6972"/>
                </a:solidFill>
                <a:latin typeface="Arial"/>
                <a:ea typeface="Arial"/>
                <a:cs typeface="Arial"/>
              </a:defRPr>
            </a:pPr>
            <a:r>
              <a:rPr sz="1200" b="0">
                <a:solidFill>
                  <a:srgbClr val="5F6972"/>
                </a:solidFill>
                <a:latin typeface="Arial"/>
                <a:ea typeface="Arial"/>
                <a:cs typeface="Arial"/>
              </a:rPr>
              <a:t>pairs agree more locally than globally</a:t>
            </a:r>
          </a:p>
        </p:txBody>
      </p:sp>
    </p:spTree>
    <p:extLst>
      <p:ext uri="{BB962C8B-B14F-4D97-AF65-F5344CB8AC3E}">
        <p14:creationId xmlns:p14="http://schemas.microsoft.com/office/powerpoint/2010/main" val="5718062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F4D3655-8D4B-403A-BA67-FCA379C036D0}"/>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554"/>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Two geometric lessons changed the interpretation of failure</a:t>
            </a:r>
          </a:p>
        </p:txBody>
      </p:sp>
      <p:cxnSp>
        <p:nvCxnSpPr>
          <p:cNvPr id="16"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2ECBE9EB-5F45-48AC-BC99-BE2DDC4F21DA}"/>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40E3599A-1180-46A1-B084-CEE48E125671}"/>
              </a:ext>
            </a:extLst>
          </p:cNvPr>
          <p:cNvSpPr>
            <a:spLocks xmlns:a="http://schemas.openxmlformats.org/drawingml/2006/main" noGrp="1"/>
          </p:cNvSpPr>
          <p:nvPr/>
        </p:nvSpPr>
        <p:spPr>
          <a:xfrm xmlns:a="http://schemas.openxmlformats.org/drawingml/2006/main">
            <a:off x="457200" y="1381125"/>
            <a:ext cx="5381625" cy="42862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EFFD653-8317-4E81-88A5-CAE51ACC77F3}"/>
              </a:ext>
            </a:extLst>
          </p:cNvPr>
          <p:cNvSpPr>
            <a:spLocks xmlns:a="http://schemas.openxmlformats.org/drawingml/2006/main" noGrp="1"/>
          </p:cNvSpPr>
          <p:nvPr/>
        </p:nvSpPr>
        <p:spPr>
          <a:xfrm xmlns:a="http://schemas.openxmlformats.org/drawingml/2006/main">
            <a:off x="6353175" y="1381125"/>
            <a:ext cx="5381625" cy="4286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0EAD769-D6E6-42C4-A741-D5A38D9EA16F}"/>
              </a:ext>
            </a:extLst>
          </p:cNvPr>
          <p:cNvSpPr>
            <a:spLocks xmlns:a="http://schemas.openxmlformats.org/drawingml/2006/main" noGrp="1"/>
          </p:cNvSpPr>
          <p:nvPr/>
        </p:nvSpPr>
        <p:spPr>
          <a:xfrm xmlns:a="http://schemas.openxmlformats.org/drawingml/2006/main">
            <a:off x="714375" y="16668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862"/>
          </a:bodyPr>
          <a:lstStyle xmlns:a="http://schemas.openxmlformats.org/drawingml/2006/main"/>
          <a:p xmlns:a="http://schemas.openxmlformats.org/drawingml/2006/main">
            <a:pPr algn="l">
              <a:defRPr sz="2175" b="1">
                <a:solidFill>
                  <a:srgbClr val="0C7C86"/>
                </a:solidFill>
                <a:latin typeface="Arial"/>
                <a:ea typeface="Arial"/>
                <a:cs typeface="Arial"/>
              </a:defRPr>
            </a:pPr>
            <a:r>
              <a:rPr sz="2175" b="1">
                <a:solidFill>
                  <a:srgbClr val="0C7C86"/>
                </a:solidFill>
                <a:latin typeface="Arial"/>
                <a:ea typeface="Arial"/>
                <a:cs typeface="Arial"/>
              </a:rPr>
              <a:t>Isotropy rescue</a:t>
            </a:r>
          </a:p>
        </p:txBody>
      </p:sp>
      <p:sp>
        <p:nvSpPr>
          <p:cNvPr id="7" name="">
            <a:extLst xmlns:a="http://schemas.openxmlformats.org/drawingml/2006/main">
              <a:ext uri="{FF2B5EF4-FFF2-40B4-BE49-F238E27FC236}">
                <a16:creationId xmlns:a16="http://schemas.microsoft.com/office/drawing/2014/main" id="{F4B1AEB7-DEEB-40E1-9FFA-CF278060A4CF}"/>
              </a:ext>
            </a:extLst>
          </p:cNvPr>
          <p:cNvSpPr>
            <a:spLocks xmlns:a="http://schemas.openxmlformats.org/drawingml/2006/main" noGrp="1"/>
          </p:cNvSpPr>
          <p:nvPr/>
        </p:nvSpPr>
        <p:spPr>
          <a:xfrm xmlns:a="http://schemas.openxmlformats.org/drawingml/2006/main">
            <a:off x="714375" y="2238375"/>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GPT-2 target retrieval</a:t>
            </a:r>
          </a:p>
        </p:txBody>
      </p:sp>
      <p:sp>
        <p:nvSpPr>
          <p:cNvPr id="8" name="">
            <a:extLst xmlns:a="http://schemas.openxmlformats.org/drawingml/2006/main">
              <a:ext uri="{FF2B5EF4-FFF2-40B4-BE49-F238E27FC236}">
                <a16:creationId xmlns:a16="http://schemas.microsoft.com/office/drawing/2014/main" id="{F76D52C4-98F9-4ACD-8F09-378A740A36F8}"/>
              </a:ext>
            </a:extLst>
          </p:cNvPr>
          <p:cNvSpPr>
            <a:spLocks xmlns:a="http://schemas.openxmlformats.org/drawingml/2006/main" noGrp="1"/>
          </p:cNvSpPr>
          <p:nvPr/>
        </p:nvSpPr>
        <p:spPr>
          <a:xfrm xmlns:a="http://schemas.openxmlformats.org/drawingml/2006/main">
            <a:off x="714375" y="2667000"/>
            <a:ext cx="438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561"/>
          </a:bodyPr>
          <a:lstStyle xmlns:a="http://schemas.openxmlformats.org/drawingml/2006/main"/>
          <a:p xmlns:a="http://schemas.openxmlformats.org/drawingml/2006/main">
            <a:pPr algn="l">
              <a:defRPr sz="2850" b="1">
                <a:solidFill>
                  <a:srgbClr val="101820"/>
                </a:solidFill>
                <a:latin typeface="Arial"/>
                <a:ea typeface="Arial"/>
                <a:cs typeface="Arial"/>
              </a:defRPr>
            </a:pPr>
            <a:r>
              <a:rPr sz="2850" b="1">
                <a:solidFill>
                  <a:srgbClr val="101820"/>
                </a:solidFill>
                <a:latin typeface="Arial"/>
                <a:ea typeface="Arial"/>
                <a:cs typeface="Arial"/>
              </a:rPr>
              <a:t>R@1  0.130  →  0.478</a:t>
            </a:r>
          </a:p>
        </p:txBody>
      </p:sp>
      <p:sp>
        <p:nvSpPr>
          <p:cNvPr id="9" name="">
            <a:extLst xmlns:a="http://schemas.openxmlformats.org/drawingml/2006/main">
              <a:ext uri="{FF2B5EF4-FFF2-40B4-BE49-F238E27FC236}">
                <a16:creationId xmlns:a16="http://schemas.microsoft.com/office/drawing/2014/main" id="{7F35E737-0987-4840-9B7A-CDADF088A920}"/>
              </a:ext>
            </a:extLst>
          </p:cNvPr>
          <p:cNvSpPr>
            <a:spLocks xmlns:a="http://schemas.openxmlformats.org/drawingml/2006/main" noGrp="1"/>
          </p:cNvSpPr>
          <p:nvPr/>
        </p:nvSpPr>
        <p:spPr>
          <a:xfrm xmlns:a="http://schemas.openxmlformats.org/drawingml/2006/main">
            <a:off x="714375" y="3476625"/>
            <a:ext cx="452437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101820"/>
                </a:solidFill>
                <a:latin typeface="Arial"/>
                <a:ea typeface="Arial"/>
                <a:cs typeface="Arial"/>
              </a:defRPr>
            </a:pPr>
            <a:r>
              <a:rPr sz="1425" b="0">
                <a:solidFill>
                  <a:srgbClr val="101820"/>
                </a:solidFill>
                <a:latin typeface="Arial"/>
                <a:ea typeface="Arial"/>
                <a:cs typeface="Arial"/>
              </a:rPr>
              <a:t>• effective rank: 6.5 → 490.8</a:t>
            </a:r>
          </a:p>
          <a:p xmlns:a="http://schemas.openxmlformats.org/drawingml/2006/main">
            <a:pPr algn="l">
              <a:defRPr sz="1425" b="0">
                <a:solidFill>
                  <a:srgbClr val="101820"/>
                </a:solidFill>
                <a:latin typeface="Arial"/>
                <a:ea typeface="Arial"/>
                <a:cs typeface="Arial"/>
              </a:defRPr>
            </a:pPr>
            <a:r>
              <a:rPr sz="1425" b="0">
                <a:solidFill>
                  <a:srgbClr val="101820"/>
                </a:solidFill>
                <a:latin typeface="Arial"/>
                <a:ea typeface="Arial"/>
                <a:cs typeface="Arial"/>
              </a:rPr>
              <a:t>• 102.6% of contrastive bge arm</a:t>
            </a:r>
          </a:p>
          <a:p xmlns:a="http://schemas.openxmlformats.org/drawingml/2006/main">
            <a:pPr algn="l">
              <a:defRPr sz="1425" b="0">
                <a:solidFill>
                  <a:srgbClr val="101820"/>
                </a:solidFill>
                <a:latin typeface="Arial"/>
                <a:ea typeface="Arial"/>
                <a:cs typeface="Arial"/>
              </a:defRPr>
            </a:pPr>
            <a:r>
              <a:rPr sz="1425" b="0">
                <a:solidFill>
                  <a:srgbClr val="101820"/>
                </a:solidFill>
                <a:latin typeface="Arial"/>
                <a:ea typeface="Arial"/>
                <a:cs typeface="Arial"/>
              </a:rPr>
              <a:t>• isotropy helps read a correspondence</a:t>
            </a:r>
          </a:p>
        </p:txBody>
      </p:sp>
      <p:sp>
        <p:nvSpPr>
          <p:cNvPr id="10" name="">
            <a:extLst xmlns:a="http://schemas.openxmlformats.org/drawingml/2006/main">
              <a:ext uri="{FF2B5EF4-FFF2-40B4-BE49-F238E27FC236}">
                <a16:creationId xmlns:a16="http://schemas.microsoft.com/office/drawing/2014/main" id="{F87A6533-4F59-4E10-AD4A-011B7746453C}"/>
              </a:ext>
            </a:extLst>
          </p:cNvPr>
          <p:cNvSpPr>
            <a:spLocks xmlns:a="http://schemas.openxmlformats.org/drawingml/2006/main" noGrp="1"/>
          </p:cNvSpPr>
          <p:nvPr/>
        </p:nvSpPr>
        <p:spPr>
          <a:xfrm xmlns:a="http://schemas.openxmlformats.org/drawingml/2006/main">
            <a:off x="6619875" y="16668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862"/>
          </a:bodyPr>
          <a:lstStyle xmlns:a="http://schemas.openxmlformats.org/drawingml/2006/main"/>
          <a:p xmlns:a="http://schemas.openxmlformats.org/drawingml/2006/main">
            <a:pPr algn="l">
              <a:defRPr sz="2175" b="1">
                <a:solidFill>
                  <a:srgbClr val="C43D3D"/>
                </a:solidFill>
                <a:latin typeface="Arial"/>
                <a:ea typeface="Arial"/>
                <a:cs typeface="Arial"/>
              </a:defRPr>
            </a:pPr>
            <a:r>
              <a:rPr sz="2175" b="1">
                <a:solidFill>
                  <a:srgbClr val="C43D3D"/>
                </a:solidFill>
                <a:latin typeface="Arial"/>
                <a:ea typeface="Arial"/>
                <a:cs typeface="Arial"/>
              </a:rPr>
              <a:t>Near-null width cliff</a:t>
            </a:r>
          </a:p>
        </p:txBody>
      </p:sp>
      <p:sp>
        <p:nvSpPr>
          <p:cNvPr id="11" name="">
            <a:extLst xmlns:a="http://schemas.openxmlformats.org/drawingml/2006/main">
              <a:ext uri="{FF2B5EF4-FFF2-40B4-BE49-F238E27FC236}">
                <a16:creationId xmlns:a16="http://schemas.microsoft.com/office/drawing/2014/main" id="{5481108B-C591-4C3B-B6D6-CA17CD41391E}"/>
              </a:ext>
            </a:extLst>
          </p:cNvPr>
          <p:cNvSpPr>
            <a:spLocks xmlns:a="http://schemas.openxmlformats.org/drawingml/2006/main" noGrp="1"/>
          </p:cNvSpPr>
          <p:nvPr/>
        </p:nvSpPr>
        <p:spPr>
          <a:xfrm xmlns:a="http://schemas.openxmlformats.org/drawingml/2006/main">
            <a:off x="6619875" y="2238375"/>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At source ambient dimension</a:t>
            </a:r>
          </a:p>
        </p:txBody>
      </p:sp>
      <p:sp>
        <p:nvSpPr>
          <p:cNvPr id="12" name="">
            <a:extLst xmlns:a="http://schemas.openxmlformats.org/drawingml/2006/main">
              <a:ext uri="{FF2B5EF4-FFF2-40B4-BE49-F238E27FC236}">
                <a16:creationId xmlns:a16="http://schemas.microsoft.com/office/drawing/2014/main" id="{E2B0698C-8BC0-4F7B-9994-1093839E64A3}"/>
              </a:ext>
            </a:extLst>
          </p:cNvPr>
          <p:cNvSpPr>
            <a:spLocks xmlns:a="http://schemas.openxmlformats.org/drawingml/2006/main" noGrp="1"/>
          </p:cNvSpPr>
          <p:nvPr/>
        </p:nvSpPr>
        <p:spPr>
          <a:xfrm xmlns:a="http://schemas.openxmlformats.org/drawingml/2006/main">
            <a:off x="6619875" y="2667000"/>
            <a:ext cx="438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561"/>
          </a:bodyPr>
          <a:lstStyle xmlns:a="http://schemas.openxmlformats.org/drawingml/2006/main"/>
          <a:p xmlns:a="http://schemas.openxmlformats.org/drawingml/2006/main">
            <a:pPr algn="l">
              <a:defRPr sz="2850" b="1">
                <a:solidFill>
                  <a:srgbClr val="101820"/>
                </a:solidFill>
                <a:latin typeface="Arial"/>
                <a:ea typeface="Arial"/>
                <a:cs typeface="Arial"/>
              </a:defRPr>
            </a:pPr>
            <a:r>
              <a:rPr sz="2850" b="1">
                <a:solidFill>
                  <a:srgbClr val="101820"/>
                </a:solidFill>
                <a:latin typeface="Arial"/>
                <a:ea typeface="Arial"/>
                <a:cs typeface="Arial"/>
              </a:rPr>
              <a:t>σ: 10.79  →  0.0054</a:t>
            </a:r>
          </a:p>
        </p:txBody>
      </p:sp>
      <p:sp>
        <p:nvSpPr>
          <p:cNvPr id="13" name="">
            <a:extLst xmlns:a="http://schemas.openxmlformats.org/drawingml/2006/main">
              <a:ext uri="{FF2B5EF4-FFF2-40B4-BE49-F238E27FC236}">
                <a16:creationId xmlns:a16="http://schemas.microsoft.com/office/drawing/2014/main" id="{7D196AF6-C723-44FE-8B48-1DB4B44B5C8A}"/>
              </a:ext>
            </a:extLst>
          </p:cNvPr>
          <p:cNvSpPr>
            <a:spLocks xmlns:a="http://schemas.openxmlformats.org/drawingml/2006/main" noGrp="1"/>
          </p:cNvSpPr>
          <p:nvPr/>
        </p:nvSpPr>
        <p:spPr>
          <a:xfrm xmlns:a="http://schemas.openxmlformats.org/drawingml/2006/main">
            <a:off x="6619875" y="3476625"/>
            <a:ext cx="452437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101820"/>
                </a:solidFill>
                <a:latin typeface="Arial"/>
                <a:ea typeface="Arial"/>
                <a:cs typeface="Arial"/>
              </a:defRPr>
            </a:pPr>
            <a:r>
              <a:rPr sz="1425" b="0">
                <a:solidFill>
                  <a:srgbClr val="101820"/>
                </a:solidFill>
                <a:latin typeface="Arial"/>
                <a:ea typeface="Arial"/>
                <a:cs typeface="Arial"/>
              </a:rPr>
              <a:t>• least squares amplifies one weak direction</a:t>
            </a:r>
          </a:p>
          <a:p xmlns:a="http://schemas.openxmlformats.org/drawingml/2006/main">
            <a:pPr algn="l">
              <a:defRPr sz="1425" b="0">
                <a:solidFill>
                  <a:srgbClr val="101820"/>
                </a:solidFill>
                <a:latin typeface="Arial"/>
                <a:ea typeface="Arial"/>
                <a:cs typeface="Arial"/>
              </a:defRPr>
            </a:pPr>
            <a:r>
              <a:rPr sz="1425" b="0">
                <a:solidFill>
                  <a:srgbClr val="101820"/>
                </a:solidFill>
                <a:latin typeface="Arial"/>
                <a:ea typeface="Arial"/>
                <a:cs typeface="Arial"/>
              </a:rPr>
              <a:t>• 6/6 curves hit 768, 1536 or 2048</a:t>
            </a:r>
          </a:p>
          <a:p xmlns:a="http://schemas.openxmlformats.org/drawingml/2006/main">
            <a:pPr algn="l">
              <a:defRPr sz="1425" b="0">
                <a:solidFill>
                  <a:srgbClr val="101820"/>
                </a:solidFill>
                <a:latin typeface="Arial"/>
                <a:ea typeface="Arial"/>
                <a:cs typeface="Arial"/>
              </a:defRPr>
            </a:pPr>
            <a:r>
              <a:rPr sz="1425" b="0">
                <a:solidFill>
                  <a:srgbClr val="101820"/>
                </a:solidFill>
                <a:latin typeface="Arial"/>
                <a:ea typeface="Arial"/>
                <a:cs typeface="Arial"/>
              </a:rPr>
              <a:t>• truncation or head alpha repairs it</a:t>
            </a:r>
          </a:p>
        </p:txBody>
      </p:sp>
      <p:sp>
        <p:nvSpPr>
          <p:cNvPr id="14" name="">
            <a:extLst xmlns:a="http://schemas.openxmlformats.org/drawingml/2006/main">
              <a:ext uri="{FF2B5EF4-FFF2-40B4-BE49-F238E27FC236}">
                <a16:creationId xmlns:a16="http://schemas.microsoft.com/office/drawing/2014/main" id="{EA787E8B-AFA4-4AB3-9564-6EF9072F3825}"/>
              </a:ext>
            </a:extLst>
          </p:cNvPr>
          <p:cNvSpPr>
            <a:spLocks xmlns:a="http://schemas.openxmlformats.org/drawingml/2006/main" noGrp="1"/>
          </p:cNvSpPr>
          <p:nvPr/>
        </p:nvSpPr>
        <p:spPr>
          <a:xfrm xmlns:a="http://schemas.openxmlformats.org/drawingml/2006/main">
            <a:off x="952500" y="595312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ctr">
              <a:defRPr sz="1650" b="1">
                <a:solidFill>
                  <a:srgbClr val="3D8DFF"/>
                </a:solidFill>
                <a:latin typeface="Arial"/>
                <a:ea typeface="Arial"/>
                <a:cs typeface="Arial"/>
              </a:defRPr>
            </a:pPr>
            <a:r>
              <a:rPr sz="1650" b="1">
                <a:solidFill>
                  <a:srgbClr val="3D8DFF"/>
                </a:solidFill>
                <a:latin typeface="Arial"/>
                <a:ea typeface="Arial"/>
                <a:cs typeface="Arial"/>
              </a:rPr>
              <a:t>A failure can belong to the coordinate frame or the numerical solver - not to the shared representation.</a:t>
            </a:r>
          </a:p>
        </p:txBody>
      </p:sp>
    </p:spTree>
    <p:extLst>
      <p:ext uri="{BB962C8B-B14F-4D97-AF65-F5344CB8AC3E}">
        <p14:creationId xmlns:p14="http://schemas.microsoft.com/office/powerpoint/2010/main" val="178874577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704B54-7D49-481D-8290-011EB0C4438F}"/>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226"/>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Recent experiments: goals, methods, outcomes and honest boundaries</a:t>
            </a:r>
          </a:p>
        </p:txBody>
      </p:sp>
      <p:cxnSp>
        <p:nvCxnSpPr>
          <p:cNvPr id="6"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B7166AAC-704F-400B-AB6F-12D492FEBC1B}"/>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15</a:t>
            </a:r>
          </a:p>
        </p:txBody>
      </p:sp>
      <p:graphicFrame>
        <p:nvGraphicFramePr>
          <p:cNvPr id="8" name=""/>
          <p:cNvGraphicFramePr/>
          <p:nvPr/>
        </p:nvGraphicFramePr>
        <p:xfrm>
          <a:off xmlns:a="http://schemas.openxmlformats.org/drawingml/2006/main" x="333375" y="1238250"/>
          <a:ext xmlns:a="http://schemas.openxmlformats.org/drawingml/2006/main" cx="11525250" cy="4762500"/>
        </p:xfrm>
        <a:graphic xmlns:a="http://schemas.openxmlformats.org/drawingml/2006/main">
          <a:graphicData uri="http://schemas.openxmlformats.org/drawingml/2006/table">
            <a:tbl>
              <a:tblPr firstRow="1" bandRow="1"/>
              <a:tblGrid>
                <a:gridCol w="809625"/>
                <a:gridCol w="2095500"/>
                <a:gridCol w="2857500"/>
                <a:gridCol w="2667000"/>
                <a:gridCol w="3095625"/>
              </a:tblGrid>
              <a:tr h="680357">
                <a:tc>
                  <a:txBody>
                    <a:bodyPr/>
                    <a:lstStyle/>
                    <a:p>
                      <a:r>
                        <a:rPr sz="1275" b="1">
                          <a:solidFill>
                            <a:srgbClr val="FFFFFF"/>
                          </a:solidFill>
                        </a:rPr>
                        <a:t>ID</a:t>
                      </a:r>
                    </a:p>
                  </a:txBody>
                  <a:tcPr marL="91440" marR="91440" marT="45720" marB="45720">
                    <a:solidFill>
                      <a:srgbClr val="101820"/>
                    </a:solidFill>
                  </a:tcPr>
                </a:tc>
                <a:tc>
                  <a:txBody>
                    <a:bodyPr/>
                    <a:lstStyle/>
                    <a:p>
                      <a:r>
                        <a:rPr sz="1275" b="1">
                          <a:solidFill>
                            <a:srgbClr val="FFFFFF"/>
                          </a:solidFill>
                        </a:rPr>
                        <a:t>Goal</a:t>
                      </a:r>
                    </a:p>
                  </a:txBody>
                  <a:tcPr marL="91440" marR="91440" marT="45720" marB="45720">
                    <a:solidFill>
                      <a:srgbClr val="101820"/>
                    </a:solidFill>
                  </a:tcPr>
                </a:tc>
                <a:tc>
                  <a:txBody>
                    <a:bodyPr/>
                    <a:lstStyle/>
                    <a:p>
                      <a:r>
                        <a:rPr sz="1275" b="1">
                          <a:solidFill>
                            <a:srgbClr val="FFFFFF"/>
                          </a:solidFill>
                        </a:rPr>
                        <a:t>Models / training</a:t>
                      </a:r>
                    </a:p>
                  </a:txBody>
                  <a:tcPr marL="91440" marR="91440" marT="45720" marB="45720">
                    <a:solidFill>
                      <a:srgbClr val="101820"/>
                    </a:solidFill>
                  </a:tcPr>
                </a:tc>
                <a:tc>
                  <a:txBody>
                    <a:bodyPr/>
                    <a:lstStyle/>
                    <a:p>
                      <a:r>
                        <a:rPr sz="1275" b="1">
                          <a:solidFill>
                            <a:srgbClr val="FFFFFF"/>
                          </a:solidFill>
                        </a:rPr>
                        <a:t>Method</a:t>
                      </a:r>
                    </a:p>
                  </a:txBody>
                  <a:tcPr marL="91440" marR="91440" marT="45720" marB="45720">
                    <a:solidFill>
                      <a:srgbClr val="101820"/>
                    </a:solidFill>
                  </a:tcPr>
                </a:tc>
                <a:tc>
                  <a:txBody>
                    <a:bodyPr/>
                    <a:lstStyle/>
                    <a:p>
                      <a:r>
                        <a:rPr sz="1275" b="1">
                          <a:solidFill>
                            <a:srgbClr val="FFFFFF"/>
                          </a:solidFill>
                        </a:rPr>
                        <a:t>Outcome</a:t>
                      </a:r>
                    </a:p>
                  </a:txBody>
                  <a:tcPr marL="91440" marR="91440" marT="45720" marB="45720">
                    <a:solidFill>
                      <a:srgbClr val="101820"/>
                    </a:solidFill>
                  </a:tcPr>
                </a:tc>
              </a:tr>
              <a:tr h="680357">
                <a:tc>
                  <a:txBody>
                    <a:bodyPr/>
                    <a:lstStyle/>
                    <a:p>
                      <a:r>
                        <a:rPr sz="1125">
                          <a:solidFill>
                            <a:srgbClr val="101820"/>
                          </a:solidFill>
                        </a:rPr>
                        <a:t>B/F</a:t>
                      </a:r>
                    </a:p>
                  </a:txBody>
                  <a:tcPr marL="91440" marR="91440" marT="45720" marB="45720"/>
                </a:tc>
                <a:tc>
                  <a:txBody>
                    <a:bodyPr/>
                    <a:lstStyle/>
                    <a:p>
                      <a:r>
                        <a:rPr sz="1125">
                          <a:solidFill>
                            <a:srgbClr val="101820"/>
                          </a:solidFill>
                        </a:rPr>
                        <a:t>Can a mobile encoder join a server index?</a:t>
                      </a:r>
                    </a:p>
                  </a:txBody>
                  <a:tcPr marL="91440" marR="91440" marT="45720" marB="45720"/>
                </a:tc>
                <a:tc>
                  <a:txBody>
                    <a:bodyPr/>
                    <a:lstStyle/>
                    <a:p>
                      <a:r>
                        <a:rPr sz="1125">
                          <a:solidFill>
                            <a:srgbClr val="101820"/>
                          </a:solidFill>
                        </a:rPr>
                        <a:t>MobileCLIP distilled contrastively; SigLIP 2 sigmoid contrastive</a:t>
                      </a:r>
                    </a:p>
                  </a:txBody>
                  <a:tcPr marL="91440" marR="91440" marT="45720" marB="45720"/>
                </a:tc>
                <a:tc>
                  <a:txBody>
                    <a:bodyPr/>
                    <a:lstStyle/>
                    <a:p>
                      <a:r>
                        <a:rPr sz="1125">
                          <a:solidFill>
                            <a:srgbClr val="101820"/>
                          </a:solidFill>
                        </a:rPr>
                        <a:t>Ridge vs Procrustes vs MLP</a:t>
                      </a:r>
                    </a:p>
                  </a:txBody>
                  <a:tcPr marL="91440" marR="91440" marT="45720" marB="45720"/>
                </a:tc>
                <a:tc>
                  <a:txBody>
                    <a:bodyPr/>
                    <a:lstStyle/>
                    <a:p>
                      <a:r>
                        <a:rPr sz="1125">
                          <a:solidFill>
                            <a:srgbClr val="101820"/>
                          </a:solidFill>
                        </a:rPr>
                        <a:t>Linear ships; MLP adds 0.0000 at scale</a:t>
                      </a:r>
                    </a:p>
                  </a:txBody>
                  <a:tcPr marL="91440" marR="91440" marT="45720" marB="45720"/>
                </a:tc>
              </a:tr>
              <a:tr h="680357">
                <a:tc>
                  <a:txBody>
                    <a:bodyPr/>
                    <a:lstStyle/>
                    <a:p>
                      <a:r>
                        <a:rPr sz="1125">
                          <a:solidFill>
                            <a:srgbClr val="101820"/>
                          </a:solidFill>
                        </a:rPr>
                        <a:t>E1</a:t>
                      </a:r>
                    </a:p>
                  </a:txBody>
                  <a:tcPr marL="91440" marR="91440" marT="45720" marB="45720"/>
                </a:tc>
                <a:tc>
                  <a:txBody>
                    <a:bodyPr/>
                    <a:lstStyle/>
                    <a:p>
                      <a:r>
                        <a:rPr sz="1125">
                          <a:solidFill>
                            <a:srgbClr val="101820"/>
                          </a:solidFill>
                        </a:rPr>
                        <a:t>Does cross-modal alignment scale?</a:t>
                      </a:r>
                    </a:p>
                  </a:txBody>
                  <a:tcPr marL="91440" marR="91440" marT="45720" marB="45720"/>
                </a:tc>
                <a:tc>
                  <a:txBody>
                    <a:bodyPr/>
                    <a:lstStyle/>
                    <a:p>
                      <a:r>
                        <a:rPr sz="1125">
                          <a:solidFill>
                            <a:srgbClr val="101820"/>
                          </a:solidFill>
                        </a:rPr>
                        <a:t>DINOv2 self-supervised; bge contrastive text</a:t>
                      </a:r>
                    </a:p>
                  </a:txBody>
                  <a:tcPr marL="91440" marR="91440" marT="45720" marB="45720"/>
                </a:tc>
                <a:tc>
                  <a:txBody>
                    <a:bodyPr/>
                    <a:lstStyle/>
                    <a:p>
                      <a:r>
                        <a:rPr sz="1125">
                          <a:solidFill>
                            <a:srgbClr val="101820"/>
                          </a:solidFill>
                        </a:rPr>
                        <a:t>Frozen embeddings + ridge + matched ceilings</a:t>
                      </a:r>
                    </a:p>
                  </a:txBody>
                  <a:tcPr marL="91440" marR="91440" marT="45720" marB="45720"/>
                </a:tc>
                <a:tc>
                  <a:txBody>
                    <a:bodyPr/>
                    <a:lstStyle/>
                    <a:p>
                      <a:r>
                        <a:rPr sz="1125">
                          <a:solidFill>
                            <a:srgbClr val="101820"/>
                          </a:solidFill>
                        </a:rPr>
                        <a:t>40.9 → 58.3% across S/B/L</a:t>
                      </a:r>
                    </a:p>
                  </a:txBody>
                  <a:tcPr marL="91440" marR="91440" marT="45720" marB="45720"/>
                </a:tc>
              </a:tr>
              <a:tr h="680357">
                <a:tc>
                  <a:txBody>
                    <a:bodyPr/>
                    <a:lstStyle/>
                    <a:p>
                      <a:r>
                        <a:rPr sz="1125">
                          <a:solidFill>
                            <a:srgbClr val="101820"/>
                          </a:solidFill>
                        </a:rPr>
                        <a:t>G1/G3</a:t>
                      </a:r>
                    </a:p>
                  </a:txBody>
                  <a:tcPr marL="91440" marR="91440" marT="45720" marB="45720"/>
                </a:tc>
                <a:tc>
                  <a:txBody>
                    <a:bodyPr/>
                    <a:lstStyle/>
                    <a:p>
                      <a:r>
                        <a:rPr sz="1125">
                          <a:solidFill>
                            <a:srgbClr val="101820"/>
                          </a:solidFill>
                        </a:rPr>
                        <a:t>Can seven spaces share one system?</a:t>
                      </a:r>
                    </a:p>
                  </a:txBody>
                  <a:tcPr marL="91440" marR="91440" marT="45720" marB="45720"/>
                </a:tc>
                <a:tc>
                  <a:txBody>
                    <a:bodyPr/>
                    <a:lstStyle/>
                    <a:p>
                      <a:r>
                        <a:rPr sz="1125">
                          <a:solidFill>
                            <a:srgbClr val="101820"/>
                          </a:solidFill>
                        </a:rPr>
                        <a:t>3 vision + 4 text objectives</a:t>
                      </a:r>
                    </a:p>
                  </a:txBody>
                  <a:tcPr marL="91440" marR="91440" marT="45720" marB="45720"/>
                </a:tc>
                <a:tc>
                  <a:txBody>
                    <a:bodyPr/>
                    <a:lstStyle/>
                    <a:p>
                      <a:r>
                        <a:rPr sz="1125">
                          <a:solidFill>
                            <a:srgbClr val="101820"/>
                          </a:solidFill>
                        </a:rPr>
                        <a:t>Whitened PCA Hub + 42 ordered pairs</a:t>
                      </a:r>
                    </a:p>
                  </a:txBody>
                  <a:tcPr marL="91440" marR="91440" marT="45720" marB="45720"/>
                </a:tc>
                <a:tc>
                  <a:txBody>
                    <a:bodyPr/>
                    <a:lstStyle/>
                    <a:p>
                      <a:r>
                        <a:rPr sz="1125">
                          <a:solidFill>
                            <a:srgbClr val="101820"/>
                          </a:solidFill>
                        </a:rPr>
                        <a:t>42/42 shared; mean 103.6% of bespoke</a:t>
                      </a:r>
                    </a:p>
                  </a:txBody>
                  <a:tcPr marL="91440" marR="91440" marT="45720" marB="45720"/>
                </a:tc>
              </a:tr>
              <a:tr h="680357">
                <a:tc>
                  <a:txBody>
                    <a:bodyPr/>
                    <a:lstStyle/>
                    <a:p>
                      <a:r>
                        <a:rPr sz="1125">
                          <a:solidFill>
                            <a:srgbClr val="101820"/>
                          </a:solidFill>
                        </a:rPr>
                        <a:t>G4</a:t>
                      </a:r>
                    </a:p>
                  </a:txBody>
                  <a:tcPr marL="91440" marR="91440" marT="45720" marB="45720"/>
                </a:tc>
                <a:tc>
                  <a:txBody>
                    <a:bodyPr/>
                    <a:lstStyle/>
                    <a:p>
                      <a:r>
                        <a:rPr sz="1125">
                          <a:solidFill>
                            <a:srgbClr val="101820"/>
                          </a:solidFill>
                        </a:rPr>
                        <a:t>Does transfer cross lineage/architecture?</a:t>
                      </a:r>
                    </a:p>
                  </a:txBody>
                  <a:tcPr marL="91440" marR="91440" marT="45720" marB="45720"/>
                </a:tc>
                <a:tc>
                  <a:txBody>
                    <a:bodyPr/>
                    <a:lstStyle/>
                    <a:p>
                      <a:r>
                        <a:rPr sz="1125">
                          <a:solidFill>
                            <a:srgbClr val="101820"/>
                          </a:solidFill>
                        </a:rPr>
                        <a:t>SigLIP 2; ConvNeXt IN-22k supervised</a:t>
                      </a:r>
                    </a:p>
                  </a:txBody>
                  <a:tcPr marL="91440" marR="91440" marT="45720" marB="45720"/>
                </a:tc>
                <a:tc>
                  <a:txBody>
                    <a:bodyPr/>
                    <a:lstStyle/>
                    <a:p>
                      <a:r>
                        <a:rPr sz="1125">
                          <a:solidFill>
                            <a:srgbClr val="101820"/>
                          </a:solidFill>
                        </a:rPr>
                        <a:t>Frozen Hub + new entry map</a:t>
                      </a:r>
                    </a:p>
                  </a:txBody>
                  <a:tcPr marL="91440" marR="91440" marT="45720" marB="45720"/>
                </a:tc>
                <a:tc>
                  <a:txBody>
                    <a:bodyPr/>
                    <a:lstStyle/>
                    <a:p>
                      <a:r>
                        <a:rPr sz="1125">
                          <a:solidFill>
                            <a:srgbClr val="101820"/>
                          </a:solidFill>
                        </a:rPr>
                        <a:t>94.2% and 96.7% of native</a:t>
                      </a:r>
                    </a:p>
                  </a:txBody>
                  <a:tcPr marL="91440" marR="91440" marT="45720" marB="45720"/>
                </a:tc>
              </a:tr>
              <a:tr h="680357">
                <a:tc>
                  <a:txBody>
                    <a:bodyPr/>
                    <a:lstStyle/>
                    <a:p>
                      <a:r>
                        <a:rPr sz="1125">
                          <a:solidFill>
                            <a:srgbClr val="101820"/>
                          </a:solidFill>
                        </a:rPr>
                        <a:t>G10</a:t>
                      </a:r>
                    </a:p>
                  </a:txBody>
                  <a:tcPr marL="91440" marR="91440" marT="45720" marB="45720"/>
                </a:tc>
                <a:tc>
                  <a:txBody>
                    <a:bodyPr/>
                    <a:lstStyle/>
                    <a:p>
                      <a:r>
                        <a:rPr sz="1125">
                          <a:solidFill>
                            <a:srgbClr val="101820"/>
                          </a:solidFill>
                        </a:rPr>
                        <a:t>Does Hub composition matter?</a:t>
                      </a:r>
                    </a:p>
                  </a:txBody>
                  <a:tcPr marL="91440" marR="91440" marT="45720" marB="45720"/>
                </a:tc>
                <a:tc>
                  <a:txBody>
                    <a:bodyPr/>
                    <a:lstStyle/>
                    <a:p>
                      <a:r>
                        <a:rPr sz="1125">
                          <a:solidFill>
                            <a:srgbClr val="101820"/>
                          </a:solidFill>
                        </a:rPr>
                        <a:t>bge/BERT membership ablations</a:t>
                      </a:r>
                    </a:p>
                  </a:txBody>
                  <a:tcPr marL="91440" marR="91440" marT="45720" marB="45720"/>
                </a:tc>
                <a:tc>
                  <a:txBody>
                    <a:bodyPr/>
                    <a:lstStyle/>
                    <a:p>
                      <a:r>
                        <a:rPr sz="1125">
                          <a:solidFill>
                            <a:srgbClr val="101820"/>
                          </a:solidFill>
                        </a:rPr>
                        <a:t>Fixed count and target-overlap controls</a:t>
                      </a:r>
                    </a:p>
                  </a:txBody>
                  <a:tcPr marL="91440" marR="91440" marT="45720" marB="45720"/>
                </a:tc>
                <a:tc>
                  <a:txBody>
                    <a:bodyPr/>
                    <a:lstStyle/>
                    <a:p>
                      <a:r>
                        <a:rPr sz="1125">
                          <a:solidFill>
                            <a:srgbClr val="101820"/>
                          </a:solidFill>
                        </a:rPr>
                        <a:t>Text identity moves transfer 6.1 pts</a:t>
                      </a:r>
                    </a:p>
                  </a:txBody>
                  <a:tcPr marL="91440" marR="91440" marT="45720" marB="45720"/>
                </a:tc>
              </a:tr>
              <a:tr h="680357">
                <a:tc>
                  <a:txBody>
                    <a:bodyPr/>
                    <a:lstStyle/>
                    <a:p>
                      <a:r>
                        <a:rPr sz="1125">
                          <a:solidFill>
                            <a:srgbClr val="101820"/>
                          </a:solidFill>
                        </a:rPr>
                        <a:t>G14-16</a:t>
                      </a:r>
                    </a:p>
                  </a:txBody>
                  <a:tcPr marL="91440" marR="91440" marT="45720" marB="45720"/>
                </a:tc>
                <a:tc>
                  <a:txBody>
                    <a:bodyPr/>
                    <a:lstStyle/>
                    <a:p>
                      <a:r>
                        <a:rPr sz="1125">
                          <a:solidFill>
                            <a:srgbClr val="101820"/>
                          </a:solidFill>
                        </a:rPr>
                        <a:t>What caused the width cliff?</a:t>
                      </a:r>
                    </a:p>
                  </a:txBody>
                  <a:tcPr marL="91440" marR="91440" marT="45720" marB="45720"/>
                </a:tc>
                <a:tc>
                  <a:txBody>
                    <a:bodyPr/>
                    <a:lstStyle/>
                    <a:p>
                      <a:r>
                        <a:rPr sz="1125">
                          <a:solidFill>
                            <a:srgbClr val="101820"/>
                          </a:solidFill>
                        </a:rPr>
                        <a:t>DINOv2 S/B/L source ranks</a:t>
                      </a:r>
                    </a:p>
                  </a:txBody>
                  <a:tcPr marL="91440" marR="91440" marT="45720" marB="45720"/>
                </a:tc>
                <a:tc>
                  <a:txBody>
                    <a:bodyPr/>
                    <a:lstStyle/>
                    <a:p>
                      <a:r>
                        <a:rPr sz="1125">
                          <a:solidFill>
                            <a:srgbClr val="101820"/>
                          </a:solidFill>
                        </a:rPr>
                        <a:t>Fine width scan, SVD, truncation, alpha</a:t>
                      </a:r>
                    </a:p>
                  </a:txBody>
                  <a:tcPr marL="91440" marR="91440" marT="45720" marB="45720"/>
                </a:tc>
                <a:tc>
                  <a:txBody>
                    <a:bodyPr/>
                    <a:lstStyle/>
                    <a:p>
                      <a:r>
                        <a:rPr sz="1125">
                          <a:solidFill>
                            <a:srgbClr val="101820"/>
                          </a:solidFill>
                        </a:rPr>
                        <a:t>Near-null direction confirmed; repaired</a:t>
                      </a:r>
                    </a:p>
                  </a:txBody>
                  <a:tcPr marL="91440" marR="91440" marT="45720" marB="45720"/>
                </a:tc>
              </a:tr>
            </a:tbl>
          </a:graphicData>
        </a:graphic>
      </p:graphicFrame>
    </p:spTree>
    <p:extLst>
      <p:ext uri="{BB962C8B-B14F-4D97-AF65-F5344CB8AC3E}">
        <p14:creationId xmlns:p14="http://schemas.microsoft.com/office/powerpoint/2010/main" val="139066379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7FD531-1FB1-447A-B771-5F2C381C20DA}"/>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91"/>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The failures became safeguards - and strengthened the claims</a:t>
            </a:r>
          </a:p>
        </p:txBody>
      </p:sp>
      <p:cxnSp>
        <p:nvCxnSpPr>
          <p:cNvPr id="7"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9480F3BB-3309-44BB-8EC7-51E59E327118}"/>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16</a:t>
            </a:r>
          </a:p>
        </p:txBody>
      </p:sp>
      <p:graphicFrame>
        <p:nvGraphicFramePr>
          <p:cNvPr id="9" name=""/>
          <p:cNvGraphicFramePr/>
          <p:nvPr/>
        </p:nvGraphicFramePr>
        <p:xfrm>
          <a:off xmlns:a="http://schemas.openxmlformats.org/drawingml/2006/main" x="457200" y="1381125"/>
          <a:ext xmlns:a="http://schemas.openxmlformats.org/drawingml/2006/main" cx="11277600" cy="4000500"/>
        </p:xfrm>
        <a:graphic xmlns:a="http://schemas.openxmlformats.org/drawingml/2006/main">
          <a:graphicData uri="http://schemas.openxmlformats.org/drawingml/2006/table">
            <a:tbl>
              <a:tblPr firstRow="1" bandRow="1"/>
              <a:tblGrid>
                <a:gridCol w="2952750"/>
                <a:gridCol w="3905250"/>
                <a:gridCol w="4419600"/>
              </a:tblGrid>
              <a:tr h="571500">
                <a:tc>
                  <a:txBody>
                    <a:bodyPr/>
                    <a:lstStyle/>
                    <a:p>
                      <a:r>
                        <a:rPr sz="1350" b="1">
                          <a:solidFill>
                            <a:srgbClr val="FFFFFF"/>
                          </a:solidFill>
                        </a:rPr>
                        <a:t>Failure caught</a:t>
                      </a:r>
                    </a:p>
                  </a:txBody>
                  <a:tcPr marL="91440" marR="91440" marT="45720" marB="45720">
                    <a:solidFill>
                      <a:srgbClr val="C43D3D"/>
                    </a:solidFill>
                  </a:tcPr>
                </a:tc>
                <a:tc>
                  <a:txBody>
                    <a:bodyPr/>
                    <a:lstStyle/>
                    <a:p>
                      <a:r>
                        <a:rPr sz="1350" b="1">
                          <a:solidFill>
                            <a:srgbClr val="FFFFFF"/>
                          </a:solidFill>
                        </a:rPr>
                        <a:t>What it could have falsely implied</a:t>
                      </a:r>
                    </a:p>
                  </a:txBody>
                  <a:tcPr marL="91440" marR="91440" marT="45720" marB="45720">
                    <a:solidFill>
                      <a:srgbClr val="C43D3D"/>
                    </a:solidFill>
                  </a:tcPr>
                </a:tc>
                <a:tc>
                  <a:txBody>
                    <a:bodyPr/>
                    <a:lstStyle/>
                    <a:p>
                      <a:r>
                        <a:rPr sz="1350" b="1">
                          <a:solidFill>
                            <a:srgbClr val="FFFFFF"/>
                          </a:solidFill>
                        </a:rPr>
                        <a:t>Safeguard added</a:t>
                      </a:r>
                    </a:p>
                  </a:txBody>
                  <a:tcPr marL="91440" marR="91440" marT="45720" marB="45720">
                    <a:solidFill>
                      <a:srgbClr val="C43D3D"/>
                    </a:solidFill>
                  </a:tcPr>
                </a:tc>
              </a:tr>
              <a:tr h="571500">
                <a:tc>
                  <a:txBody>
                    <a:bodyPr/>
                    <a:lstStyle/>
                    <a:p>
                      <a:r>
                        <a:rPr sz="1275">
                          <a:solidFill>
                            <a:srgbClr val="101820"/>
                          </a:solidFill>
                        </a:rPr>
                        <a:t>Sample starvation in Run 1</a:t>
                      </a:r>
                    </a:p>
                  </a:txBody>
                  <a:tcPr marL="91440" marR="91440" marT="45720" marB="45720"/>
                </a:tc>
                <a:tc>
                  <a:txBody>
                    <a:bodyPr/>
                    <a:lstStyle/>
                    <a:p>
                      <a:r>
                        <a:rPr sz="1275">
                          <a:solidFill>
                            <a:srgbClr val="101820"/>
                          </a:solidFill>
                        </a:rPr>
                        <a:t>Weak convergence</a:t>
                      </a:r>
                    </a:p>
                  </a:txBody>
                  <a:tcPr marL="91440" marR="91440" marT="45720" marB="45720"/>
                </a:tc>
                <a:tc>
                  <a:txBody>
                    <a:bodyPr/>
                    <a:lstStyle/>
                    <a:p>
                      <a:r>
                        <a:rPr sz="1275">
                          <a:solidFill>
                            <a:srgbClr val="101820"/>
                          </a:solidFill>
                        </a:rPr>
                        <a:t>Rows-per-dimension floor and power gate</a:t>
                      </a:r>
                    </a:p>
                  </a:txBody>
                  <a:tcPr marL="91440" marR="91440" marT="45720" marB="45720"/>
                </a:tc>
              </a:tr>
              <a:tr h="571500">
                <a:tc>
                  <a:txBody>
                    <a:bodyPr/>
                    <a:lstStyle/>
                    <a:p>
                      <a:r>
                        <a:rPr sz="1275">
                          <a:solidFill>
                            <a:srgbClr val="101820"/>
                          </a:solidFill>
                        </a:rPr>
                        <a:t>Synthetic hot diagonal</a:t>
                      </a:r>
                    </a:p>
                  </a:txBody>
                  <a:tcPr marL="91440" marR="91440" marT="45720" marB="45720"/>
                </a:tc>
                <a:tc>
                  <a:txBody>
                    <a:bodyPr/>
                    <a:lstStyle/>
                    <a:p>
                      <a:r>
                        <a:rPr sz="1275">
                          <a:solidFill>
                            <a:srgbClr val="101820"/>
                          </a:solidFill>
                        </a:rPr>
                        <a:t>Layer-specific structure</a:t>
                      </a:r>
                    </a:p>
                  </a:txBody>
                  <a:tcPr marL="91440" marR="91440" marT="45720" marB="45720"/>
                </a:tc>
                <a:tc>
                  <a:txBody>
                    <a:bodyPr/>
                    <a:lstStyle/>
                    <a:p>
                      <a:r>
                        <a:rPr sz="1275">
                          <a:solidFill>
                            <a:srgbClr val="101820"/>
                          </a:solidFill>
                        </a:rPr>
                        <a:t>Real matrix, marginals, lift and hubness diagnostics</a:t>
                      </a:r>
                    </a:p>
                  </a:txBody>
                  <a:tcPr marL="91440" marR="91440" marT="45720" marB="45720"/>
                </a:tc>
              </a:tr>
              <a:tr h="571500">
                <a:tc>
                  <a:txBody>
                    <a:bodyPr/>
                    <a:lstStyle/>
                    <a:p>
                      <a:r>
                        <a:rPr sz="1275">
                          <a:solidFill>
                            <a:srgbClr val="101820"/>
                          </a:solidFill>
                        </a:rPr>
                        <a:t>Mismatched retrieval ceiling</a:t>
                      </a:r>
                    </a:p>
                  </a:txBody>
                  <a:tcPr marL="91440" marR="91440" marT="45720" marB="45720"/>
                </a:tc>
                <a:tc>
                  <a:txBody>
                    <a:bodyPr/>
                    <a:lstStyle/>
                    <a:p>
                      <a:r>
                        <a:rPr sz="1275">
                          <a:solidFill>
                            <a:srgbClr val="101820"/>
                          </a:solidFill>
                        </a:rPr>
                        <a:t>Inflated cross-modal performance</a:t>
                      </a:r>
                    </a:p>
                  </a:txBody>
                  <a:tcPr marL="91440" marR="91440" marT="45720" marB="45720"/>
                </a:tc>
                <a:tc>
                  <a:txBody>
                    <a:bodyPr/>
                    <a:lstStyle/>
                    <a:p>
                      <a:r>
                        <a:rPr sz="1275">
                          <a:solidFill>
                            <a:srgbClr val="101820"/>
                          </a:solidFill>
                        </a:rPr>
                        <a:t>Treatment-matched ceiling in every run</a:t>
                      </a:r>
                    </a:p>
                  </a:txBody>
                  <a:tcPr marL="91440" marR="91440" marT="45720" marB="45720"/>
                </a:tc>
              </a:tr>
              <a:tr h="571500">
                <a:tc>
                  <a:txBody>
                    <a:bodyPr/>
                    <a:lstStyle/>
                    <a:p>
                      <a:r>
                        <a:rPr sz="1275">
                          <a:solidFill>
                            <a:srgbClr val="101820"/>
                          </a:solidFill>
                        </a:rPr>
                        <a:t>Wrong teacher checkpoint</a:t>
                      </a:r>
                    </a:p>
                  </a:txBody>
                  <a:tcPr marL="91440" marR="91440" marT="45720" marB="45720"/>
                </a:tc>
                <a:tc>
                  <a:txBody>
                    <a:bodyPr/>
                    <a:lstStyle/>
                    <a:p>
                      <a:r>
                        <a:rPr sz="1275">
                          <a:solidFill>
                            <a:srgbClr val="101820"/>
                          </a:solidFill>
                        </a:rPr>
                        <a:t>False distillation comparison</a:t>
                      </a:r>
                    </a:p>
                  </a:txBody>
                  <a:tcPr marL="91440" marR="91440" marT="45720" marB="45720"/>
                </a:tc>
                <a:tc>
                  <a:txBody>
                    <a:bodyPr/>
                    <a:lstStyle/>
                    <a:p>
                      <a:r>
                        <a:rPr sz="1275">
                          <a:solidFill>
                            <a:srgbClr val="101820"/>
                          </a:solidFill>
                        </a:rPr>
                        <a:t>Teacher-tagged artifacts and transfer checks</a:t>
                      </a:r>
                    </a:p>
                  </a:txBody>
                  <a:tcPr marL="91440" marR="91440" marT="45720" marB="45720"/>
                </a:tc>
              </a:tr>
              <a:tr h="571500">
                <a:tc>
                  <a:txBody>
                    <a:bodyPr/>
                    <a:lstStyle/>
                    <a:p>
                      <a:r>
                        <a:rPr sz="1275">
                          <a:solidFill>
                            <a:srgbClr val="101820"/>
                          </a:solidFill>
                        </a:rPr>
                        <a:t>Premature gate-passed claim</a:t>
                      </a:r>
                    </a:p>
                  </a:txBody>
                  <a:tcPr marL="91440" marR="91440" marT="45720" marB="45720"/>
                </a:tc>
                <a:tc>
                  <a:txBody>
                    <a:bodyPr/>
                    <a:lstStyle/>
                    <a:p>
                      <a:r>
                        <a:rPr sz="1275">
                          <a:solidFill>
                            <a:srgbClr val="101820"/>
                          </a:solidFill>
                        </a:rPr>
                        <a:t>Overstated deployment quality</a:t>
                      </a:r>
                    </a:p>
                  </a:txBody>
                  <a:tcPr marL="91440" marR="91440" marT="45720" marB="45720"/>
                </a:tc>
                <a:tc>
                  <a:txBody>
                    <a:bodyPr/>
                    <a:lstStyle/>
                    <a:p>
                      <a:r>
                        <a:rPr sz="1275">
                          <a:solidFill>
                            <a:srgbClr val="101820"/>
                          </a:solidFill>
                        </a:rPr>
                        <a:t>Paired bootstrap on expanded galleries</a:t>
                      </a:r>
                    </a:p>
                  </a:txBody>
                  <a:tcPr marL="91440" marR="91440" marT="45720" marB="45720"/>
                </a:tc>
              </a:tr>
              <a:tr h="571500">
                <a:tc>
                  <a:txBody>
                    <a:bodyPr/>
                    <a:lstStyle/>
                    <a:p>
                      <a:r>
                        <a:rPr sz="1275">
                          <a:solidFill>
                            <a:srgbClr val="101820"/>
                          </a:solidFill>
                        </a:rPr>
                        <a:t>Rank/cliff false negative</a:t>
                      </a:r>
                    </a:p>
                  </a:txBody>
                  <a:tcPr marL="91440" marR="91440" marT="45720" marB="45720"/>
                </a:tc>
                <a:tc>
                  <a:txBody>
                    <a:bodyPr/>
                    <a:lstStyle/>
                    <a:p>
                      <a:r>
                        <a:rPr sz="1275">
                          <a:solidFill>
                            <a:srgbClr val="101820"/>
                          </a:solidFill>
                        </a:rPr>
                        <a:t>Rejected numerical explanation</a:t>
                      </a:r>
                    </a:p>
                  </a:txBody>
                  <a:tcPr marL="91440" marR="91440" marT="45720" marB="45720"/>
                </a:tc>
                <a:tc>
                  <a:txBody>
                    <a:bodyPr/>
                    <a:lstStyle/>
                    <a:p>
                      <a:r>
                        <a:rPr sz="1275">
                          <a:solidFill>
                            <a:srgbClr val="101820"/>
                          </a:solidFill>
                        </a:rPr>
                        <a:t>Algebraic-rank test and head-fit ablation</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388F016C-6618-4A28-9E69-465FDC0B5873}"/>
              </a:ext>
            </a:extLst>
          </p:cNvPr>
          <p:cNvSpPr>
            <a:spLocks xmlns:a="http://schemas.openxmlformats.org/drawingml/2006/main" noGrp="1"/>
          </p:cNvSpPr>
          <p:nvPr/>
        </p:nvSpPr>
        <p:spPr>
          <a:xfrm xmlns:a="http://schemas.openxmlformats.org/drawingml/2006/main">
            <a:off x="714375" y="576262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355"/>
          </a:bodyPr>
          <a:lstStyle xmlns:a="http://schemas.openxmlformats.org/drawingml/2006/main"/>
          <a:p xmlns:a="http://schemas.openxmlformats.org/drawingml/2006/main">
            <a:pPr algn="ctr">
              <a:defRPr sz="1575" b="1">
                <a:solidFill>
                  <a:srgbClr val="3D8DFF"/>
                </a:solidFill>
                <a:latin typeface="Arial"/>
                <a:ea typeface="Arial"/>
                <a:cs typeface="Arial"/>
              </a:defRPr>
            </a:pPr>
            <a:r>
              <a:rPr sz="1575" b="1">
                <a:solidFill>
                  <a:srgbClr val="3D8DFF"/>
                </a:solidFill>
                <a:latin typeface="Arial"/>
                <a:ea typeface="Arial"/>
                <a:cs typeface="Arial"/>
              </a:rPr>
              <a:t>Reproducibility is part of the innovation: frozen caches, deterministic splits, shuffle controls and 47 artifact checks.</a:t>
            </a:r>
          </a:p>
        </p:txBody>
      </p:sp>
    </p:spTree>
    <p:extLst>
      <p:ext uri="{BB962C8B-B14F-4D97-AF65-F5344CB8AC3E}">
        <p14:creationId xmlns:p14="http://schemas.microsoft.com/office/powerpoint/2010/main" val="189262511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9125B02-01A0-4CE3-9582-0A91C6F1497E}"/>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851"/>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What has been established - and what should be tested next</a:t>
            </a:r>
          </a:p>
        </p:txBody>
      </p:sp>
      <p:cxnSp>
        <p:nvCxnSpPr>
          <p:cNvPr id="13"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AAEB71EC-471D-4E74-9A5D-1D583F2787CA}"/>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4FA571A2-6955-489F-A224-151023E82EFA}"/>
              </a:ext>
            </a:extLst>
          </p:cNvPr>
          <p:cNvSpPr>
            <a:spLocks xmlns:a="http://schemas.openxmlformats.org/drawingml/2006/main" noGrp="1"/>
          </p:cNvSpPr>
          <p:nvPr/>
        </p:nvSpPr>
        <p:spPr>
          <a:xfrm xmlns:a="http://schemas.openxmlformats.org/drawingml/2006/main">
            <a:off x="457200" y="1285875"/>
            <a:ext cx="5334000" cy="40957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F1AA27A-6F60-45B1-9E5A-8114F5868088}"/>
              </a:ext>
            </a:extLst>
          </p:cNvPr>
          <p:cNvSpPr>
            <a:spLocks xmlns:a="http://schemas.openxmlformats.org/drawingml/2006/main" noGrp="1"/>
          </p:cNvSpPr>
          <p:nvPr/>
        </p:nvSpPr>
        <p:spPr>
          <a:xfrm xmlns:a="http://schemas.openxmlformats.org/drawingml/2006/main">
            <a:off x="6400800" y="1285875"/>
            <a:ext cx="5334000" cy="4095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E61486A-DC9D-4FFC-8BFB-A00519B187E2}"/>
              </a:ext>
            </a:extLst>
          </p:cNvPr>
          <p:cNvSpPr>
            <a:spLocks xmlns:a="http://schemas.openxmlformats.org/drawingml/2006/main" noGrp="1"/>
          </p:cNvSpPr>
          <p:nvPr/>
        </p:nvSpPr>
        <p:spPr>
          <a:xfrm xmlns:a="http://schemas.openxmlformats.org/drawingml/2006/main">
            <a:off x="714375" y="15716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115"/>
          </a:bodyPr>
          <a:lstStyle xmlns:a="http://schemas.openxmlformats.org/drawingml/2006/main"/>
          <a:p xmlns:a="http://schemas.openxmlformats.org/drawingml/2006/main">
            <a:pPr algn="l">
              <a:defRPr sz="2175" b="1">
                <a:solidFill>
                  <a:srgbClr val="3D8DFF"/>
                </a:solidFill>
                <a:latin typeface="Arial"/>
                <a:ea typeface="Arial"/>
                <a:cs typeface="Arial"/>
              </a:defRPr>
            </a:pPr>
            <a:r>
              <a:rPr sz="2175" b="1">
                <a:solidFill>
                  <a:srgbClr val="3D8DFF"/>
                </a:solidFill>
                <a:latin typeface="Arial"/>
                <a:ea typeface="Arial"/>
                <a:cs typeface="Arial"/>
              </a:rPr>
              <a:t>Established</a:t>
            </a:r>
          </a:p>
        </p:txBody>
      </p:sp>
      <p:sp>
        <p:nvSpPr>
          <p:cNvPr id="7" name="">
            <a:extLst xmlns:a="http://schemas.openxmlformats.org/drawingml/2006/main">
              <a:ext uri="{FF2B5EF4-FFF2-40B4-BE49-F238E27FC236}">
                <a16:creationId xmlns:a16="http://schemas.microsoft.com/office/drawing/2014/main" id="{A436E5CC-BD2B-40C3-9589-0D56CD9BB1F6}"/>
              </a:ext>
            </a:extLst>
          </p:cNvPr>
          <p:cNvSpPr>
            <a:spLocks xmlns:a="http://schemas.openxmlformats.org/drawingml/2006/main" noGrp="1"/>
          </p:cNvSpPr>
          <p:nvPr/>
        </p:nvSpPr>
        <p:spPr>
          <a:xfrm xmlns:a="http://schemas.openxmlformats.org/drawingml/2006/main">
            <a:off x="714375" y="2095500"/>
            <a:ext cx="4667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Linear correspondence is measurable across language, vision and cross-modal pairs.</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A 0.79 MB adapter supports a real shared-index product path.</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A frozen Hub transfers a reusable head to unseen lineage and architecture.</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Geometry - isotropy, anisotropy and rank - controls which similarity metrics are trustworthy.</a:t>
            </a:r>
          </a:p>
        </p:txBody>
      </p:sp>
      <p:sp>
        <p:nvSpPr>
          <p:cNvPr id="8" name="">
            <a:extLst xmlns:a="http://schemas.openxmlformats.org/drawingml/2006/main">
              <a:ext uri="{FF2B5EF4-FFF2-40B4-BE49-F238E27FC236}">
                <a16:creationId xmlns:a16="http://schemas.microsoft.com/office/drawing/2014/main" id="{21170D8C-2A31-4F51-A5B1-A8AD82886DA1}"/>
              </a:ext>
            </a:extLst>
          </p:cNvPr>
          <p:cNvSpPr>
            <a:spLocks xmlns:a="http://schemas.openxmlformats.org/drawingml/2006/main" noGrp="1"/>
          </p:cNvSpPr>
          <p:nvPr/>
        </p:nvSpPr>
        <p:spPr>
          <a:xfrm xmlns:a="http://schemas.openxmlformats.org/drawingml/2006/main">
            <a:off x="6667500" y="15716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115"/>
          </a:bodyPr>
          <a:lstStyle xmlns:a="http://schemas.openxmlformats.org/drawingml/2006/main"/>
          <a:p xmlns:a="http://schemas.openxmlformats.org/drawingml/2006/main">
            <a:pPr algn="l">
              <a:defRPr sz="2175" b="1">
                <a:solidFill>
                  <a:srgbClr val="E57C23"/>
                </a:solidFill>
                <a:latin typeface="Arial"/>
                <a:ea typeface="Arial"/>
                <a:cs typeface="Arial"/>
              </a:defRPr>
            </a:pPr>
            <a:r>
              <a:rPr sz="2175" b="1">
                <a:solidFill>
                  <a:srgbClr val="E57C23"/>
                </a:solidFill>
                <a:latin typeface="Arial"/>
                <a:ea typeface="Arial"/>
                <a:cs typeface="Arial"/>
              </a:rPr>
              <a:t>Next experiments</a:t>
            </a:r>
          </a:p>
        </p:txBody>
      </p:sp>
      <p:sp>
        <p:nvSpPr>
          <p:cNvPr id="9" name="">
            <a:extLst xmlns:a="http://schemas.openxmlformats.org/drawingml/2006/main">
              <a:ext uri="{FF2B5EF4-FFF2-40B4-BE49-F238E27FC236}">
                <a16:creationId xmlns:a16="http://schemas.microsoft.com/office/drawing/2014/main" id="{0551D5D9-AFA4-4934-BB16-10346D18C376}"/>
              </a:ext>
            </a:extLst>
          </p:cNvPr>
          <p:cNvSpPr>
            <a:spLocks xmlns:a="http://schemas.openxmlformats.org/drawingml/2006/main" noGrp="1"/>
          </p:cNvSpPr>
          <p:nvPr/>
        </p:nvSpPr>
        <p:spPr>
          <a:xfrm xmlns:a="http://schemas.openxmlformats.org/drawingml/2006/main">
            <a:off x="6667500" y="2095500"/>
            <a:ext cx="46672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Simultaneously change modality, objective and architecture.</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Run pair-free recovery where no similarity objective is shared.</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Test wider mobile encoders to locate the information ceiling.</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Expand beyond COCO and beyond the current 9,533 aligned items.</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Validate causal effects of objective with better-controlled model pairs.</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Turn the Hub demo into bidirectional text→image and image→text retrieval.</a:t>
            </a:r>
          </a:p>
        </p:txBody>
      </p:sp>
      <p:sp>
        <p:nvSpPr>
          <p:cNvPr id="10" name="">
            <a:extLst xmlns:a="http://schemas.openxmlformats.org/drawingml/2006/main">
              <a:ext uri="{FF2B5EF4-FFF2-40B4-BE49-F238E27FC236}">
                <a16:creationId xmlns:a16="http://schemas.microsoft.com/office/drawing/2014/main" id="{BD295772-9B96-4CFF-A14C-437B70245E07}"/>
              </a:ext>
            </a:extLst>
          </p:cNvPr>
          <p:cNvSpPr>
            <a:spLocks xmlns:a="http://schemas.openxmlformats.org/drawingml/2006/main" noGrp="1"/>
          </p:cNvSpPr>
          <p:nvPr/>
        </p:nvSpPr>
        <p:spPr>
          <a:xfrm xmlns:a="http://schemas.openxmlformats.org/drawingml/2006/main">
            <a:off x="1047750" y="5715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190"/>
          </a:bodyPr>
          <a:lstStyle xmlns:a="http://schemas.openxmlformats.org/drawingml/2006/main"/>
          <a:p xmlns:a="http://schemas.openxmlformats.org/drawingml/2006/main">
            <a:pPr algn="ctr">
              <a:defRPr sz="1875" b="1">
                <a:solidFill>
                  <a:srgbClr val="101820"/>
                </a:solidFill>
                <a:latin typeface="Arial"/>
                <a:ea typeface="Arial"/>
                <a:cs typeface="Arial"/>
              </a:defRPr>
            </a:pPr>
            <a:r>
              <a:rPr sz="1875" b="1">
                <a:solidFill>
                  <a:srgbClr val="101820"/>
                </a:solidFill>
                <a:latin typeface="Arial"/>
                <a:ea typeface="Arial"/>
                <a:cs typeface="Arial"/>
              </a:rPr>
              <a:t>The strongest conclusion is constructive: different models can share useful structure without sharing coordinates.</a:t>
            </a:r>
          </a:p>
        </p:txBody>
      </p:sp>
      <p:sp>
        <p:nvSpPr>
          <p:cNvPr id="11" name="">
            <a:extLst xmlns:a="http://schemas.openxmlformats.org/drawingml/2006/main">
              <a:ext uri="{FF2B5EF4-FFF2-40B4-BE49-F238E27FC236}">
                <a16:creationId xmlns:a16="http://schemas.microsoft.com/office/drawing/2014/main" id="{31BFED4E-305A-4463-AFAB-277CB6FCF183}"/>
              </a:ext>
            </a:extLst>
          </p:cNvPr>
          <p:cNvSpPr>
            <a:spLocks xmlns:a="http://schemas.openxmlformats.org/drawingml/2006/main" noGrp="1"/>
          </p:cNvSpPr>
          <p:nvPr/>
        </p:nvSpPr>
        <p:spPr>
          <a:xfrm xmlns:a="http://schemas.openxmlformats.org/drawingml/2006/main">
            <a:off x="1285875" y="628650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0">
                <a:solidFill>
                  <a:srgbClr val="5F6972"/>
                </a:solidFill>
                <a:latin typeface="Arial"/>
                <a:ea typeface="Arial"/>
                <a:cs typeface="Arial"/>
              </a:defRPr>
            </a:pPr>
            <a:r>
              <a:rPr sz="1050" b="0">
                <a:solidFill>
                  <a:srgbClr val="5F6972"/>
                </a:solidFill>
                <a:latin typeface="Arial"/>
                <a:ea typeface="Arial"/>
                <a:cs typeface="Arial"/>
              </a:rPr>
              <a:t>Key literature: Kornblith 2019 · Bansal 2021 · Huh 2024 · MobileCLIP 2024 · SigLIP 2 2025 · vec2vec 2025</a:t>
            </a:r>
          </a:p>
        </p:txBody>
      </p:sp>
    </p:spTree>
    <p:extLst>
      <p:ext uri="{BB962C8B-B14F-4D97-AF65-F5344CB8AC3E}">
        <p14:creationId xmlns:p14="http://schemas.microsoft.com/office/powerpoint/2010/main" val="3280724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2026-08-27T17:33:52.2290000Z</dcterms:created>
  <dcterms:modified xsi:type="dcterms:W3CDTF">2026-08-27T17:33:52.2290000Z</dcterms:modified>
</coreProperties>
</file>