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Opening. This is a 20-minute defense. Roadmap: the ambition and the testable claim, how I measure it, the controls, then the experiments and two live demos, then discovery and achievements.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 ambition. Personal motivation kept short. Land on: convergence is measurable because a representation is geometry. Huh et al. is the field's claim; I sharpen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This is the pivot from philosophy to science. Emphasise BOUNDED: a matrix is too weak to fake a task, so success cannot be explained away. State the three questions — they structure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The anchor example the whole audience carries. cosine ~0 but the near/far ORDER matches, and one matrix supplies the missing coordinates. Define 'dist'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Spend real time here — if the examiner understands R@1 and % of ceiling, every later number lands. The punchline: a metric is only meaningful relative to its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They asked for this explicitly. Walk each control: random/no-adapter, random-weights, shuffle, baseline/ceiling, ConvNeXt held-out, SigLIP held-out. This is the credibility slide —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 Keep brisk. The point: maximum diversity of modality/objective/supervision, all frozen, and they still converge. Flag ConvNeXt and SigLIP as the held-out controls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First experiment. The random-weights control is the star: opposite depth-slopes prove it's learning. This licences everything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DEMO 1. Run a live query if possible. Emphasise the no-adapter control (0.477) — without W it's chance. This is the deployable engineering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 The MLP control is conceptual dynamite: capacity buys +0.0000, so linearity is exact. Membership curve shows the same adapter graded three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[13:45] The boldest scientific claim: image and text, no shared training, still linearly mappable. The shuffle control is what proves the map needs the true alignment.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[14:45] The honesty beat: my own prediction that scaling keeps helping was FALSIFIED beyond 304M. Concede the scale boundary before the examiner raises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[15:45] A discovery, not a planned result. The rescue number (102.6% of a billion-pair model, for free) is the memorable one. Centering-alone is the control that isolates isotropy.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 DEMO 2. Show G2: image or caption in, ranked results out, through the shared hub. The random-map control (0.003) and ConvNeXt held-out (96.7%) are the two numbers to say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[18:15] The headline discovery. 'Same world' means same LOCAL arrangement of meaning. The map-projection metaphor is the takeaway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 The causal hint: what you train FOR matters more than what you train ON or which sense you use. bge-SBERT (shared objective, no ancestry) is the cleanest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 Land the achievements and the honesty in one breath. The falsification ledger, including my own errors, is the scientific-integrity signature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 Close. The one-paragraph summary is the sentence to leave them with. To-do slide doubles as the answer to 'what about big models?' — conceded and prioritised.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drive.google.com/drive/folders/15xBpKE-DW8e60dXhq3n5KLSs7kHSFj0_" TargetMode="Externa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drive.google.com/drive/folders/15xBpKE-DW8e60dXhq3n5KLSs7kHSFj0_" TargetMode="Externa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1188720"/>
            <a:ext cx="10698480" cy="365760"/>
          </a:xfrm>
          <a:prstGeom prst="rect">
            <a:avLst/>
          </a:prstGeom>
          <a:noFill/>
          <a:ln/>
        </p:spPr>
        <p:txBody>
          <a:bodyPr wrap="square" lIns="0" tIns="0" rIns="0" bIns="0" rtlCol="0" anchor="ctr"/>
          <a:lstStyle/>
          <a:p>
            <a:pPr indent="0" marL="0">
              <a:buNone/>
            </a:pPr>
            <a:r>
              <a:rPr lang="en-US" sz="1400" b="1" spc="400" kern="0" dirty="0">
                <a:solidFill>
                  <a:srgbClr val="CADCFC"/>
                </a:solidFill>
                <a:latin typeface="Calibri" pitchFamily="34" charset="0"/>
                <a:ea typeface="Calibri" pitchFamily="34" charset="-122"/>
                <a:cs typeface="Calibri" pitchFamily="34" charset="-120"/>
              </a:rPr>
              <a:t>REPRESENTATION CONVERGENCE</a:t>
            </a:r>
            <a:endParaRPr lang="en-US" sz="1400" dirty="0"/>
          </a:p>
        </p:txBody>
      </p:sp>
      <p:sp>
        <p:nvSpPr>
          <p:cNvPr id="3" name="Text 1"/>
          <p:cNvSpPr txBox="1"/>
          <p:nvPr/>
        </p:nvSpPr>
        <p:spPr>
          <a:xfrm>
            <a:off x="731520" y="1645920"/>
            <a:ext cx="10698480" cy="15544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Do independently trained models discover the same world — and can one matrix move knowledge between them?</a:t>
            </a:r>
            <a:endParaRPr lang="en-US" sz="3300" dirty="0"/>
          </a:p>
        </p:txBody>
      </p:sp>
      <p:sp>
        <p:nvSpPr>
          <p:cNvPr id="4" name="Text 2"/>
          <p:cNvSpPr txBox="1"/>
          <p:nvPr/>
        </p:nvSpPr>
        <p:spPr>
          <a:xfrm>
            <a:off x="731520" y="3383280"/>
            <a:ext cx="1005840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From a deployable MobileCLIP→SigLIP adapter to a seven-encoder shared hub — a subset of the Platonic Representation Hypothesis, tested on small frozen models.</a:t>
            </a:r>
            <a:endParaRPr lang="en-US" sz="1600" dirty="0"/>
          </a:p>
        </p:txBody>
      </p:sp>
      <p:sp>
        <p:nvSpPr>
          <p:cNvPr id="5" name="Text 3"/>
          <p:cNvSpPr txBox="1"/>
          <p:nvPr/>
        </p:nvSpPr>
        <p:spPr>
          <a:xfrm>
            <a:off x="731520" y="4937760"/>
            <a:ext cx="1069848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Liad Kashanovsky · AI Expert final project · 20-minute defense · 17 September 2026</a:t>
            </a:r>
            <a:endParaRPr lang="en-US" sz="1300" dirty="0"/>
          </a:p>
        </p:txBody>
      </p:sp>
      <p:sp>
        <p:nvSpPr>
          <p:cNvPr id="6" name="Text 4"/>
          <p:cNvSpPr txBox="1"/>
          <p:nvPr/>
        </p:nvSpPr>
        <p:spPr>
          <a:xfrm>
            <a:off x="731520" y="5349240"/>
            <a:ext cx="10698480" cy="36576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8 encoders · 9 findings · 11 falsified explanations · 2 shipped systems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AMBITION</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The question: do two systems that learn regularity separately find the SAME one?</a:t>
            </a:r>
            <a:endParaRPr lang="en-US" sz="2800" dirty="0"/>
          </a:p>
        </p:txBody>
      </p:sp>
      <p:sp>
        <p:nvSpPr>
          <p:cNvPr id="5" name="Shape 3"/>
          <p:cNvSpPr/>
          <p:nvPr/>
        </p:nvSpPr>
        <p:spPr>
          <a:xfrm>
            <a:off x="548640" y="1508760"/>
            <a:ext cx="6675120" cy="1965960"/>
          </a:xfrm>
          <a:prstGeom prst="roundRect">
            <a:avLst>
              <a:gd name="adj" fmla="val 3721"/>
            </a:avLst>
          </a:prstGeom>
          <a:solidFill>
            <a:srgbClr val="EEF3FF"/>
          </a:solidFill>
          <a:ln w="12700">
            <a:solidFill>
              <a:srgbClr val="D6DCE8"/>
            </a:solidFill>
            <a:prstDash val="solid"/>
          </a:ln>
        </p:spPr>
      </p:sp>
      <p:sp>
        <p:nvSpPr>
          <p:cNvPr id="6" name="Text 4"/>
          <p:cNvSpPr txBox="1"/>
          <p:nvPr/>
        </p:nvSpPr>
        <p:spPr>
          <a:xfrm>
            <a:off x="777240" y="1719072"/>
            <a:ext cx="6217920" cy="1554480"/>
          </a:xfrm>
          <a:prstGeom prst="rect">
            <a:avLst/>
          </a:prstGeom>
          <a:noFill/>
          <a:ln/>
        </p:spPr>
        <p:txBody>
          <a:bodyPr wrap="square" lIns="0" tIns="0" rIns="0" bIns="0" rtlCol="0" anchor="t"/>
          <a:lstStyle/>
          <a:p>
            <a:pPr indent="0" marL="0">
              <a:buNone/>
            </a:pPr>
            <a:r>
              <a:rPr lang="en-US" sz="1700" dirty="0">
                <a:solidFill>
                  <a:srgbClr val="1F2937"/>
                </a:solidFill>
                <a:latin typeface="Cambria" pitchFamily="34" charset="0"/>
                <a:ea typeface="Cambria" pitchFamily="34" charset="-122"/>
                <a:cs typeface="Cambria" pitchFamily="34" charset="-120"/>
              </a:rPr>
              <a:t>Models trained separately — different data, different objectives, sometimes different senses entirely — are said to be converging on the same underlying picture of the world. </a:t>
            </a:r>
            <a:pPr indent="0" marL="0">
              <a:buNone/>
            </a:pPr>
            <a:r>
              <a:rPr lang="en-US" sz="1700" b="1" dirty="0">
                <a:solidFill>
                  <a:srgbClr val="1E2761"/>
                </a:solidFill>
                <a:latin typeface="Cambria" pitchFamily="34" charset="0"/>
                <a:ea typeface="Cambria" pitchFamily="34" charset="-122"/>
                <a:cs typeface="Cambria" pitchFamily="34" charset="-120"/>
              </a:rPr>
              <a:t>The name comes from Plato: there is one reality, and each model sees a shadow of it.</a:t>
            </a:r>
            <a:endParaRPr lang="en-US" sz="1700" dirty="0"/>
          </a:p>
        </p:txBody>
      </p:sp>
      <p:pic>
        <p:nvPicPr>
          <p:cNvPr id="7" name="Image 0" descr="/home/claude/deck/img/cave_allegory_seven.png">    </p:cNvPr>
          <p:cNvPicPr>
            <a:picLocks noChangeAspect="1"/>
          </p:cNvPicPr>
          <p:nvPr/>
        </p:nvPicPr>
        <p:blipFill>
          <a:blip r:embed="rId1"/>
          <a:srcRect l="0" r="0" t="0" b="0"/>
          <a:stretch/>
        </p:blipFill>
        <p:spPr>
          <a:xfrm>
            <a:off x="7406640" y="1463040"/>
            <a:ext cx="4206240" cy="2286000"/>
          </a:xfrm>
          <a:prstGeom prst="rect">
            <a:avLst/>
          </a:prstGeom>
        </p:spPr>
      </p:pic>
      <p:sp>
        <p:nvSpPr>
          <p:cNvPr id="8" name="Shape 5"/>
          <p:cNvSpPr/>
          <p:nvPr/>
        </p:nvSpPr>
        <p:spPr>
          <a:xfrm>
            <a:off x="548640" y="3703320"/>
            <a:ext cx="6675120" cy="2606040"/>
          </a:xfrm>
          <a:prstGeom prst="roundRect">
            <a:avLst>
              <a:gd name="adj" fmla="val 2807"/>
            </a:avLst>
          </a:prstGeom>
          <a:solidFill>
            <a:srgbClr val="FFF4EC"/>
          </a:solidFill>
          <a:ln w="12700">
            <a:solidFill>
              <a:srgbClr val="FFF4EC"/>
            </a:solidFill>
            <a:prstDash val="solid"/>
          </a:ln>
        </p:spPr>
      </p:sp>
      <p:sp>
        <p:nvSpPr>
          <p:cNvPr id="9" name="Text 6"/>
          <p:cNvSpPr txBox="1"/>
          <p:nvPr/>
        </p:nvSpPr>
        <p:spPr>
          <a:xfrm>
            <a:off x="713232" y="3813048"/>
            <a:ext cx="634593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it fascinated me</a:t>
            </a:r>
            <a:endParaRPr lang="en-US" sz="1300" dirty="0"/>
          </a:p>
        </p:txBody>
      </p:sp>
      <p:sp>
        <p:nvSpPr>
          <p:cNvPr id="10" name="Text 7"/>
          <p:cNvSpPr txBox="1"/>
          <p:nvPr/>
        </p:nvSpPr>
        <p:spPr>
          <a:xfrm>
            <a:off x="713232" y="4206240"/>
            <a:ext cx="6345936" cy="20116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My background is hybrid — databases and vision, engineering and ideas. In a database, correlations are explicit: a schema, a join, a key. In vision they are implicit — edge → texture → ‘cat-ness’, learned from pixels, written down nowhere.</a:t>
            </a:r>
            <a:endParaRPr lang="en-US" sz="1200" dirty="0"/>
          </a:p>
          <a:p>
            <a:pPr indent="0" marL="0">
              <a:buNone/>
            </a:pP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Training is the same mystery, engineered: start from random weights, show examples, and arrive at weights that recognise a cat. The question that stuck: when two runs of that each discover regularity on their own — do they discover the SAME regularity? A learned representation is a geometric object, so it CAN be measured and compared.</a:t>
            </a:r>
            <a:endParaRPr lang="en-US" sz="1200" dirty="0"/>
          </a:p>
        </p:txBody>
      </p:sp>
      <p:sp>
        <p:nvSpPr>
          <p:cNvPr id="11" name="Shape 8"/>
          <p:cNvSpPr/>
          <p:nvPr/>
        </p:nvSpPr>
        <p:spPr>
          <a:xfrm>
            <a:off x="7406640" y="3886200"/>
            <a:ext cx="4206240" cy="2423160"/>
          </a:xfrm>
          <a:prstGeom prst="roundRect">
            <a:avLst>
              <a:gd name="adj" fmla="val 3019"/>
            </a:avLst>
          </a:prstGeom>
          <a:solidFill>
            <a:srgbClr val="EEF7F3"/>
          </a:solidFill>
          <a:ln w="12700">
            <a:solidFill>
              <a:srgbClr val="EEF7F3"/>
            </a:solidFill>
            <a:prstDash val="solid"/>
          </a:ln>
        </p:spPr>
      </p:sp>
      <p:sp>
        <p:nvSpPr>
          <p:cNvPr id="12" name="Text 9"/>
          <p:cNvSpPr txBox="1"/>
          <p:nvPr/>
        </p:nvSpPr>
        <p:spPr>
          <a:xfrm>
            <a:off x="7571232" y="3995928"/>
            <a:ext cx="387705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Huh et al. (2024) — the field's answer</a:t>
            </a:r>
            <a:endParaRPr lang="en-US" sz="1300" dirty="0"/>
          </a:p>
        </p:txBody>
      </p:sp>
      <p:sp>
        <p:nvSpPr>
          <p:cNvPr id="13" name="Text 10"/>
          <p:cNvSpPr txBox="1"/>
          <p:nvPr/>
        </p:nvSpPr>
        <p:spPr>
          <a:xfrm>
            <a:off x="7571232" y="4389120"/>
            <a:ext cx="3877056" cy="1828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As models grow, their representations converge toward one shared statistical model of reality — shadows of one world on different cave walls. Measured on models up to 70B, and reported to strengthen with scale.</a:t>
            </a:r>
            <a:endParaRPr lang="en-US" sz="1200" dirty="0"/>
          </a:p>
          <a:p>
            <a:pPr indent="0" marL="0">
              <a:buNone/>
            </a:pP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I take this as my starting point and ask three sharper questions.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FROM SLOGAN TO EXPERIMENT</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‘Same picture’ has no units — I narrowed it to a claim that can fail</a:t>
            </a:r>
            <a:endParaRPr lang="en-US" sz="2800" dirty="0"/>
          </a:p>
        </p:txBody>
      </p:sp>
      <p:sp>
        <p:nvSpPr>
          <p:cNvPr id="5" name="Shape 3"/>
          <p:cNvSpPr/>
          <p:nvPr/>
        </p:nvSpPr>
        <p:spPr>
          <a:xfrm>
            <a:off x="548640" y="1463040"/>
            <a:ext cx="11064240" cy="914400"/>
          </a:xfrm>
          <a:prstGeom prst="roundRect">
            <a:avLst>
              <a:gd name="adj" fmla="val 8000"/>
            </a:avLst>
          </a:prstGeom>
          <a:solidFill>
            <a:srgbClr val="1E2761"/>
          </a:solidFill>
          <a:ln w="12700">
            <a:solidFill>
              <a:srgbClr val="1E2761"/>
            </a:solidFill>
            <a:prstDash val="solid"/>
          </a:ln>
        </p:spPr>
      </p:sp>
      <p:sp>
        <p:nvSpPr>
          <p:cNvPr id="6" name="Text 4"/>
          <p:cNvSpPr txBox="1"/>
          <p:nvPr/>
        </p:nvSpPr>
        <p:spPr>
          <a:xfrm>
            <a:off x="777240" y="1463040"/>
            <a:ext cx="10607040" cy="914400"/>
          </a:xfrm>
          <a:prstGeom prst="rect">
            <a:avLst/>
          </a:prstGeom>
          <a:noFill/>
          <a:ln/>
        </p:spPr>
        <p:txBody>
          <a:bodyPr wrap="square" lIns="0" tIns="0" rIns="0" bIns="0" rtlCol="0" anchor="ctr"/>
          <a:lstStyle/>
          <a:p>
            <a:pPr indent="0" marL="0">
              <a:buNone/>
            </a:pPr>
            <a:r>
              <a:rPr lang="en-US" sz="1700" b="1" dirty="0">
                <a:solidFill>
                  <a:srgbClr val="CADCFC"/>
                </a:solidFill>
                <a:latin typeface="Cambria" pitchFamily="34" charset="0"/>
                <a:ea typeface="Cambria" pitchFamily="34" charset="-122"/>
                <a:cs typeface="Cambria" pitchFamily="34" charset="-120"/>
              </a:rPr>
              <a:t>THE CLAIM UNDER TEST:  </a:t>
            </a:r>
            <a:pPr indent="0" marL="0">
              <a:buNone/>
            </a:pPr>
            <a:r>
              <a:rPr lang="en-US" sz="1700" dirty="0">
                <a:solidFill>
                  <a:srgbClr val="FFFFFF"/>
                </a:solidFill>
                <a:latin typeface="Cambria" pitchFamily="34" charset="0"/>
                <a:ea typeface="Cambria" pitchFamily="34" charset="-122"/>
                <a:cs typeface="Cambria" pitchFamily="34" charset="-120"/>
              </a:rPr>
              <a:t>independently trained models agree UP TO ONE LINEAR MAP  —  there exists one matrix W, solved in closed form (no training), with   x_A · W ≈ x_B</a:t>
            </a:r>
            <a:endParaRPr lang="en-US" sz="1700" dirty="0"/>
          </a:p>
        </p:txBody>
      </p:sp>
      <p:sp>
        <p:nvSpPr>
          <p:cNvPr id="7" name="Shape 5"/>
          <p:cNvSpPr/>
          <p:nvPr/>
        </p:nvSpPr>
        <p:spPr>
          <a:xfrm>
            <a:off x="548640" y="2606040"/>
            <a:ext cx="3566160" cy="2468880"/>
          </a:xfrm>
          <a:prstGeom prst="roundRect">
            <a:avLst>
              <a:gd name="adj" fmla="val 2963"/>
            </a:avLst>
          </a:prstGeom>
          <a:solidFill>
            <a:srgbClr val="EEF3FF"/>
          </a:solidFill>
          <a:ln w="12700">
            <a:solidFill>
              <a:srgbClr val="EEF3FF"/>
            </a:solidFill>
            <a:prstDash val="solid"/>
          </a:ln>
        </p:spPr>
      </p:sp>
      <p:sp>
        <p:nvSpPr>
          <p:cNvPr id="8" name="Text 6"/>
          <p:cNvSpPr txBox="1"/>
          <p:nvPr/>
        </p:nvSpPr>
        <p:spPr>
          <a:xfrm>
            <a:off x="713232" y="271576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FALSIFIABLE</a:t>
            </a:r>
            <a:endParaRPr lang="en-US" sz="1300" dirty="0"/>
          </a:p>
        </p:txBody>
      </p:sp>
      <p:sp>
        <p:nvSpPr>
          <p:cNvPr id="9" name="Text 7"/>
          <p:cNvSpPr txBox="1"/>
          <p:nvPr/>
        </p:nvSpPr>
        <p:spPr>
          <a:xfrm>
            <a:off x="713232" y="3108960"/>
            <a:ext cx="3236976" cy="18745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It can be proven wrong: if no linear map beats a random-map control, convergence is rejected. It happened — a pure rotation scored 0.038 against 0.592, so ‘just rotated’ was killed.</a:t>
            </a:r>
            <a:endParaRPr lang="en-US" sz="1150" dirty="0"/>
          </a:p>
        </p:txBody>
      </p:sp>
      <p:sp>
        <p:nvSpPr>
          <p:cNvPr id="10" name="Shape 8"/>
          <p:cNvSpPr/>
          <p:nvPr/>
        </p:nvSpPr>
        <p:spPr>
          <a:xfrm>
            <a:off x="4297680" y="2606040"/>
            <a:ext cx="3566160" cy="2468880"/>
          </a:xfrm>
          <a:prstGeom prst="roundRect">
            <a:avLst>
              <a:gd name="adj" fmla="val 2963"/>
            </a:avLst>
          </a:prstGeom>
          <a:solidFill>
            <a:srgbClr val="FFF4EC"/>
          </a:solidFill>
          <a:ln w="12700">
            <a:solidFill>
              <a:srgbClr val="FFF4EC"/>
            </a:solidFill>
            <a:prstDash val="solid"/>
          </a:ln>
        </p:spPr>
      </p:sp>
      <p:sp>
        <p:nvSpPr>
          <p:cNvPr id="11" name="Text 9"/>
          <p:cNvSpPr txBox="1"/>
          <p:nvPr/>
        </p:nvSpPr>
        <p:spPr>
          <a:xfrm>
            <a:off x="4462272" y="271576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BOUNDED (the key point)</a:t>
            </a:r>
            <a:endParaRPr lang="en-US" sz="1300" dirty="0"/>
          </a:p>
        </p:txBody>
      </p:sp>
      <p:sp>
        <p:nvSpPr>
          <p:cNvPr id="12" name="Text 10"/>
          <p:cNvSpPr txBox="1"/>
          <p:nvPr/>
        </p:nvSpPr>
        <p:spPr>
          <a:xfrm>
            <a:off x="4462272" y="3108960"/>
            <a:ext cx="3236976" cy="18745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linear map is the WEAKEST useful transform — just one matrix, no hidden layers. A matrix has no room to learn a task by itself, so if it works, the structure must ALREADY be shared. The MLP control proves it: extra capacity gained +0.0000.</a:t>
            </a:r>
            <a:endParaRPr lang="en-US" sz="1150" dirty="0"/>
          </a:p>
        </p:txBody>
      </p:sp>
      <p:sp>
        <p:nvSpPr>
          <p:cNvPr id="13" name="Shape 11"/>
          <p:cNvSpPr/>
          <p:nvPr/>
        </p:nvSpPr>
        <p:spPr>
          <a:xfrm>
            <a:off x="8046720" y="2606040"/>
            <a:ext cx="3566160" cy="2468880"/>
          </a:xfrm>
          <a:prstGeom prst="roundRect">
            <a:avLst>
              <a:gd name="adj" fmla="val 2963"/>
            </a:avLst>
          </a:prstGeom>
          <a:solidFill>
            <a:srgbClr val="EEF7F3"/>
          </a:solidFill>
          <a:ln w="12700">
            <a:solidFill>
              <a:srgbClr val="EEF7F3"/>
            </a:solidFill>
            <a:prstDash val="solid"/>
          </a:ln>
        </p:spPr>
      </p:sp>
      <p:sp>
        <p:nvSpPr>
          <p:cNvPr id="14" name="Text 12"/>
          <p:cNvSpPr txBox="1"/>
          <p:nvPr/>
        </p:nvSpPr>
        <p:spPr>
          <a:xfrm>
            <a:off x="8211312" y="271576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USEFUL</a:t>
            </a:r>
            <a:endParaRPr lang="en-US" sz="1300" dirty="0"/>
          </a:p>
        </p:txBody>
      </p:sp>
      <p:sp>
        <p:nvSpPr>
          <p:cNvPr id="15" name="Text 13"/>
          <p:cNvSpPr txBox="1"/>
          <p:nvPr/>
        </p:nvSpPr>
        <p:spPr>
          <a:xfrm>
            <a:off x="8211312" y="3108960"/>
            <a:ext cx="3236976" cy="18745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If one matrix carries knowledge between models, their components become interchangeable — an engineering result. Two systems follow: the 0.79 MB adapter and the shared hub.</a:t>
            </a:r>
            <a:endParaRPr lang="en-US" sz="1150" dirty="0"/>
          </a:p>
        </p:txBody>
      </p:sp>
      <p:sp>
        <p:nvSpPr>
          <p:cNvPr id="16" name="Text 14"/>
          <p:cNvSpPr txBox="1"/>
          <p:nvPr/>
        </p:nvSpPr>
        <p:spPr>
          <a:xfrm>
            <a:off x="548640" y="5349240"/>
            <a:ext cx="11064240" cy="822960"/>
          </a:xfrm>
          <a:prstGeom prst="rect">
            <a:avLst/>
          </a:prstGeom>
          <a:noFill/>
          <a:ln/>
        </p:spPr>
        <p:txBody>
          <a:bodyPr wrap="square" lIns="0" tIns="0" rIns="0" bIns="0" rtlCol="0" anchor="t"/>
          <a:lstStyle/>
          <a:p>
            <a:pPr algn="l" indent="0" marL="0">
              <a:buNone/>
            </a:pPr>
            <a:r>
              <a:rPr lang="en-US" sz="1350" b="1" dirty="0">
                <a:solidFill>
                  <a:srgbClr val="1E2761"/>
                </a:solidFill>
                <a:latin typeface="Calibri" pitchFamily="34" charset="0"/>
                <a:ea typeface="Calibri" pitchFamily="34" charset="-122"/>
                <a:cs typeface="Calibri" pitchFamily="34" charset="-120"/>
              </a:rPr>
              <a:t>Three falsifiable questions the project answers:   (1) IS structure shared?   (2) is it GLOBAL or LOCAL?   (3) what DECIDES how much — modality, lineage, or objective?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WHOLE IDEA IN ONE EXAMPLE</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The cat on a chair: unrelated coordinates, identical relationships</a:t>
            </a:r>
            <a:endParaRPr lang="en-US" sz="2800" dirty="0"/>
          </a:p>
        </p:txBody>
      </p:sp>
      <p:pic>
        <p:nvPicPr>
          <p:cNvPr id="5" name="Image 0" descr="/home/claude/deck/img/four_meanings.png">    </p:cNvPr>
          <p:cNvPicPr>
            <a:picLocks noChangeAspect="1"/>
          </p:cNvPicPr>
          <p:nvPr/>
        </p:nvPicPr>
        <p:blipFill>
          <a:blip r:embed="rId1"/>
          <a:srcRect l="0" r="0" t="0" b="0"/>
          <a:stretch/>
        </p:blipFill>
        <p:spPr>
          <a:xfrm>
            <a:off x="548640" y="1463040"/>
            <a:ext cx="6858000" cy="3840480"/>
          </a:xfrm>
          <a:prstGeom prst="rect">
            <a:avLst/>
          </a:prstGeom>
        </p:spPr>
      </p:pic>
      <p:sp>
        <p:nvSpPr>
          <p:cNvPr id="6" name="Shape 3"/>
          <p:cNvSpPr/>
          <p:nvPr/>
        </p:nvSpPr>
        <p:spPr>
          <a:xfrm>
            <a:off x="7680960" y="1463040"/>
            <a:ext cx="3931920" cy="2834640"/>
          </a:xfrm>
          <a:prstGeom prst="roundRect">
            <a:avLst>
              <a:gd name="adj" fmla="val 1935"/>
            </a:avLst>
          </a:prstGeom>
          <a:solidFill>
            <a:srgbClr val="F5F7FB"/>
          </a:solidFill>
          <a:ln w="12700">
            <a:solidFill>
              <a:srgbClr val="D6DCE8"/>
            </a:solidFill>
            <a:prstDash val="solid"/>
          </a:ln>
        </p:spPr>
      </p:sp>
      <p:sp>
        <p:nvSpPr>
          <p:cNvPr id="7" name="Text 4"/>
          <p:cNvSpPr txBox="1"/>
          <p:nvPr/>
        </p:nvSpPr>
        <p:spPr>
          <a:xfrm>
            <a:off x="7818120" y="1536192"/>
            <a:ext cx="3657600" cy="274320"/>
          </a:xfrm>
          <a:prstGeom prst="rect">
            <a:avLst/>
          </a:prstGeom>
          <a:noFill/>
          <a:ln/>
        </p:spPr>
        <p:txBody>
          <a:bodyPr wrap="square" lIns="0" tIns="0" rIns="0" bIns="0" rtlCol="0" anchor="ctr"/>
          <a:lstStyle/>
          <a:p>
            <a:pPr indent="0" marL="0">
              <a:buNone/>
            </a:pPr>
            <a:r>
              <a:rPr lang="en-US" sz="1000" b="1" dirty="0">
                <a:solidFill>
                  <a:srgbClr val="C8551A"/>
                </a:solidFill>
                <a:latin typeface="Calibri" pitchFamily="34" charset="0"/>
                <a:ea typeface="Calibri" pitchFamily="34" charset="-122"/>
                <a:cs typeface="Calibri" pitchFamily="34" charset="-120"/>
              </a:rPr>
              <a:t>the short math</a:t>
            </a:r>
            <a:endParaRPr lang="en-US" sz="1000" dirty="0"/>
          </a:p>
        </p:txBody>
      </p:sp>
      <p:sp>
        <p:nvSpPr>
          <p:cNvPr id="8" name="Text 5"/>
          <p:cNvSpPr txBox="1"/>
          <p:nvPr/>
        </p:nvSpPr>
        <p:spPr>
          <a:xfrm>
            <a:off x="7818120" y="1810512"/>
            <a:ext cx="3657600" cy="2423160"/>
          </a:xfrm>
          <a:prstGeom prst="rect">
            <a:avLst/>
          </a:prstGeom>
          <a:noFill/>
          <a:ln/>
        </p:spPr>
        <p:txBody>
          <a:bodyPr wrap="square" lIns="0" tIns="0" rIns="0" bIns="0" rtlCol="0" anchor="t"/>
          <a:lstStyle/>
          <a:p>
            <a:pPr indent="0" marL="0">
              <a:buNone/>
            </a:pPr>
            <a:r>
              <a:rPr lang="en-US" sz="1050" dirty="0">
                <a:solidFill>
                  <a:srgbClr val="1F2937"/>
                </a:solidFill>
                <a:latin typeface="Courier New" pitchFamily="34" charset="0"/>
                <a:ea typeface="Courier New" pitchFamily="34" charset="-122"/>
                <a:cs typeface="Courier New" pitchFamily="34" charset="-120"/>
              </a:rPr>
              <a:t>DINOv2 sees pixels -&gt; x_img in R^768</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bge-m3 reads text  -&gt; x_txt in R^1024</a:t>
            </a:r>
            <a:endParaRPr lang="en-US" sz="1050" dirty="0"/>
          </a:p>
          <a:p>
            <a:pPr indent="0" marL="0">
              <a:buNone/>
            </a:pP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cosine(x_img, x_txt) ~ 0.00</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  coordinates share NOTHING</a:t>
            </a:r>
            <a:endParaRPr lang="en-US" sz="1050" dirty="0"/>
          </a:p>
          <a:p>
            <a:pPr indent="0" marL="0">
              <a:buNone/>
            </a:pP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yet in BOTH spaces:</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dist(cat-chair, cat-sofa)</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     &lt; dist(cat-chair, airplane)</a:t>
            </a:r>
            <a:endParaRPr lang="en-US" sz="1050" dirty="0"/>
          </a:p>
          <a:p>
            <a:pPr indent="0" marL="0">
              <a:buNone/>
            </a:pP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one matrix W:  x_img.W ~ x_txt</a:t>
            </a:r>
            <a:endParaRPr lang="en-US" sz="1050" dirty="0"/>
          </a:p>
        </p:txBody>
      </p:sp>
      <p:sp>
        <p:nvSpPr>
          <p:cNvPr id="9" name="Text 6"/>
          <p:cNvSpPr txBox="1"/>
          <p:nvPr/>
        </p:nvSpPr>
        <p:spPr>
          <a:xfrm>
            <a:off x="7680960" y="4480560"/>
            <a:ext cx="3931920" cy="1737360"/>
          </a:xfrm>
          <a:prstGeom prst="rect">
            <a:avLst/>
          </a:prstGeom>
          <a:noFill/>
          <a:ln/>
        </p:spPr>
        <p:txBody>
          <a:bodyPr wrap="square" lIns="0" tIns="0" rIns="0" bIns="0" rtlCol="0" anchor="t"/>
          <a:lstStyle/>
          <a:p>
            <a:pPr marL="203200" indent="-203200">
              <a:spcAft>
                <a:spcPts val="600"/>
              </a:spcAft>
              <a:buSzPct val="100000"/>
              <a:buChar char="•"/>
            </a:pPr>
            <a:r>
              <a:rPr lang="en-US" sz="1150" b="1" dirty="0">
                <a:solidFill>
                  <a:srgbClr val="1F2937"/>
                </a:solidFill>
                <a:latin typeface="Calibri" pitchFamily="34" charset="0"/>
                <a:ea typeface="Calibri" pitchFamily="34" charset="-122"/>
                <a:cs typeface="Calibri" pitchFamily="34" charset="-120"/>
              </a:rPr>
              <a:t>coordinates share nothing: same-image cosine ≈ 0</a:t>
            </a:r>
            <a:endParaRPr lang="en-US" sz="1150" dirty="0"/>
          </a:p>
          <a:p>
            <a:pPr marL="203200" indent="-2032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shape agrees, no map: distance-rank ρ = +0.676</a:t>
            </a:r>
            <a:endParaRPr lang="en-US" sz="1150" dirty="0"/>
          </a:p>
          <a:p>
            <a:pPr marL="203200" indent="-2032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neighbours agree, no map: 62% of 10 nearest shared (1% chance)</a:t>
            </a:r>
            <a:endParaRPr lang="en-US" sz="1150" dirty="0"/>
          </a:p>
          <a:p>
            <a:pPr marL="203200" indent="-203200">
              <a:spcAft>
                <a:spcPts val="600"/>
              </a:spcAft>
              <a:buSzPct val="100000"/>
              <a:buChar char="•"/>
            </a:pPr>
            <a:r>
              <a:rPr lang="en-US" sz="1150" b="1" dirty="0">
                <a:solidFill>
                  <a:srgbClr val="1F2937"/>
                </a:solidFill>
                <a:latin typeface="Calibri" pitchFamily="34" charset="0"/>
                <a:ea typeface="Calibri" pitchFamily="34" charset="-122"/>
                <a:cs typeface="Calibri" pitchFamily="34" charset="-120"/>
              </a:rPr>
              <a:t>after ONE linear map: same-image cosine +0.900</a:t>
            </a:r>
            <a:endParaRPr lang="en-US" sz="1150" dirty="0"/>
          </a:p>
        </p:txBody>
      </p:sp>
      <p:sp>
        <p:nvSpPr>
          <p:cNvPr id="10" name="Text 7"/>
          <p:cNvSpPr txBox="1"/>
          <p:nvPr/>
        </p:nvSpPr>
        <p:spPr>
          <a:xfrm>
            <a:off x="548640" y="5394960"/>
            <a:ext cx="685800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'dist' = distance between two items inside ONE space (small = near). The numbers are unrelated; the relations are not — that gap is the whole project.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HOW I MEASURE — IN PLAIN WORDS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Four numbers do most of the work; each is a question with a blind spot</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1371600"/>
                <a:gridCol w="3291840"/>
                <a:gridCol w="265176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 question, in the cat / dog sentence</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to read it (chance)</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cosine similarity</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do the cat photo and its caption point the same way?</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 = same direction; but a collapsed space reads +0.999 for everything — check the space first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R@1 / R@5</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does the RIGHT cat rank first (or top-5) out of N = 1,000 images?</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the deployed question; chance = 1/N = 0.001. 'R@1 0.36' = right 36% of the time</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R² (held-out)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do the predicted caption-vector numbers match the real ones?</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 = perfect reconstruction; can go negative on a low-variance target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 of ceiling</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how much of a jointly-TRAINED system does my untrained matrix reach?</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the honest yardstick — 88% means 'almost as good as training both together'</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Spearman ρ</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is near still near, far still far? (order of distances, no map)</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shape agreement; survives rotation and rescaling</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bl>
          </a:graphicData>
        </a:graphic>
      </p:graphicFrame>
      <p:sp>
        <p:nvSpPr>
          <p:cNvPr id="6" name="Shape 3"/>
          <p:cNvSpPr/>
          <p:nvPr/>
        </p:nvSpPr>
        <p:spPr>
          <a:xfrm>
            <a:off x="8046720" y="1463040"/>
            <a:ext cx="3566160" cy="3657600"/>
          </a:xfrm>
          <a:prstGeom prst="roundRect">
            <a:avLst>
              <a:gd name="adj" fmla="val 1538"/>
            </a:avLst>
          </a:prstGeom>
          <a:solidFill>
            <a:srgbClr val="F5F7FB"/>
          </a:solidFill>
          <a:ln w="12700">
            <a:solidFill>
              <a:srgbClr val="D6DCE8"/>
            </a:solidFill>
            <a:prstDash val="solid"/>
          </a:ln>
        </p:spPr>
      </p:sp>
      <p:sp>
        <p:nvSpPr>
          <p:cNvPr id="7" name="Text 4"/>
          <p:cNvSpPr txBox="1"/>
          <p:nvPr/>
        </p:nvSpPr>
        <p:spPr>
          <a:xfrm>
            <a:off x="8183880" y="1536192"/>
            <a:ext cx="3291840" cy="274320"/>
          </a:xfrm>
          <a:prstGeom prst="rect">
            <a:avLst/>
          </a:prstGeom>
          <a:noFill/>
          <a:ln/>
        </p:spPr>
        <p:txBody>
          <a:bodyPr wrap="square" lIns="0" tIns="0" rIns="0" bIns="0" rtlCol="0" anchor="ctr"/>
          <a:lstStyle/>
          <a:p>
            <a:pPr indent="0" marL="0">
              <a:buNone/>
            </a:pPr>
            <a:r>
              <a:rPr lang="en-US" sz="1000" b="1" dirty="0">
                <a:solidFill>
                  <a:srgbClr val="C8551A"/>
                </a:solidFill>
                <a:latin typeface="Calibri" pitchFamily="34" charset="0"/>
                <a:ea typeface="Calibri" pitchFamily="34" charset="-122"/>
                <a:cs typeface="Calibri" pitchFamily="34" charset="-120"/>
              </a:rPr>
              <a:t>the short math</a:t>
            </a:r>
            <a:endParaRPr lang="en-US" sz="1000" dirty="0"/>
          </a:p>
        </p:txBody>
      </p:sp>
      <p:sp>
        <p:nvSpPr>
          <p:cNvPr id="8" name="Text 5"/>
          <p:cNvSpPr txBox="1"/>
          <p:nvPr/>
        </p:nvSpPr>
        <p:spPr>
          <a:xfrm>
            <a:off x="8183880" y="1810512"/>
            <a:ext cx="3291840" cy="3246120"/>
          </a:xfrm>
          <a:prstGeom prst="rect">
            <a:avLst/>
          </a:prstGeom>
          <a:noFill/>
          <a:ln/>
        </p:spPr>
        <p:txBody>
          <a:bodyPr wrap="square" lIns="0" tIns="0" rIns="0" bIns="0" rtlCol="0" anchor="t"/>
          <a:lstStyle/>
          <a:p>
            <a:pPr indent="0" marL="0">
              <a:buNone/>
            </a:pPr>
            <a:r>
              <a:rPr lang="en-US" sz="1050" dirty="0">
                <a:solidFill>
                  <a:srgbClr val="1F2937"/>
                </a:solidFill>
                <a:latin typeface="Courier New" pitchFamily="34" charset="0"/>
                <a:ea typeface="Courier New" pitchFamily="34" charset="-122"/>
                <a:cs typeface="Courier New" pitchFamily="34" charset="-120"/>
              </a:rPr>
              <a:t>cos(u,t) = (u.t)/(|u||t|)</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dist(i,j) = 1 - cos(i,j)</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R@1 = P(true item ranks first of N)</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  chance = 1/N</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R^2 = 1 - |T-XW|^2 / |T-mean|^2</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 ceiling = my R@1 / joint R@1</a:t>
            </a:r>
            <a:endParaRPr lang="en-US" sz="1050" dirty="0"/>
          </a:p>
          <a:p>
            <a:pPr indent="0" marL="0">
              <a:buNone/>
            </a:pP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one rule the project lives by:</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a metric only means something</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RELATIVE to the geometry it</a:t>
            </a:r>
            <a:endParaRPr lang="en-US" sz="1050" dirty="0"/>
          </a:p>
          <a:p>
            <a:pPr indent="0" marL="0">
              <a:buNone/>
            </a:pPr>
            <a:r>
              <a:rPr lang="en-US" sz="1050" dirty="0">
                <a:solidFill>
                  <a:srgbClr val="1F2937"/>
                </a:solidFill>
                <a:latin typeface="Courier New" pitchFamily="34" charset="0"/>
                <a:ea typeface="Courier New" pitchFamily="34" charset="-122"/>
                <a:cs typeface="Courier New" pitchFamily="34" charset="-120"/>
              </a:rPr>
              <a:t>is computed in.</a:t>
            </a:r>
            <a:endParaRPr lang="en-US" sz="1050" dirty="0"/>
          </a:p>
        </p:txBody>
      </p:sp>
      <p:sp>
        <p:nvSpPr>
          <p:cNvPr id="9" name="Text 6"/>
          <p:cNvSpPr txBox="1"/>
          <p:nvPr/>
        </p:nvSpPr>
        <p:spPr>
          <a:xfrm>
            <a:off x="548640" y="5394960"/>
            <a:ext cx="731520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Same system, same data, once read cosine 1.000 and retrieval 0.160 — not a contradiction, two different questions. Full reference: Similarity_Methods_Master_Table.pdf.</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CONTROLS — WHAT MAKES EVERY NUMBER MEAN SOMETHING</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No result is quoted without the number that could have killed it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286000"/>
                <a:gridCol w="2834640"/>
                <a:gridCol w="2103120"/>
                <a:gridCol w="384048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control</a:t>
                      </a:r>
                      <a:endParaRPr lang="en-US" sz="10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asks</a:t>
                      </a:r>
                      <a:endParaRPr lang="en-US" sz="10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 used</a:t>
                      </a:r>
                      <a:endParaRPr lang="en-US" sz="10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result vs the real number</a:t>
                      </a:r>
                      <a:endParaRPr lang="en-US" sz="10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RANDOM-MAP / no-adapter</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would a random or absent matrix score as well?</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Exp B, the hub</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adapter AUC 0.999 vs 0.477 no-adapter;  hub R@1 0.451 vs 0.003 random (chance 0.001)</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RANDOM-WEIGHTS model</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is it LEARNING, or just the architecture's shape?</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Exp A (untrained Pythia)</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CKA 0.359 trained vs 0.067 random;  stitching R² 0.797 vs 0.173</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SHUFFLE (break the pairing)</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does the map need the TRUE image–caption alignment?</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E1, the D.5 battery</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shuffle-control gap 0.641;  every fit checked by row-shuffle before it is believed</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BASELINE / CEILING</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how good is 'as good as possible' here?</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every % of ceiling</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ceiling = a jointly-TRAINED retrieval system on the same rows; I report the fraction I reach</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ConvNeXt (held-out convnet)</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does the claim need attention or self-supervision?</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the hub</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 convnet, fully supervised, NEVER a hub member → 96.7% transfer, ABOVE the ViT band</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SigLIP 2 (held-out lineage)</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does it work on a model of unrelated ancestry?</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the hub</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independent lineage, never seen → 94.2%, reproduced to the decimal</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bl>
          </a:graphicData>
        </a:graphic>
      </p:graphicFrame>
      <p:sp>
        <p:nvSpPr>
          <p:cNvPr id="6" name="Text 3"/>
          <p:cNvSpPr txBox="1"/>
          <p:nvPr/>
        </p:nvSpPr>
        <p:spPr>
          <a:xfrm>
            <a:off x="548640" y="5394960"/>
            <a:ext cx="11064240" cy="822960"/>
          </a:xfrm>
          <a:prstGeom prst="rect">
            <a:avLst/>
          </a:prstGeom>
          <a:noFill/>
          <a:ln/>
        </p:spPr>
        <p:txBody>
          <a:bodyPr wrap="square" lIns="0" tIns="0" rIns="0" bIns="0" rtlCol="0" anchor="t"/>
          <a:lstStyle/>
          <a:p>
            <a:pPr algn="l" indent="0" marL="0">
              <a:buNone/>
            </a:pPr>
            <a:r>
              <a:rPr lang="en-US" sz="1300" b="1" dirty="0">
                <a:solidFill>
                  <a:srgbClr val="1E2761"/>
                </a:solidFill>
                <a:latin typeface="Calibri" pitchFamily="34" charset="0"/>
                <a:ea typeface="Calibri" pitchFamily="34" charset="-122"/>
                <a:cs typeface="Calibri" pitchFamily="34" charset="-120"/>
              </a:rPr>
              <a:t>Every headline in this talk is a PAIR: the number, and the control beside it. A claim that survived a test which could have killed it is worth more than one never exposed to one.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EIGHT ENCODERS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Different modalities, objectives, supervision regimes, sizes — all frozen</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040880" cy="914400"/>
        </p:xfrm>
        <a:graphic>
          <a:graphicData uri="http://schemas.openxmlformats.org/drawingml/2006/table">
            <a:tbl>
              <a:tblPr/>
              <a:tblGrid>
                <a:gridCol w="1645920"/>
                <a:gridCol w="3200400"/>
                <a:gridCol w="1097280"/>
                <a:gridCol w="274320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encoder</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objective · regime</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DINOv2 s/b/l</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self-distillation on image crops · self-sup</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22–304M</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hub members; capacity ladder</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bge-m3</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query–passage contrastive · pair-sup (text)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568M</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hub member; head target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GPT-2</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next-token · self-sup</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124M</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the collapse case (whitening rescue)</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BERT / SBERT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masked-LM / NLI fine-tune · self-sup / supervised</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110M</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text ladder; SBERT healthiest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SigLIP 2</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image–text contrastive · pair-sup</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HELD OUT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cross-lineage control → 94.2%</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MobileCLIP-S1</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image–text contrastive, distilled · phone tier</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512-d</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adapter source (Demo 1)</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ConvNeXt-base</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ImageNet-22k classification · fully supervised</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HELD OUT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convnet control → 96.7%</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bl>
          </a:graphicData>
        </a:graphic>
      </p:graphicFrame>
      <p:sp>
        <p:nvSpPr>
          <p:cNvPr id="6" name="Shape 3"/>
          <p:cNvSpPr/>
          <p:nvPr/>
        </p:nvSpPr>
        <p:spPr>
          <a:xfrm>
            <a:off x="7772400" y="1463040"/>
            <a:ext cx="3840480" cy="2286000"/>
          </a:xfrm>
          <a:prstGeom prst="roundRect">
            <a:avLst>
              <a:gd name="adj" fmla="val 3200"/>
            </a:avLst>
          </a:prstGeom>
          <a:solidFill>
            <a:srgbClr val="EEF7F3"/>
          </a:solidFill>
          <a:ln w="12700">
            <a:solidFill>
              <a:srgbClr val="EEF7F3"/>
            </a:solidFill>
            <a:prstDash val="solid"/>
          </a:ln>
        </p:spPr>
      </p:sp>
      <p:sp>
        <p:nvSpPr>
          <p:cNvPr id="7" name="Text 4"/>
          <p:cNvSpPr txBox="1"/>
          <p:nvPr/>
        </p:nvSpPr>
        <p:spPr>
          <a:xfrm>
            <a:off x="7936992" y="1572768"/>
            <a:ext cx="351129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Three regimes, four objectives</a:t>
            </a:r>
            <a:endParaRPr lang="en-US" sz="1300" dirty="0"/>
          </a:p>
        </p:txBody>
      </p:sp>
      <p:sp>
        <p:nvSpPr>
          <p:cNvPr id="8" name="Text 5"/>
          <p:cNvSpPr txBox="1"/>
          <p:nvPr/>
        </p:nvSpPr>
        <p:spPr>
          <a:xfrm>
            <a:off x="7936992" y="1965960"/>
            <a:ext cx="3511296" cy="16916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self-supervised (DINOv2, GPT-2, BERT) · pair-supervised contrastive (bge, SigLIP, MobileCLIP) · fully supervised (SBERT, ConvNeXt).</a:t>
            </a:r>
            <a:endParaRPr lang="en-US" sz="1200" dirty="0"/>
          </a:p>
          <a:p>
            <a:pPr indent="0" marL="0">
              <a:buNone/>
            </a:pP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All of them join one hub at 93–97% of native — convergence does NOT require a shared training signal.</a:t>
            </a:r>
            <a:endParaRPr lang="en-US" sz="1200" dirty="0"/>
          </a:p>
        </p:txBody>
      </p:sp>
      <p:sp>
        <p:nvSpPr>
          <p:cNvPr id="9" name="Shape 6"/>
          <p:cNvSpPr/>
          <p:nvPr/>
        </p:nvSpPr>
        <p:spPr>
          <a:xfrm>
            <a:off x="7772400" y="3886200"/>
            <a:ext cx="3840480" cy="2423160"/>
          </a:xfrm>
          <a:prstGeom prst="roundRect">
            <a:avLst>
              <a:gd name="adj" fmla="val 3019"/>
            </a:avLst>
          </a:prstGeom>
          <a:solidFill>
            <a:srgbClr val="EEF3FF"/>
          </a:solidFill>
          <a:ln w="12700">
            <a:solidFill>
              <a:srgbClr val="EEF3FF"/>
            </a:solidFill>
            <a:prstDash val="solid"/>
          </a:ln>
        </p:spPr>
      </p:sp>
      <p:sp>
        <p:nvSpPr>
          <p:cNvPr id="10" name="Text 7"/>
          <p:cNvSpPr txBox="1"/>
          <p:nvPr/>
        </p:nvSpPr>
        <p:spPr>
          <a:xfrm>
            <a:off x="7936992" y="3995928"/>
            <a:ext cx="351129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One vector per item</a:t>
            </a:r>
            <a:endParaRPr lang="en-US" sz="1300" dirty="0"/>
          </a:p>
        </p:txBody>
      </p:sp>
      <p:sp>
        <p:nvSpPr>
          <p:cNvPr id="11" name="Text 8"/>
          <p:cNvSpPr txBox="1"/>
          <p:nvPr/>
        </p:nvSpPr>
        <p:spPr>
          <a:xfrm>
            <a:off x="7936992" y="4389120"/>
            <a:ext cx="3511296" cy="1828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model ends as one vector per COCO item: tokens → hidden states → pooled row. Row i is the SAME item in every cache — that shared index is the only 'pairing' any fit ever sees. Data: 9,533 COCO images, five human captions each, averaged into one target.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A · DO TWO LANGUAGE MODELS CONVERGE?</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GPT-2 vs Pythia-160M, layer by layer — with a random-weights control</a:t>
            </a:r>
            <a:endParaRPr lang="en-US" sz="2800" dirty="0"/>
          </a:p>
        </p:txBody>
      </p:sp>
      <p:pic>
        <p:nvPicPr>
          <p:cNvPr id="5" name="Image 0" descr="/home/claude/deck/img/cka.png">    </p:cNvPr>
          <p:cNvPicPr>
            <a:picLocks noChangeAspect="1"/>
          </p:cNvPicPr>
          <p:nvPr/>
        </p:nvPicPr>
        <p:blipFill>
          <a:blip r:embed="rId1"/>
          <a:srcRect l="0" r="0" t="0" b="0"/>
          <a:stretch/>
        </p:blipFill>
        <p:spPr>
          <a:xfrm>
            <a:off x="548640" y="1463040"/>
            <a:ext cx="3657600" cy="3017520"/>
          </a:xfrm>
          <a:prstGeom prst="rect">
            <a:avLst/>
          </a:prstGeom>
        </p:spPr>
      </p:pic>
      <p:pic>
        <p:nvPicPr>
          <p:cNvPr id="6" name="Image 1" descr="/home/claude/deck/img/stitching_r2.png">    </p:cNvPr>
          <p:cNvPicPr>
            <a:picLocks noChangeAspect="1"/>
          </p:cNvPicPr>
          <p:nvPr/>
        </p:nvPicPr>
        <p:blipFill>
          <a:blip r:embed="rId2"/>
          <a:srcRect l="0" r="0" t="0" b="0"/>
          <a:stretch/>
        </p:blipFill>
        <p:spPr>
          <a:xfrm>
            <a:off x="4343400" y="1463040"/>
            <a:ext cx="4114800" cy="2148840"/>
          </a:xfrm>
          <a:prstGeom prst="rect">
            <a:avLst/>
          </a:prstGeom>
        </p:spPr>
      </p:pic>
      <p:sp>
        <p:nvSpPr>
          <p:cNvPr id="7" name="Shape 3"/>
          <p:cNvSpPr/>
          <p:nvPr/>
        </p:nvSpPr>
        <p:spPr>
          <a:xfrm>
            <a:off x="8595360" y="1463040"/>
            <a:ext cx="3017520" cy="3017520"/>
          </a:xfrm>
          <a:prstGeom prst="roundRect">
            <a:avLst>
              <a:gd name="adj" fmla="val 2424"/>
            </a:avLst>
          </a:prstGeom>
          <a:solidFill>
            <a:srgbClr val="EEF3FF"/>
          </a:solidFill>
          <a:ln w="12700">
            <a:solidFill>
              <a:srgbClr val="EEF3FF"/>
            </a:solidFill>
            <a:prstDash val="solid"/>
          </a:ln>
        </p:spPr>
      </p:sp>
      <p:sp>
        <p:nvSpPr>
          <p:cNvPr id="8" name="Text 4"/>
          <p:cNvSpPr txBox="1"/>
          <p:nvPr/>
        </p:nvSpPr>
        <p:spPr>
          <a:xfrm>
            <a:off x="8759952" y="1572768"/>
            <a:ext cx="268833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Setup</a:t>
            </a:r>
            <a:endParaRPr lang="en-US" sz="1300" dirty="0"/>
          </a:p>
        </p:txBody>
      </p:sp>
      <p:sp>
        <p:nvSpPr>
          <p:cNvPr id="9" name="Text 5"/>
          <p:cNvSpPr txBox="1"/>
          <p:nvPr/>
        </p:nvSpPr>
        <p:spPr>
          <a:xfrm>
            <a:off x="8759952" y="1965960"/>
            <a:ext cx="2688336" cy="24231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10,000 WikiText passages through both frozen models, masked-mean-pooled per layer. Per layer: CKA (structure) and one ridge map GPT-2→Pythia. CONTROL: a seeded random-weights Pythia. Nothing trained.</a:t>
            </a:r>
            <a:endParaRPr lang="en-US" sz="1150" dirty="0"/>
          </a:p>
        </p:txBody>
      </p:sp>
      <p:sp>
        <p:nvSpPr>
          <p:cNvPr id="10" name="Text 6"/>
          <p:cNvSpPr txBox="1"/>
          <p:nvPr/>
        </p:nvSpPr>
        <p:spPr>
          <a:xfrm>
            <a:off x="548640" y="4663440"/>
            <a:ext cx="11064240" cy="1737360"/>
          </a:xfrm>
          <a:prstGeom prst="rect">
            <a:avLst/>
          </a:prstGeom>
          <a:noFill/>
          <a:ln/>
        </p:spPr>
        <p:txBody>
          <a:bodyPr wrap="square" lIns="0" tIns="0" rIns="0" bIns="0" rtlCol="0" anchor="t"/>
          <a:lstStyle/>
          <a:p>
            <a:pPr marL="203200" indent="-2032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Measured — CKA (structure): trained 0.359 vs RANDOM-WEIGHTS 0.067 = 5.3× (diagonal mean 0.424 vs 0.067 = 6.3×). Stitching R² (linear map): 0.797 vs random 0.173 at layer 11.</a:t>
            </a:r>
            <a:endParaRPr lang="en-US" sz="1150" dirty="0"/>
          </a:p>
          <a:p>
            <a:pPr marL="203200" indent="-2032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control makes the case: the trained curve RISES with depth (0.59→0.80); the random control DECAYS (0.38→0.09). Opposite slopes = learning, not architecture.</a:t>
            </a:r>
            <a:endParaRPr lang="en-US" sz="1150" dirty="0"/>
          </a:p>
          <a:p>
            <a:pPr marL="203200" indent="-2032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Proved: convergence is real across architectures and data. Failure caught: run 1 (1,646 rows) failed on starvation; run 2 (10,000) passed — same pipeline.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B · THE PHONE→SERVER ADAPTER</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One 0.79 MB matrix lets a mobile encoder search a server index</a:t>
            </a:r>
            <a:endParaRPr lang="en-US" sz="2800" dirty="0"/>
          </a:p>
        </p:txBody>
      </p:sp>
      <p:sp>
        <p:nvSpPr>
          <p:cNvPr id="5" name="Shape 3"/>
          <p:cNvSpPr/>
          <p:nvPr/>
        </p:nvSpPr>
        <p:spPr>
          <a:xfrm>
            <a:off x="10149840" y="320040"/>
            <a:ext cx="1463040" cy="365760"/>
          </a:xfrm>
          <a:prstGeom prst="roundRect">
            <a:avLst>
              <a:gd name="adj" fmla="val 25000"/>
            </a:avLst>
          </a:prstGeom>
          <a:solidFill>
            <a:srgbClr val="C8551A"/>
          </a:solidFill>
          <a:ln w="12700">
            <a:solidFill>
              <a:srgbClr val="C8551A"/>
            </a:solidFill>
            <a:prstDash val="solid"/>
          </a:ln>
        </p:spPr>
      </p:sp>
      <p:sp>
        <p:nvSpPr>
          <p:cNvPr id="6" name="Text 4"/>
          <p:cNvSpPr txBox="1"/>
          <p:nvPr/>
        </p:nvSpPr>
        <p:spPr>
          <a:xfrm>
            <a:off x="10149840" y="320040"/>
            <a:ext cx="1463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LIVE DEMO</a:t>
            </a:r>
            <a:endParaRPr lang="en-US" sz="1100" dirty="0"/>
          </a:p>
        </p:txBody>
      </p:sp>
      <p:pic>
        <p:nvPicPr>
          <p:cNvPr id="7" name="Image 0" descr="/home/claude/deck/img/proof_geometry_real.png">    </p:cNvPr>
          <p:cNvPicPr>
            <a:picLocks noChangeAspect="1"/>
          </p:cNvPicPr>
          <p:nvPr/>
        </p:nvPicPr>
        <p:blipFill>
          <a:blip r:embed="rId1"/>
          <a:srcRect l="0" r="0" t="0" b="0"/>
          <a:stretch/>
        </p:blipFill>
        <p:spPr>
          <a:xfrm>
            <a:off x="548640" y="1463040"/>
            <a:ext cx="6492240" cy="2834640"/>
          </a:xfrm>
          <a:prstGeom prst="rect">
            <a:avLst/>
          </a:prstGeom>
        </p:spPr>
      </p:pic>
      <p:sp>
        <p:nvSpPr>
          <p:cNvPr id="8" name="Shape 5"/>
          <p:cNvSpPr/>
          <p:nvPr/>
        </p:nvSpPr>
        <p:spPr>
          <a:xfrm>
            <a:off x="7223760" y="1463040"/>
            <a:ext cx="4389120" cy="2834640"/>
          </a:xfrm>
          <a:prstGeom prst="roundRect">
            <a:avLst>
              <a:gd name="adj" fmla="val 2581"/>
            </a:avLst>
          </a:prstGeom>
          <a:solidFill>
            <a:srgbClr val="EEF3FF"/>
          </a:solidFill>
          <a:ln w="12700">
            <a:solidFill>
              <a:srgbClr val="EEF3FF"/>
            </a:solidFill>
            <a:prstDash val="solid"/>
          </a:ln>
        </p:spPr>
      </p:sp>
      <p:sp>
        <p:nvSpPr>
          <p:cNvPr id="9" name="Text 6"/>
          <p:cNvSpPr txBox="1"/>
          <p:nvPr/>
        </p:nvSpPr>
        <p:spPr>
          <a:xfrm>
            <a:off x="7388352" y="1572768"/>
            <a:ext cx="405993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Setup &amp; control</a:t>
            </a:r>
            <a:endParaRPr lang="en-US" sz="1300" dirty="0"/>
          </a:p>
        </p:txBody>
      </p:sp>
      <p:sp>
        <p:nvSpPr>
          <p:cNvPr id="10" name="Text 7"/>
          <p:cNvSpPr txBox="1"/>
          <p:nvPr/>
        </p:nvSpPr>
        <p:spPr>
          <a:xfrm>
            <a:off x="7388352" y="1965960"/>
            <a:ext cx="4059936" cy="22402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MobileCLIP-S1 (phone, 512-d) and SigLIP 2 (server, 768-d) — never met. Data: 4,000 COCO val2017 pairs, 3,000 train / 1,000 held out. One ridge W (512×768) fitted to match REPRESENTATIONS — never sees the retrieval task. CONTROL: remove W (no-adapter) and everything collapses to AUC 0.477 (≈ chance). Shipped as Core ML fp16, bit-exact.</a:t>
            </a:r>
            <a:endParaRPr lang="en-US" sz="1150" dirty="0"/>
          </a:p>
        </p:txBody>
      </p:sp>
      <p:sp>
        <p:nvSpPr>
          <p:cNvPr id="11" name="Text 8"/>
          <p:cNvSpPr txBox="1"/>
          <p:nvPr/>
        </p:nvSpPr>
        <p:spPr>
          <a:xfrm>
            <a:off x="548640" y="4434840"/>
            <a:ext cx="6492240" cy="1828800"/>
          </a:xfrm>
          <a:prstGeom prst="rect">
            <a:avLst/>
          </a:prstGeom>
          <a:noFill/>
          <a:ln/>
        </p:spPr>
        <p:txBody>
          <a:bodyPr wrap="square" lIns="0" tIns="0" rIns="0" bIns="0" rtlCol="0" anchor="t"/>
          <a:lstStyle/>
          <a:p>
            <a:pPr marL="203200" indent="-2032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Measured — held-out R² 0.592; mean cosine to the true twin 0.900 (raw −0.003); verification AUC 0.999 vs 0.477 no-adapter; R@1 88.4% and R@5 95.1% of the jointly-trained ceiling; 39 ms upload-to-index.</a:t>
            </a:r>
            <a:endParaRPr lang="en-US" sz="1100" dirty="0"/>
          </a:p>
          <a:p>
            <a:pPr marL="203200" indent="-2032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Proved: the shared structure lives in the REPRESENTATIONS, not the connector — a task-free matrix beats a task-trained one.</a:t>
            </a:r>
            <a:endParaRPr lang="en-US" sz="1100" dirty="0"/>
          </a:p>
        </p:txBody>
      </p:sp>
      <p:sp>
        <p:nvSpPr>
          <p:cNvPr id="12" name="Shape 9"/>
          <p:cNvSpPr/>
          <p:nvPr/>
        </p:nvSpPr>
        <p:spPr>
          <a:xfrm>
            <a:off x="7223760" y="4434840"/>
            <a:ext cx="4389120" cy="1417320"/>
          </a:xfrm>
          <a:prstGeom prst="roundRect">
            <a:avLst>
              <a:gd name="adj" fmla="val 5161"/>
            </a:avLst>
          </a:prstGeom>
          <a:solidFill>
            <a:srgbClr val="FFF4EC"/>
          </a:solidFill>
          <a:ln w="12700">
            <a:solidFill>
              <a:srgbClr val="FFF4EC"/>
            </a:solidFill>
            <a:prstDash val="solid"/>
          </a:ln>
        </p:spPr>
      </p:sp>
      <p:sp>
        <p:nvSpPr>
          <p:cNvPr id="13" name="Text 10"/>
          <p:cNvSpPr txBox="1"/>
          <p:nvPr/>
        </p:nvSpPr>
        <p:spPr>
          <a:xfrm>
            <a:off x="7388352" y="4544568"/>
            <a:ext cx="405993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 Demo 1</a:t>
            </a:r>
            <a:endParaRPr lang="en-US" sz="1300" dirty="0"/>
          </a:p>
        </p:txBody>
      </p:sp>
      <p:sp>
        <p:nvSpPr>
          <p:cNvPr id="14" name="Text 11"/>
          <p:cNvSpPr txBox="1"/>
          <p:nvPr/>
        </p:nvSpPr>
        <p:spPr>
          <a:xfrm>
            <a:off x="7388352" y="4937760"/>
            <a:ext cx="4059936" cy="8229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Free-text query → SigLIP text tower searches the mapped phone vectors. B5 sandbox: 11 queries on real photos, 7/9 rank-1, a negative query ('a dog' with no dogs) stays flat — the honest pass.</a:t>
            </a:r>
            <a:endParaRPr lang="en-US" sz="1100" dirty="0"/>
          </a:p>
        </p:txBody>
      </p:sp>
      <p:sp>
        <p:nvSpPr>
          <p:cNvPr id="15" name="Text 12">
            <a:hlinkClick r:id="rId2" tooltip=""/>
          </p:cNvPr>
          <p:cNvSpPr txBox="1"/>
          <p:nvPr/>
        </p:nvSpPr>
        <p:spPr>
          <a:xfrm>
            <a:off x="548640" y="6309360"/>
            <a:ext cx="6492240" cy="292608"/>
          </a:xfrm>
          <a:prstGeom prst="rect">
            <a:avLst/>
          </a:prstGeom>
          <a:noFill/>
          <a:ln/>
        </p:spPr>
        <p:txBody>
          <a:bodyPr wrap="square" lIns="0" tIns="0" rIns="0" bIns="0" rtlCol="0" anchor="ctr"/>
          <a:lstStyle/>
          <a:p>
            <a:pPr indent="0" marL="0">
              <a:buNone/>
            </a:pPr>
            <a:r>
              <a:rPr lang="en-US" sz="1200" u="sng" dirty="0">
                <a:solidFill>
                  <a:srgbClr val="0F766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Demo notebooks B1–B5 — Drive: convergence_experiment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B · THE FAILURE THAT PROVED LINEARITY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A bigger, non-linear model could not beat the one matrix</a:t>
            </a:r>
            <a:endParaRPr lang="en-US" sz="2800" dirty="0"/>
          </a:p>
        </p:txBody>
      </p:sp>
      <p:sp>
        <p:nvSpPr>
          <p:cNvPr id="5" name="Text 3"/>
          <p:cNvSpPr txBox="1"/>
          <p:nvPr/>
        </p:nvSpPr>
        <p:spPr>
          <a:xfrm>
            <a:off x="548640" y="1554480"/>
            <a:ext cx="265176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0.592</a:t>
            </a:r>
            <a:endParaRPr lang="en-US" sz="3600" dirty="0"/>
          </a:p>
        </p:txBody>
      </p:sp>
      <p:sp>
        <p:nvSpPr>
          <p:cNvPr id="6" name="Text 4"/>
          <p:cNvSpPr txBox="1"/>
          <p:nvPr/>
        </p:nvSpPr>
        <p:spPr>
          <a:xfrm>
            <a:off x="548640" y="2212848"/>
            <a:ext cx="2651760" cy="5029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held-out R² (reconstruction)</a:t>
            </a:r>
            <a:endParaRPr lang="en-US" sz="1100" dirty="0"/>
          </a:p>
        </p:txBody>
      </p:sp>
      <p:sp>
        <p:nvSpPr>
          <p:cNvPr id="7" name="Text 5"/>
          <p:cNvSpPr txBox="1"/>
          <p:nvPr/>
        </p:nvSpPr>
        <p:spPr>
          <a:xfrm>
            <a:off x="3291840" y="1554480"/>
            <a:ext cx="265176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0.900</a:t>
            </a:r>
            <a:endParaRPr lang="en-US" sz="3600" dirty="0"/>
          </a:p>
        </p:txBody>
      </p:sp>
      <p:sp>
        <p:nvSpPr>
          <p:cNvPr id="8" name="Text 6"/>
          <p:cNvSpPr txBox="1"/>
          <p:nvPr/>
        </p:nvSpPr>
        <p:spPr>
          <a:xfrm>
            <a:off x="3291840" y="2212848"/>
            <a:ext cx="2651760" cy="5029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cosine to the true twin</a:t>
            </a:r>
            <a:endParaRPr lang="en-US" sz="1100" dirty="0"/>
          </a:p>
        </p:txBody>
      </p:sp>
      <p:sp>
        <p:nvSpPr>
          <p:cNvPr id="9" name="Text 7"/>
          <p:cNvSpPr txBox="1"/>
          <p:nvPr/>
        </p:nvSpPr>
        <p:spPr>
          <a:xfrm>
            <a:off x="6035040" y="1554480"/>
            <a:ext cx="265176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88.4%</a:t>
            </a:r>
            <a:endParaRPr lang="en-US" sz="3600" dirty="0"/>
          </a:p>
        </p:txBody>
      </p:sp>
      <p:sp>
        <p:nvSpPr>
          <p:cNvPr id="10" name="Text 8"/>
          <p:cNvSpPr txBox="1"/>
          <p:nvPr/>
        </p:nvSpPr>
        <p:spPr>
          <a:xfrm>
            <a:off x="6035040" y="2212848"/>
            <a:ext cx="2651760" cy="5029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of the jointly-trained ceiling</a:t>
            </a:r>
            <a:endParaRPr lang="en-US" sz="1100" dirty="0"/>
          </a:p>
        </p:txBody>
      </p:sp>
      <p:sp>
        <p:nvSpPr>
          <p:cNvPr id="11" name="Text 9"/>
          <p:cNvSpPr txBox="1"/>
          <p:nvPr/>
        </p:nvSpPr>
        <p:spPr>
          <a:xfrm>
            <a:off x="8778240" y="1554480"/>
            <a:ext cx="2834640" cy="685800"/>
          </a:xfrm>
          <a:prstGeom prst="rect">
            <a:avLst/>
          </a:prstGeom>
          <a:noFill/>
          <a:ln/>
        </p:spPr>
        <p:txBody>
          <a:bodyPr wrap="square" lIns="0" tIns="0" rIns="0" bIns="0" rtlCol="0" anchor="ctr"/>
          <a:lstStyle/>
          <a:p>
            <a:pPr algn="ctr" indent="0" marL="0">
              <a:buNone/>
            </a:pPr>
            <a:r>
              <a:rPr lang="en-US" sz="3600" b="1" dirty="0">
                <a:solidFill>
                  <a:srgbClr val="C8551A"/>
                </a:solidFill>
                <a:latin typeface="Cambria" pitchFamily="34" charset="0"/>
                <a:ea typeface="Cambria" pitchFamily="34" charset="-122"/>
                <a:cs typeface="Cambria" pitchFamily="34" charset="-120"/>
              </a:rPr>
              <a:t>0.79 MB</a:t>
            </a:r>
            <a:endParaRPr lang="en-US" sz="3600" dirty="0"/>
          </a:p>
        </p:txBody>
      </p:sp>
      <p:sp>
        <p:nvSpPr>
          <p:cNvPr id="12" name="Text 10"/>
          <p:cNvSpPr txBox="1"/>
          <p:nvPr/>
        </p:nvSpPr>
        <p:spPr>
          <a:xfrm>
            <a:off x="8778240" y="2212848"/>
            <a:ext cx="2834640" cy="5029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shipped, runs on a phone</a:t>
            </a:r>
            <a:endParaRPr lang="en-US" sz="1100" dirty="0"/>
          </a:p>
        </p:txBody>
      </p:sp>
      <p:pic>
        <p:nvPicPr>
          <p:cNvPr id="13" name="Image 0" descr="/home/claude/deck/img/mlp_flex.png">    </p:cNvPr>
          <p:cNvPicPr>
            <a:picLocks noChangeAspect="1"/>
          </p:cNvPicPr>
          <p:nvPr/>
        </p:nvPicPr>
        <p:blipFill>
          <a:blip r:embed="rId1"/>
          <a:srcRect l="0" r="0" t="0" b="0"/>
          <a:stretch/>
        </p:blipFill>
        <p:spPr>
          <a:xfrm>
            <a:off x="548640" y="2834640"/>
            <a:ext cx="5577840" cy="3108960"/>
          </a:xfrm>
          <a:prstGeom prst="rect">
            <a:avLst/>
          </a:prstGeom>
        </p:spPr>
      </p:pic>
      <p:pic>
        <p:nvPicPr>
          <p:cNvPr id="14" name="Image 1" descr="/home/claude/deck/img/membership_roc.png">    </p:cNvPr>
          <p:cNvPicPr>
            <a:picLocks noChangeAspect="1"/>
          </p:cNvPicPr>
          <p:nvPr/>
        </p:nvPicPr>
        <p:blipFill>
          <a:blip r:embed="rId2"/>
          <a:srcRect l="0" r="0" t="0" b="0"/>
          <a:stretch/>
        </p:blipFill>
        <p:spPr>
          <a:xfrm>
            <a:off x="6309360" y="2834640"/>
            <a:ext cx="5303520" cy="1828800"/>
          </a:xfrm>
          <a:prstGeom prst="rect">
            <a:avLst/>
          </a:prstGeom>
        </p:spPr>
      </p:pic>
      <p:sp>
        <p:nvSpPr>
          <p:cNvPr id="15" name="Text 11"/>
          <p:cNvSpPr txBox="1"/>
          <p:nvPr/>
        </p:nvSpPr>
        <p:spPr>
          <a:xfrm>
            <a:off x="6309360" y="4754880"/>
            <a:ext cx="5303520" cy="1691640"/>
          </a:xfrm>
          <a:prstGeom prst="rect">
            <a:avLst/>
          </a:prstGeom>
          <a:noFill/>
          <a:ln/>
        </p:spPr>
        <p:txBody>
          <a:bodyPr wrap="square" lIns="0" tIns="0" rIns="0" bIns="0" rtlCol="0" anchor="t"/>
          <a:lstStyle/>
          <a:p>
            <a:pPr marL="203200" indent="-2032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MLP CONTROL (F2): more parameters, non-linearity, 74 rows/dim, 40 epochs — held-out cosine 0.9183 vs the matrix's 0.9183, gain +0.0000, on two runs. Linearity is not an approximation; it IS the relationship.</a:t>
            </a:r>
            <a:endParaRPr lang="en-US" sz="1100" dirty="0"/>
          </a:p>
          <a:p>
            <a:pPr marL="203200" indent="-2032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One adapter, three decisions: verification (same photo?) AUC 0.999 · ranking (twin first?) R@1 0.987 · membership (indexed at all, one global cutoff?) AUC 0.889. Harder as the decision gets more global.</a:t>
            </a:r>
            <a:endParaRPr lang="en-US" sz="1100" dirty="0"/>
          </a:p>
        </p:txBody>
      </p:sp>
      <p:sp>
        <p:nvSpPr>
          <p:cNvPr id="16" name="Text 12"/>
          <p:cNvSpPr txBox="1"/>
          <p:nvPr/>
        </p:nvSpPr>
        <p:spPr>
          <a:xfrm>
            <a:off x="548640" y="5989320"/>
            <a:ext cx="557784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The MLP is the control for 'maybe a network is secretly learning the task' — it gains nothing, so the matrix is the whole story.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E · CROSSING MODALITIES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DINOv2 never saw a word; bge-m3 never saw a pixel — one matrix, image → text</a:t>
            </a:r>
            <a:endParaRPr lang="en-US" sz="2800" dirty="0"/>
          </a:p>
        </p:txBody>
      </p:sp>
      <p:pic>
        <p:nvPicPr>
          <p:cNvPr id="5" name="Image 0" descr="/home/claude/deck/img/e1_arch.png">    </p:cNvPr>
          <p:cNvPicPr>
            <a:picLocks noChangeAspect="1"/>
          </p:cNvPicPr>
          <p:nvPr/>
        </p:nvPicPr>
        <p:blipFill>
          <a:blip r:embed="rId1"/>
          <a:srcRect l="0" r="0" t="0" b="0"/>
          <a:stretch/>
        </p:blipFill>
        <p:spPr>
          <a:xfrm>
            <a:off x="548640" y="1463040"/>
            <a:ext cx="6766560" cy="4480560"/>
          </a:xfrm>
          <a:prstGeom prst="rect">
            <a:avLst/>
          </a:prstGeom>
        </p:spPr>
      </p:pic>
      <p:sp>
        <p:nvSpPr>
          <p:cNvPr id="6" name="Shape 3"/>
          <p:cNvSpPr/>
          <p:nvPr/>
        </p:nvSpPr>
        <p:spPr>
          <a:xfrm>
            <a:off x="7498080" y="1463040"/>
            <a:ext cx="4114800" cy="2148840"/>
          </a:xfrm>
          <a:prstGeom prst="roundRect">
            <a:avLst>
              <a:gd name="adj" fmla="val 3404"/>
            </a:avLst>
          </a:prstGeom>
          <a:solidFill>
            <a:srgbClr val="EEF3FF"/>
          </a:solidFill>
          <a:ln w="12700">
            <a:solidFill>
              <a:srgbClr val="EEF3FF"/>
            </a:solidFill>
            <a:prstDash val="solid"/>
          </a:ln>
        </p:spPr>
      </p:sp>
      <p:sp>
        <p:nvSpPr>
          <p:cNvPr id="7" name="Text 4"/>
          <p:cNvSpPr txBox="1"/>
          <p:nvPr/>
        </p:nvSpPr>
        <p:spPr>
          <a:xfrm>
            <a:off x="7662672" y="1572768"/>
            <a:ext cx="378561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Setup &amp; control</a:t>
            </a:r>
            <a:endParaRPr lang="en-US" sz="1300" dirty="0"/>
          </a:p>
        </p:txBody>
      </p:sp>
      <p:sp>
        <p:nvSpPr>
          <p:cNvPr id="8" name="Text 5"/>
          <p:cNvSpPr txBox="1"/>
          <p:nvPr/>
        </p:nvSpPr>
        <p:spPr>
          <a:xfrm>
            <a:off x="7662672" y="1965960"/>
            <a:ext cx="3785616" cy="15544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8,000 COCO train2017 pairs — 7,000 fit W (768→1024), 1,000 held out. Target = five captions embedded by bge-m3, averaged. CONTROL: shuffle the pairing — the map should then fail. Ceiling = a same-modality jointly-trained system on the same rows.</a:t>
            </a:r>
            <a:endParaRPr lang="en-US" sz="1150" dirty="0"/>
          </a:p>
        </p:txBody>
      </p:sp>
      <p:sp>
        <p:nvSpPr>
          <p:cNvPr id="9" name="Text 6"/>
          <p:cNvSpPr txBox="1"/>
          <p:nvPr/>
        </p:nvSpPr>
        <p:spPr>
          <a:xfrm>
            <a:off x="7498080" y="3703320"/>
            <a:ext cx="4114800" cy="2651760"/>
          </a:xfrm>
          <a:prstGeom prst="rect">
            <a:avLst/>
          </a:prstGeom>
          <a:noFill/>
          <a:ln/>
        </p:spPr>
        <p:txBody>
          <a:bodyPr wrap="square" lIns="0" tIns="0" rIns="0" bIns="0" rtlCol="0" anchor="t"/>
          <a:lstStyle/>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Measured — R@1 0.358 = 40.9% of the matched ceiling (358× chance); R² 0.511; SHUFFLE-control gap 0.641 (true minus shuffled).</a:t>
            </a:r>
            <a:endParaRPr lang="en-US" sz="1050" dirty="0"/>
          </a:p>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Failure caught: a borrowed ceiling read 55.2% — wrong protocol. Re-measured on matched rows: 40.9%. New rule: the ceiling is never borrowed.</a:t>
            </a:r>
            <a:endParaRPr lang="en-US" sz="1050" dirty="0"/>
          </a:p>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Proved: PRH's actual cross-modal claim holds WITHOUT joint training — crossing modality costs about half the R@1 of a same-modality pair.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E · DOES IT SCALE?</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Alignment grows with size to 304M — then both ladders fall (pre-registered, falsified)</a:t>
            </a:r>
            <a:endParaRPr lang="en-US" sz="2800" dirty="0"/>
          </a:p>
        </p:txBody>
      </p:sp>
      <p:pic>
        <p:nvPicPr>
          <p:cNvPr id="5" name="Image 0" descr="/home/claude/deck/img/capacity.png">    </p:cNvPr>
          <p:cNvPicPr>
            <a:picLocks noChangeAspect="1"/>
          </p:cNvPicPr>
          <p:nvPr/>
        </p:nvPicPr>
        <p:blipFill>
          <a:blip r:embed="rId1"/>
          <a:srcRect l="0" r="0" t="0" b="0"/>
          <a:stretch/>
        </p:blipFill>
        <p:spPr>
          <a:xfrm>
            <a:off x="548640" y="1463040"/>
            <a:ext cx="5852160" cy="3840480"/>
          </a:xfrm>
          <a:prstGeom prst="rect">
            <a:avLst/>
          </a:prstGeom>
        </p:spPr>
      </p:pic>
      <p:sp>
        <p:nvSpPr>
          <p:cNvPr id="6" name="Text 3"/>
          <p:cNvSpPr txBox="1"/>
          <p:nvPr/>
        </p:nvSpPr>
        <p:spPr>
          <a:xfrm>
            <a:off x="6675120" y="1554480"/>
            <a:ext cx="155448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40.9%</a:t>
            </a:r>
            <a:endParaRPr lang="en-US" sz="3600" dirty="0"/>
          </a:p>
        </p:txBody>
      </p:sp>
      <p:sp>
        <p:nvSpPr>
          <p:cNvPr id="7" name="Text 4"/>
          <p:cNvSpPr txBox="1"/>
          <p:nvPr/>
        </p:nvSpPr>
        <p:spPr>
          <a:xfrm>
            <a:off x="6675120" y="2212848"/>
            <a:ext cx="1554480" cy="5029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small 22M</a:t>
            </a:r>
            <a:endParaRPr lang="en-US" sz="1100" dirty="0"/>
          </a:p>
        </p:txBody>
      </p:sp>
      <p:sp>
        <p:nvSpPr>
          <p:cNvPr id="8" name="Text 5"/>
          <p:cNvSpPr txBox="1"/>
          <p:nvPr/>
        </p:nvSpPr>
        <p:spPr>
          <a:xfrm>
            <a:off x="8229600" y="1554480"/>
            <a:ext cx="155448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53.5%</a:t>
            </a:r>
            <a:endParaRPr lang="en-US" sz="3600" dirty="0"/>
          </a:p>
        </p:txBody>
      </p:sp>
      <p:sp>
        <p:nvSpPr>
          <p:cNvPr id="9" name="Text 6"/>
          <p:cNvSpPr txBox="1"/>
          <p:nvPr/>
        </p:nvSpPr>
        <p:spPr>
          <a:xfrm>
            <a:off x="8229600" y="2212848"/>
            <a:ext cx="1554480" cy="5029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base 87M</a:t>
            </a:r>
            <a:endParaRPr lang="en-US" sz="1100" dirty="0"/>
          </a:p>
        </p:txBody>
      </p:sp>
      <p:sp>
        <p:nvSpPr>
          <p:cNvPr id="10" name="Text 7"/>
          <p:cNvSpPr txBox="1"/>
          <p:nvPr/>
        </p:nvSpPr>
        <p:spPr>
          <a:xfrm>
            <a:off x="9875520" y="1554480"/>
            <a:ext cx="173736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58.3%</a:t>
            </a:r>
            <a:endParaRPr lang="en-US" sz="3600" dirty="0"/>
          </a:p>
        </p:txBody>
      </p:sp>
      <p:sp>
        <p:nvSpPr>
          <p:cNvPr id="11" name="Text 8"/>
          <p:cNvSpPr txBox="1"/>
          <p:nvPr/>
        </p:nvSpPr>
        <p:spPr>
          <a:xfrm>
            <a:off x="9875520" y="2212848"/>
            <a:ext cx="1737360" cy="5029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large 304M</a:t>
            </a:r>
            <a:endParaRPr lang="en-US" sz="1100" dirty="0"/>
          </a:p>
        </p:txBody>
      </p:sp>
      <p:sp>
        <p:nvSpPr>
          <p:cNvPr id="12" name="Text 9"/>
          <p:cNvSpPr txBox="1"/>
          <p:nvPr/>
        </p:nvSpPr>
        <p:spPr>
          <a:xfrm>
            <a:off x="6675120" y="2834640"/>
            <a:ext cx="4937760" cy="3383280"/>
          </a:xfrm>
          <a:prstGeom prst="rect">
            <a:avLst/>
          </a:prstGeom>
          <a:noFill/>
          <a:ln/>
        </p:spPr>
        <p:txBody>
          <a:bodyPr wrap="square" lIns="0" tIns="0" rIns="0" bIns="0" rtlCol="0" anchor="t"/>
          <a:lstStyle/>
          <a:p>
            <a:pPr marL="203200" indent="-203200">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Ladder: same text encoder, data, pooling at every rung. +15.3 points of ceiling per decade of parameters (six monotone measures) — exactly PRH's prediction, up to 304M.</a:t>
            </a:r>
            <a:endParaRPr lang="en-US" sz="1100" dirty="0"/>
          </a:p>
          <a:p>
            <a:pPr marL="203200" indent="-203200">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Then the falsification: extend to DINOv2-giant (1.1B) and Qwen-4B — image shape agreement 0.418 → 0.339; text 0.352 → 0.307. Rise then FALL at 7× the parameters. Predictions P2/P3 FALSIFIED.</a:t>
            </a:r>
            <a:endParaRPr lang="en-US" sz="1100" dirty="0"/>
          </a:p>
          <a:p>
            <a:pPr marL="203200" indent="-203200">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Honest scope: this is a 0.02–4B regime; PRH's own evidence runs to 70B. Naming the boundary is the point — the big-model tests are the to-do list.</a:t>
            </a:r>
            <a:endParaRPr lang="en-US" sz="1100" dirty="0"/>
          </a:p>
        </p:txBody>
      </p:sp>
      <p:sp>
        <p:nvSpPr>
          <p:cNvPr id="13" name="Text 10"/>
          <p:cNvSpPr txBox="1"/>
          <p:nvPr/>
        </p:nvSpPr>
        <p:spPr>
          <a:xfrm>
            <a:off x="548640" y="5394960"/>
            <a:ext cx="585216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ρ = distance-rank (shape) agreement, no map fitted. Report C.10, E.16.</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DISCOVERY · ISOTROPY, NOT SIMILARITY-TRAINING</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A collapsed language space, rescued to 102.6% of a contrastive encoder by a free linear transform</a:t>
            </a:r>
            <a:endParaRPr lang="en-US" sz="2800" dirty="0"/>
          </a:p>
        </p:txBody>
      </p:sp>
      <p:pic>
        <p:nvPicPr>
          <p:cNvPr id="5" name="Image 0" descr="/home/claude/deck/img/flow_e13.png">    </p:cNvPr>
          <p:cNvPicPr>
            <a:picLocks noChangeAspect="1"/>
          </p:cNvPicPr>
          <p:nvPr/>
        </p:nvPicPr>
        <p:blipFill>
          <a:blip r:embed="rId1"/>
          <a:srcRect l="0" r="0" t="0" b="0"/>
          <a:stretch/>
        </p:blipFill>
        <p:spPr>
          <a:xfrm>
            <a:off x="548640" y="1463040"/>
            <a:ext cx="5943600" cy="3200400"/>
          </a:xfrm>
          <a:prstGeom prst="rect">
            <a:avLst/>
          </a:prstGeom>
        </p:spPr>
      </p:pic>
      <p:sp>
        <p:nvSpPr>
          <p:cNvPr id="6" name="Shape 3"/>
          <p:cNvSpPr/>
          <p:nvPr/>
        </p:nvSpPr>
        <p:spPr>
          <a:xfrm>
            <a:off x="6766560" y="1463040"/>
            <a:ext cx="4846320" cy="3200400"/>
          </a:xfrm>
          <a:prstGeom prst="roundRect">
            <a:avLst>
              <a:gd name="adj" fmla="val 2286"/>
            </a:avLst>
          </a:prstGeom>
          <a:solidFill>
            <a:srgbClr val="EEF3FF"/>
          </a:solidFill>
          <a:ln w="12700">
            <a:solidFill>
              <a:srgbClr val="EEF3FF"/>
            </a:solidFill>
            <a:prstDash val="solid"/>
          </a:ln>
        </p:spPr>
      </p:sp>
      <p:sp>
        <p:nvSpPr>
          <p:cNvPr id="7" name="Text 4"/>
          <p:cNvSpPr txBox="1"/>
          <p:nvPr/>
        </p:nvSpPr>
        <p:spPr>
          <a:xfrm>
            <a:off x="6931152" y="1572768"/>
            <a:ext cx="451713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happened</a:t>
            </a:r>
            <a:endParaRPr lang="en-US" sz="1300" dirty="0"/>
          </a:p>
        </p:txBody>
      </p:sp>
      <p:sp>
        <p:nvSpPr>
          <p:cNvPr id="8" name="Text 5"/>
          <p:cNvSpPr txBox="1"/>
          <p:nvPr/>
        </p:nvSpPr>
        <p:spPr>
          <a:xfrm>
            <a:off x="6931152" y="1965960"/>
            <a:ext cx="4517136" cy="26060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GPT-2's caption space has effective rank 6.6 of 768 — every caption sits at cosine +0.999 to every other. A cone, not a cloud. Cosine reads 1.000 while retrieval R@1 is 0.130.</a:t>
            </a:r>
            <a:endParaRPr lang="en-US" sz="1150" dirty="0"/>
          </a:p>
          <a:p>
            <a:pPr indent="0" marL="0">
              <a:buNone/>
            </a:pP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Whitening (divide each direction by its spread — label-free, linear) lifts R@1 to 0.478 = 102.6% of an encoder trained contrastively on 1.2 BILLION pairs. The information was there; the geometry hid it.</a:t>
            </a:r>
            <a:endParaRPr lang="en-US" sz="1150" dirty="0"/>
          </a:p>
          <a:p>
            <a:pPr indent="0" marL="0">
              <a:buNone/>
            </a:pP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CONTROL: centering alone (no whitening) leaves rank at 6.5 and fails — so it is the isotropy, not the shift.</a:t>
            </a:r>
            <a:endParaRPr lang="en-US" sz="1150" dirty="0"/>
          </a:p>
        </p:txBody>
      </p:sp>
      <p:sp>
        <p:nvSpPr>
          <p:cNvPr id="9" name="Text 6"/>
          <p:cNvSpPr txBox="1"/>
          <p:nvPr/>
        </p:nvSpPr>
        <p:spPr>
          <a:xfrm>
            <a:off x="548640" y="4892040"/>
            <a:ext cx="11064240" cy="1371600"/>
          </a:xfrm>
          <a:prstGeom prst="rect">
            <a:avLst/>
          </a:prstGeom>
          <a:noFill/>
          <a:ln/>
        </p:spPr>
        <p:txBody>
          <a:bodyPr wrap="square" lIns="0" tIns="0" rIns="0" bIns="0" rtlCol="0" anchor="t"/>
          <a:lstStyle/>
          <a:p>
            <a:pPr marL="203200" indent="-2032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Measured — effective rank vs R@1 correlate at ρ +0.94 across encoders: isotropy is a dial, not a switch.</a:t>
            </a:r>
            <a:endParaRPr lang="en-US" sz="1150" dirty="0"/>
          </a:p>
          <a:p>
            <a:pPr marL="203200" indent="-2032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Proved: isotropy is NECESSARY, not sufficient — a linear transform supplies the coordinate frame; contrastive training adds the arrangement that survives whitening.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HUB · MANY ENCODERS, ONE SPACE</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A component trained on ONE encoder transfers to encoders it never saw</a:t>
            </a:r>
            <a:endParaRPr lang="en-US" sz="2800" dirty="0"/>
          </a:p>
        </p:txBody>
      </p:sp>
      <p:sp>
        <p:nvSpPr>
          <p:cNvPr id="5" name="Shape 3"/>
          <p:cNvSpPr/>
          <p:nvPr/>
        </p:nvSpPr>
        <p:spPr>
          <a:xfrm>
            <a:off x="10149840" y="320040"/>
            <a:ext cx="1463040" cy="365760"/>
          </a:xfrm>
          <a:prstGeom prst="roundRect">
            <a:avLst>
              <a:gd name="adj" fmla="val 25000"/>
            </a:avLst>
          </a:prstGeom>
          <a:solidFill>
            <a:srgbClr val="C8551A"/>
          </a:solidFill>
          <a:ln w="12700">
            <a:solidFill>
              <a:srgbClr val="C8551A"/>
            </a:solidFill>
            <a:prstDash val="solid"/>
          </a:ln>
        </p:spPr>
      </p:sp>
      <p:sp>
        <p:nvSpPr>
          <p:cNvPr id="6" name="Text 4"/>
          <p:cNvSpPr txBox="1"/>
          <p:nvPr/>
        </p:nvSpPr>
        <p:spPr>
          <a:xfrm>
            <a:off x="10149840" y="320040"/>
            <a:ext cx="1463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LIVE DEMO</a:t>
            </a:r>
            <a:endParaRPr lang="en-US" sz="1100" dirty="0"/>
          </a:p>
        </p:txBody>
      </p:sp>
      <p:pic>
        <p:nvPicPr>
          <p:cNvPr id="7" name="Image 0" descr="/home/claude/deck/img/hub_arch.png">    </p:cNvPr>
          <p:cNvPicPr>
            <a:picLocks noChangeAspect="1"/>
          </p:cNvPicPr>
          <p:nvPr/>
        </p:nvPicPr>
        <p:blipFill>
          <a:blip r:embed="rId1"/>
          <a:srcRect l="0" r="0" t="0" b="0"/>
          <a:stretch/>
        </p:blipFill>
        <p:spPr>
          <a:xfrm>
            <a:off x="548640" y="1463040"/>
            <a:ext cx="5760720" cy="420624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92240" y="1463040"/>
          <a:ext cx="5120640" cy="914400"/>
        </p:xfrm>
        <a:graphic>
          <a:graphicData uri="http://schemas.openxmlformats.org/drawingml/2006/table">
            <a:tbl>
              <a:tblPr/>
              <a:tblGrid>
                <a:gridCol w="2377440"/>
                <a:gridCol w="777240"/>
                <a:gridCol w="960120"/>
                <a:gridCol w="100584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recipient (never seen)</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 native</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control</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DINOv2-base (sibling)</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0.445</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96.5%</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SigLIP 2 (new lineage)</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0.557</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94.2%</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held-out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ConvNeXt (convnet, supervised)</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96.7%</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held-out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random-map control</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0.003</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chance 0.001</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bl>
          </a:graphicData>
        </a:graphic>
      </p:graphicFrame>
      <p:sp>
        <p:nvSpPr>
          <p:cNvPr id="9" name="Text 5"/>
          <p:cNvSpPr txBox="1"/>
          <p:nvPr/>
        </p:nvSpPr>
        <p:spPr>
          <a:xfrm>
            <a:off x="6492240" y="3063240"/>
            <a:ext cx="5120640" cy="2743200"/>
          </a:xfrm>
          <a:prstGeom prst="rect">
            <a:avLst/>
          </a:prstGeom>
          <a:noFill/>
          <a:ln/>
        </p:spPr>
        <p:txBody>
          <a:bodyPr wrap="square" lIns="0" tIns="0" rIns="0" bIns="0" rtlCol="0" anchor="t"/>
          <a:lstStyle/>
          <a:p>
            <a:pPr marL="203200" indent="-2032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Build once (no training): z-score → concatenate → PCA to 512 → whiten. One ridge map per encoder INTO the hub; one caption head OUT. Adding a model = ONE solve; hub, head, every other map untouched.</a:t>
            </a:r>
            <a:endParaRPr lang="en-US" sz="1050" dirty="0"/>
          </a:p>
          <a:p>
            <a:pPr marL="203200" indent="-2032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CONTROLS: a random entry map scores 0.003 (chance 0.001). ConvNeXt — a convnet, fully supervised, never a member — hits 96.7%, ABOVE the ViT band: neither architecture nor supervision bounds the claim.</a:t>
            </a:r>
            <a:endParaRPr lang="en-US" sz="1050" dirty="0"/>
          </a:p>
          <a:p>
            <a:pPr marL="203200" indent="-2032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All 42 directed pairs share one hub at 103.6% of per-pair hubs — sharing is free.</a:t>
            </a:r>
            <a:endParaRPr lang="en-US" sz="1050" dirty="0"/>
          </a:p>
        </p:txBody>
      </p:sp>
      <p:sp>
        <p:nvSpPr>
          <p:cNvPr id="10" name="Text 6">
            <a:hlinkClick r:id="rId2" tooltip=""/>
          </p:cNvPr>
          <p:cNvSpPr txBox="1"/>
          <p:nvPr/>
        </p:nvSpPr>
        <p:spPr>
          <a:xfrm>
            <a:off x="548640" y="5852160"/>
            <a:ext cx="5760720" cy="292608"/>
          </a:xfrm>
          <a:prstGeom prst="rect">
            <a:avLst/>
          </a:prstGeom>
          <a:noFill/>
          <a:ln/>
        </p:spPr>
        <p:txBody>
          <a:bodyPr wrap="square" lIns="0" tIns="0" rIns="0" bIns="0" rtlCol="0" anchor="ctr"/>
          <a:lstStyle/>
          <a:p>
            <a:pPr indent="0" marL="0">
              <a:buNone/>
            </a:pPr>
            <a:r>
              <a:rPr lang="en-US" sz="1200" u="sng" dirty="0">
                <a:solidFill>
                  <a:srgbClr val="0F766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Demo notebook G2 (live) — Drive: convergence_experiment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CENTRAL DISCOVERY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What is shared is LOCAL structure, not global geometry</a:t>
            </a:r>
            <a:endParaRPr lang="en-US" sz="2800" dirty="0"/>
          </a:p>
        </p:txBody>
      </p:sp>
      <p:pic>
        <p:nvPicPr>
          <p:cNvPr id="5" name="Image 0" descr="/home/claude/deck/img/similarity_explained.png">    </p:cNvPr>
          <p:cNvPicPr>
            <a:picLocks noChangeAspect="1"/>
          </p:cNvPicPr>
          <p:nvPr/>
        </p:nvPicPr>
        <p:blipFill>
          <a:blip r:embed="rId1"/>
          <a:srcRect l="0" r="0" t="0" b="0"/>
          <a:stretch/>
        </p:blipFill>
        <p:spPr>
          <a:xfrm>
            <a:off x="548640" y="1463040"/>
            <a:ext cx="11064240" cy="2743200"/>
          </a:xfrm>
          <a:prstGeom prst="rect">
            <a:avLst/>
          </a:prstGeom>
        </p:spPr>
      </p:pic>
      <p:sp>
        <p:nvSpPr>
          <p:cNvPr id="6" name="Shape 3"/>
          <p:cNvSpPr/>
          <p:nvPr/>
        </p:nvSpPr>
        <p:spPr>
          <a:xfrm>
            <a:off x="548640" y="4343400"/>
            <a:ext cx="5394960" cy="1920240"/>
          </a:xfrm>
          <a:prstGeom prst="roundRect">
            <a:avLst>
              <a:gd name="adj" fmla="val 3810"/>
            </a:avLst>
          </a:prstGeom>
          <a:solidFill>
            <a:srgbClr val="EEF3FF"/>
          </a:solidFill>
          <a:ln w="12700">
            <a:solidFill>
              <a:srgbClr val="EEF3FF"/>
            </a:solidFill>
            <a:prstDash val="solid"/>
          </a:ln>
        </p:spPr>
      </p:sp>
      <p:sp>
        <p:nvSpPr>
          <p:cNvPr id="7" name="Text 4"/>
          <p:cNvSpPr txBox="1"/>
          <p:nvPr/>
        </p:nvSpPr>
        <p:spPr>
          <a:xfrm>
            <a:off x="713232" y="445312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finding, on three metrics</a:t>
            </a:r>
            <a:endParaRPr lang="en-US" sz="1300" dirty="0"/>
          </a:p>
        </p:txBody>
      </p:sp>
      <p:sp>
        <p:nvSpPr>
          <p:cNvPr id="8" name="Text 5"/>
          <p:cNvSpPr txBox="1"/>
          <p:nvPr/>
        </p:nvSpPr>
        <p:spPr>
          <a:xfrm>
            <a:off x="713232" y="4846320"/>
            <a:ext cx="5065776" cy="13258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Raw cosine ≈ 0 — coordinates never agree. But shapes do: distance-rank ρ +0.681, and 67% of an item's 10 nearest neighbours are shared (27× chance). Agreement is strongest for near neighbours and decays to chance by k = 500 — confirmed on k-NN, CKNNA, and rank correlation, including the metric PRH's own authors designed.</a:t>
            </a:r>
            <a:endParaRPr lang="en-US" sz="1150" dirty="0"/>
          </a:p>
        </p:txBody>
      </p:sp>
      <p:sp>
        <p:nvSpPr>
          <p:cNvPr id="9" name="Shape 6"/>
          <p:cNvSpPr/>
          <p:nvPr/>
        </p:nvSpPr>
        <p:spPr>
          <a:xfrm>
            <a:off x="6217920" y="4343400"/>
            <a:ext cx="5394960" cy="1920240"/>
          </a:xfrm>
          <a:prstGeom prst="roundRect">
            <a:avLst>
              <a:gd name="adj" fmla="val 3810"/>
            </a:avLst>
          </a:prstGeom>
          <a:solidFill>
            <a:srgbClr val="EEF7F3"/>
          </a:solidFill>
          <a:ln w="12700">
            <a:solidFill>
              <a:srgbClr val="EEF7F3"/>
            </a:solidFill>
            <a:prstDash val="solid"/>
          </a:ln>
        </p:spPr>
      </p:sp>
      <p:sp>
        <p:nvSpPr>
          <p:cNvPr id="10" name="Text 7"/>
          <p:cNvSpPr txBox="1"/>
          <p:nvPr/>
        </p:nvSpPr>
        <p:spPr>
          <a:xfrm>
            <a:off x="6382512" y="445312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it matters</a:t>
            </a:r>
            <a:endParaRPr lang="en-US" sz="1300" dirty="0"/>
          </a:p>
        </p:txBody>
      </p:sp>
      <p:sp>
        <p:nvSpPr>
          <p:cNvPr id="11" name="Text 8"/>
          <p:cNvSpPr txBox="1"/>
          <p:nvPr/>
        </p:nvSpPr>
        <p:spPr>
          <a:xfrm>
            <a:off x="6382512" y="4846320"/>
            <a:ext cx="5065776" cy="13258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It narrows the Platonic claim to its DEFENSIBLE form. Models do not build the same space — they build different CHARTS of one shared structure, like two map projections of the Earth that disagree on area but both keep Spain next to France. It also explains why one linear map reaches most, but not all, of the ceiling.</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AND WHAT DECIDES HOW MUCH</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Objective beats lineage beats modality</a:t>
            </a:r>
            <a:endParaRPr lang="en-US" sz="2800" dirty="0"/>
          </a:p>
        </p:txBody>
      </p:sp>
      <p:pic>
        <p:nvPicPr>
          <p:cNvPr id="5" name="Image 0" descr="/home/claude/deck/img/shape_order.png">    </p:cNvPr>
          <p:cNvPicPr>
            <a:picLocks noChangeAspect="1"/>
          </p:cNvPicPr>
          <p:nvPr/>
        </p:nvPicPr>
        <p:blipFill>
          <a:blip r:embed="rId1"/>
          <a:srcRect l="0" r="0" t="0" b="0"/>
          <a:stretch/>
        </p:blipFill>
        <p:spPr>
          <a:xfrm>
            <a:off x="548640" y="1463040"/>
            <a:ext cx="5577840" cy="3108960"/>
          </a:xfrm>
          <a:prstGeom prst="rect">
            <a:avLst/>
          </a:prstGeom>
        </p:spPr>
      </p:pic>
      <p:pic>
        <p:nvPicPr>
          <p:cNvPr id="6" name="Image 1" descr="/home/claude/deck/img/encoder_map.png">    </p:cNvPr>
          <p:cNvPicPr>
            <a:picLocks noChangeAspect="1"/>
          </p:cNvPicPr>
          <p:nvPr/>
        </p:nvPicPr>
        <p:blipFill>
          <a:blip r:embed="rId2"/>
          <a:srcRect l="0" r="0" t="0" b="0"/>
          <a:stretch/>
        </p:blipFill>
        <p:spPr>
          <a:xfrm>
            <a:off x="6309360" y="1463040"/>
            <a:ext cx="5303520" cy="2834640"/>
          </a:xfrm>
          <a:prstGeom prst="rect">
            <a:avLst/>
          </a:prstGeom>
        </p:spPr>
      </p:pic>
      <p:sp>
        <p:nvSpPr>
          <p:cNvPr id="7" name="Text 3"/>
          <p:cNvSpPr txBox="1"/>
          <p:nvPr/>
        </p:nvSpPr>
        <p:spPr>
          <a:xfrm>
            <a:off x="548640" y="4754880"/>
            <a:ext cx="182880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+53×</a:t>
            </a:r>
            <a:endParaRPr lang="en-US" sz="3600" dirty="0"/>
          </a:p>
        </p:txBody>
      </p:sp>
      <p:sp>
        <p:nvSpPr>
          <p:cNvPr id="8" name="Text 4"/>
          <p:cNvSpPr txBox="1"/>
          <p:nvPr/>
        </p:nvSpPr>
        <p:spPr>
          <a:xfrm>
            <a:off x="548640" y="5413248"/>
            <a:ext cx="1828800" cy="5029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shared OBJECTIVE</a:t>
            </a:r>
            <a:endParaRPr lang="en-US" sz="1100" dirty="0"/>
          </a:p>
        </p:txBody>
      </p:sp>
      <p:sp>
        <p:nvSpPr>
          <p:cNvPr id="9" name="Text 5"/>
          <p:cNvSpPr txBox="1"/>
          <p:nvPr/>
        </p:nvSpPr>
        <p:spPr>
          <a:xfrm>
            <a:off x="2377440" y="4754880"/>
            <a:ext cx="182880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+44×</a:t>
            </a:r>
            <a:endParaRPr lang="en-US" sz="3600" dirty="0"/>
          </a:p>
        </p:txBody>
      </p:sp>
      <p:sp>
        <p:nvSpPr>
          <p:cNvPr id="10" name="Text 6"/>
          <p:cNvSpPr txBox="1"/>
          <p:nvPr/>
        </p:nvSpPr>
        <p:spPr>
          <a:xfrm>
            <a:off x="2377440" y="5413248"/>
            <a:ext cx="1828800" cy="5029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shared LINEAGE</a:t>
            </a:r>
            <a:endParaRPr lang="en-US" sz="1100" dirty="0"/>
          </a:p>
        </p:txBody>
      </p:sp>
      <p:sp>
        <p:nvSpPr>
          <p:cNvPr id="11" name="Text 7"/>
          <p:cNvSpPr txBox="1"/>
          <p:nvPr/>
        </p:nvSpPr>
        <p:spPr>
          <a:xfrm>
            <a:off x="4206240" y="4754880"/>
            <a:ext cx="182880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+29×</a:t>
            </a:r>
            <a:endParaRPr lang="en-US" sz="3600" dirty="0"/>
          </a:p>
        </p:txBody>
      </p:sp>
      <p:sp>
        <p:nvSpPr>
          <p:cNvPr id="12" name="Text 8"/>
          <p:cNvSpPr txBox="1"/>
          <p:nvPr/>
        </p:nvSpPr>
        <p:spPr>
          <a:xfrm>
            <a:off x="4206240" y="5413248"/>
            <a:ext cx="1828800" cy="5029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shared MODALITY</a:t>
            </a:r>
            <a:endParaRPr lang="en-US" sz="1100" dirty="0"/>
          </a:p>
        </p:txBody>
      </p:sp>
      <p:sp>
        <p:nvSpPr>
          <p:cNvPr id="13" name="Text 9"/>
          <p:cNvSpPr txBox="1"/>
          <p:nvPr/>
        </p:nvSpPr>
        <p:spPr>
          <a:xfrm>
            <a:off x="6309360" y="4480560"/>
            <a:ext cx="5303520" cy="1828800"/>
          </a:xfrm>
          <a:prstGeom prst="rect">
            <a:avLst/>
          </a:prstGeom>
          <a:noFill/>
          <a:ln/>
        </p:spPr>
        <p:txBody>
          <a:bodyPr wrap="square" lIns="0" tIns="0" rIns="0" bIns="0" rtlCol="0" anchor="t"/>
          <a:lstStyle/>
          <a:p>
            <a:pPr marL="203200" indent="-2032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Top pair: bge–SBERT ρ +0.76 — shares an objective and NO ancestry; beats the sibling image pair.</a:t>
            </a:r>
            <a:endParaRPr lang="en-US" sz="1100" dirty="0"/>
          </a:p>
          <a:p>
            <a:pPr marL="203200" indent="-2032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ConvNeXt: LOWEST raw shape agreement (0.33–0.40), HIGHEST transfer (96.7%) — raw shape does not predict transfer.</a:t>
            </a:r>
            <a:endParaRPr lang="en-US" sz="1100" dirty="0"/>
          </a:p>
          <a:p>
            <a:pPr marL="203200" indent="-2032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MDS map (right): no map fitted — encoders cluster by training OBJECTIVE, not by modality.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ACHIEVEMENTS — AND THE HONESTY THAT BACKS THEM</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Nine findings, two shipped systems, eleven falsified explanations</a:t>
            </a:r>
            <a:endParaRPr lang="en-US" sz="2800" dirty="0"/>
          </a:p>
        </p:txBody>
      </p:sp>
      <p:sp>
        <p:nvSpPr>
          <p:cNvPr id="5" name="Shape 3"/>
          <p:cNvSpPr/>
          <p:nvPr/>
        </p:nvSpPr>
        <p:spPr>
          <a:xfrm>
            <a:off x="548640" y="1463040"/>
            <a:ext cx="5486400" cy="3108960"/>
          </a:xfrm>
          <a:prstGeom prst="roundRect">
            <a:avLst>
              <a:gd name="adj" fmla="val 2353"/>
            </a:avLst>
          </a:prstGeom>
          <a:solidFill>
            <a:srgbClr val="EEF7F3"/>
          </a:solidFill>
          <a:ln w="12700">
            <a:solidFill>
              <a:srgbClr val="CFE3D8"/>
            </a:solidFill>
            <a:prstDash val="solid"/>
          </a:ln>
        </p:spPr>
      </p:sp>
      <p:sp>
        <p:nvSpPr>
          <p:cNvPr id="6" name="Text 4"/>
          <p:cNvSpPr txBox="1"/>
          <p:nvPr/>
        </p:nvSpPr>
        <p:spPr>
          <a:xfrm>
            <a:off x="713232" y="1572768"/>
            <a:ext cx="5120640" cy="274320"/>
          </a:xfrm>
          <a:prstGeom prst="rect">
            <a:avLst/>
          </a:prstGeom>
          <a:noFill/>
          <a:ln/>
        </p:spPr>
        <p:txBody>
          <a:bodyPr wrap="square" lIns="0" tIns="0" rIns="0" bIns="0" rtlCol="0" anchor="t"/>
          <a:lstStyle/>
          <a:p>
            <a:pPr algn="l" indent="0" marL="0">
              <a:buNone/>
            </a:pPr>
            <a:r>
              <a:rPr lang="en-US" sz="1300" b="1" dirty="0">
                <a:solidFill>
                  <a:srgbClr val="1B5E20"/>
                </a:solidFill>
                <a:latin typeface="Calibri" pitchFamily="34" charset="0"/>
                <a:ea typeface="Calibri" pitchFamily="34" charset="-122"/>
                <a:cs typeface="Calibri" pitchFamily="34" charset="-120"/>
              </a:rPr>
              <a:t>PROVED &amp; BUILT</a:t>
            </a:r>
            <a:endParaRPr lang="en-US" sz="1300" dirty="0"/>
          </a:p>
        </p:txBody>
      </p:sp>
      <p:sp>
        <p:nvSpPr>
          <p:cNvPr id="7" name="Text 5"/>
          <p:cNvSpPr txBox="1"/>
          <p:nvPr/>
        </p:nvSpPr>
        <p:spPr>
          <a:xfrm>
            <a:off x="713232" y="1901952"/>
            <a:ext cx="5166360" cy="2606040"/>
          </a:xfrm>
          <a:prstGeom prst="rect">
            <a:avLst/>
          </a:prstGeom>
          <a:noFill/>
          <a:ln/>
        </p:spPr>
        <p:txBody>
          <a:bodyPr wrap="square" lIns="0" tIns="0" rIns="0" bIns="0" rtlCol="0" anchor="t"/>
          <a:lstStyle/>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Convergence is real but LOCAL; linear, not rigid (0.038 vs 0.592).</a:t>
            </a:r>
            <a:endParaRPr lang="en-US" sz="1050" dirty="0"/>
          </a:p>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Cross-modal with no joint training: 40.9–58.3% of ceiling, 358× chance.</a:t>
            </a:r>
            <a:endParaRPr lang="en-US" sz="1050" dirty="0"/>
          </a:p>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Isotropy rescue: a collapsed space → 102.6% of a billion-pair encoder.</a:t>
            </a:r>
            <a:endParaRPr lang="en-US" sz="1050" dirty="0"/>
          </a:p>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Self-identifying from shape alone: 39.7% exact with ZERO pairs (595× chance).</a:t>
            </a:r>
            <a:endParaRPr lang="en-US" sz="1050" dirty="0"/>
          </a:p>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Objective &gt; lineage &gt; modality (+53 / +44 / +29×).</a:t>
            </a:r>
            <a:endParaRPr lang="en-US" sz="1050" dirty="0"/>
          </a:p>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Shipped: a 0.79 MB phone adapter, and a hub where adding a model is one solve.</a:t>
            </a:r>
            <a:endParaRPr lang="en-US" sz="1050" dirty="0"/>
          </a:p>
        </p:txBody>
      </p:sp>
      <p:sp>
        <p:nvSpPr>
          <p:cNvPr id="8" name="Shape 6"/>
          <p:cNvSpPr/>
          <p:nvPr/>
        </p:nvSpPr>
        <p:spPr>
          <a:xfrm>
            <a:off x="6217920" y="1463040"/>
            <a:ext cx="5394960" cy="3108960"/>
          </a:xfrm>
          <a:prstGeom prst="roundRect">
            <a:avLst>
              <a:gd name="adj" fmla="val 2353"/>
            </a:avLst>
          </a:prstGeom>
          <a:solidFill>
            <a:srgbClr val="FFF4EC"/>
          </a:solidFill>
          <a:ln w="12700">
            <a:solidFill>
              <a:srgbClr val="F0DCC8"/>
            </a:solidFill>
            <a:prstDash val="solid"/>
          </a:ln>
        </p:spPr>
      </p:sp>
      <p:sp>
        <p:nvSpPr>
          <p:cNvPr id="9" name="Text 7"/>
          <p:cNvSpPr txBox="1"/>
          <p:nvPr/>
        </p:nvSpPr>
        <p:spPr>
          <a:xfrm>
            <a:off x="6382512" y="1572768"/>
            <a:ext cx="5029200" cy="274320"/>
          </a:xfrm>
          <a:prstGeom prst="rect">
            <a:avLst/>
          </a:prstGeom>
          <a:noFill/>
          <a:ln/>
        </p:spPr>
        <p:txBody>
          <a:bodyPr wrap="square" lIns="0" tIns="0" rIns="0" bIns="0" rtlCol="0" anchor="t"/>
          <a:lstStyle/>
          <a:p>
            <a:pPr algn="l" indent="0" marL="0">
              <a:buNone/>
            </a:pPr>
            <a:r>
              <a:rPr lang="en-US" sz="1300" b="1" dirty="0">
                <a:solidFill>
                  <a:srgbClr val="B91C1C"/>
                </a:solidFill>
                <a:latin typeface="Calibri" pitchFamily="34" charset="0"/>
                <a:ea typeface="Calibri" pitchFamily="34" charset="-122"/>
                <a:cs typeface="Calibri" pitchFamily="34" charset="-120"/>
              </a:rPr>
              <a:t>FALSIFIED, KEPT ON THE RECORD (11 — two of them mine)</a:t>
            </a:r>
            <a:endParaRPr lang="en-US" sz="1300" dirty="0"/>
          </a:p>
        </p:txBody>
      </p:sp>
      <p:sp>
        <p:nvSpPr>
          <p:cNvPr id="10" name="Text 8"/>
          <p:cNvSpPr txBox="1"/>
          <p:nvPr/>
        </p:nvSpPr>
        <p:spPr>
          <a:xfrm>
            <a:off x="6382512" y="1901952"/>
            <a:ext cx="5074920" cy="2606040"/>
          </a:xfrm>
          <a:prstGeom prst="rect">
            <a:avLst/>
          </a:prstGeom>
          <a:noFill/>
          <a:ln/>
        </p:spPr>
        <p:txBody>
          <a:bodyPr wrap="square" lIns="0" tIns="0" rIns="0" bIns="0" rtlCol="0" anchor="t"/>
          <a:lstStyle/>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'Same space' — refuted (raw cosine ≈ 0). It is local, not global.</a:t>
            </a:r>
            <a:endParaRPr lang="en-US" sz="1050" dirty="0"/>
          </a:p>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'A rotation aligns them' — refuted (0.038). 'An MLP beats the matrix' — refuted (+0.0000).</a:t>
            </a:r>
            <a:endParaRPr lang="en-US" sz="1050" dirty="0"/>
          </a:p>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'Scaling keeps helping' — refuted (both ladders fall past 304M).</a:t>
            </a:r>
            <a:endParaRPr lang="en-US" sz="1050" dirty="0"/>
          </a:p>
          <a:p>
            <a:pPr marL="203200" indent="-2032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The width cliff: transfer collapses at hub width = 768. Seven mechanisms falsified; the eighth confirmed — 768 is the source encoder's algebraic rank, a NUMERICAL artifact, not a property of sharing. One of my own tests was wrong and is recorded as such.</a:t>
            </a:r>
            <a:endParaRPr lang="en-US" sz="1050" dirty="0"/>
          </a:p>
        </p:txBody>
      </p:sp>
      <p:sp>
        <p:nvSpPr>
          <p:cNvPr id="11" name="Text 9"/>
          <p:cNvSpPr txBox="1"/>
          <p:nvPr/>
        </p:nvSpPr>
        <p:spPr>
          <a:xfrm>
            <a:off x="548640" y="4754880"/>
            <a:ext cx="11064240" cy="822960"/>
          </a:xfrm>
          <a:prstGeom prst="rect">
            <a:avLst/>
          </a:prstGeom>
          <a:noFill/>
          <a:ln/>
        </p:spPr>
        <p:txBody>
          <a:bodyPr wrap="square" lIns="0" tIns="0" rIns="0" bIns="0" rtlCol="0" anchor="t"/>
          <a:lstStyle/>
          <a:p>
            <a:pPr algn="l" indent="0" marL="0">
              <a:buNone/>
            </a:pPr>
            <a:r>
              <a:rPr lang="en-US" sz="1350" b="1" i="1" dirty="0">
                <a:solidFill>
                  <a:srgbClr val="1E2761"/>
                </a:solidFill>
                <a:latin typeface="Calibri" pitchFamily="34" charset="0"/>
                <a:ea typeface="Calibri" pitchFamily="34" charset="-122"/>
                <a:cs typeface="Calibri" pitchFamily="34" charset="-120"/>
              </a:rPr>
              <a:t>The method IS the result: a claim that survived a test which could have killed it is worth more than one never exposed to one.</a:t>
            </a:r>
            <a:endParaRPr lang="en-US" sz="1350" dirty="0"/>
          </a:p>
        </p:txBody>
      </p:sp>
      <p:sp>
        <p:nvSpPr>
          <p:cNvPr id="12" name="Text 10"/>
          <p:cNvSpPr txBox="1"/>
          <p:nvPr/>
        </p:nvSpPr>
        <p:spPr>
          <a:xfrm>
            <a:off x="548640" y="5669280"/>
            <a:ext cx="11064240" cy="365760"/>
          </a:xfrm>
          <a:prstGeom prst="rect">
            <a:avLst/>
          </a:prstGeom>
          <a:noFill/>
          <a:ln/>
        </p:spPr>
        <p:txBody>
          <a:bodyPr wrap="square" lIns="0" tIns="0" rIns="0" bIns="0" rtlCol="0" anchor="t"/>
          <a:lstStyle/>
          <a:p>
            <a:pPr algn="l" indent="0" marL="0">
              <a:buNone/>
            </a:pPr>
            <a:r>
              <a:rPr lang="en-US" sz="1100" dirty="0">
                <a:solidFill>
                  <a:srgbClr val="5B6472"/>
                </a:solidFill>
                <a:latin typeface="Calibri" pitchFamily="34" charset="0"/>
                <a:ea typeface="Calibri" pitchFamily="34" charset="-122"/>
                <a:cs typeface="Calibri" pitchFamily="34" charset="-120"/>
              </a:rPr>
              <a:t>Full method, all tables and the falsification ledger: Final_Project_Report.pdf (74 pp) · the story with the math: Project_Atlas.pdf</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685800"/>
            <a:ext cx="10698480" cy="36576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IN ONE PARAGRAPH</a:t>
            </a:r>
            <a:endParaRPr lang="en-US" sz="1200" dirty="0"/>
          </a:p>
        </p:txBody>
      </p:sp>
      <p:sp>
        <p:nvSpPr>
          <p:cNvPr id="3" name="Text 1"/>
          <p:cNvSpPr txBox="1"/>
          <p:nvPr/>
        </p:nvSpPr>
        <p:spPr>
          <a:xfrm>
            <a:off x="731520" y="1097280"/>
            <a:ext cx="10698480" cy="2103120"/>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Two models never share coordinates — raw agreement is exactly chance. But they describe the same world, and the translation between them is a single matrix small enough to fit on a phone. What they share most strongly is LOCAL: they agree about what is near what, and diverge about the shape of the whole. The frame that makes structure readable is cheap; the arrangement of meaning across directions is what training actually buys.</a:t>
            </a:r>
            <a:endParaRPr lang="en-US" sz="2000" dirty="0"/>
          </a:p>
        </p:txBody>
      </p:sp>
      <p:sp>
        <p:nvSpPr>
          <p:cNvPr id="4" name="Shape 2"/>
          <p:cNvSpPr/>
          <p:nvPr/>
        </p:nvSpPr>
        <p:spPr>
          <a:xfrm>
            <a:off x="731520" y="3337560"/>
            <a:ext cx="10515600" cy="1691640"/>
          </a:xfrm>
          <a:prstGeom prst="roundRect">
            <a:avLst>
              <a:gd name="adj" fmla="val 4324"/>
            </a:avLst>
          </a:prstGeom>
          <a:solidFill>
            <a:srgbClr val="2A3570"/>
          </a:solidFill>
          <a:ln w="12700">
            <a:solidFill>
              <a:srgbClr val="2A3570"/>
            </a:solidFill>
            <a:prstDash val="solid"/>
          </a:ln>
        </p:spPr>
      </p:sp>
      <p:sp>
        <p:nvSpPr>
          <p:cNvPr id="5" name="Text 3"/>
          <p:cNvSpPr txBox="1"/>
          <p:nvPr/>
        </p:nvSpPr>
        <p:spPr>
          <a:xfrm>
            <a:off x="914400" y="3456432"/>
            <a:ext cx="10058400" cy="274320"/>
          </a:xfrm>
          <a:prstGeom prst="rect">
            <a:avLst/>
          </a:prstGeom>
          <a:noFill/>
          <a:ln/>
        </p:spPr>
        <p:txBody>
          <a:bodyPr wrap="square" lIns="0" tIns="0" rIns="0" bIns="0" rtlCol="0" anchor="ctr"/>
          <a:lstStyle/>
          <a:p>
            <a:pPr indent="0" marL="0">
              <a:buNone/>
            </a:pPr>
            <a:r>
              <a:rPr lang="en-US" sz="1100" b="1" spc="200" kern="0" dirty="0">
                <a:solidFill>
                  <a:srgbClr val="CADCFC"/>
                </a:solidFill>
                <a:latin typeface="Calibri" pitchFamily="34" charset="0"/>
                <a:ea typeface="Calibri" pitchFamily="34" charset="-122"/>
                <a:cs typeface="Calibri" pitchFamily="34" charset="-120"/>
              </a:rPr>
              <a:t>NEXT, IN ORDER OF VALUE</a:t>
            </a:r>
            <a:endParaRPr lang="en-US" sz="1100" dirty="0"/>
          </a:p>
        </p:txBody>
      </p:sp>
      <p:sp>
        <p:nvSpPr>
          <p:cNvPr id="6" name="Text 4"/>
          <p:cNvSpPr txBox="1"/>
          <p:nvPr/>
        </p:nvSpPr>
        <p:spPr>
          <a:xfrm>
            <a:off x="914400" y="3767328"/>
            <a:ext cx="10149840" cy="11887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1 · Scale the text side to 7B+ — the examiner's first question, and Qwen-4B already fell.   </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2 · K small experts vs one large model, at matched parameters (pre-registered B1).   </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3 · Re-estimate the hub on a 35k-item corpus; then rebuild it WITH DINOv2-giant as a member.   </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4 · Reverse-direction transfer (ConvNeXt as target) · other languages · non-linear hubs.</a:t>
            </a:r>
            <a:endParaRPr lang="en-US" sz="1250" dirty="0"/>
          </a:p>
        </p:txBody>
      </p:sp>
      <p:sp>
        <p:nvSpPr>
          <p:cNvPr id="7" name="Text 5"/>
          <p:cNvSpPr txBox="1"/>
          <p:nvPr/>
        </p:nvSpPr>
        <p:spPr>
          <a:xfrm>
            <a:off x="731520" y="5257800"/>
            <a:ext cx="10698480" cy="73152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Science: a subset of PRH proved, narrowed to its defensible form.     Engineering: two small-expert systems that run without a GPU.     Method: 11 falsified explanations kept on the record.</a:t>
            </a:r>
            <a:endParaRPr lang="en-US" sz="1300" dirty="0"/>
          </a:p>
        </p:txBody>
      </p:sp>
      <p:sp>
        <p:nvSpPr>
          <p:cNvPr id="8" name="Text 6"/>
          <p:cNvSpPr txBox="1"/>
          <p:nvPr/>
        </p:nvSpPr>
        <p:spPr>
          <a:xfrm>
            <a:off x="731520" y="6080760"/>
            <a:ext cx="1069848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Representation Convergence — 20-minute defense</dc:title>
  <dc:subject>PptxGenJS Presentation</dc:subject>
  <dc:creator>PptxGenJS</dc:creator>
  <cp:lastModifiedBy>PptxGenJS</cp:lastModifiedBy>
  <cp:revision>1</cp:revision>
  <dcterms:created xsi:type="dcterms:W3CDTF">2026-09-17T07:02:00Z</dcterms:created>
  <dcterms:modified xsi:type="dcterms:W3CDTF">2026-09-17T07:02:00Z</dcterms:modified>
</cp:coreProperties>
</file>